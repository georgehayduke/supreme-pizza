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Bring a quart jar filled with jellybeans. Count them beforehand.
SCRIPT:
'Before we talk about evaluation — I need everyone to write down a number.'
'How many jellybeans are in this jar? Write it down. No phones.'
(Collect answers or ask for show of hands in ranges)
Reveal the actual count.
'Now — how do we decide who won? Closest absolute number? Smallest percent error? What if we averaged everyone's guess?'
REVEAL: The average of all guesses almost always beats every individual guess. That's an ensemble. And the argument about HOW to score it — that's metric selection. You just lived both concepts in 90 seconds.
TIMING: 5–7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Walk through each transaction. Ask for thumbs up (legit) or thumbs down (fraud).
SCRIPT:
'I'm going to flash some transactions. Thumbs up = legit, thumbs down = fraud.'
(Run through each row, track consensus votes)
'Some of you just blocked a legit Starbucks charge. Some let through a $4,800 Best Buy at 2am.'
'You just made a precision/recall tradeoff — without knowing it.'
REVEAL:
Precision = of everything you flagged, how many were actually fraud?
Recall = of all actual fraud, how much did you catch?
You can't maximize both. The cutoff is a BUSINESS decision — not a math problem.
TIMING: 4–6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
'Quick question. I built a fraud detection model. It's 99.97% accurate.'
'Raise your hand if you'd want to deploy that model.' (Wait — most hands go up)
'Keep your hand up if you'd still deploy it after I tell you... it predicts NOT FRAUD for every single transaction.'
(Hands go down, laughter)
REVEAL: If 0.03% of transactions are fraud, a model that never flags anything is 99.97% accurate. Accuracy is useless when classes are imbalanced — which they always are in fraud, rare disease, churn. This is exactly why we use PR-AUC and precision/recall.
NO SETUP REQUIRED. Can be done cold at any point.
TIMING: 2–3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
'I'll describe a business problem. You shout the recipe. Ready?'
(Read each problem, pause, wait for the room to shout — reveal the answer card if needed)
Speed it up once they get the hang of it — the energy is the point.
Ask the room: 'See any patterns here? Same five recipes — different kitchen every time. That's the whole talk in 90 seconds.'
TIPE: Let audience suggest their own problems and ask the room to classify them if there's time.
TIMING: 2–3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
'As a bank customer — which matters more to you personally?'
'A: Your bank NEVER blocks your legitimate transactions.'
'B: Your bank catches every single fraud attempt.'
(Tally the room — it usually splits pretty evenly)
'Now ask yourself: what if you were the bank's compliance officer?'
'What if you were the customer who just had their account drained?'
REVEAL: A is precision. B is recall. The 'right' answer depends on the business context, the customer segment, and the regulatory environment. JHA's clients serve community banks — a false positive that blocks Grandma's grocery run is a different kind of harm than at a big national bank. This tradeoff is a business decision dressed up as a math problem.
FOLLOW-UP: 'Now imagine you're setting this threshold for 7,400 banks at once.' (Drives home JHA's scale)
TIMING: 3–4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
'I'm building a model to predict which customers will default on a loan.'
'Here are my features. One of them should make a data scientist very nervous. Which one?'
(Give the room 30 seconds — engineers usually spot it, business folks often don't)
REVEAL: account_closed_flag. Accounts get closed BECAUSE of default. You used the outcome to predict the outcome — and got 99% accuracy because you essentially looked at the answer sheet. This is data leakage, and it's the sneakiest failure mode because everything LOOKS fine until you deploy.
VARIANTS:
- 'fraud_confirmed_date' in a fraud model
- 'churn_reason' in a churn model
- 'claim_payout_amount' in an insurance model
TIMING: 3–4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Pick 1–2 of these per talk. Read them verbatim and pause after each for hands.
NOTE: These work as re-energizers between dense content sections. Choose based on your read of the room:
- If the room is mostly engineers: use #2 (testing vs. production)
- If the room is mostly execs/business: use #3 (vendor claims) or #4 (AI recommended it)
- If mixed: #1 and #4 always land universally
PURPOSE: These moments normalize the audience's experience and create psychological safety — they realize the talk is relevant to things they've already lived through, not abstract theory.
TIMING: 30–60 sec each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
'You have two options for fraud detection:'
'Option A: Your shiny new ML model. Catches 80% of fraud. $400K to build and maintain.'
'Option B: A simple rule — flag any international wire over $10K from a new account. Catches 60% of fraud. One afternoon to write.'
'Which do you deploy?'
(Get opinions — business folks often say B, engineers often argue for A)
REVEAL: The right answer depends entirely on what the 20% improvement is worth in dollar terms — AND how many false positives each generates. 10x more false positive alerts means a human has to review them. The model must beat the realistic baseline — not zero. And that comparison has to include operational cost.
FLIP IT: 'What if the model catches 95% but generates 500 false positives per day vs. the rule catching 60% with 5? Now which do you pick?'
TIMING: 2–3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BEFORE EVALUATION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  Jellybean Jar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dirty="0">
                <a:solidFill>
                  <a:srgbClr val="000000"/>
                </a:solidFill>
              </a:rPr>
              <a:t>🫙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246888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many jellybeans are in this jar?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468880" y="1965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down your answer. No phones.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468880" y="2606040"/>
            <a:ext cx="62179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7889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BBBBB"/>
                </a:solidFill>
              </a:rPr>
              <a:t>How do we decide who wins?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31729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BBBBB"/>
                </a:solidFill>
              </a:rPr>
              <a:t>Closest absolute number? Smallest % error?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355701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BBBBB"/>
                </a:solidFill>
              </a:rPr>
              <a:t>What if we averaged everyone's guesses?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2B38"/>
          </a:solidFill>
          <a:ln w="12700">
            <a:solidFill>
              <a:srgbClr val="0A2B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Concepts: metric selection — ensemble methods — the average beats every individual guess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BEFORE METRIC FAMILIES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  Fraud or Not?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👍 Legit  or  👎 Fraud?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91440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298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Amount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80160" y="1298448"/>
            <a:ext cx="155448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5024" y="1298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Merchant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1298448"/>
            <a:ext cx="86868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2984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1298448"/>
            <a:ext cx="128016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8184" y="1298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83480" y="1298448"/>
            <a:ext cx="68580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38344" y="129844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Acct 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1298448"/>
            <a:ext cx="914400" cy="292608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4144" y="12984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Your Vote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591056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80160" y="1591056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4640" y="1591056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1591056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1591056"/>
            <a:ext cx="685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0" y="1591056"/>
            <a:ext cx="914400" cy="457200"/>
          </a:xfrm>
          <a:prstGeom prst="rect">
            <a:avLst/>
          </a:prstGeom>
          <a:solidFill>
            <a:srgbClr val="EDFA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1591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$4.52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35024" y="15910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Starbucks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89504" y="15910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8:03 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58184" y="15910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Local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38344" y="159105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5 yr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24144" y="159105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E3F"/>
                </a:solidFill>
              </a:rPr>
              <a:t>LEGIT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066544"/>
            <a:ext cx="91440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280160" y="2066544"/>
            <a:ext cx="155448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34640" y="2066544"/>
            <a:ext cx="86868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03320" y="2066544"/>
            <a:ext cx="128016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2066544"/>
            <a:ext cx="68580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0" y="2066544"/>
            <a:ext cx="9144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20665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$4,800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335024" y="206654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Best Buy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889504" y="206654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2:17 AM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58184" y="206654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300 mi away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38344" y="206654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5 yr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724144" y="20665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FRAUD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2542032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80160" y="2542032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34640" y="2542032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03320" y="2542032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2542032"/>
            <a:ext cx="685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69280" y="2542032"/>
            <a:ext cx="914400" cy="457200"/>
          </a:xfrm>
          <a:prstGeom prst="rect">
            <a:avLst/>
          </a:prstGeom>
          <a:solidFill>
            <a:srgbClr val="EDFA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25420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$23.50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335024" y="25420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Shell Gas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89504" y="254203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6:45 PM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758184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Local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038344" y="25420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5 yr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724144" y="25420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5E3F"/>
                </a:solidFill>
              </a:rPr>
              <a:t>LEGIT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5760" y="3017520"/>
            <a:ext cx="91440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280160" y="3017520"/>
            <a:ext cx="155448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34640" y="3017520"/>
            <a:ext cx="86868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03320" y="3017520"/>
            <a:ext cx="128016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83480" y="3017520"/>
            <a:ext cx="685800" cy="457200"/>
          </a:xfrm>
          <a:prstGeom prst="rect">
            <a:avLst/>
          </a:prstGeom>
          <a:solidFill>
            <a:srgbClr val="F5F8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69280" y="3017520"/>
            <a:ext cx="9144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$1.00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335024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Amazon.com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889504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11:42 PM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758184" y="3017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Online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38344" y="30175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2 wk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724144" y="3017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</a:rPr>
              <a:t>FRAUD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65760" y="3493008"/>
            <a:ext cx="914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0160" y="349300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834640" y="3493008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703320" y="3493008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983480" y="3493008"/>
            <a:ext cx="685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669280" y="3493008"/>
            <a:ext cx="914400" cy="457200"/>
          </a:xfrm>
          <a:prstGeom prst="rect">
            <a:avLst/>
          </a:prstGeom>
          <a:solidFill>
            <a:srgbClr val="FFF4E6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" y="34930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$850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1335024" y="34930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Apple Store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2889504" y="349300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3:30 PM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758184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45 mi away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5038344" y="34930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535"/>
                </a:solidFill>
              </a:rPr>
              <a:t>3 yr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724144" y="34930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5E00"/>
                </a:solidFill>
              </a:rPr>
              <a:t>???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Reveal: precision vs. recall — where you draw the line is a BUSINESS decision, not a math decision</a:t>
            </a:r>
            <a:endParaRPr lang="en-US" sz="1100" dirty="0"/>
          </a:p>
        </p:txBody>
      </p:sp>
      <p:sp>
        <p:nvSpPr>
          <p:cNvPr id="82" name="Text 7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EVALUATION OPENER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  Accuracy Trap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built a fraud detection model.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8046720" cy="1280160"/>
          </a:xfrm>
          <a:prstGeom prst="rect">
            <a:avLst/>
          </a:prstGeom>
          <a:solidFill>
            <a:srgbClr val="1A3A5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26464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 99.97%  accurate.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8046720" cy="749808"/>
          </a:xfrm>
          <a:prstGeom prst="rect">
            <a:avLst/>
          </a:prstGeom>
          <a:solidFill>
            <a:srgbClr val="141D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5292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🙋  Raise your hand if you would deploy that model.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7307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(Wait for hands — then deliver the reveal.)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Reveal: it predicts 'not fraud' for every single transaction. Never flags anything. Still 99.97% accurate.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THE COOKBOOK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0A5E3F"/>
          </a:solidFill>
          <a:ln w="12700">
            <a:solidFill>
              <a:srgbClr val="0A5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  Recipe Shout-Out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describe the problem.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E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shout the recipe.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6217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01952"/>
            <a:ext cx="91440" cy="4937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01952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Which customers will churn next month?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1901952"/>
            <a:ext cx="2103120" cy="4937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90195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 / Classify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468880"/>
            <a:ext cx="6217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68880"/>
            <a:ext cx="91440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6888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Something weird just happened on this account.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20840" y="2468880"/>
            <a:ext cx="2103120" cy="4937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46888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Anomaly Detect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035808"/>
            <a:ext cx="6217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035808"/>
            <a:ext cx="91440" cy="4937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35808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What product should this CFO see right now?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3035808"/>
            <a:ext cx="2103120" cy="4937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03580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Rank &amp; Recommend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602736"/>
            <a:ext cx="6217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602736"/>
            <a:ext cx="91440" cy="4937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02736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Which small businesses behave similarly?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3602736"/>
            <a:ext cx="2103120" cy="4937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360273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Cluster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0040" y="4169664"/>
            <a:ext cx="62179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169664"/>
            <a:ext cx="91440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69664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535"/>
                </a:solidFill>
              </a:rPr>
              <a:t>How much will deposit volume be next quarter?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720840" y="4169664"/>
            <a:ext cx="2103120" cy="4937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16966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METRIC FAMILIES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  Metric Poll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bank customer — which matters more to you?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3931920" cy="2423160"/>
          </a:xfrm>
          <a:prstGeom prst="rect">
            <a:avLst/>
          </a:prstGeom>
          <a:solidFill>
            <a:srgbClr val="1A3A5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11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bank NEVER blocks your legitimate transactions.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976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931920" cy="2423160"/>
          </a:xfrm>
          <a:prstGeom prst="rect">
            <a:avLst/>
          </a:prstGeom>
          <a:solidFill>
            <a:srgbClr val="2A1E30"/>
          </a:solidFill>
          <a:ln w="12700">
            <a:solidFill>
              <a:srgbClr val="5B2C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B2C8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3931920" cy="45720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0116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bank catches every single fraud attempt.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Reveal: A = Precision. B = Recall. The 'right' answer is a business decision — not a math decision.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400070"/>
          </a:solidFill>
          <a:ln w="12700">
            <a:solidFill>
              <a:srgbClr val="40007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DATA LEAKAGE SLIDE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5B2C8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  Spot the Leakage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2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of these features makes a data scientist nervous.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A5568"/>
                </a:solidFill>
              </a:rPr>
              <a:t>I'm predicting which customers will default on a loan.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1783080"/>
            <a:ext cx="64008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1783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transaction_amount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2313432"/>
            <a:ext cx="64008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231343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merchant_category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2843784"/>
            <a:ext cx="64008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84378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account_age_days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71600" y="3374136"/>
            <a:ext cx="640080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33741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days_since_last_login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904488"/>
            <a:ext cx="6400800" cy="457200"/>
          </a:xfrm>
          <a:prstGeom prst="rect">
            <a:avLst/>
          </a:prstGeom>
          <a:solidFill>
            <a:srgbClr val="FFF0F0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9044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account_closed_flag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3E8FD"/>
          </a:solidFill>
          <a:ln w="12700">
            <a:solidFill>
              <a:srgbClr val="5B2C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C8D"/>
                </a:solidFill>
              </a:rPr>
              <a:t>Which one? Why does it worry you? (Give the room 30 seconds before the reveal.)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ANY TRANSITION POINT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  Raise Your Hand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🙋  Raise your hand if...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128016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4475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</a:rPr>
              <a:t>...you've ever trusted a number from a report without asking what the metric was.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06640" y="1536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028090"/>
                </a:solidFill>
              </a:rPr>
              <a:t>(Everyone)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76272"/>
            <a:ext cx="128016" cy="71323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4942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</a:rPr>
              <a:t>...you've deployed something that worked great in testing and bombed in production.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06640" y="2340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2196F3"/>
                </a:solidFill>
              </a:rPr>
              <a:t>(Engineers)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80944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980944"/>
            <a:ext cx="128016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5409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</a:rPr>
              <a:t>...a vendor has told you their model is '95% accurate' and you didn't know what to say.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06640" y="314553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E67E22"/>
                </a:solidFill>
              </a:rPr>
              <a:t>(Business/execs)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785616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785616"/>
            <a:ext cx="128016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85876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535"/>
                </a:solidFill>
              </a:rPr>
              <a:t>...someone said 'the AI recommended it' and that ended the conversation.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0" y="395020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C0392B"/>
                </a:solidFill>
              </a:rPr>
              <a:t>(Universal)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E2D4E"/>
          </a:solidFill>
          <a:ln w="12700">
            <a:solidFill>
              <a:srgbClr val="1E2D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ENGAGEMENT ACTIVITY — GOOD EVALUATION / TAKEAWAYS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solidFill>
            <a:srgbClr val="0A5E3F"/>
          </a:solidFill>
          <a:ln w="12700">
            <a:solidFill>
              <a:srgbClr val="0A5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  Baseline Challenge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do you deploy?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3977640" cy="2633472"/>
          </a:xfrm>
          <a:prstGeom prst="rect">
            <a:avLst/>
          </a:prstGeom>
          <a:solidFill>
            <a:srgbClr val="0D2535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898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02920" y="2423160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Catches 80% of fraud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843784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Costs $400K to build &amp; maintain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264408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64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3 months to deploy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685032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85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Generates ~50 false positives/day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1298448"/>
            <a:ext cx="3977640" cy="2633472"/>
          </a:xfrm>
          <a:prstGeom prst="rect">
            <a:avLst/>
          </a:prstGeom>
          <a:solidFill>
            <a:srgbClr val="1A2B10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138988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79222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Rule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029200" y="2423160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4231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Catches 60% of fraud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2843784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One afternoon to write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3264408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32644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Deploy today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3685032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685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Generates ~5 false positives/day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A28"/>
          </a:solidFill>
          <a:ln w="12700">
            <a:solidFill>
              <a:srgbClr val="0A1A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0001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</a:rPr>
              <a:t>There is no right answer until you know what 20% more recall is worth in dollars — vs. 10x the false positive workload.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Engagement Activities — DS Talk Slides</dc:title>
  <dc:subject>PptxGenJS Presentation</dc:subject>
  <dc:creator>Mike Ames</dc:creator>
  <cp:lastModifiedBy>Mike Ames</cp:lastModifiedBy>
  <cp:revision>1</cp:revision>
  <dcterms:created xsi:type="dcterms:W3CDTF">2026-04-06T16:56:44Z</dcterms:created>
  <dcterms:modified xsi:type="dcterms:W3CDTF">2026-04-06T16:56:44Z</dcterms:modified>
</cp:coreProperties>
</file>