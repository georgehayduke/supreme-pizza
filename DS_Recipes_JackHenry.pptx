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want to demystify data science — not sell you on it, not scare you with it. Three pillars: Recipes, Evaluation, and Systems. By the end you'll have a mental model that makes you a much sharper consumer of anything DS-related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career is the point — I started wanting to be a stock trader, ended up in law enforcement analytics, banking, Amazon, fraud prevention, and now here. The common thread isn't the domain, it's applying analytical recipes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clearing the air. The gap between the movie version and reality is enormous — and that gap causes a lot of bad decisions in organizations. Neither column captures what actually makes DS succeed or fail. That's the real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definition — three parts, not two. Recipes get you in the kitchen. Evaluation tells you if the dish is edible. The system is what keeps the restaurant running. Most organizations nail the recipe. Very few nail evaluation. Almost none build a real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recipes. Classification (yes/no), Prediction (how much), Clustering (who's similar), Anomaly detection (what's weird), and Ranking/Recommendation. 90% of DS problems map to one of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ingredient that separates data science from data reporting. Anyone can pull a number. Statistics tells you whether that number means something. Hypothesis testing, confidence intervals, and A/B testing are the three recipes you'll encounter most. Without these, you're pattern-matching, not analyzing.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five recipes, different kitchen. The patterns transfer directly — fraud detection is classification, cash flow is prediction, BSA/AML is anomaly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my career intersects directly with Jack Henry's world. Fraud ML is one of the hardest DS problems — real-time constraint, class imbalance, adversarial actors. XGBoost and CatBoost are workhorses here. SHAP is non-negotiable for compliance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recipe, different domain. This is the transferability of analytical recipes. The mathematics of recommendation is identical whether you're recommending products or banking services. Domain knowledge is what you bring.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This is the pivot. Most DS education stops at 'here's how to run the model.' We're spending the second section on what actually determines whether a project succeeds or fails. The crime scene metaphor is intentional — everything looked fine, then it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DS projects die. The algorithm almost never kills the project. It's always evaluation — or the lack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is almost always the wrong metric. Every recipe family has a set of metrics that work together. For fraud classification, you want AUC-ROC for ranking, PR-AUC because class imbalance makes regular AUC misleading, logloss for calibration, and precision/recall at your operational threshold. You can't reduce it to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 and sampling are deeply connected. Bad sampling is the mechanism by which overfitting happens. If your training data doesn't represent the real distribution — because of time leakage, class imbalance, or geographic bias — your model will memorize the wrong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is insidious because the model looks perfect. The only catch is you need deep business domain knowledge to spot it — which features are available at prediction time vs. after the event you're predicting.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evaluation gates. Every DS project should pass all four. If it can't, it's not ready to influence real decisions — no matter how impressive the demo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evaluation is fundamentally different and most orgs are getting it wrong. They ship an LLM application, do some vibe-checking, and call it done. The 3 hard problems are real — but they're solvable with the right framework. LLM-as-judge is becoming standard; RAGAS is the go-to for retrieval-augmented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pillar. Two parts of the mystery solved — recipes and evaluation. The system is the final suspect. Recipe + evaluation gets you a model. The system is what turns a model into a reliable business asset. This is where most organizations fail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4 A's framework — Automation, Accuracy, Adaptability, Accountability. These four forces have to work in harmony. A model with great accuracy but no automation is a spreadsheet. A model with automation but no accountability is a liability. The system is what makes it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piece most teams skip. They build the model, ship it, and walk away. But models decay. Fraudsters adapt. Customer behavior shifts. The feedback loop is what separates a model from a system. The outcome censorship point is particularly important for fraud ML — you need explicit strategies like reject inference or holdout sampling to handle the data you never get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 Four questions. Whether you're evaluating a vendor pitch, reviewing your own team's work, or deciding whether to trust a model — these four questions will protect you. 'Demand a white-box' is the one I feel most strongly about in a regulated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shot. AI is genuinely making it easier to get a model running. I'm not dismissing that — it's real and the pace is accelerating. But it's not replacing the judgment: which metric, how to sample, what the baseline is, how to explain the decision, and how to build a system that sustains it. Those are human skills. And they're more valuable now, not less, because everyone else is skipping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Three pillars: Recipes, Evaluation, System. The message: DS is not magic, doesn't require a PhD to engage with critically. Ask the right questions, demand white-boxes, and remember — the system is what makes it last.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28090"/>
          </a:solidFill>
          <a:ln w="12700">
            <a:solidFill>
              <a:srgbClr val="028090"/>
            </a:solidFill>
            <a:prstDash val="solid"/>
          </a:ln>
        </p:spPr>
      </p:sp>
      <p:sp>
        <p:nvSpPr>
          <p:cNvPr id="3" name="Shape 1"/>
          <p:cNvSpPr/>
          <p:nvPr/>
        </p:nvSpPr>
        <p:spPr>
          <a:xfrm>
            <a:off x="274320" y="0"/>
            <a:ext cx="91440" cy="5143500"/>
          </a:xfrm>
          <a:prstGeom prst="rect">
            <a:avLst/>
          </a:prstGeom>
          <a:solidFill>
            <a:srgbClr val="02C39A"/>
          </a:solidFill>
          <a:ln w="12700">
            <a:solidFill>
              <a:srgbClr val="02C39A"/>
            </a:solidFill>
            <a:prstDash val="solid"/>
          </a:ln>
        </p:spPr>
      </p:sp>
      <p:sp>
        <p:nvSpPr>
          <p:cNvPr id="4" name="Text 2"/>
          <p:cNvSpPr/>
          <p:nvPr/>
        </p:nvSpPr>
        <p:spPr>
          <a:xfrm>
            <a:off x="594360" y="914400"/>
            <a:ext cx="8321040" cy="1051560"/>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Data Science Isn't Magic</a:t>
            </a:r>
            <a:endParaRPr lang="en-US" sz="4600" dirty="0"/>
          </a:p>
        </p:txBody>
      </p:sp>
      <p:sp>
        <p:nvSpPr>
          <p:cNvPr id="5" name="Text 3"/>
          <p:cNvSpPr/>
          <p:nvPr/>
        </p:nvSpPr>
        <p:spPr>
          <a:xfrm>
            <a:off x="594360" y="2057400"/>
            <a:ext cx="8321040" cy="685800"/>
          </a:xfrm>
          <a:prstGeom prst="rect">
            <a:avLst/>
          </a:prstGeom>
          <a:noFill/>
          <a:ln/>
        </p:spPr>
        <p:txBody>
          <a:bodyPr wrap="square" lIns="0" tIns="0" rIns="0" bIns="0" rtlCol="0" anchor="ctr"/>
          <a:lstStyle/>
          <a:p>
            <a:pPr algn="l" indent="0" marL="0">
              <a:buNone/>
            </a:pPr>
            <a:r>
              <a:rPr lang="en-US" sz="2600" i="1" dirty="0">
                <a:solidFill>
                  <a:srgbClr val="02C39A"/>
                </a:solidFill>
                <a:latin typeface="Georgia" pitchFamily="34" charset="0"/>
                <a:ea typeface="Georgia" pitchFamily="34" charset="-122"/>
                <a:cs typeface="Georgia" pitchFamily="34" charset="-120"/>
              </a:rPr>
              <a:t>It's Recipes, Evaluation &amp; Systems.</a:t>
            </a:r>
            <a:endParaRPr lang="en-US" sz="2600" dirty="0"/>
          </a:p>
        </p:txBody>
      </p:sp>
      <p:sp>
        <p:nvSpPr>
          <p:cNvPr id="6" name="Shape 4"/>
          <p:cNvSpPr/>
          <p:nvPr/>
        </p:nvSpPr>
        <p:spPr>
          <a:xfrm>
            <a:off x="594360" y="2907792"/>
            <a:ext cx="4114800" cy="45720"/>
          </a:xfrm>
          <a:prstGeom prst="rect">
            <a:avLst/>
          </a:prstGeom>
          <a:solidFill>
            <a:srgbClr val="028090"/>
          </a:solidFill>
          <a:ln w="12700">
            <a:solidFill>
              <a:srgbClr val="028090"/>
            </a:solidFill>
            <a:prstDash val="solid"/>
          </a:ln>
        </p:spPr>
      </p:sp>
      <p:sp>
        <p:nvSpPr>
          <p:cNvPr id="7" name="Text 5"/>
          <p:cNvSpPr/>
          <p:nvPr/>
        </p:nvSpPr>
        <p:spPr>
          <a:xfrm>
            <a:off x="594360" y="3154680"/>
            <a:ext cx="8229600" cy="365760"/>
          </a:xfrm>
          <a:prstGeom prst="rect">
            <a:avLst/>
          </a:prstGeom>
          <a:noFill/>
          <a:ln/>
        </p:spPr>
        <p:txBody>
          <a:bodyPr wrap="square" lIns="0" tIns="0" rIns="0" bIns="0" rtlCol="0" anchor="ctr"/>
          <a:lstStyle/>
          <a:p>
            <a:pPr algn="l" indent="0" marL="0">
              <a:buNone/>
            </a:pPr>
            <a:r>
              <a:rPr lang="en-US" sz="1300" dirty="0">
                <a:solidFill>
                  <a:srgbClr val="94A3B8"/>
                </a:solidFill>
              </a:rPr>
              <a:t>Mike Ames, Head of Data Science  |  Jack Henry &amp; Associates  |  2026</a:t>
            </a:r>
            <a:endParaRPr lang="en-US" sz="1300" dirty="0"/>
          </a:p>
        </p:txBody>
      </p:sp>
      <p:sp>
        <p:nvSpPr>
          <p:cNvPr id="8" name="Text 6"/>
          <p:cNvSpPr/>
          <p:nvPr/>
        </p:nvSpPr>
        <p:spPr>
          <a:xfrm>
            <a:off x="594360" y="4617720"/>
            <a:ext cx="8229600" cy="347472"/>
          </a:xfrm>
          <a:prstGeom prst="rect">
            <a:avLst/>
          </a:prstGeom>
          <a:noFill/>
          <a:ln/>
        </p:spPr>
        <p:txBody>
          <a:bodyPr wrap="square" lIns="0" tIns="0" rIns="0" bIns="0" rtlCol="0" anchor="ctr"/>
          <a:lstStyle/>
          <a:p>
            <a:pPr algn="l" indent="0" marL="0">
              <a:buNone/>
            </a:pPr>
            <a:r>
              <a:rPr lang="en-US" sz="1200" i="1" dirty="0">
                <a:solidFill>
                  <a:srgbClr val="94A3B8"/>
                </a:solidFill>
              </a:rPr>
              <a:t>"Data science isn't about knowing more — it's about seeing differently."</a:t>
            </a:r>
            <a:endParaRPr lang="en-US" sz="1200" dirty="0"/>
          </a:p>
        </p:txBody>
      </p:sp>
      <p:sp>
        <p:nvSpPr>
          <p:cNvPr id="10" name="Text 7"/>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1 / 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WHO AM I?</a:t>
            </a:r>
            <a:endParaRPr lang="en-US" sz="1300" dirty="0"/>
          </a:p>
        </p:txBody>
      </p:sp>
      <p:sp>
        <p:nvSpPr>
          <p:cNvPr id="4" name="Text 2"/>
          <p:cNvSpPr/>
          <p:nvPr/>
        </p:nvSpPr>
        <p:spPr>
          <a:xfrm>
            <a:off x="457200" y="777240"/>
            <a:ext cx="5303520" cy="594360"/>
          </a:xfrm>
          <a:prstGeom prst="rect">
            <a:avLst/>
          </a:prstGeom>
          <a:noFill/>
          <a:ln/>
        </p:spPr>
        <p:txBody>
          <a:bodyPr wrap="square" lIns="0" tIns="0" rIns="0" bIns="0" rtlCol="0" anchor="ctr"/>
          <a:lstStyle/>
          <a:p>
            <a:pPr indent="0" marL="0">
              <a:buNone/>
            </a:pPr>
            <a:r>
              <a:rPr lang="en-US" sz="2100" b="1" dirty="0">
                <a:solidFill>
                  <a:srgbClr val="1E2D4E"/>
                </a:solidFill>
                <a:latin typeface="Georgia" pitchFamily="34" charset="0"/>
                <a:ea typeface="Georgia" pitchFamily="34" charset="-122"/>
                <a:cs typeface="Georgia" pitchFamily="34" charset="-120"/>
              </a:rPr>
              <a:t>The career that wasn't supposed to look like this</a:t>
            </a:r>
            <a:endParaRPr lang="en-US" sz="2100" dirty="0"/>
          </a:p>
        </p:txBody>
      </p:sp>
      <p:sp>
        <p:nvSpPr>
          <p:cNvPr id="5" name="Shape 3"/>
          <p:cNvSpPr/>
          <p:nvPr/>
        </p:nvSpPr>
        <p:spPr>
          <a:xfrm>
            <a:off x="457200" y="1572768"/>
            <a:ext cx="384048" cy="384048"/>
          </a:xfrm>
          <a:prstGeom prst="ellipse">
            <a:avLst/>
          </a:prstGeom>
          <a:solidFill>
            <a:srgbClr val="028090"/>
          </a:solidFill>
          <a:ln w="12700">
            <a:solidFill>
              <a:srgbClr val="028090"/>
            </a:solidFill>
            <a:prstDash val="solid"/>
          </a:ln>
        </p:spPr>
      </p:sp>
      <p:sp>
        <p:nvSpPr>
          <p:cNvPr id="6" name="Text 4"/>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7" name="Text 5"/>
          <p:cNvSpPr/>
          <p:nvPr/>
        </p:nvSpPr>
        <p:spPr>
          <a:xfrm>
            <a:off x="960120" y="1591056"/>
            <a:ext cx="4663440" cy="475488"/>
          </a:xfrm>
          <a:prstGeom prst="rect">
            <a:avLst/>
          </a:prstGeom>
          <a:noFill/>
          <a:ln/>
        </p:spPr>
        <p:txBody>
          <a:bodyPr wrap="square" lIns="0" tIns="0" rIns="0" bIns="0" rtlCol="0" anchor="ctr"/>
          <a:lstStyle/>
          <a:p>
            <a:pPr indent="0" marL="0">
              <a:buNone/>
            </a:pPr>
            <a:r>
              <a:rPr lang="en-US" sz="1300" dirty="0">
                <a:solidFill>
                  <a:srgbClr val="1A2535"/>
                </a:solidFill>
              </a:rPr>
              <a:t>SAS Institute — banking &amp; financial crimes analytics</a:t>
            </a:r>
            <a:endParaRPr lang="en-US" sz="1300" dirty="0"/>
          </a:p>
        </p:txBody>
      </p:sp>
      <p:sp>
        <p:nvSpPr>
          <p:cNvPr id="8" name="Shape 6"/>
          <p:cNvSpPr/>
          <p:nvPr/>
        </p:nvSpPr>
        <p:spPr>
          <a:xfrm>
            <a:off x="457200" y="2322576"/>
            <a:ext cx="384048" cy="384048"/>
          </a:xfrm>
          <a:prstGeom prst="ellipse">
            <a:avLst/>
          </a:prstGeom>
          <a:solidFill>
            <a:srgbClr val="028090"/>
          </a:solidFill>
          <a:ln w="12700">
            <a:solidFill>
              <a:srgbClr val="028090"/>
            </a:solidFill>
            <a:prstDash val="solid"/>
          </a:ln>
        </p:spPr>
      </p:sp>
      <p:sp>
        <p:nvSpPr>
          <p:cNvPr id="9" name="Text 7"/>
          <p:cNvSpPr/>
          <p:nvPr/>
        </p:nvSpPr>
        <p:spPr>
          <a:xfrm>
            <a:off x="457200" y="2322576"/>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0" name="Text 8"/>
          <p:cNvSpPr/>
          <p:nvPr/>
        </p:nvSpPr>
        <p:spPr>
          <a:xfrm>
            <a:off x="960120" y="2340864"/>
            <a:ext cx="4663440" cy="475488"/>
          </a:xfrm>
          <a:prstGeom prst="rect">
            <a:avLst/>
          </a:prstGeom>
          <a:noFill/>
          <a:ln/>
        </p:spPr>
        <p:txBody>
          <a:bodyPr wrap="square" lIns="0" tIns="0" rIns="0" bIns="0" rtlCol="0" anchor="ctr"/>
          <a:lstStyle/>
          <a:p>
            <a:pPr indent="0" marL="0">
              <a:buNone/>
            </a:pPr>
            <a:r>
              <a:rPr lang="en-US" sz="1300" dirty="0">
                <a:solidFill>
                  <a:srgbClr val="1A2535"/>
                </a:solidFill>
              </a:rPr>
              <a:t>Amazon — Research Scientist. Quickly learned I wasn't the smartest person in the room.</a:t>
            </a:r>
            <a:endParaRPr lang="en-US" sz="1300" dirty="0"/>
          </a:p>
        </p:txBody>
      </p:sp>
      <p:sp>
        <p:nvSpPr>
          <p:cNvPr id="11" name="Shape 9"/>
          <p:cNvSpPr/>
          <p:nvPr/>
        </p:nvSpPr>
        <p:spPr>
          <a:xfrm>
            <a:off x="457200" y="3072384"/>
            <a:ext cx="384048" cy="384048"/>
          </a:xfrm>
          <a:prstGeom prst="ellipse">
            <a:avLst/>
          </a:prstGeom>
          <a:solidFill>
            <a:srgbClr val="028090"/>
          </a:solidFill>
          <a:ln w="12700">
            <a:solidFill>
              <a:srgbClr val="028090"/>
            </a:solidFill>
            <a:prstDash val="solid"/>
          </a:ln>
        </p:spPr>
      </p:sp>
      <p:sp>
        <p:nvSpPr>
          <p:cNvPr id="12" name="Text 10"/>
          <p:cNvSpPr/>
          <p:nvPr/>
        </p:nvSpPr>
        <p:spPr>
          <a:xfrm>
            <a:off x="457200" y="3072384"/>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3" name="Text 11"/>
          <p:cNvSpPr/>
          <p:nvPr/>
        </p:nvSpPr>
        <p:spPr>
          <a:xfrm>
            <a:off x="960120" y="3090672"/>
            <a:ext cx="4663440" cy="475488"/>
          </a:xfrm>
          <a:prstGeom prst="rect">
            <a:avLst/>
          </a:prstGeom>
          <a:noFill/>
          <a:ln/>
        </p:spPr>
        <p:txBody>
          <a:bodyPr wrap="square" lIns="0" tIns="0" rIns="0" bIns="0" rtlCol="0" anchor="ctr"/>
          <a:lstStyle/>
          <a:p>
            <a:pPr indent="0" marL="0">
              <a:buNone/>
            </a:pPr>
            <a:r>
              <a:rPr lang="en-US" sz="1300" dirty="0">
                <a:solidFill>
                  <a:srgbClr val="1A2535"/>
                </a:solidFill>
              </a:rPr>
              <a:t>Equifax / Kount — identity fraud, graph databases, Colombia</a:t>
            </a:r>
            <a:endParaRPr lang="en-US" sz="1300" dirty="0"/>
          </a:p>
        </p:txBody>
      </p:sp>
      <p:sp>
        <p:nvSpPr>
          <p:cNvPr id="14" name="Shape 12"/>
          <p:cNvSpPr/>
          <p:nvPr/>
        </p:nvSpPr>
        <p:spPr>
          <a:xfrm>
            <a:off x="457200" y="3822192"/>
            <a:ext cx="384048" cy="384048"/>
          </a:xfrm>
          <a:prstGeom prst="ellipse">
            <a:avLst/>
          </a:prstGeom>
          <a:solidFill>
            <a:srgbClr val="028090"/>
          </a:solidFill>
          <a:ln w="12700">
            <a:solidFill>
              <a:srgbClr val="028090"/>
            </a:solidFill>
            <a:prstDash val="solid"/>
          </a:ln>
        </p:spPr>
      </p:sp>
      <p:sp>
        <p:nvSpPr>
          <p:cNvPr id="15" name="Text 13"/>
          <p:cNvSpPr/>
          <p:nvPr/>
        </p:nvSpPr>
        <p:spPr>
          <a:xfrm>
            <a:off x="457200" y="3822192"/>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6" name="Text 14"/>
          <p:cNvSpPr/>
          <p:nvPr/>
        </p:nvSpPr>
        <p:spPr>
          <a:xfrm>
            <a:off x="960120" y="3840480"/>
            <a:ext cx="4663440" cy="475488"/>
          </a:xfrm>
          <a:prstGeom prst="rect">
            <a:avLst/>
          </a:prstGeom>
          <a:noFill/>
          <a:ln/>
        </p:spPr>
        <p:txBody>
          <a:bodyPr wrap="square" lIns="0" tIns="0" rIns="0" bIns="0" rtlCol="0" anchor="ctr"/>
          <a:lstStyle/>
          <a:p>
            <a:pPr indent="0" marL="0">
              <a:buNone/>
            </a:pPr>
            <a:r>
              <a:rPr lang="en-US" sz="1300" dirty="0">
                <a:solidFill>
                  <a:srgbClr val="1A2535"/>
                </a:solidFill>
              </a:rPr>
              <a:t>Jack Henry — Head of Data Science. 7,400+ clients. 14.5M users.</a:t>
            </a:r>
            <a:endParaRPr lang="en-US" sz="1300" dirty="0"/>
          </a:p>
        </p:txBody>
      </p:sp>
      <p:sp>
        <p:nvSpPr>
          <p:cNvPr id="17" name="Shape 15"/>
          <p:cNvSpPr/>
          <p:nvPr/>
        </p:nvSpPr>
        <p:spPr>
          <a:xfrm>
            <a:off x="6035040" y="731520"/>
            <a:ext cx="2743200" cy="4114800"/>
          </a:xfrm>
          <a:prstGeom prst="rect">
            <a:avLst/>
          </a:prstGeom>
          <a:solidFill>
            <a:srgbClr val="D8E8F0"/>
          </a:solidFill>
          <a:ln w="12700">
            <a:solidFill>
              <a:srgbClr val="D8E8F0"/>
            </a:solidFill>
            <a:prstDash val="solid"/>
          </a:ln>
        </p:spPr>
      </p:sp>
      <p:sp>
        <p:nvSpPr>
          <p:cNvPr id="18" name="Text 16"/>
          <p:cNvSpPr/>
          <p:nvPr/>
        </p:nvSpPr>
        <p:spPr>
          <a:xfrm>
            <a:off x="6035040" y="1005840"/>
            <a:ext cx="2743200" cy="2286000"/>
          </a:xfrm>
          <a:prstGeom prst="rect">
            <a:avLst/>
          </a:prstGeom>
          <a:noFill/>
          <a:ln/>
        </p:spPr>
        <p:txBody>
          <a:bodyPr wrap="square" lIns="0" tIns="0" rIns="0" bIns="0" rtlCol="0" anchor="ctr"/>
          <a:lstStyle/>
          <a:p>
            <a:pPr algn="ctr" indent="0" marL="0">
              <a:buNone/>
            </a:pPr>
            <a:r>
              <a:rPr lang="en-US" sz="5800" b="1" dirty="0">
                <a:solidFill>
                  <a:srgbClr val="028090"/>
                </a:solidFill>
                <a:latin typeface="Georgia" pitchFamily="34" charset="0"/>
                <a:ea typeface="Georgia" pitchFamily="34" charset="-122"/>
                <a:cs typeface="Georgia" pitchFamily="34" charset="-120"/>
              </a:rPr>
              <a:t>Non-</a:t>
            </a:r>
            <a:endParaRPr lang="en-US" sz="5800" dirty="0"/>
          </a:p>
          <a:p>
            <a:pPr algn="ctr" indent="0" marL="0">
              <a:buNone/>
            </a:pPr>
            <a:r>
              <a:rPr lang="en-US" sz="5800" b="1" dirty="0">
                <a:solidFill>
                  <a:srgbClr val="028090"/>
                </a:solidFill>
                <a:latin typeface="Georgia" pitchFamily="34" charset="0"/>
                <a:ea typeface="Georgia" pitchFamily="34" charset="-122"/>
                <a:cs typeface="Georgia" pitchFamily="34" charset="-120"/>
              </a:rPr>
              <a:t>Linear</a:t>
            </a:r>
            <a:endParaRPr lang="en-US" sz="5800" dirty="0"/>
          </a:p>
        </p:txBody>
      </p:sp>
      <p:sp>
        <p:nvSpPr>
          <p:cNvPr id="19" name="Text 17"/>
          <p:cNvSpPr/>
          <p:nvPr/>
        </p:nvSpPr>
        <p:spPr>
          <a:xfrm>
            <a:off x="6035040" y="3200400"/>
            <a:ext cx="2743200" cy="365760"/>
          </a:xfrm>
          <a:prstGeom prst="rect">
            <a:avLst/>
          </a:prstGeom>
          <a:noFill/>
          <a:ln/>
        </p:spPr>
        <p:txBody>
          <a:bodyPr wrap="square" lIns="0" tIns="0" rIns="0" bIns="0" rtlCol="0" anchor="ctr"/>
          <a:lstStyle/>
          <a:p>
            <a:pPr algn="ctr" indent="0" marL="0">
              <a:buNone/>
            </a:pPr>
            <a:r>
              <a:rPr lang="en-US" sz="1400" dirty="0">
                <a:solidFill>
                  <a:srgbClr val="4A5568"/>
                </a:solidFill>
              </a:rPr>
              <a:t>career path</a:t>
            </a:r>
            <a:endParaRPr lang="en-US" sz="1400" dirty="0"/>
          </a:p>
        </p:txBody>
      </p:sp>
      <p:sp>
        <p:nvSpPr>
          <p:cNvPr id="20" name="Text 18"/>
          <p:cNvSpPr/>
          <p:nvPr/>
        </p:nvSpPr>
        <p:spPr>
          <a:xfrm>
            <a:off x="6035040" y="3611880"/>
            <a:ext cx="2743200" cy="320040"/>
          </a:xfrm>
          <a:prstGeom prst="rect">
            <a:avLst/>
          </a:prstGeom>
          <a:noFill/>
          <a:ln/>
        </p:spPr>
        <p:txBody>
          <a:bodyPr wrap="square" lIns="0" tIns="0" rIns="0" bIns="0" rtlCol="0" anchor="ctr"/>
          <a:lstStyle/>
          <a:p>
            <a:pPr algn="ctr" indent="0" marL="0">
              <a:buNone/>
            </a:pPr>
            <a:r>
              <a:rPr lang="en-US" sz="1300" i="1" dirty="0">
                <a:solidFill>
                  <a:srgbClr val="028090"/>
                </a:solidFill>
              </a:rPr>
              <a:t>(feature, not bug)</a:t>
            </a:r>
            <a:endParaRPr lang="en-US" sz="1300" dirty="0"/>
          </a:p>
        </p:txBody>
      </p:sp>
      <p:sp>
        <p:nvSpPr>
          <p:cNvPr id="22" name="Text 1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WHAT EVERYONE THINKS DATA SCIENCE IS</a:t>
            </a:r>
            <a:endParaRPr lang="en-US" sz="1300" dirty="0"/>
          </a:p>
        </p:txBody>
      </p:sp>
      <p:sp>
        <p:nvSpPr>
          <p:cNvPr id="4" name="Shape 2"/>
          <p:cNvSpPr/>
          <p:nvPr/>
        </p:nvSpPr>
        <p:spPr>
          <a:xfrm>
            <a:off x="320040" y="731520"/>
            <a:ext cx="3931920" cy="4114800"/>
          </a:xfrm>
          <a:prstGeom prst="rect">
            <a:avLst/>
          </a:prstGeom>
          <a:solidFill>
            <a:srgbClr val="FFF0F0"/>
          </a:solidFill>
          <a:ln w="12700">
            <a:solidFill>
              <a:srgbClr val="F0C0C0"/>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320040" y="731520"/>
            <a:ext cx="3931920" cy="109728"/>
          </a:xfrm>
          <a:prstGeom prst="rect">
            <a:avLst/>
          </a:prstGeom>
          <a:solidFill>
            <a:srgbClr val="C0392B"/>
          </a:solidFill>
          <a:ln w="12700">
            <a:solidFill>
              <a:srgbClr val="C0392B"/>
            </a:solidFill>
            <a:prstDash val="solid"/>
          </a:ln>
        </p:spPr>
      </p:sp>
      <p:sp>
        <p:nvSpPr>
          <p:cNvPr id="6" name="Text 4"/>
          <p:cNvSpPr/>
          <p:nvPr/>
        </p:nvSpPr>
        <p:spPr>
          <a:xfrm>
            <a:off x="457200" y="868680"/>
            <a:ext cx="3657600" cy="438912"/>
          </a:xfrm>
          <a:prstGeom prst="rect">
            <a:avLst/>
          </a:prstGeom>
          <a:noFill/>
          <a:ln/>
        </p:spPr>
        <p:txBody>
          <a:bodyPr wrap="square" lIns="0" tIns="0" rIns="0" bIns="0" rtlCol="0" anchor="ctr"/>
          <a:lstStyle/>
          <a:p>
            <a:pPr indent="0" marL="0">
              <a:buNone/>
            </a:pPr>
            <a:r>
              <a:rPr lang="en-US" sz="1600" b="1" dirty="0">
                <a:solidFill>
                  <a:srgbClr val="C0392B"/>
                </a:solidFill>
              </a:rPr>
              <a:t>The Movie Version</a:t>
            </a:r>
            <a:endParaRPr lang="en-US" sz="1600" dirty="0"/>
          </a:p>
        </p:txBody>
      </p:sp>
      <p:sp>
        <p:nvSpPr>
          <p:cNvPr id="7" name="Text 5"/>
          <p:cNvSpPr/>
          <p:nvPr/>
        </p:nvSpPr>
        <p:spPr>
          <a:xfrm>
            <a:off x="457200" y="1444752"/>
            <a:ext cx="3657600" cy="438912"/>
          </a:xfrm>
          <a:prstGeom prst="rect">
            <a:avLst/>
          </a:prstGeom>
          <a:noFill/>
          <a:ln/>
        </p:spPr>
        <p:txBody>
          <a:bodyPr wrap="square" lIns="0" tIns="0" rIns="0" bIns="0" rtlCol="0" anchor="ctr"/>
          <a:lstStyle/>
          <a:p>
            <a:pPr indent="0" marL="0">
              <a:buNone/>
            </a:pPr>
            <a:r>
              <a:rPr lang="en-US" sz="1300" dirty="0">
                <a:solidFill>
                  <a:srgbClr val="1A2535"/>
                </a:solidFill>
              </a:rPr>
              <a:t>AI that teaches itself overnight</a:t>
            </a:r>
            <a:endParaRPr lang="en-US" sz="1300" dirty="0"/>
          </a:p>
        </p:txBody>
      </p:sp>
      <p:sp>
        <p:nvSpPr>
          <p:cNvPr id="8" name="Text 6"/>
          <p:cNvSpPr/>
          <p:nvPr/>
        </p:nvSpPr>
        <p:spPr>
          <a:xfrm>
            <a:off x="457200" y="1993392"/>
            <a:ext cx="3657600" cy="438912"/>
          </a:xfrm>
          <a:prstGeom prst="rect">
            <a:avLst/>
          </a:prstGeom>
          <a:noFill/>
          <a:ln/>
        </p:spPr>
        <p:txBody>
          <a:bodyPr wrap="square" lIns="0" tIns="0" rIns="0" bIns="0" rtlCol="0" anchor="ctr"/>
          <a:lstStyle/>
          <a:p>
            <a:pPr indent="0" marL="0">
              <a:buNone/>
            </a:pPr>
            <a:r>
              <a:rPr lang="en-US" sz="1300" dirty="0">
                <a:solidFill>
                  <a:srgbClr val="1A2535"/>
                </a:solidFill>
              </a:rPr>
              <a:t>Instant insight from any raw data</a:t>
            </a:r>
            <a:endParaRPr lang="en-US" sz="1300" dirty="0"/>
          </a:p>
        </p:txBody>
      </p:sp>
      <p:sp>
        <p:nvSpPr>
          <p:cNvPr id="9" name="Text 7"/>
          <p:cNvSpPr/>
          <p:nvPr/>
        </p:nvSpPr>
        <p:spPr>
          <a:xfrm>
            <a:off x="457200" y="2542032"/>
            <a:ext cx="3657600" cy="438912"/>
          </a:xfrm>
          <a:prstGeom prst="rect">
            <a:avLst/>
          </a:prstGeom>
          <a:noFill/>
          <a:ln/>
        </p:spPr>
        <p:txBody>
          <a:bodyPr wrap="square" lIns="0" tIns="0" rIns="0" bIns="0" rtlCol="0" anchor="ctr"/>
          <a:lstStyle/>
          <a:p>
            <a:pPr indent="0" marL="0">
              <a:buNone/>
            </a:pPr>
            <a:r>
              <a:rPr lang="en-US" sz="1300" dirty="0">
                <a:solidFill>
                  <a:srgbClr val="1A2535"/>
                </a:solidFill>
              </a:rPr>
              <a:t>The model just... knows things</a:t>
            </a:r>
            <a:endParaRPr lang="en-US" sz="1300" dirty="0"/>
          </a:p>
        </p:txBody>
      </p:sp>
      <p:sp>
        <p:nvSpPr>
          <p:cNvPr id="10" name="Text 8"/>
          <p:cNvSpPr/>
          <p:nvPr/>
        </p:nvSpPr>
        <p:spPr>
          <a:xfrm>
            <a:off x="457200" y="3090672"/>
            <a:ext cx="3657600" cy="438912"/>
          </a:xfrm>
          <a:prstGeom prst="rect">
            <a:avLst/>
          </a:prstGeom>
          <a:noFill/>
          <a:ln/>
        </p:spPr>
        <p:txBody>
          <a:bodyPr wrap="square" lIns="0" tIns="0" rIns="0" bIns="0" rtlCol="0" anchor="ctr"/>
          <a:lstStyle/>
          <a:p>
            <a:pPr indent="0" marL="0">
              <a:buNone/>
            </a:pPr>
            <a:r>
              <a:rPr lang="en-US" sz="1300" dirty="0">
                <a:solidFill>
                  <a:srgbClr val="1A2535"/>
                </a:solidFill>
              </a:rPr>
              <a:t>Magic black box — no explanation</a:t>
            </a:r>
            <a:endParaRPr lang="en-US" sz="1300" dirty="0"/>
          </a:p>
        </p:txBody>
      </p:sp>
      <p:sp>
        <p:nvSpPr>
          <p:cNvPr id="11" name="Text 9"/>
          <p:cNvSpPr/>
          <p:nvPr/>
        </p:nvSpPr>
        <p:spPr>
          <a:xfrm>
            <a:off x="457200" y="3639312"/>
            <a:ext cx="3657600" cy="438912"/>
          </a:xfrm>
          <a:prstGeom prst="rect">
            <a:avLst/>
          </a:prstGeom>
          <a:noFill/>
          <a:ln/>
        </p:spPr>
        <p:txBody>
          <a:bodyPr wrap="square" lIns="0" tIns="0" rIns="0" bIns="0" rtlCol="0" anchor="ctr"/>
          <a:lstStyle/>
          <a:p>
            <a:pPr indent="0" marL="0">
              <a:buNone/>
            </a:pPr>
            <a:r>
              <a:rPr lang="en-US" sz="1300" dirty="0">
                <a:solidFill>
                  <a:srgbClr val="1A2535"/>
                </a:solidFill>
              </a:rPr>
              <a:t>Lone genius saves the day</a:t>
            </a:r>
            <a:endParaRPr lang="en-US" sz="1300" dirty="0"/>
          </a:p>
        </p:txBody>
      </p:sp>
      <p:sp>
        <p:nvSpPr>
          <p:cNvPr id="12" name="Shape 10"/>
          <p:cNvSpPr/>
          <p:nvPr/>
        </p:nvSpPr>
        <p:spPr>
          <a:xfrm>
            <a:off x="4206240" y="2606040"/>
            <a:ext cx="731520" cy="731520"/>
          </a:xfrm>
          <a:prstGeom prst="ellipse">
            <a:avLst/>
          </a:prstGeom>
          <a:solidFill>
            <a:srgbClr val="1E2D4E"/>
          </a:solidFill>
          <a:ln w="12700">
            <a:solidFill>
              <a:srgbClr val="1E2D4E"/>
            </a:solidFill>
            <a:prstDash val="solid"/>
          </a:ln>
        </p:spPr>
      </p:sp>
      <p:sp>
        <p:nvSpPr>
          <p:cNvPr id="13" name="Text 11"/>
          <p:cNvSpPr/>
          <p:nvPr/>
        </p:nvSpPr>
        <p:spPr>
          <a:xfrm>
            <a:off x="4206240" y="2606040"/>
            <a:ext cx="731520" cy="731520"/>
          </a:xfrm>
          <a:prstGeom prst="rect">
            <a:avLst/>
          </a:prstGeom>
          <a:noFill/>
          <a:ln/>
        </p:spPr>
        <p:txBody>
          <a:bodyPr wrap="square" lIns="0" tIns="0" rIns="0" bIns="0" rtlCol="0" anchor="ctr"/>
          <a:lstStyle/>
          <a:p>
            <a:pPr algn="ctr" indent="0" marL="0">
              <a:buNone/>
            </a:pPr>
            <a:r>
              <a:rPr lang="en-US" sz="1400" b="1" dirty="0">
                <a:solidFill>
                  <a:srgbClr val="FFFFFF"/>
                </a:solidFill>
              </a:rPr>
              <a:t>VS</a:t>
            </a:r>
            <a:endParaRPr lang="en-US" sz="1400" dirty="0"/>
          </a:p>
        </p:txBody>
      </p:sp>
      <p:sp>
        <p:nvSpPr>
          <p:cNvPr id="14" name="Shape 12"/>
          <p:cNvSpPr/>
          <p:nvPr/>
        </p:nvSpPr>
        <p:spPr>
          <a:xfrm>
            <a:off x="4846320" y="731520"/>
            <a:ext cx="3931920" cy="4114800"/>
          </a:xfrm>
          <a:prstGeom prst="rect">
            <a:avLst/>
          </a:prstGeom>
          <a:solidFill>
            <a:srgbClr val="EDF7F9"/>
          </a:solidFill>
          <a:ln w="12700">
            <a:solidFill>
              <a:srgbClr val="A0D8E0"/>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4846320" y="731520"/>
            <a:ext cx="3931920" cy="109728"/>
          </a:xfrm>
          <a:prstGeom prst="rect">
            <a:avLst/>
          </a:prstGeom>
          <a:solidFill>
            <a:srgbClr val="028090"/>
          </a:solidFill>
          <a:ln w="12700">
            <a:solidFill>
              <a:srgbClr val="028090"/>
            </a:solidFill>
            <a:prstDash val="solid"/>
          </a:ln>
        </p:spPr>
      </p:sp>
      <p:sp>
        <p:nvSpPr>
          <p:cNvPr id="16" name="Text 14"/>
          <p:cNvSpPr/>
          <p:nvPr/>
        </p:nvSpPr>
        <p:spPr>
          <a:xfrm>
            <a:off x="4983480" y="868680"/>
            <a:ext cx="3657600" cy="438912"/>
          </a:xfrm>
          <a:prstGeom prst="rect">
            <a:avLst/>
          </a:prstGeom>
          <a:noFill/>
          <a:ln/>
        </p:spPr>
        <p:txBody>
          <a:bodyPr wrap="square" lIns="0" tIns="0" rIns="0" bIns="0" rtlCol="0" anchor="ctr"/>
          <a:lstStyle/>
          <a:p>
            <a:pPr indent="0" marL="0">
              <a:buNone/>
            </a:pPr>
            <a:r>
              <a:rPr lang="en-US" sz="1600" b="1" dirty="0">
                <a:solidFill>
                  <a:srgbClr val="028090"/>
                </a:solidFill>
              </a:rPr>
              <a:t>Actual Reality</a:t>
            </a:r>
            <a:endParaRPr lang="en-US" sz="1600" dirty="0"/>
          </a:p>
        </p:txBody>
      </p:sp>
      <p:sp>
        <p:nvSpPr>
          <p:cNvPr id="17" name="Text 15"/>
          <p:cNvSpPr/>
          <p:nvPr/>
        </p:nvSpPr>
        <p:spPr>
          <a:xfrm>
            <a:off x="4983480" y="1444752"/>
            <a:ext cx="3657600" cy="438912"/>
          </a:xfrm>
          <a:prstGeom prst="rect">
            <a:avLst/>
          </a:prstGeom>
          <a:noFill/>
          <a:ln/>
        </p:spPr>
        <p:txBody>
          <a:bodyPr wrap="square" lIns="0" tIns="0" rIns="0" bIns="0" rtlCol="0" anchor="ctr"/>
          <a:lstStyle/>
          <a:p>
            <a:pPr indent="0" marL="0">
              <a:buNone/>
            </a:pPr>
            <a:r>
              <a:rPr lang="en-US" sz="1300" dirty="0">
                <a:solidFill>
                  <a:srgbClr val="1A2535"/>
                </a:solidFill>
              </a:rPr>
              <a:t>80% wrangling messy, missing data</a:t>
            </a:r>
            <a:endParaRPr lang="en-US" sz="1300" dirty="0"/>
          </a:p>
        </p:txBody>
      </p:sp>
      <p:sp>
        <p:nvSpPr>
          <p:cNvPr id="18" name="Text 16"/>
          <p:cNvSpPr/>
          <p:nvPr/>
        </p:nvSpPr>
        <p:spPr>
          <a:xfrm>
            <a:off x="4983480" y="1993392"/>
            <a:ext cx="3657600" cy="438912"/>
          </a:xfrm>
          <a:prstGeom prst="rect">
            <a:avLst/>
          </a:prstGeom>
          <a:noFill/>
          <a:ln/>
        </p:spPr>
        <p:txBody>
          <a:bodyPr wrap="square" lIns="0" tIns="0" rIns="0" bIns="0" rtlCol="0" anchor="ctr"/>
          <a:lstStyle/>
          <a:p>
            <a:pPr indent="0" marL="0">
              <a:buNone/>
            </a:pPr>
            <a:r>
              <a:rPr lang="en-US" sz="1300" dirty="0">
                <a:solidFill>
                  <a:srgbClr val="1A2535"/>
                </a:solidFill>
              </a:rPr>
              <a:t>Arguing about which metric matters</a:t>
            </a:r>
            <a:endParaRPr lang="en-US" sz="1300" dirty="0"/>
          </a:p>
        </p:txBody>
      </p:sp>
      <p:sp>
        <p:nvSpPr>
          <p:cNvPr id="19" name="Text 17"/>
          <p:cNvSpPr/>
          <p:nvPr/>
        </p:nvSpPr>
        <p:spPr>
          <a:xfrm>
            <a:off x="4983480" y="2542032"/>
            <a:ext cx="3657600" cy="438912"/>
          </a:xfrm>
          <a:prstGeom prst="rect">
            <a:avLst/>
          </a:prstGeom>
          <a:noFill/>
          <a:ln/>
        </p:spPr>
        <p:txBody>
          <a:bodyPr wrap="square" lIns="0" tIns="0" rIns="0" bIns="0" rtlCol="0" anchor="ctr"/>
          <a:lstStyle/>
          <a:p>
            <a:pPr indent="0" marL="0">
              <a:buNone/>
            </a:pPr>
            <a:r>
              <a:rPr lang="en-US" sz="1300" dirty="0">
                <a:solidFill>
                  <a:srgbClr val="1A2535"/>
                </a:solidFill>
              </a:rPr>
              <a:t>Running the same model 47 times</a:t>
            </a:r>
            <a:endParaRPr lang="en-US" sz="1300" dirty="0"/>
          </a:p>
        </p:txBody>
      </p:sp>
      <p:sp>
        <p:nvSpPr>
          <p:cNvPr id="20" name="Text 18"/>
          <p:cNvSpPr/>
          <p:nvPr/>
        </p:nvSpPr>
        <p:spPr>
          <a:xfrm>
            <a:off x="4983480" y="3090672"/>
            <a:ext cx="3657600" cy="438912"/>
          </a:xfrm>
          <a:prstGeom prst="rect">
            <a:avLst/>
          </a:prstGeom>
          <a:noFill/>
          <a:ln/>
        </p:spPr>
        <p:txBody>
          <a:bodyPr wrap="square" lIns="0" tIns="0" rIns="0" bIns="0" rtlCol="0" anchor="ctr"/>
          <a:lstStyle/>
          <a:p>
            <a:pPr indent="0" marL="0">
              <a:buNone/>
            </a:pPr>
            <a:r>
              <a:rPr lang="en-US" sz="1300" dirty="0">
                <a:solidFill>
                  <a:srgbClr val="1A2535"/>
                </a:solidFill>
              </a:rPr>
              <a:t>Docs nobody reads, meetings nobody needs</a:t>
            </a:r>
            <a:endParaRPr lang="en-US" sz="1300" dirty="0"/>
          </a:p>
        </p:txBody>
      </p:sp>
      <p:sp>
        <p:nvSpPr>
          <p:cNvPr id="21" name="Text 19"/>
          <p:cNvSpPr/>
          <p:nvPr/>
        </p:nvSpPr>
        <p:spPr>
          <a:xfrm>
            <a:off x="4983480" y="3639312"/>
            <a:ext cx="3657600" cy="438912"/>
          </a:xfrm>
          <a:prstGeom prst="rect">
            <a:avLst/>
          </a:prstGeom>
          <a:noFill/>
          <a:ln/>
        </p:spPr>
        <p:txBody>
          <a:bodyPr wrap="square" lIns="0" tIns="0" rIns="0" bIns="0" rtlCol="0" anchor="ctr"/>
          <a:lstStyle/>
          <a:p>
            <a:pPr indent="0" marL="0">
              <a:buNone/>
            </a:pPr>
            <a:r>
              <a:rPr lang="en-US" sz="1300" dirty="0">
                <a:solidFill>
                  <a:srgbClr val="1A2535"/>
                </a:solidFill>
              </a:rPr>
              <a:t>Explaining why the model was wrong</a:t>
            </a:r>
            <a:endParaRPr lang="en-US" sz="1300" dirty="0"/>
          </a:p>
        </p:txBody>
      </p:sp>
      <p:sp>
        <p:nvSpPr>
          <p:cNvPr id="22" name="Shape 20"/>
          <p:cNvSpPr/>
          <p:nvPr/>
        </p:nvSpPr>
        <p:spPr>
          <a:xfrm>
            <a:off x="320040" y="4617720"/>
            <a:ext cx="8503920" cy="347472"/>
          </a:xfrm>
          <a:prstGeom prst="rect">
            <a:avLst/>
          </a:prstGeom>
          <a:solidFill>
            <a:srgbClr val="1E2D4E"/>
          </a:solidFill>
          <a:ln w="12700">
            <a:solidFill>
              <a:srgbClr val="1E2D4E"/>
            </a:solidFill>
            <a:prstDash val="solid"/>
          </a:ln>
        </p:spPr>
      </p:sp>
      <p:sp>
        <p:nvSpPr>
          <p:cNvPr id="23" name="Text 21"/>
          <p:cNvSpPr/>
          <p:nvPr/>
        </p:nvSpPr>
        <p:spPr>
          <a:xfrm>
            <a:off x="457200" y="4663440"/>
            <a:ext cx="8321040" cy="256032"/>
          </a:xfrm>
          <a:prstGeom prst="rect">
            <a:avLst/>
          </a:prstGeom>
          <a:noFill/>
          <a:ln/>
        </p:spPr>
        <p:txBody>
          <a:bodyPr wrap="square" lIns="0" tIns="0" rIns="0" bIns="0" rtlCol="0" anchor="ctr"/>
          <a:lstStyle/>
          <a:p>
            <a:pPr algn="ctr" indent="0" marL="0">
              <a:buNone/>
            </a:pPr>
            <a:r>
              <a:rPr lang="en-US" sz="1150" i="1" dirty="0">
                <a:solidFill>
                  <a:srgbClr val="02C39A"/>
                </a:solidFill>
              </a:rPr>
              <a:t>Neither version explains why 80% of DS projects fail quietly in production. That's the mystery we're here to solve.</a:t>
            </a:r>
            <a:endParaRPr lang="en-US" sz="1150" dirty="0"/>
          </a:p>
        </p:txBody>
      </p:sp>
      <p:sp>
        <p:nvSpPr>
          <p:cNvPr id="25" name="Text 22"/>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w="12700">
            <a:solidFill>
              <a:srgbClr val="028090"/>
            </a:solidFill>
            <a:prstDash val="solid"/>
          </a:ln>
        </p:spPr>
      </p:sp>
      <p:sp>
        <p:nvSpPr>
          <p:cNvPr id="3" name="Text 1"/>
          <p:cNvSpPr/>
          <p:nvPr/>
        </p:nvSpPr>
        <p:spPr>
          <a:xfrm>
            <a:off x="502920" y="457200"/>
            <a:ext cx="8412480" cy="502920"/>
          </a:xfrm>
          <a:prstGeom prst="rect">
            <a:avLst/>
          </a:prstGeom>
          <a:noFill/>
          <a:ln/>
        </p:spPr>
        <p:txBody>
          <a:bodyPr wrap="square" lIns="0" tIns="0" rIns="0" bIns="0" rtlCol="0" anchor="ctr"/>
          <a:lstStyle/>
          <a:p>
            <a:pPr algn="l" indent="0" marL="0">
              <a:buNone/>
            </a:pPr>
            <a:r>
              <a:rPr lang="en-US" sz="1800" i="1" dirty="0">
                <a:solidFill>
                  <a:srgbClr val="94A3B8"/>
                </a:solidFill>
                <a:latin typeface="Georgia" pitchFamily="34" charset="0"/>
                <a:ea typeface="Georgia" pitchFamily="34" charset="-122"/>
                <a:cs typeface="Georgia" pitchFamily="34" charset="-120"/>
              </a:rPr>
              <a:t>So what IS data science?</a:t>
            </a:r>
            <a:endParaRPr lang="en-US" sz="1800" dirty="0"/>
          </a:p>
        </p:txBody>
      </p:sp>
      <p:sp>
        <p:nvSpPr>
          <p:cNvPr id="4" name="Shape 2"/>
          <p:cNvSpPr/>
          <p:nvPr/>
        </p:nvSpPr>
        <p:spPr>
          <a:xfrm>
            <a:off x="457200" y="1097280"/>
            <a:ext cx="8321040" cy="2194560"/>
          </a:xfrm>
          <a:prstGeom prst="rect">
            <a:avLst/>
          </a:prstGeom>
          <a:solidFill>
            <a:srgbClr val="253B5E"/>
          </a:solidFill>
          <a:ln w="12700">
            <a:solidFill>
              <a:srgbClr val="028090"/>
            </a:solidFill>
            <a:prstDash val="solid"/>
          </a:ln>
          <a:effectLst>
            <a:outerShdw sx="100000" sy="100000" kx="0" ky="0" algn="bl" rotWithShape="0" blurRad="101600" dist="38100" dir="8100000">
              <a:srgbClr val="000000">
                <a:alpha val="10000"/>
              </a:srgbClr>
            </a:outerShdw>
          </a:effectLst>
        </p:spPr>
      </p:sp>
      <p:sp>
        <p:nvSpPr>
          <p:cNvPr id="5" name="Text 3"/>
          <p:cNvSpPr/>
          <p:nvPr/>
        </p:nvSpPr>
        <p:spPr>
          <a:xfrm>
            <a:off x="640080" y="1170432"/>
            <a:ext cx="7955280" cy="2011680"/>
          </a:xfrm>
          <a:prstGeom prst="rect">
            <a:avLst/>
          </a:prstGeom>
          <a:noFill/>
          <a:ln/>
        </p:spPr>
        <p:txBody>
          <a:bodyPr wrap="square" lIns="0" tIns="0" rIns="0" bIns="0"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"Data science is applying </a:t>
            </a:r>
            <a:pPr algn="ctr" indent="0" marL="0">
              <a:buNone/>
            </a:pPr>
            <a:r>
              <a:rPr lang="en-US" sz="2000" b="1" i="1" dirty="0">
                <a:solidFill>
                  <a:srgbClr val="02C39A"/>
                </a:solidFill>
                <a:latin typeface="Georgia" pitchFamily="34" charset="0"/>
                <a:ea typeface="Georgia" pitchFamily="34" charset="-122"/>
                <a:cs typeface="Georgia" pitchFamily="34" charset="-120"/>
              </a:rPr>
              <a:t>proven analytical recipes</a:t>
            </a:r>
            <a:pPr algn="ctr" indent="0" marL="0">
              <a:buNone/>
            </a:pPr>
            <a:r>
              <a:rPr lang="en-US" sz="2000" i="1" dirty="0">
                <a:solidFill>
                  <a:srgbClr val="FFFFFF"/>
                </a:solidFill>
                <a:latin typeface="Georgia" pitchFamily="34" charset="0"/>
                <a:ea typeface="Georgia" pitchFamily="34" charset="-122"/>
                <a:cs typeface="Georgia" pitchFamily="34" charset="-120"/>
              </a:rPr>
              <a:t> to your specific problem —</a:t>
            </a:r>
            <a:endParaRPr lang="en-US" sz="2000" dirty="0"/>
          </a:p>
          <a:p>
            <a:pPr algn="ctr" indent="0" marL="0">
              <a:buNone/>
            </a:pPr>
            <a:r>
              <a:rPr lang="en-US" sz="2000" i="1" dirty="0">
                <a:solidFill>
                  <a:srgbClr val="FFFFFF"/>
                </a:solidFill>
                <a:latin typeface="Georgia" pitchFamily="34" charset="0"/>
                <a:ea typeface="Georgia" pitchFamily="34" charset="-122"/>
                <a:cs typeface="Georgia" pitchFamily="34" charset="-120"/>
              </a:rPr>
              <a:t>then rigorously </a:t>
            </a:r>
            <a:endParaRPr lang="en-US" sz="2000" dirty="0"/>
          </a:p>
          <a:p>
            <a:pPr algn="ctr" indent="0" marL="0">
              <a:buNone/>
            </a:pPr>
            <a:r>
              <a:rPr lang="en-US" sz="2000" b="1" i="1" dirty="0">
                <a:solidFill>
                  <a:srgbClr val="02C39A"/>
                </a:solidFill>
                <a:latin typeface="Georgia" pitchFamily="34" charset="0"/>
                <a:ea typeface="Georgia" pitchFamily="34" charset="-122"/>
                <a:cs typeface="Georgia" pitchFamily="34" charset="-120"/>
              </a:rPr>
              <a:t>proving whether the result actually works</a:t>
            </a:r>
            <a:pPr algn="ctr" indent="0" marL="0">
              <a:buNone/>
            </a:pPr>
            <a:endParaRPr lang="en-US" sz="2000" dirty="0"/>
          </a:p>
          <a:p>
            <a:pPr algn="ctr" indent="0" marL="0">
              <a:buNone/>
            </a:pPr>
            <a:r>
              <a:rPr lang="en-US" sz="2000" i="1" dirty="0">
                <a:solidFill>
                  <a:srgbClr val="FFFFFF"/>
                </a:solidFill>
                <a:latin typeface="Georgia" pitchFamily="34" charset="0"/>
                <a:ea typeface="Georgia" pitchFamily="34" charset="-122"/>
                <a:cs typeface="Georgia" pitchFamily="34" charset="-120"/>
              </a:rPr>
              <a:t>within a </a:t>
            </a:r>
            <a:endParaRPr lang="en-US" sz="2000" dirty="0"/>
          </a:p>
          <a:p>
            <a:pPr algn="ctr" indent="0" marL="0">
              <a:buNone/>
            </a:pPr>
            <a:r>
              <a:rPr lang="en-US" sz="2000" b="1" i="1" dirty="0">
                <a:solidFill>
                  <a:srgbClr val="02C39A"/>
                </a:solidFill>
                <a:latin typeface="Georgia" pitchFamily="34" charset="0"/>
                <a:ea typeface="Georgia" pitchFamily="34" charset="-122"/>
                <a:cs typeface="Georgia" pitchFamily="34" charset="-120"/>
              </a:rPr>
              <a:t>system designed to sustain that value over time."</a:t>
            </a:r>
            <a:endParaRPr lang="en-US" sz="2000" dirty="0"/>
          </a:p>
        </p:txBody>
      </p:sp>
      <p:sp>
        <p:nvSpPr>
          <p:cNvPr id="6" name="Text 4"/>
          <p:cNvSpPr/>
          <p:nvPr/>
        </p:nvSpPr>
        <p:spPr>
          <a:xfrm>
            <a:off x="457200" y="3429000"/>
            <a:ext cx="8229600" cy="411480"/>
          </a:xfrm>
          <a:prstGeom prst="rect">
            <a:avLst/>
          </a:prstGeom>
          <a:noFill/>
          <a:ln/>
        </p:spPr>
        <p:txBody>
          <a:bodyPr wrap="square" lIns="0" tIns="0" rIns="0" bIns="0" rtlCol="0" anchor="ctr"/>
          <a:lstStyle/>
          <a:p>
            <a:pPr algn="ctr" indent="0" marL="0">
              <a:buNone/>
            </a:pPr>
            <a:r>
              <a:rPr lang="en-US" sz="1600" b="1" dirty="0">
                <a:solidFill>
                  <a:srgbClr val="02C39A"/>
                </a:solidFill>
              </a:rPr>
              <a:t>Three suspects. We'll build the case for each — and by the end, you'll have the full picture.</a:t>
            </a:r>
            <a:endParaRPr lang="en-US" sz="1600" dirty="0"/>
          </a:p>
        </p:txBody>
      </p:sp>
      <p:sp>
        <p:nvSpPr>
          <p:cNvPr id="7" name="Shape 5"/>
          <p:cNvSpPr/>
          <p:nvPr/>
        </p:nvSpPr>
        <p:spPr>
          <a:xfrm>
            <a:off x="914400" y="3950208"/>
            <a:ext cx="2331720" cy="896112"/>
          </a:xfrm>
          <a:prstGeom prst="rect">
            <a:avLst/>
          </a:prstGeom>
          <a:solidFill>
            <a:srgbClr val="1A3A5E"/>
          </a:solidFill>
          <a:ln w="12700">
            <a:solidFill>
              <a:srgbClr val="028090"/>
            </a:solidFill>
            <a:prstDash val="solid"/>
          </a:ln>
        </p:spPr>
      </p:sp>
      <p:sp>
        <p:nvSpPr>
          <p:cNvPr id="8" name="Text 6"/>
          <p:cNvSpPr/>
          <p:nvPr/>
        </p:nvSpPr>
        <p:spPr>
          <a:xfrm>
            <a:off x="914400" y="3950208"/>
            <a:ext cx="2331720" cy="896112"/>
          </a:xfrm>
          <a:prstGeom prst="rect">
            <a:avLst/>
          </a:prstGeom>
          <a:noFill/>
          <a:ln/>
        </p:spPr>
        <p:txBody>
          <a:bodyPr wrap="square" lIns="0" tIns="0" rIns="0" bIns="0" rtlCol="0" anchor="ctr"/>
          <a:lstStyle/>
          <a:p>
            <a:pPr algn="ctr" indent="0" marL="0">
              <a:buNone/>
            </a:pPr>
            <a:r>
              <a:rPr lang="en-US" sz="1500" b="1" dirty="0">
                <a:solidFill>
                  <a:srgbClr val="02C39A"/>
                </a:solidFill>
              </a:rPr>
              <a:t>🍳  Recipes</a:t>
            </a:r>
            <a:endParaRPr lang="en-US" sz="1500" dirty="0"/>
          </a:p>
        </p:txBody>
      </p:sp>
      <p:sp>
        <p:nvSpPr>
          <p:cNvPr id="9" name="Shape 7"/>
          <p:cNvSpPr/>
          <p:nvPr/>
        </p:nvSpPr>
        <p:spPr>
          <a:xfrm>
            <a:off x="3566160" y="3950208"/>
            <a:ext cx="2331720" cy="896112"/>
          </a:xfrm>
          <a:prstGeom prst="rect">
            <a:avLst/>
          </a:prstGeom>
          <a:solidFill>
            <a:srgbClr val="1A3A5E"/>
          </a:solidFill>
          <a:ln w="12700">
            <a:solidFill>
              <a:srgbClr val="028090"/>
            </a:solidFill>
            <a:prstDash val="solid"/>
          </a:ln>
        </p:spPr>
      </p:sp>
      <p:sp>
        <p:nvSpPr>
          <p:cNvPr id="10" name="Text 8"/>
          <p:cNvSpPr/>
          <p:nvPr/>
        </p:nvSpPr>
        <p:spPr>
          <a:xfrm>
            <a:off x="3566160" y="3950208"/>
            <a:ext cx="2331720" cy="896112"/>
          </a:xfrm>
          <a:prstGeom prst="rect">
            <a:avLst/>
          </a:prstGeom>
          <a:noFill/>
          <a:ln/>
        </p:spPr>
        <p:txBody>
          <a:bodyPr wrap="square" lIns="0" tIns="0" rIns="0" bIns="0" rtlCol="0" anchor="ctr"/>
          <a:lstStyle/>
          <a:p>
            <a:pPr algn="ctr" indent="0" marL="0">
              <a:buNone/>
            </a:pPr>
            <a:r>
              <a:rPr lang="en-US" sz="1500" b="1" dirty="0">
                <a:solidFill>
                  <a:srgbClr val="02C39A"/>
                </a:solidFill>
              </a:rPr>
              <a:t>✅  Evaluation</a:t>
            </a:r>
            <a:endParaRPr lang="en-US" sz="1500" dirty="0"/>
          </a:p>
        </p:txBody>
      </p:sp>
      <p:sp>
        <p:nvSpPr>
          <p:cNvPr id="11" name="Shape 9"/>
          <p:cNvSpPr/>
          <p:nvPr/>
        </p:nvSpPr>
        <p:spPr>
          <a:xfrm>
            <a:off x="6217920" y="3950208"/>
            <a:ext cx="2331720" cy="896112"/>
          </a:xfrm>
          <a:prstGeom prst="rect">
            <a:avLst/>
          </a:prstGeom>
          <a:solidFill>
            <a:srgbClr val="1A3A5E"/>
          </a:solidFill>
          <a:ln w="12700">
            <a:solidFill>
              <a:srgbClr val="028090"/>
            </a:solidFill>
            <a:prstDash val="solid"/>
          </a:ln>
        </p:spPr>
      </p:sp>
      <p:sp>
        <p:nvSpPr>
          <p:cNvPr id="12" name="Text 10"/>
          <p:cNvSpPr/>
          <p:nvPr/>
        </p:nvSpPr>
        <p:spPr>
          <a:xfrm>
            <a:off x="6217920" y="3950208"/>
            <a:ext cx="2331720" cy="896112"/>
          </a:xfrm>
          <a:prstGeom prst="rect">
            <a:avLst/>
          </a:prstGeom>
          <a:noFill/>
          <a:ln/>
        </p:spPr>
        <p:txBody>
          <a:bodyPr wrap="square" lIns="0" tIns="0" rIns="0" bIns="0" rtlCol="0" anchor="ctr"/>
          <a:lstStyle/>
          <a:p>
            <a:pPr algn="ctr" indent="0" marL="0">
              <a:buNone/>
            </a:pPr>
            <a:r>
              <a:rPr lang="en-US" sz="1500" b="1" dirty="0">
                <a:solidFill>
                  <a:srgbClr val="02C39A"/>
                </a:solidFill>
              </a:rPr>
              <a:t>⚙️  System</a:t>
            </a:r>
            <a:endParaRPr lang="en-US" sz="1500" dirty="0"/>
          </a:p>
        </p:txBody>
      </p:sp>
      <p:sp>
        <p:nvSpPr>
          <p:cNvPr id="14" name="Text 11"/>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PART 1: THE COOKBOOK — RECIPES</a:t>
            </a:r>
            <a:endParaRPr lang="en-US" sz="1300" dirty="0"/>
          </a:p>
        </p:txBody>
      </p:sp>
      <p:sp>
        <p:nvSpPr>
          <p:cNvPr id="4" name="Text 2"/>
          <p:cNvSpPr/>
          <p:nvPr/>
        </p:nvSpPr>
        <p:spPr>
          <a:xfrm>
            <a:off x="457200" y="731520"/>
            <a:ext cx="8229600" cy="411480"/>
          </a:xfrm>
          <a:prstGeom prst="rect">
            <a:avLst/>
          </a:prstGeom>
          <a:noFill/>
          <a:ln/>
        </p:spPr>
        <p:txBody>
          <a:bodyPr wrap="square" lIns="0" tIns="0" rIns="0" bIns="0" rtlCol="0" anchor="ctr"/>
          <a:lstStyle/>
          <a:p>
            <a:pPr indent="0" marL="0">
              <a:buNone/>
            </a:pPr>
            <a:r>
              <a:rPr lang="en-US" sz="1700" i="1" dirty="0">
                <a:solidFill>
                  <a:srgbClr val="1A2535"/>
                </a:solidFill>
                <a:latin typeface="Georgia" pitchFamily="34" charset="0"/>
                <a:ea typeface="Georgia" pitchFamily="34" charset="-122"/>
                <a:cs typeface="Georgia" pitchFamily="34" charset="-120"/>
              </a:rPr>
              <a:t>There are ~5 core recipes. Everything else is a variation.</a:t>
            </a:r>
            <a:endParaRPr lang="en-US" sz="1700" dirty="0"/>
          </a:p>
        </p:txBody>
      </p:sp>
      <p:sp>
        <p:nvSpPr>
          <p:cNvPr id="5" name="Shape 3"/>
          <p:cNvSpPr/>
          <p:nvPr/>
        </p:nvSpPr>
        <p:spPr>
          <a:xfrm>
            <a:off x="274320" y="1298448"/>
            <a:ext cx="1609344" cy="361188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274320" y="1298448"/>
            <a:ext cx="1609344" cy="128016"/>
          </a:xfrm>
          <a:prstGeom prst="rect">
            <a:avLst/>
          </a:prstGeom>
          <a:solidFill>
            <a:srgbClr val="028090"/>
          </a:solidFill>
          <a:ln w="12700">
            <a:solidFill>
              <a:srgbClr val="028090"/>
            </a:solidFill>
            <a:prstDash val="solid"/>
          </a:ln>
        </p:spPr>
      </p:sp>
      <p:sp>
        <p:nvSpPr>
          <p:cNvPr id="7" name="Shape 5"/>
          <p:cNvSpPr/>
          <p:nvPr/>
        </p:nvSpPr>
        <p:spPr>
          <a:xfrm>
            <a:off x="640080" y="1426464"/>
            <a:ext cx="877824" cy="658368"/>
          </a:xfrm>
          <a:prstGeom prst="rect">
            <a:avLst/>
          </a:prstGeom>
          <a:solidFill>
            <a:srgbClr val="F0F5F8"/>
          </a:solidFill>
          <a:ln w="12700">
            <a:solidFill>
              <a:srgbClr val="E0E8EE"/>
            </a:solidFill>
            <a:prstDash val="solid"/>
          </a:ln>
        </p:spPr>
      </p:sp>
      <p:sp>
        <p:nvSpPr>
          <p:cNvPr id="8" name="Text 6"/>
          <p:cNvSpPr/>
          <p:nvPr/>
        </p:nvSpPr>
        <p:spPr>
          <a:xfrm>
            <a:off x="640080" y="1426464"/>
            <a:ext cx="877824" cy="658368"/>
          </a:xfrm>
          <a:prstGeom prst="rect">
            <a:avLst/>
          </a:prstGeom>
          <a:noFill/>
          <a:ln/>
        </p:spPr>
        <p:txBody>
          <a:bodyPr wrap="square" lIns="0" tIns="0" rIns="0" bIns="0" rtlCol="0" anchor="ctr"/>
          <a:lstStyle/>
          <a:p>
            <a:pPr algn="ctr" indent="0" marL="0">
              <a:buNone/>
            </a:pPr>
            <a:r>
              <a:rPr lang="en-US" sz="2800" b="1" dirty="0">
                <a:solidFill>
                  <a:srgbClr val="028090"/>
                </a:solidFill>
                <a:latin typeface="Georgia" pitchFamily="34" charset="0"/>
                <a:ea typeface="Georgia" pitchFamily="34" charset="-122"/>
                <a:cs typeface="Georgia" pitchFamily="34" charset="-120"/>
              </a:rPr>
              <a:t>1</a:t>
            </a:r>
            <a:endParaRPr lang="en-US" sz="2800" dirty="0"/>
          </a:p>
        </p:txBody>
      </p:sp>
      <p:sp>
        <p:nvSpPr>
          <p:cNvPr id="9" name="Text 7"/>
          <p:cNvSpPr/>
          <p:nvPr/>
        </p:nvSpPr>
        <p:spPr>
          <a:xfrm>
            <a:off x="347472" y="2148840"/>
            <a:ext cx="1463040" cy="594360"/>
          </a:xfrm>
          <a:prstGeom prst="rect">
            <a:avLst/>
          </a:prstGeom>
          <a:noFill/>
          <a:ln/>
        </p:spPr>
        <p:txBody>
          <a:bodyPr wrap="square" lIns="0" tIns="0" rIns="0" bIns="0" rtlCol="0" anchor="ctr"/>
          <a:lstStyle/>
          <a:p>
            <a:pPr algn="ctr" indent="0" marL="0">
              <a:buNone/>
            </a:pPr>
            <a:r>
              <a:rPr lang="en-US" sz="1300" b="1" dirty="0">
                <a:solidFill>
                  <a:srgbClr val="1E2D4E"/>
                </a:solidFill>
                <a:latin typeface="Georgia" pitchFamily="34" charset="0"/>
                <a:ea typeface="Georgia" pitchFamily="34" charset="-122"/>
                <a:cs typeface="Georgia" pitchFamily="34" charset="-120"/>
              </a:rPr>
              <a:t>Classify</a:t>
            </a:r>
            <a:endParaRPr lang="en-US" sz="1300" dirty="0"/>
          </a:p>
        </p:txBody>
      </p:sp>
      <p:sp>
        <p:nvSpPr>
          <p:cNvPr id="10" name="Shape 8"/>
          <p:cNvSpPr/>
          <p:nvPr/>
        </p:nvSpPr>
        <p:spPr>
          <a:xfrm>
            <a:off x="640080" y="2798064"/>
            <a:ext cx="877824" cy="36576"/>
          </a:xfrm>
          <a:prstGeom prst="rect">
            <a:avLst/>
          </a:prstGeom>
          <a:solidFill>
            <a:srgbClr val="D0DDE8"/>
          </a:solidFill>
          <a:ln w="12700">
            <a:solidFill>
              <a:srgbClr val="D0DDE8"/>
            </a:solidFill>
            <a:prstDash val="solid"/>
          </a:ln>
        </p:spPr>
      </p:sp>
      <p:sp>
        <p:nvSpPr>
          <p:cNvPr id="11" name="Text 9"/>
          <p:cNvSpPr/>
          <p:nvPr/>
        </p:nvSpPr>
        <p:spPr>
          <a:xfrm>
            <a:off x="347472" y="2907792"/>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Is this fraud?</a:t>
            </a:r>
            <a:endParaRPr lang="en-US" sz="1150" dirty="0"/>
          </a:p>
        </p:txBody>
      </p:sp>
      <p:sp>
        <p:nvSpPr>
          <p:cNvPr id="12" name="Text 10"/>
          <p:cNvSpPr/>
          <p:nvPr/>
        </p:nvSpPr>
        <p:spPr>
          <a:xfrm>
            <a:off x="347472" y="3291840"/>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Will they churn?</a:t>
            </a:r>
            <a:endParaRPr lang="en-US" sz="1150" dirty="0"/>
          </a:p>
        </p:txBody>
      </p:sp>
      <p:sp>
        <p:nvSpPr>
          <p:cNvPr id="13" name="Text 11"/>
          <p:cNvSpPr/>
          <p:nvPr/>
        </p:nvSpPr>
        <p:spPr>
          <a:xfrm>
            <a:off x="347472" y="3675888"/>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Yes or no?</a:t>
            </a:r>
            <a:endParaRPr lang="en-US" sz="1150" dirty="0"/>
          </a:p>
        </p:txBody>
      </p:sp>
      <p:sp>
        <p:nvSpPr>
          <p:cNvPr id="14" name="Shape 12"/>
          <p:cNvSpPr/>
          <p:nvPr/>
        </p:nvSpPr>
        <p:spPr>
          <a:xfrm>
            <a:off x="2011680" y="1298448"/>
            <a:ext cx="1609344" cy="361188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2011680" y="1298448"/>
            <a:ext cx="1609344" cy="128016"/>
          </a:xfrm>
          <a:prstGeom prst="rect">
            <a:avLst/>
          </a:prstGeom>
          <a:solidFill>
            <a:srgbClr val="2196F3"/>
          </a:solidFill>
          <a:ln w="12700">
            <a:solidFill>
              <a:srgbClr val="2196F3"/>
            </a:solidFill>
            <a:prstDash val="solid"/>
          </a:ln>
        </p:spPr>
      </p:sp>
      <p:sp>
        <p:nvSpPr>
          <p:cNvPr id="16" name="Shape 14"/>
          <p:cNvSpPr/>
          <p:nvPr/>
        </p:nvSpPr>
        <p:spPr>
          <a:xfrm>
            <a:off x="2377440" y="1426464"/>
            <a:ext cx="877824" cy="658368"/>
          </a:xfrm>
          <a:prstGeom prst="rect">
            <a:avLst/>
          </a:prstGeom>
          <a:solidFill>
            <a:srgbClr val="F0F5F8"/>
          </a:solidFill>
          <a:ln w="12700">
            <a:solidFill>
              <a:srgbClr val="E0E8EE"/>
            </a:solidFill>
            <a:prstDash val="solid"/>
          </a:ln>
        </p:spPr>
      </p:sp>
      <p:sp>
        <p:nvSpPr>
          <p:cNvPr id="17" name="Text 15"/>
          <p:cNvSpPr/>
          <p:nvPr/>
        </p:nvSpPr>
        <p:spPr>
          <a:xfrm>
            <a:off x="2377440" y="1426464"/>
            <a:ext cx="877824" cy="658368"/>
          </a:xfrm>
          <a:prstGeom prst="rect">
            <a:avLst/>
          </a:prstGeom>
          <a:noFill/>
          <a:ln/>
        </p:spPr>
        <p:txBody>
          <a:bodyPr wrap="square" lIns="0" tIns="0" rIns="0" bIns="0" rtlCol="0" anchor="ctr"/>
          <a:lstStyle/>
          <a:p>
            <a:pPr algn="ctr" indent="0" marL="0">
              <a:buNone/>
            </a:pPr>
            <a:r>
              <a:rPr lang="en-US" sz="2800" b="1" dirty="0">
                <a:solidFill>
                  <a:srgbClr val="2196F3"/>
                </a:solidFill>
                <a:latin typeface="Georgia" pitchFamily="34" charset="0"/>
                <a:ea typeface="Georgia" pitchFamily="34" charset="-122"/>
                <a:cs typeface="Georgia" pitchFamily="34" charset="-120"/>
              </a:rPr>
              <a:t>2</a:t>
            </a:r>
            <a:endParaRPr lang="en-US" sz="2800" dirty="0"/>
          </a:p>
        </p:txBody>
      </p:sp>
      <p:sp>
        <p:nvSpPr>
          <p:cNvPr id="18" name="Text 16"/>
          <p:cNvSpPr/>
          <p:nvPr/>
        </p:nvSpPr>
        <p:spPr>
          <a:xfrm>
            <a:off x="2084832" y="2148840"/>
            <a:ext cx="1463040" cy="594360"/>
          </a:xfrm>
          <a:prstGeom prst="rect">
            <a:avLst/>
          </a:prstGeom>
          <a:noFill/>
          <a:ln/>
        </p:spPr>
        <p:txBody>
          <a:bodyPr wrap="square" lIns="0" tIns="0" rIns="0" bIns="0" rtlCol="0" anchor="ctr"/>
          <a:lstStyle/>
          <a:p>
            <a:pPr algn="ctr" indent="0" marL="0">
              <a:buNone/>
            </a:pPr>
            <a:r>
              <a:rPr lang="en-US" sz="1300" b="1" dirty="0">
                <a:solidFill>
                  <a:srgbClr val="1E2D4E"/>
                </a:solidFill>
                <a:latin typeface="Georgia" pitchFamily="34" charset="0"/>
                <a:ea typeface="Georgia" pitchFamily="34" charset="-122"/>
                <a:cs typeface="Georgia" pitchFamily="34" charset="-120"/>
              </a:rPr>
              <a:t>Predict</a:t>
            </a:r>
            <a:endParaRPr lang="en-US" sz="1300" dirty="0"/>
          </a:p>
        </p:txBody>
      </p:sp>
      <p:sp>
        <p:nvSpPr>
          <p:cNvPr id="19" name="Shape 17"/>
          <p:cNvSpPr/>
          <p:nvPr/>
        </p:nvSpPr>
        <p:spPr>
          <a:xfrm>
            <a:off x="2377440" y="2798064"/>
            <a:ext cx="877824" cy="36576"/>
          </a:xfrm>
          <a:prstGeom prst="rect">
            <a:avLst/>
          </a:prstGeom>
          <a:solidFill>
            <a:srgbClr val="D0DDE8"/>
          </a:solidFill>
          <a:ln w="12700">
            <a:solidFill>
              <a:srgbClr val="D0DDE8"/>
            </a:solidFill>
            <a:prstDash val="solid"/>
          </a:ln>
        </p:spPr>
      </p:sp>
      <p:sp>
        <p:nvSpPr>
          <p:cNvPr id="20" name="Text 18"/>
          <p:cNvSpPr/>
          <p:nvPr/>
        </p:nvSpPr>
        <p:spPr>
          <a:xfrm>
            <a:off x="2084832" y="2907792"/>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How much?</a:t>
            </a:r>
            <a:endParaRPr lang="en-US" sz="1150" dirty="0"/>
          </a:p>
        </p:txBody>
      </p:sp>
      <p:sp>
        <p:nvSpPr>
          <p:cNvPr id="21" name="Text 19"/>
          <p:cNvSpPr/>
          <p:nvPr/>
        </p:nvSpPr>
        <p:spPr>
          <a:xfrm>
            <a:off x="2084832" y="3291840"/>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How many?</a:t>
            </a:r>
            <a:endParaRPr lang="en-US" sz="1150" dirty="0"/>
          </a:p>
        </p:txBody>
      </p:sp>
      <p:sp>
        <p:nvSpPr>
          <p:cNvPr id="22" name="Text 20"/>
          <p:cNvSpPr/>
          <p:nvPr/>
        </p:nvSpPr>
        <p:spPr>
          <a:xfrm>
            <a:off x="2084832" y="3675888"/>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When?</a:t>
            </a:r>
            <a:endParaRPr lang="en-US" sz="1150" dirty="0"/>
          </a:p>
        </p:txBody>
      </p:sp>
      <p:sp>
        <p:nvSpPr>
          <p:cNvPr id="23" name="Shape 21"/>
          <p:cNvSpPr/>
          <p:nvPr/>
        </p:nvSpPr>
        <p:spPr>
          <a:xfrm>
            <a:off x="3749040" y="1298448"/>
            <a:ext cx="1609344" cy="361188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24" name="Shape 22"/>
          <p:cNvSpPr/>
          <p:nvPr/>
        </p:nvSpPr>
        <p:spPr>
          <a:xfrm>
            <a:off x="3749040" y="1298448"/>
            <a:ext cx="1609344" cy="128016"/>
          </a:xfrm>
          <a:prstGeom prst="rect">
            <a:avLst/>
          </a:prstGeom>
          <a:solidFill>
            <a:srgbClr val="E67E22"/>
          </a:solidFill>
          <a:ln w="12700">
            <a:solidFill>
              <a:srgbClr val="E67E22"/>
            </a:solidFill>
            <a:prstDash val="solid"/>
          </a:ln>
        </p:spPr>
      </p:sp>
      <p:sp>
        <p:nvSpPr>
          <p:cNvPr id="25" name="Shape 23"/>
          <p:cNvSpPr/>
          <p:nvPr/>
        </p:nvSpPr>
        <p:spPr>
          <a:xfrm>
            <a:off x="4114800" y="1426464"/>
            <a:ext cx="877824" cy="658368"/>
          </a:xfrm>
          <a:prstGeom prst="rect">
            <a:avLst/>
          </a:prstGeom>
          <a:solidFill>
            <a:srgbClr val="F0F5F8"/>
          </a:solidFill>
          <a:ln w="12700">
            <a:solidFill>
              <a:srgbClr val="E0E8EE"/>
            </a:solidFill>
            <a:prstDash val="solid"/>
          </a:ln>
        </p:spPr>
      </p:sp>
      <p:sp>
        <p:nvSpPr>
          <p:cNvPr id="26" name="Text 24"/>
          <p:cNvSpPr/>
          <p:nvPr/>
        </p:nvSpPr>
        <p:spPr>
          <a:xfrm>
            <a:off x="4114800" y="1426464"/>
            <a:ext cx="877824" cy="658368"/>
          </a:xfrm>
          <a:prstGeom prst="rect">
            <a:avLst/>
          </a:prstGeom>
          <a:noFill/>
          <a:ln/>
        </p:spPr>
        <p:txBody>
          <a:bodyPr wrap="square" lIns="0" tIns="0" rIns="0" bIns="0" rtlCol="0" anchor="ctr"/>
          <a:lstStyle/>
          <a:p>
            <a:pPr algn="ctr" indent="0" marL="0">
              <a:buNone/>
            </a:pPr>
            <a:r>
              <a:rPr lang="en-US" sz="2800" b="1" dirty="0">
                <a:solidFill>
                  <a:srgbClr val="E67E22"/>
                </a:solidFill>
                <a:latin typeface="Georgia" pitchFamily="34" charset="0"/>
                <a:ea typeface="Georgia" pitchFamily="34" charset="-122"/>
                <a:cs typeface="Georgia" pitchFamily="34" charset="-120"/>
              </a:rPr>
              <a:t>3</a:t>
            </a:r>
            <a:endParaRPr lang="en-US" sz="2800" dirty="0"/>
          </a:p>
        </p:txBody>
      </p:sp>
      <p:sp>
        <p:nvSpPr>
          <p:cNvPr id="27" name="Text 25"/>
          <p:cNvSpPr/>
          <p:nvPr/>
        </p:nvSpPr>
        <p:spPr>
          <a:xfrm>
            <a:off x="3822192" y="2148840"/>
            <a:ext cx="1463040" cy="594360"/>
          </a:xfrm>
          <a:prstGeom prst="rect">
            <a:avLst/>
          </a:prstGeom>
          <a:noFill/>
          <a:ln/>
        </p:spPr>
        <p:txBody>
          <a:bodyPr wrap="square" lIns="0" tIns="0" rIns="0" bIns="0" rtlCol="0" anchor="ctr"/>
          <a:lstStyle/>
          <a:p>
            <a:pPr algn="ctr" indent="0" marL="0">
              <a:buNone/>
            </a:pPr>
            <a:r>
              <a:rPr lang="en-US" sz="1300" b="1" dirty="0">
                <a:solidFill>
                  <a:srgbClr val="1E2D4E"/>
                </a:solidFill>
                <a:latin typeface="Georgia" pitchFamily="34" charset="0"/>
                <a:ea typeface="Georgia" pitchFamily="34" charset="-122"/>
                <a:cs typeface="Georgia" pitchFamily="34" charset="-120"/>
              </a:rPr>
              <a:t>Cluster</a:t>
            </a:r>
            <a:endParaRPr lang="en-US" sz="1300" dirty="0"/>
          </a:p>
        </p:txBody>
      </p:sp>
      <p:sp>
        <p:nvSpPr>
          <p:cNvPr id="28" name="Shape 26"/>
          <p:cNvSpPr/>
          <p:nvPr/>
        </p:nvSpPr>
        <p:spPr>
          <a:xfrm>
            <a:off x="4114800" y="2798064"/>
            <a:ext cx="877824" cy="36576"/>
          </a:xfrm>
          <a:prstGeom prst="rect">
            <a:avLst/>
          </a:prstGeom>
          <a:solidFill>
            <a:srgbClr val="D0DDE8"/>
          </a:solidFill>
          <a:ln w="12700">
            <a:solidFill>
              <a:srgbClr val="D0DDE8"/>
            </a:solidFill>
            <a:prstDash val="solid"/>
          </a:ln>
        </p:spPr>
      </p:sp>
      <p:sp>
        <p:nvSpPr>
          <p:cNvPr id="29" name="Text 27"/>
          <p:cNvSpPr/>
          <p:nvPr/>
        </p:nvSpPr>
        <p:spPr>
          <a:xfrm>
            <a:off x="3822192" y="2907792"/>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Who's similar?</a:t>
            </a:r>
            <a:endParaRPr lang="en-US" sz="1150" dirty="0"/>
          </a:p>
        </p:txBody>
      </p:sp>
      <p:sp>
        <p:nvSpPr>
          <p:cNvPr id="30" name="Text 28"/>
          <p:cNvSpPr/>
          <p:nvPr/>
        </p:nvSpPr>
        <p:spPr>
          <a:xfrm>
            <a:off x="3822192" y="3291840"/>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Find hidden</a:t>
            </a:r>
            <a:endParaRPr lang="en-US" sz="1150" dirty="0"/>
          </a:p>
        </p:txBody>
      </p:sp>
      <p:sp>
        <p:nvSpPr>
          <p:cNvPr id="31" name="Text 29"/>
          <p:cNvSpPr/>
          <p:nvPr/>
        </p:nvSpPr>
        <p:spPr>
          <a:xfrm>
            <a:off x="3822192" y="3675888"/>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customer groups</a:t>
            </a:r>
            <a:endParaRPr lang="en-US" sz="1150" dirty="0"/>
          </a:p>
        </p:txBody>
      </p:sp>
      <p:sp>
        <p:nvSpPr>
          <p:cNvPr id="32" name="Shape 30"/>
          <p:cNvSpPr/>
          <p:nvPr/>
        </p:nvSpPr>
        <p:spPr>
          <a:xfrm>
            <a:off x="5486400" y="1298448"/>
            <a:ext cx="1609344" cy="361188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33" name="Shape 31"/>
          <p:cNvSpPr/>
          <p:nvPr/>
        </p:nvSpPr>
        <p:spPr>
          <a:xfrm>
            <a:off x="5486400" y="1298448"/>
            <a:ext cx="1609344" cy="128016"/>
          </a:xfrm>
          <a:prstGeom prst="rect">
            <a:avLst/>
          </a:prstGeom>
          <a:solidFill>
            <a:srgbClr val="C0392B"/>
          </a:solidFill>
          <a:ln w="12700">
            <a:solidFill>
              <a:srgbClr val="C0392B"/>
            </a:solidFill>
            <a:prstDash val="solid"/>
          </a:ln>
        </p:spPr>
      </p:sp>
      <p:sp>
        <p:nvSpPr>
          <p:cNvPr id="34" name="Shape 32"/>
          <p:cNvSpPr/>
          <p:nvPr/>
        </p:nvSpPr>
        <p:spPr>
          <a:xfrm>
            <a:off x="5852160" y="1426464"/>
            <a:ext cx="877824" cy="658368"/>
          </a:xfrm>
          <a:prstGeom prst="rect">
            <a:avLst/>
          </a:prstGeom>
          <a:solidFill>
            <a:srgbClr val="F0F5F8"/>
          </a:solidFill>
          <a:ln w="12700">
            <a:solidFill>
              <a:srgbClr val="E0E8EE"/>
            </a:solidFill>
            <a:prstDash val="solid"/>
          </a:ln>
        </p:spPr>
      </p:sp>
      <p:sp>
        <p:nvSpPr>
          <p:cNvPr id="35" name="Text 33"/>
          <p:cNvSpPr/>
          <p:nvPr/>
        </p:nvSpPr>
        <p:spPr>
          <a:xfrm>
            <a:off x="5852160" y="1426464"/>
            <a:ext cx="877824" cy="658368"/>
          </a:xfrm>
          <a:prstGeom prst="rect">
            <a:avLst/>
          </a:prstGeom>
          <a:noFill/>
          <a:ln/>
        </p:spPr>
        <p:txBody>
          <a:bodyPr wrap="square" lIns="0" tIns="0" rIns="0" bIns="0" rtlCol="0" anchor="ctr"/>
          <a:lstStyle/>
          <a:p>
            <a:pPr algn="ctr" indent="0" marL="0">
              <a:buNone/>
            </a:pPr>
            <a:r>
              <a:rPr lang="en-US" sz="2800" b="1" dirty="0">
                <a:solidFill>
                  <a:srgbClr val="C0392B"/>
                </a:solidFill>
                <a:latin typeface="Georgia" pitchFamily="34" charset="0"/>
                <a:ea typeface="Georgia" pitchFamily="34" charset="-122"/>
                <a:cs typeface="Georgia" pitchFamily="34" charset="-120"/>
              </a:rPr>
              <a:t>4</a:t>
            </a:r>
            <a:endParaRPr lang="en-US" sz="2800" dirty="0"/>
          </a:p>
        </p:txBody>
      </p:sp>
      <p:sp>
        <p:nvSpPr>
          <p:cNvPr id="36" name="Text 34"/>
          <p:cNvSpPr/>
          <p:nvPr/>
        </p:nvSpPr>
        <p:spPr>
          <a:xfrm>
            <a:off x="5559552" y="2148840"/>
            <a:ext cx="1463040" cy="594360"/>
          </a:xfrm>
          <a:prstGeom prst="rect">
            <a:avLst/>
          </a:prstGeom>
          <a:noFill/>
          <a:ln/>
        </p:spPr>
        <p:txBody>
          <a:bodyPr wrap="square" lIns="0" tIns="0" rIns="0" bIns="0" rtlCol="0" anchor="ctr"/>
          <a:lstStyle/>
          <a:p>
            <a:pPr algn="ctr" indent="0" marL="0">
              <a:buNone/>
            </a:pPr>
            <a:r>
              <a:rPr lang="en-US" sz="1300" b="1" dirty="0">
                <a:solidFill>
                  <a:srgbClr val="1E2D4E"/>
                </a:solidFill>
                <a:latin typeface="Georgia" pitchFamily="34" charset="0"/>
                <a:ea typeface="Georgia" pitchFamily="34" charset="-122"/>
                <a:cs typeface="Georgia" pitchFamily="34" charset="-120"/>
              </a:rPr>
              <a:t>Anomaly</a:t>
            </a:r>
            <a:endParaRPr lang="en-US" sz="1300" dirty="0"/>
          </a:p>
          <a:p>
            <a:pPr algn="ctr" indent="0" marL="0">
              <a:buNone/>
            </a:pPr>
            <a:r>
              <a:rPr lang="en-US" sz="1300" b="1" dirty="0">
                <a:solidFill>
                  <a:srgbClr val="1E2D4E"/>
                </a:solidFill>
                <a:latin typeface="Georgia" pitchFamily="34" charset="0"/>
                <a:ea typeface="Georgia" pitchFamily="34" charset="-122"/>
                <a:cs typeface="Georgia" pitchFamily="34" charset="-120"/>
              </a:rPr>
              <a:t>Detect</a:t>
            </a:r>
            <a:endParaRPr lang="en-US" sz="1300" dirty="0"/>
          </a:p>
        </p:txBody>
      </p:sp>
      <p:sp>
        <p:nvSpPr>
          <p:cNvPr id="37" name="Shape 35"/>
          <p:cNvSpPr/>
          <p:nvPr/>
        </p:nvSpPr>
        <p:spPr>
          <a:xfrm>
            <a:off x="5852160" y="2798064"/>
            <a:ext cx="877824" cy="36576"/>
          </a:xfrm>
          <a:prstGeom prst="rect">
            <a:avLst/>
          </a:prstGeom>
          <a:solidFill>
            <a:srgbClr val="D0DDE8"/>
          </a:solidFill>
          <a:ln w="12700">
            <a:solidFill>
              <a:srgbClr val="D0DDE8"/>
            </a:solidFill>
            <a:prstDash val="solid"/>
          </a:ln>
        </p:spPr>
      </p:sp>
      <p:sp>
        <p:nvSpPr>
          <p:cNvPr id="38" name="Text 36"/>
          <p:cNvSpPr/>
          <p:nvPr/>
        </p:nvSpPr>
        <p:spPr>
          <a:xfrm>
            <a:off x="5559552" y="2907792"/>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What's weird?</a:t>
            </a:r>
            <a:endParaRPr lang="en-US" sz="1150" dirty="0"/>
          </a:p>
        </p:txBody>
      </p:sp>
      <p:sp>
        <p:nvSpPr>
          <p:cNvPr id="39" name="Text 37"/>
          <p:cNvSpPr/>
          <p:nvPr/>
        </p:nvSpPr>
        <p:spPr>
          <a:xfrm>
            <a:off x="5559552" y="3291840"/>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What broke?</a:t>
            </a:r>
            <a:endParaRPr lang="en-US" sz="1150" dirty="0"/>
          </a:p>
        </p:txBody>
      </p:sp>
      <p:sp>
        <p:nvSpPr>
          <p:cNvPr id="40" name="Text 38"/>
          <p:cNvSpPr/>
          <p:nvPr/>
        </p:nvSpPr>
        <p:spPr>
          <a:xfrm>
            <a:off x="5559552" y="3675888"/>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What's off?</a:t>
            </a:r>
            <a:endParaRPr lang="en-US" sz="1150" dirty="0"/>
          </a:p>
        </p:txBody>
      </p:sp>
      <p:sp>
        <p:nvSpPr>
          <p:cNvPr id="41" name="Shape 39"/>
          <p:cNvSpPr/>
          <p:nvPr/>
        </p:nvSpPr>
        <p:spPr>
          <a:xfrm>
            <a:off x="7223760" y="1298448"/>
            <a:ext cx="1609344" cy="361188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42" name="Shape 40"/>
          <p:cNvSpPr/>
          <p:nvPr/>
        </p:nvSpPr>
        <p:spPr>
          <a:xfrm>
            <a:off x="7223760" y="1298448"/>
            <a:ext cx="1609344" cy="128016"/>
          </a:xfrm>
          <a:prstGeom prst="rect">
            <a:avLst/>
          </a:prstGeom>
          <a:solidFill>
            <a:srgbClr val="9B59B6"/>
          </a:solidFill>
          <a:ln w="12700">
            <a:solidFill>
              <a:srgbClr val="9B59B6"/>
            </a:solidFill>
            <a:prstDash val="solid"/>
          </a:ln>
        </p:spPr>
      </p:sp>
      <p:sp>
        <p:nvSpPr>
          <p:cNvPr id="43" name="Shape 41"/>
          <p:cNvSpPr/>
          <p:nvPr/>
        </p:nvSpPr>
        <p:spPr>
          <a:xfrm>
            <a:off x="7589520" y="1426464"/>
            <a:ext cx="877824" cy="658368"/>
          </a:xfrm>
          <a:prstGeom prst="rect">
            <a:avLst/>
          </a:prstGeom>
          <a:solidFill>
            <a:srgbClr val="F0F5F8"/>
          </a:solidFill>
          <a:ln w="12700">
            <a:solidFill>
              <a:srgbClr val="E0E8EE"/>
            </a:solidFill>
            <a:prstDash val="solid"/>
          </a:ln>
        </p:spPr>
      </p:sp>
      <p:sp>
        <p:nvSpPr>
          <p:cNvPr id="44" name="Text 42"/>
          <p:cNvSpPr/>
          <p:nvPr/>
        </p:nvSpPr>
        <p:spPr>
          <a:xfrm>
            <a:off x="7589520" y="1426464"/>
            <a:ext cx="877824" cy="658368"/>
          </a:xfrm>
          <a:prstGeom prst="rect">
            <a:avLst/>
          </a:prstGeom>
          <a:noFill/>
          <a:ln/>
        </p:spPr>
        <p:txBody>
          <a:bodyPr wrap="square" lIns="0" tIns="0" rIns="0" bIns="0" rtlCol="0" anchor="ctr"/>
          <a:lstStyle/>
          <a:p>
            <a:pPr algn="ctr" indent="0" marL="0">
              <a:buNone/>
            </a:pPr>
            <a:r>
              <a:rPr lang="en-US" sz="2800" b="1" dirty="0">
                <a:solidFill>
                  <a:srgbClr val="9B59B6"/>
                </a:solidFill>
                <a:latin typeface="Georgia" pitchFamily="34" charset="0"/>
                <a:ea typeface="Georgia" pitchFamily="34" charset="-122"/>
                <a:cs typeface="Georgia" pitchFamily="34" charset="-120"/>
              </a:rPr>
              <a:t>5</a:t>
            </a:r>
            <a:endParaRPr lang="en-US" sz="2800" dirty="0"/>
          </a:p>
        </p:txBody>
      </p:sp>
      <p:sp>
        <p:nvSpPr>
          <p:cNvPr id="45" name="Text 43"/>
          <p:cNvSpPr/>
          <p:nvPr/>
        </p:nvSpPr>
        <p:spPr>
          <a:xfrm>
            <a:off x="7296912" y="2148840"/>
            <a:ext cx="1463040" cy="594360"/>
          </a:xfrm>
          <a:prstGeom prst="rect">
            <a:avLst/>
          </a:prstGeom>
          <a:noFill/>
          <a:ln/>
        </p:spPr>
        <p:txBody>
          <a:bodyPr wrap="square" lIns="0" tIns="0" rIns="0" bIns="0" rtlCol="0" anchor="ctr"/>
          <a:lstStyle/>
          <a:p>
            <a:pPr algn="ctr" indent="0" marL="0">
              <a:buNone/>
            </a:pPr>
            <a:r>
              <a:rPr lang="en-US" sz="1300" b="1" dirty="0">
                <a:solidFill>
                  <a:srgbClr val="1E2D4E"/>
                </a:solidFill>
                <a:latin typeface="Georgia" pitchFamily="34" charset="0"/>
                <a:ea typeface="Georgia" pitchFamily="34" charset="-122"/>
                <a:cs typeface="Georgia" pitchFamily="34" charset="-120"/>
              </a:rPr>
              <a:t>Rank &amp;</a:t>
            </a:r>
            <a:endParaRPr lang="en-US" sz="1300" dirty="0"/>
          </a:p>
          <a:p>
            <a:pPr algn="ctr" indent="0" marL="0">
              <a:buNone/>
            </a:pPr>
            <a:r>
              <a:rPr lang="en-US" sz="1300" b="1" dirty="0">
                <a:solidFill>
                  <a:srgbClr val="1E2D4E"/>
                </a:solidFill>
                <a:latin typeface="Georgia" pitchFamily="34" charset="0"/>
                <a:ea typeface="Georgia" pitchFamily="34" charset="-122"/>
                <a:cs typeface="Georgia" pitchFamily="34" charset="-120"/>
              </a:rPr>
              <a:t>Recommend</a:t>
            </a:r>
            <a:endParaRPr lang="en-US" sz="1300" dirty="0"/>
          </a:p>
        </p:txBody>
      </p:sp>
      <p:sp>
        <p:nvSpPr>
          <p:cNvPr id="46" name="Shape 44"/>
          <p:cNvSpPr/>
          <p:nvPr/>
        </p:nvSpPr>
        <p:spPr>
          <a:xfrm>
            <a:off x="7589520" y="2798064"/>
            <a:ext cx="877824" cy="36576"/>
          </a:xfrm>
          <a:prstGeom prst="rect">
            <a:avLst/>
          </a:prstGeom>
          <a:solidFill>
            <a:srgbClr val="D0DDE8"/>
          </a:solidFill>
          <a:ln w="12700">
            <a:solidFill>
              <a:srgbClr val="D0DDE8"/>
            </a:solidFill>
            <a:prstDash val="solid"/>
          </a:ln>
        </p:spPr>
      </p:sp>
      <p:sp>
        <p:nvSpPr>
          <p:cNvPr id="47" name="Text 45"/>
          <p:cNvSpPr/>
          <p:nvPr/>
        </p:nvSpPr>
        <p:spPr>
          <a:xfrm>
            <a:off x="7296912" y="2907792"/>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What's most</a:t>
            </a:r>
            <a:endParaRPr lang="en-US" sz="1150" dirty="0"/>
          </a:p>
        </p:txBody>
      </p:sp>
      <p:sp>
        <p:nvSpPr>
          <p:cNvPr id="48" name="Text 46"/>
          <p:cNvSpPr/>
          <p:nvPr/>
        </p:nvSpPr>
        <p:spPr>
          <a:xfrm>
            <a:off x="7296912" y="3291840"/>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relevant to</a:t>
            </a:r>
            <a:endParaRPr lang="en-US" sz="1150" dirty="0"/>
          </a:p>
        </p:txBody>
      </p:sp>
      <p:sp>
        <p:nvSpPr>
          <p:cNvPr id="49" name="Text 47"/>
          <p:cNvSpPr/>
          <p:nvPr/>
        </p:nvSpPr>
        <p:spPr>
          <a:xfrm>
            <a:off x="7296912" y="3675888"/>
            <a:ext cx="1463040" cy="347472"/>
          </a:xfrm>
          <a:prstGeom prst="rect">
            <a:avLst/>
          </a:prstGeom>
          <a:noFill/>
          <a:ln/>
        </p:spPr>
        <p:txBody>
          <a:bodyPr wrap="square" lIns="0" tIns="0" rIns="0" bIns="0" rtlCol="0" anchor="ctr"/>
          <a:lstStyle/>
          <a:p>
            <a:pPr algn="ctr" indent="0" marL="0">
              <a:buNone/>
            </a:pPr>
            <a:r>
              <a:rPr lang="en-US" sz="1150" dirty="0">
                <a:solidFill>
                  <a:srgbClr val="4A5568"/>
                </a:solidFill>
              </a:rPr>
              <a:t>this person?</a:t>
            </a:r>
            <a:endParaRPr lang="en-US" sz="1150" dirty="0"/>
          </a:p>
        </p:txBody>
      </p:sp>
      <p:sp>
        <p:nvSpPr>
          <p:cNvPr id="51" name="Text 4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WHAT MAKES IT ANALYTIC — NOT JUST A COMPUTER PROGRAM</a:t>
            </a:r>
            <a:endParaRPr lang="en-US" sz="1300" dirty="0"/>
          </a:p>
        </p:txBody>
      </p:sp>
      <p:sp>
        <p:nvSpPr>
          <p:cNvPr id="4" name="Shape 2"/>
          <p:cNvSpPr/>
          <p:nvPr/>
        </p:nvSpPr>
        <p:spPr>
          <a:xfrm>
            <a:off x="320040" y="713232"/>
            <a:ext cx="8503920" cy="804672"/>
          </a:xfrm>
          <a:prstGeom prst="rect">
            <a:avLst/>
          </a:prstGeom>
          <a:solidFill>
            <a:srgbClr val="EAF4FD"/>
          </a:solidFill>
          <a:ln w="12700">
            <a:solidFill>
              <a:srgbClr val="028090"/>
            </a:solidFill>
            <a:prstDash val="solid"/>
          </a:ln>
        </p:spPr>
      </p:sp>
      <p:sp>
        <p:nvSpPr>
          <p:cNvPr id="5" name="Text 3"/>
          <p:cNvSpPr/>
          <p:nvPr/>
        </p:nvSpPr>
        <p:spPr>
          <a:xfrm>
            <a:off x="502920" y="804672"/>
            <a:ext cx="8229600" cy="548640"/>
          </a:xfrm>
          <a:prstGeom prst="rect">
            <a:avLst/>
          </a:prstGeom>
          <a:noFill/>
          <a:ln/>
        </p:spPr>
        <p:txBody>
          <a:bodyPr wrap="square" lIns="0" tIns="0" rIns="0" bIns="0" rtlCol="0" anchor="ctr"/>
          <a:lstStyle/>
          <a:p>
            <a:pPr indent="0" marL="0">
              <a:buNone/>
            </a:pPr>
            <a:r>
              <a:rPr lang="en-US" sz="1700" i="1" dirty="0">
                <a:solidFill>
                  <a:srgbClr val="1E2D4E"/>
                </a:solidFill>
                <a:latin typeface="Georgia" pitchFamily="34" charset="0"/>
                <a:ea typeface="Georgia" pitchFamily="34" charset="-122"/>
                <a:cs typeface="Georgia" pitchFamily="34" charset="-120"/>
              </a:rPr>
              <a:t>A computer program counts things. Statistics tells you if what you found is real — or just noise.</a:t>
            </a:r>
            <a:endParaRPr lang="en-US" sz="1700" dirty="0"/>
          </a:p>
        </p:txBody>
      </p:sp>
      <p:sp>
        <p:nvSpPr>
          <p:cNvPr id="6" name="Text 4"/>
          <p:cNvSpPr/>
          <p:nvPr/>
        </p:nvSpPr>
        <p:spPr>
          <a:xfrm>
            <a:off x="457200" y="1664208"/>
            <a:ext cx="8229600" cy="365760"/>
          </a:xfrm>
          <a:prstGeom prst="rect">
            <a:avLst/>
          </a:prstGeom>
          <a:noFill/>
          <a:ln/>
        </p:spPr>
        <p:txBody>
          <a:bodyPr wrap="square" lIns="0" tIns="0" rIns="0" bIns="0" rtlCol="0" anchor="ctr"/>
          <a:lstStyle/>
          <a:p>
            <a:pPr indent="0" marL="0">
              <a:buNone/>
            </a:pPr>
            <a:r>
              <a:rPr lang="en-US" sz="1400" b="1" dirty="0">
                <a:solidFill>
                  <a:srgbClr val="1A2535"/>
                </a:solidFill>
              </a:rPr>
              <a:t>The 3 statistical recipes every data scientist leans on:</a:t>
            </a:r>
            <a:endParaRPr lang="en-US" sz="1400" dirty="0"/>
          </a:p>
        </p:txBody>
      </p:sp>
      <p:sp>
        <p:nvSpPr>
          <p:cNvPr id="7" name="Shape 5"/>
          <p:cNvSpPr/>
          <p:nvPr/>
        </p:nvSpPr>
        <p:spPr>
          <a:xfrm>
            <a:off x="292608" y="2103120"/>
            <a:ext cx="2697480" cy="2743200"/>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8" name="Shape 6"/>
          <p:cNvSpPr/>
          <p:nvPr/>
        </p:nvSpPr>
        <p:spPr>
          <a:xfrm>
            <a:off x="292608" y="2103120"/>
            <a:ext cx="2697480" cy="109728"/>
          </a:xfrm>
          <a:prstGeom prst="rect">
            <a:avLst/>
          </a:prstGeom>
          <a:solidFill>
            <a:srgbClr val="028090"/>
          </a:solidFill>
          <a:ln w="12700">
            <a:solidFill>
              <a:srgbClr val="028090"/>
            </a:solidFill>
            <a:prstDash val="solid"/>
          </a:ln>
        </p:spPr>
      </p:sp>
      <p:sp>
        <p:nvSpPr>
          <p:cNvPr id="9" name="Shape 7"/>
          <p:cNvSpPr/>
          <p:nvPr/>
        </p:nvSpPr>
        <p:spPr>
          <a:xfrm>
            <a:off x="429768" y="2194560"/>
            <a:ext cx="438912" cy="438912"/>
          </a:xfrm>
          <a:prstGeom prst="ellipse">
            <a:avLst/>
          </a:prstGeom>
          <a:solidFill>
            <a:srgbClr val="028090"/>
          </a:solidFill>
          <a:ln w="12700">
            <a:solidFill>
              <a:srgbClr val="028090"/>
            </a:solidFill>
            <a:prstDash val="solid"/>
          </a:ln>
        </p:spPr>
      </p:sp>
      <p:sp>
        <p:nvSpPr>
          <p:cNvPr id="10" name="Text 8"/>
          <p:cNvSpPr/>
          <p:nvPr/>
        </p:nvSpPr>
        <p:spPr>
          <a:xfrm>
            <a:off x="429768" y="21945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p:nvPr/>
        </p:nvSpPr>
        <p:spPr>
          <a:xfrm>
            <a:off x="950976" y="2212848"/>
            <a:ext cx="2011680" cy="402336"/>
          </a:xfrm>
          <a:prstGeom prst="rect">
            <a:avLst/>
          </a:prstGeom>
          <a:noFill/>
          <a:ln/>
        </p:spPr>
        <p:txBody>
          <a:bodyPr wrap="square" lIns="0" tIns="0" rIns="0" bIns="0" rtlCol="0" anchor="ctr"/>
          <a:lstStyle/>
          <a:p>
            <a:pPr indent="0" marL="0">
              <a:buNone/>
            </a:pPr>
            <a:r>
              <a:rPr lang="en-US" sz="1300" b="1" dirty="0">
                <a:solidFill>
                  <a:srgbClr val="1A2535"/>
                </a:solidFill>
                <a:latin typeface="Georgia" pitchFamily="34" charset="0"/>
                <a:ea typeface="Georgia" pitchFamily="34" charset="-122"/>
                <a:cs typeface="Georgia" pitchFamily="34" charset="-120"/>
              </a:rPr>
              <a:t>Hypothesis Testing</a:t>
            </a:r>
            <a:endParaRPr lang="en-US" sz="1300" dirty="0"/>
          </a:p>
        </p:txBody>
      </p:sp>
      <p:sp>
        <p:nvSpPr>
          <p:cNvPr id="12" name="Text 10"/>
          <p:cNvSpPr/>
          <p:nvPr/>
        </p:nvSpPr>
        <p:spPr>
          <a:xfrm>
            <a:off x="402336" y="2697480"/>
            <a:ext cx="2542032" cy="347472"/>
          </a:xfrm>
          <a:prstGeom prst="rect">
            <a:avLst/>
          </a:prstGeom>
          <a:noFill/>
          <a:ln/>
        </p:spPr>
        <p:txBody>
          <a:bodyPr wrap="square" lIns="0" tIns="0" rIns="0" bIns="0" rtlCol="0" anchor="ctr"/>
          <a:lstStyle/>
          <a:p>
            <a:pPr indent="0" marL="0">
              <a:buNone/>
            </a:pPr>
            <a:r>
              <a:rPr lang="en-US" sz="1100" i="1" dirty="0">
                <a:solidFill>
                  <a:srgbClr val="028090"/>
                </a:solidFill>
              </a:rPr>
              <a:t>"Is this difference real, or just luck?"</a:t>
            </a:r>
            <a:endParaRPr lang="en-US" sz="1100" dirty="0"/>
          </a:p>
        </p:txBody>
      </p:sp>
      <p:sp>
        <p:nvSpPr>
          <p:cNvPr id="13" name="Shape 11"/>
          <p:cNvSpPr/>
          <p:nvPr/>
        </p:nvSpPr>
        <p:spPr>
          <a:xfrm>
            <a:off x="402336" y="3063240"/>
            <a:ext cx="2542032" cy="27432"/>
          </a:xfrm>
          <a:prstGeom prst="rect">
            <a:avLst/>
          </a:prstGeom>
          <a:solidFill>
            <a:srgbClr val="CCCCCC"/>
          </a:solidFill>
          <a:ln w="12700">
            <a:solidFill>
              <a:srgbClr val="CCCCCC"/>
            </a:solidFill>
            <a:prstDash val="solid"/>
          </a:ln>
        </p:spPr>
      </p:sp>
      <p:sp>
        <p:nvSpPr>
          <p:cNvPr id="14" name="Text 12"/>
          <p:cNvSpPr/>
          <p:nvPr/>
        </p:nvSpPr>
        <p:spPr>
          <a:xfrm>
            <a:off x="402336" y="3127248"/>
            <a:ext cx="2542032" cy="685800"/>
          </a:xfrm>
          <a:prstGeom prst="rect">
            <a:avLst/>
          </a:prstGeom>
          <a:noFill/>
          <a:ln/>
        </p:spPr>
        <p:txBody>
          <a:bodyPr wrap="square" lIns="0" tIns="0" rIns="0" bIns="0" rtlCol="0" anchor="ctr"/>
          <a:lstStyle/>
          <a:p>
            <a:pPr indent="0" marL="0">
              <a:buNone/>
            </a:pPr>
            <a:r>
              <a:rPr lang="en-US" sz="1050" dirty="0">
                <a:solidFill>
                  <a:srgbClr val="1A2535"/>
                </a:solidFill>
              </a:rPr>
              <a:t>You see fraud rates drop after a rule change. Is it the rule — or random variation? A hypothesis test tells you how confident to be.</a:t>
            </a:r>
            <a:endParaRPr lang="en-US" sz="1050" dirty="0"/>
          </a:p>
        </p:txBody>
      </p:sp>
      <p:sp>
        <p:nvSpPr>
          <p:cNvPr id="15" name="Text 13"/>
          <p:cNvSpPr/>
          <p:nvPr/>
        </p:nvSpPr>
        <p:spPr>
          <a:xfrm>
            <a:off x="402336" y="3858768"/>
            <a:ext cx="2542032" cy="256032"/>
          </a:xfrm>
          <a:prstGeom prst="rect">
            <a:avLst/>
          </a:prstGeom>
          <a:noFill/>
          <a:ln/>
        </p:spPr>
        <p:txBody>
          <a:bodyPr wrap="square" lIns="0" tIns="0" rIns="0" bIns="0" rtlCol="0" anchor="ctr"/>
          <a:lstStyle/>
          <a:p>
            <a:pPr indent="0" marL="0">
              <a:buNone/>
            </a:pPr>
            <a:r>
              <a:rPr lang="en-US" sz="1000" dirty="0">
                <a:solidFill>
                  <a:srgbClr val="4A5568"/>
                </a:solidFill>
              </a:rPr>
              <a:t>→  Null hypothesis: nothing changed</a:t>
            </a:r>
            <a:endParaRPr lang="en-US" sz="1000" dirty="0"/>
          </a:p>
        </p:txBody>
      </p:sp>
      <p:sp>
        <p:nvSpPr>
          <p:cNvPr id="16" name="Text 14"/>
          <p:cNvSpPr/>
          <p:nvPr/>
        </p:nvSpPr>
        <p:spPr>
          <a:xfrm>
            <a:off x="402336" y="4151376"/>
            <a:ext cx="2542032" cy="256032"/>
          </a:xfrm>
          <a:prstGeom prst="rect">
            <a:avLst/>
          </a:prstGeom>
          <a:noFill/>
          <a:ln/>
        </p:spPr>
        <p:txBody>
          <a:bodyPr wrap="square" lIns="0" tIns="0" rIns="0" bIns="0" rtlCol="0" anchor="ctr"/>
          <a:lstStyle/>
          <a:p>
            <a:pPr indent="0" marL="0">
              <a:buNone/>
            </a:pPr>
            <a:r>
              <a:rPr lang="en-US" sz="1000" dirty="0">
                <a:solidFill>
                  <a:srgbClr val="4A5568"/>
                </a:solidFill>
              </a:rPr>
              <a:t>→  p-value: probability this is chance</a:t>
            </a:r>
            <a:endParaRPr lang="en-US" sz="1000" dirty="0"/>
          </a:p>
        </p:txBody>
      </p:sp>
      <p:sp>
        <p:nvSpPr>
          <p:cNvPr id="17" name="Text 15"/>
          <p:cNvSpPr/>
          <p:nvPr/>
        </p:nvSpPr>
        <p:spPr>
          <a:xfrm>
            <a:off x="402336" y="4443984"/>
            <a:ext cx="2542032" cy="256032"/>
          </a:xfrm>
          <a:prstGeom prst="rect">
            <a:avLst/>
          </a:prstGeom>
          <a:noFill/>
          <a:ln/>
        </p:spPr>
        <p:txBody>
          <a:bodyPr wrap="square" lIns="0" tIns="0" rIns="0" bIns="0" rtlCol="0" anchor="ctr"/>
          <a:lstStyle/>
          <a:p>
            <a:pPr indent="0" marL="0">
              <a:buNone/>
            </a:pPr>
            <a:r>
              <a:rPr lang="en-US" sz="1000" dirty="0">
                <a:solidFill>
                  <a:srgbClr val="4A5568"/>
                </a:solidFill>
              </a:rPr>
              <a:t>→  Significance threshold: usually 0.05</a:t>
            </a:r>
            <a:endParaRPr lang="en-US" sz="1000" dirty="0"/>
          </a:p>
        </p:txBody>
      </p:sp>
      <p:sp>
        <p:nvSpPr>
          <p:cNvPr id="18" name="Shape 16"/>
          <p:cNvSpPr/>
          <p:nvPr/>
        </p:nvSpPr>
        <p:spPr>
          <a:xfrm>
            <a:off x="3191256" y="2103120"/>
            <a:ext cx="2697480" cy="2743200"/>
          </a:xfrm>
          <a:prstGeom prst="rect">
            <a:avLst/>
          </a:prstGeom>
          <a:solidFill>
            <a:srgbClr val="FFF4EB"/>
          </a:solidFill>
          <a:ln w="12700">
            <a:solidFill>
              <a:srgbClr val="E67E22"/>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3191256" y="2103120"/>
            <a:ext cx="2697480" cy="109728"/>
          </a:xfrm>
          <a:prstGeom prst="rect">
            <a:avLst/>
          </a:prstGeom>
          <a:solidFill>
            <a:srgbClr val="E67E22"/>
          </a:solidFill>
          <a:ln w="12700">
            <a:solidFill>
              <a:srgbClr val="E67E22"/>
            </a:solidFill>
            <a:prstDash val="solid"/>
          </a:ln>
        </p:spPr>
      </p:sp>
      <p:sp>
        <p:nvSpPr>
          <p:cNvPr id="20" name="Shape 18"/>
          <p:cNvSpPr/>
          <p:nvPr/>
        </p:nvSpPr>
        <p:spPr>
          <a:xfrm>
            <a:off x="3328416" y="2194560"/>
            <a:ext cx="438912" cy="438912"/>
          </a:xfrm>
          <a:prstGeom prst="ellipse">
            <a:avLst/>
          </a:prstGeom>
          <a:solidFill>
            <a:srgbClr val="E67E22"/>
          </a:solidFill>
          <a:ln w="12700">
            <a:solidFill>
              <a:srgbClr val="E67E22"/>
            </a:solidFill>
            <a:prstDash val="solid"/>
          </a:ln>
        </p:spPr>
      </p:sp>
      <p:sp>
        <p:nvSpPr>
          <p:cNvPr id="21" name="Text 19"/>
          <p:cNvSpPr/>
          <p:nvPr/>
        </p:nvSpPr>
        <p:spPr>
          <a:xfrm>
            <a:off x="3328416" y="21945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2" name="Text 20"/>
          <p:cNvSpPr/>
          <p:nvPr/>
        </p:nvSpPr>
        <p:spPr>
          <a:xfrm>
            <a:off x="3849624" y="2212848"/>
            <a:ext cx="2011680" cy="402336"/>
          </a:xfrm>
          <a:prstGeom prst="rect">
            <a:avLst/>
          </a:prstGeom>
          <a:noFill/>
          <a:ln/>
        </p:spPr>
        <p:txBody>
          <a:bodyPr wrap="square" lIns="0" tIns="0" rIns="0" bIns="0" rtlCol="0" anchor="ctr"/>
          <a:lstStyle/>
          <a:p>
            <a:pPr indent="0" marL="0">
              <a:buNone/>
            </a:pPr>
            <a:r>
              <a:rPr lang="en-US" sz="1300" b="1" dirty="0">
                <a:solidFill>
                  <a:srgbClr val="1A2535"/>
                </a:solidFill>
                <a:latin typeface="Georgia" pitchFamily="34" charset="0"/>
                <a:ea typeface="Georgia" pitchFamily="34" charset="-122"/>
                <a:cs typeface="Georgia" pitchFamily="34" charset="-120"/>
              </a:rPr>
              <a:t>Confidence Intervals</a:t>
            </a:r>
            <a:endParaRPr lang="en-US" sz="1300" dirty="0"/>
          </a:p>
        </p:txBody>
      </p:sp>
      <p:sp>
        <p:nvSpPr>
          <p:cNvPr id="23" name="Text 21"/>
          <p:cNvSpPr/>
          <p:nvPr/>
        </p:nvSpPr>
        <p:spPr>
          <a:xfrm>
            <a:off x="3300984" y="2697480"/>
            <a:ext cx="2542032" cy="347472"/>
          </a:xfrm>
          <a:prstGeom prst="rect">
            <a:avLst/>
          </a:prstGeom>
          <a:noFill/>
          <a:ln/>
        </p:spPr>
        <p:txBody>
          <a:bodyPr wrap="square" lIns="0" tIns="0" rIns="0" bIns="0" rtlCol="0" anchor="ctr"/>
          <a:lstStyle/>
          <a:p>
            <a:pPr indent="0" marL="0">
              <a:buNone/>
            </a:pPr>
            <a:r>
              <a:rPr lang="en-US" sz="1100" i="1" dirty="0">
                <a:solidFill>
                  <a:srgbClr val="E67E22"/>
                </a:solidFill>
              </a:rPr>
              <a:t>"How uncertain are we about this estimate?"</a:t>
            </a:r>
            <a:endParaRPr lang="en-US" sz="1100" dirty="0"/>
          </a:p>
        </p:txBody>
      </p:sp>
      <p:sp>
        <p:nvSpPr>
          <p:cNvPr id="24" name="Shape 22"/>
          <p:cNvSpPr/>
          <p:nvPr/>
        </p:nvSpPr>
        <p:spPr>
          <a:xfrm>
            <a:off x="3300984" y="3063240"/>
            <a:ext cx="2542032" cy="27432"/>
          </a:xfrm>
          <a:prstGeom prst="rect">
            <a:avLst/>
          </a:prstGeom>
          <a:solidFill>
            <a:srgbClr val="CCCCCC"/>
          </a:solidFill>
          <a:ln w="12700">
            <a:solidFill>
              <a:srgbClr val="CCCCCC"/>
            </a:solidFill>
            <a:prstDash val="solid"/>
          </a:ln>
        </p:spPr>
      </p:sp>
      <p:sp>
        <p:nvSpPr>
          <p:cNvPr id="25" name="Text 23"/>
          <p:cNvSpPr/>
          <p:nvPr/>
        </p:nvSpPr>
        <p:spPr>
          <a:xfrm>
            <a:off x="3300984" y="3127248"/>
            <a:ext cx="2542032" cy="685800"/>
          </a:xfrm>
          <a:prstGeom prst="rect">
            <a:avLst/>
          </a:prstGeom>
          <a:noFill/>
          <a:ln/>
        </p:spPr>
        <p:txBody>
          <a:bodyPr wrap="square" lIns="0" tIns="0" rIns="0" bIns="0" rtlCol="0" anchor="ctr"/>
          <a:lstStyle/>
          <a:p>
            <a:pPr indent="0" marL="0">
              <a:buNone/>
            </a:pPr>
            <a:r>
              <a:rPr lang="en-US" sz="1050" dirty="0">
                <a:solidFill>
                  <a:srgbClr val="1A2535"/>
                </a:solidFill>
              </a:rPr>
              <a:t>Your model predicts 2.3% churn. But the real answer is somewhere in a range. A confidence interval is honest about that uncertainty.</a:t>
            </a:r>
            <a:endParaRPr lang="en-US" sz="1050" dirty="0"/>
          </a:p>
        </p:txBody>
      </p:sp>
      <p:sp>
        <p:nvSpPr>
          <p:cNvPr id="26" name="Text 24"/>
          <p:cNvSpPr/>
          <p:nvPr/>
        </p:nvSpPr>
        <p:spPr>
          <a:xfrm>
            <a:off x="3300984" y="3858768"/>
            <a:ext cx="2542032" cy="256032"/>
          </a:xfrm>
          <a:prstGeom prst="rect">
            <a:avLst/>
          </a:prstGeom>
          <a:noFill/>
          <a:ln/>
        </p:spPr>
        <p:txBody>
          <a:bodyPr wrap="square" lIns="0" tIns="0" rIns="0" bIns="0" rtlCol="0" anchor="ctr"/>
          <a:lstStyle/>
          <a:p>
            <a:pPr indent="0" marL="0">
              <a:buNone/>
            </a:pPr>
            <a:r>
              <a:rPr lang="en-US" sz="1000" dirty="0">
                <a:solidFill>
                  <a:srgbClr val="4A5568"/>
                </a:solidFill>
              </a:rPr>
              <a:t>→  95% CI: 90% of the time the truth is in here</a:t>
            </a:r>
            <a:endParaRPr lang="en-US" sz="1000" dirty="0"/>
          </a:p>
        </p:txBody>
      </p:sp>
      <p:sp>
        <p:nvSpPr>
          <p:cNvPr id="27" name="Text 25"/>
          <p:cNvSpPr/>
          <p:nvPr/>
        </p:nvSpPr>
        <p:spPr>
          <a:xfrm>
            <a:off x="3300984" y="4151376"/>
            <a:ext cx="2542032" cy="256032"/>
          </a:xfrm>
          <a:prstGeom prst="rect">
            <a:avLst/>
          </a:prstGeom>
          <a:noFill/>
          <a:ln/>
        </p:spPr>
        <p:txBody>
          <a:bodyPr wrap="square" lIns="0" tIns="0" rIns="0" bIns="0" rtlCol="0" anchor="ctr"/>
          <a:lstStyle/>
          <a:p>
            <a:pPr indent="0" marL="0">
              <a:buNone/>
            </a:pPr>
            <a:r>
              <a:rPr lang="en-US" sz="1000" dirty="0">
                <a:solidFill>
                  <a:srgbClr val="4A5568"/>
                </a:solidFill>
              </a:rPr>
              <a:t>→  Wide CI = uncertain  |  Narrow CI = confident</a:t>
            </a:r>
            <a:endParaRPr lang="en-US" sz="1000" dirty="0"/>
          </a:p>
        </p:txBody>
      </p:sp>
      <p:sp>
        <p:nvSpPr>
          <p:cNvPr id="28" name="Text 26"/>
          <p:cNvSpPr/>
          <p:nvPr/>
        </p:nvSpPr>
        <p:spPr>
          <a:xfrm>
            <a:off x="3300984" y="4443984"/>
            <a:ext cx="2542032" cy="256032"/>
          </a:xfrm>
          <a:prstGeom prst="rect">
            <a:avLst/>
          </a:prstGeom>
          <a:noFill/>
          <a:ln/>
        </p:spPr>
        <p:txBody>
          <a:bodyPr wrap="square" lIns="0" tIns="0" rIns="0" bIns="0" rtlCol="0" anchor="ctr"/>
          <a:lstStyle/>
          <a:p>
            <a:pPr indent="0" marL="0">
              <a:buNone/>
            </a:pPr>
            <a:r>
              <a:rPr lang="en-US" sz="1000" dirty="0">
                <a:solidFill>
                  <a:srgbClr val="4A5568"/>
                </a:solidFill>
              </a:rPr>
              <a:t>→  Never report a single number without a range</a:t>
            </a:r>
            <a:endParaRPr lang="en-US" sz="1000" dirty="0"/>
          </a:p>
        </p:txBody>
      </p:sp>
      <p:sp>
        <p:nvSpPr>
          <p:cNvPr id="29" name="Shape 27"/>
          <p:cNvSpPr/>
          <p:nvPr/>
        </p:nvSpPr>
        <p:spPr>
          <a:xfrm>
            <a:off x="6089904" y="2103120"/>
            <a:ext cx="2697480" cy="2743200"/>
          </a:xfrm>
          <a:prstGeom prst="rect">
            <a:avLst/>
          </a:prstGeom>
          <a:solidFill>
            <a:srgbClr val="F8F0FF"/>
          </a:solidFill>
          <a:ln w="12700">
            <a:solidFill>
              <a:srgbClr val="9B59B6"/>
            </a:solidFill>
            <a:prstDash val="solid"/>
          </a:ln>
          <a:effectLst>
            <a:outerShdw sx="100000" sy="100000" kx="0" ky="0" algn="bl" rotWithShape="0" blurRad="63500" dist="25400" dir="8100000">
              <a:srgbClr val="000000">
                <a:alpha val="7000"/>
              </a:srgbClr>
            </a:outerShdw>
          </a:effectLst>
        </p:spPr>
      </p:sp>
      <p:sp>
        <p:nvSpPr>
          <p:cNvPr id="30" name="Shape 28"/>
          <p:cNvSpPr/>
          <p:nvPr/>
        </p:nvSpPr>
        <p:spPr>
          <a:xfrm>
            <a:off x="6089904" y="2103120"/>
            <a:ext cx="2697480" cy="109728"/>
          </a:xfrm>
          <a:prstGeom prst="rect">
            <a:avLst/>
          </a:prstGeom>
          <a:solidFill>
            <a:srgbClr val="9B59B6"/>
          </a:solidFill>
          <a:ln w="12700">
            <a:solidFill>
              <a:srgbClr val="9B59B6"/>
            </a:solidFill>
            <a:prstDash val="solid"/>
          </a:ln>
        </p:spPr>
      </p:sp>
      <p:sp>
        <p:nvSpPr>
          <p:cNvPr id="31" name="Shape 29"/>
          <p:cNvSpPr/>
          <p:nvPr/>
        </p:nvSpPr>
        <p:spPr>
          <a:xfrm>
            <a:off x="6227064" y="2194560"/>
            <a:ext cx="438912" cy="438912"/>
          </a:xfrm>
          <a:prstGeom prst="ellipse">
            <a:avLst/>
          </a:prstGeom>
          <a:solidFill>
            <a:srgbClr val="9B59B6"/>
          </a:solidFill>
          <a:ln w="12700">
            <a:solidFill>
              <a:srgbClr val="9B59B6"/>
            </a:solidFill>
            <a:prstDash val="solid"/>
          </a:ln>
        </p:spPr>
      </p:sp>
      <p:sp>
        <p:nvSpPr>
          <p:cNvPr id="32" name="Text 30"/>
          <p:cNvSpPr/>
          <p:nvPr/>
        </p:nvSpPr>
        <p:spPr>
          <a:xfrm>
            <a:off x="6227064" y="21945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3" name="Text 31"/>
          <p:cNvSpPr/>
          <p:nvPr/>
        </p:nvSpPr>
        <p:spPr>
          <a:xfrm>
            <a:off x="6748272" y="2212848"/>
            <a:ext cx="2011680" cy="402336"/>
          </a:xfrm>
          <a:prstGeom prst="rect">
            <a:avLst/>
          </a:prstGeom>
          <a:noFill/>
          <a:ln/>
        </p:spPr>
        <p:txBody>
          <a:bodyPr wrap="square" lIns="0" tIns="0" rIns="0" bIns="0" rtlCol="0" anchor="ctr"/>
          <a:lstStyle/>
          <a:p>
            <a:pPr indent="0" marL="0">
              <a:buNone/>
            </a:pPr>
            <a:r>
              <a:rPr lang="en-US" sz="1300" b="1" dirty="0">
                <a:solidFill>
                  <a:srgbClr val="1A2535"/>
                </a:solidFill>
                <a:latin typeface="Georgia" pitchFamily="34" charset="0"/>
                <a:ea typeface="Georgia" pitchFamily="34" charset="-122"/>
                <a:cs typeface="Georgia" pitchFamily="34" charset="-120"/>
              </a:rPr>
              <a:t>A/B Testing</a:t>
            </a:r>
            <a:endParaRPr lang="en-US" sz="1300" dirty="0"/>
          </a:p>
        </p:txBody>
      </p:sp>
      <p:sp>
        <p:nvSpPr>
          <p:cNvPr id="34" name="Text 32"/>
          <p:cNvSpPr/>
          <p:nvPr/>
        </p:nvSpPr>
        <p:spPr>
          <a:xfrm>
            <a:off x="6199632" y="2697480"/>
            <a:ext cx="2542032" cy="347472"/>
          </a:xfrm>
          <a:prstGeom prst="rect">
            <a:avLst/>
          </a:prstGeom>
          <a:noFill/>
          <a:ln/>
        </p:spPr>
        <p:txBody>
          <a:bodyPr wrap="square" lIns="0" tIns="0" rIns="0" bIns="0" rtlCol="0" anchor="ctr"/>
          <a:lstStyle/>
          <a:p>
            <a:pPr indent="0" marL="0">
              <a:buNone/>
            </a:pPr>
            <a:r>
              <a:rPr lang="en-US" sz="1100" i="1" dirty="0">
                <a:solidFill>
                  <a:srgbClr val="9B59B6"/>
                </a:solidFill>
              </a:rPr>
              <a:t>"Did this change actually cause improvement?"</a:t>
            </a:r>
            <a:endParaRPr lang="en-US" sz="1100" dirty="0"/>
          </a:p>
        </p:txBody>
      </p:sp>
      <p:sp>
        <p:nvSpPr>
          <p:cNvPr id="35" name="Shape 33"/>
          <p:cNvSpPr/>
          <p:nvPr/>
        </p:nvSpPr>
        <p:spPr>
          <a:xfrm>
            <a:off x="6199632" y="3063240"/>
            <a:ext cx="2542032" cy="27432"/>
          </a:xfrm>
          <a:prstGeom prst="rect">
            <a:avLst/>
          </a:prstGeom>
          <a:solidFill>
            <a:srgbClr val="CCCCCC"/>
          </a:solidFill>
          <a:ln w="12700">
            <a:solidFill>
              <a:srgbClr val="CCCCCC"/>
            </a:solidFill>
            <a:prstDash val="solid"/>
          </a:ln>
        </p:spPr>
      </p:sp>
      <p:sp>
        <p:nvSpPr>
          <p:cNvPr id="36" name="Text 34"/>
          <p:cNvSpPr/>
          <p:nvPr/>
        </p:nvSpPr>
        <p:spPr>
          <a:xfrm>
            <a:off x="6199632" y="3127248"/>
            <a:ext cx="2542032" cy="685800"/>
          </a:xfrm>
          <a:prstGeom prst="rect">
            <a:avLst/>
          </a:prstGeom>
          <a:noFill/>
          <a:ln/>
        </p:spPr>
        <p:txBody>
          <a:bodyPr wrap="square" lIns="0" tIns="0" rIns="0" bIns="0" rtlCol="0" anchor="ctr"/>
          <a:lstStyle/>
          <a:p>
            <a:pPr indent="0" marL="0">
              <a:buNone/>
            </a:pPr>
            <a:r>
              <a:rPr lang="en-US" sz="1050" dirty="0">
                <a:solidFill>
                  <a:srgbClr val="1A2535"/>
                </a:solidFill>
              </a:rPr>
              <a:t>The gold-standard recipe. Randomize customers into two groups, change one thing, measure the difference. Everything else is correlation.</a:t>
            </a:r>
            <a:endParaRPr lang="en-US" sz="1050" dirty="0"/>
          </a:p>
        </p:txBody>
      </p:sp>
      <p:sp>
        <p:nvSpPr>
          <p:cNvPr id="37" name="Text 35"/>
          <p:cNvSpPr/>
          <p:nvPr/>
        </p:nvSpPr>
        <p:spPr>
          <a:xfrm>
            <a:off x="6199632" y="3858768"/>
            <a:ext cx="2542032" cy="256032"/>
          </a:xfrm>
          <a:prstGeom prst="rect">
            <a:avLst/>
          </a:prstGeom>
          <a:noFill/>
          <a:ln/>
        </p:spPr>
        <p:txBody>
          <a:bodyPr wrap="square" lIns="0" tIns="0" rIns="0" bIns="0" rtlCol="0" anchor="ctr"/>
          <a:lstStyle/>
          <a:p>
            <a:pPr indent="0" marL="0">
              <a:buNone/>
            </a:pPr>
            <a:r>
              <a:rPr lang="en-US" sz="1000" dirty="0">
                <a:solidFill>
                  <a:srgbClr val="4A5568"/>
                </a:solidFill>
              </a:rPr>
              <a:t>→  Randomization is everything — it kills confounders</a:t>
            </a:r>
            <a:endParaRPr lang="en-US" sz="1000" dirty="0"/>
          </a:p>
        </p:txBody>
      </p:sp>
      <p:sp>
        <p:nvSpPr>
          <p:cNvPr id="38" name="Text 36"/>
          <p:cNvSpPr/>
          <p:nvPr/>
        </p:nvSpPr>
        <p:spPr>
          <a:xfrm>
            <a:off x="6199632" y="4151376"/>
            <a:ext cx="2542032" cy="256032"/>
          </a:xfrm>
          <a:prstGeom prst="rect">
            <a:avLst/>
          </a:prstGeom>
          <a:noFill/>
          <a:ln/>
        </p:spPr>
        <p:txBody>
          <a:bodyPr wrap="square" lIns="0" tIns="0" rIns="0" bIns="0" rtlCol="0" anchor="ctr"/>
          <a:lstStyle/>
          <a:p>
            <a:pPr indent="0" marL="0">
              <a:buNone/>
            </a:pPr>
            <a:r>
              <a:rPr lang="en-US" sz="1000" dirty="0">
                <a:solidFill>
                  <a:srgbClr val="4A5568"/>
                </a:solidFill>
              </a:rPr>
              <a:t>→  Control group is your baseline</a:t>
            </a:r>
            <a:endParaRPr lang="en-US" sz="1000" dirty="0"/>
          </a:p>
        </p:txBody>
      </p:sp>
      <p:sp>
        <p:nvSpPr>
          <p:cNvPr id="39" name="Text 37"/>
          <p:cNvSpPr/>
          <p:nvPr/>
        </p:nvSpPr>
        <p:spPr>
          <a:xfrm>
            <a:off x="6199632" y="4443984"/>
            <a:ext cx="2542032" cy="256032"/>
          </a:xfrm>
          <a:prstGeom prst="rect">
            <a:avLst/>
          </a:prstGeom>
          <a:noFill/>
          <a:ln/>
        </p:spPr>
        <p:txBody>
          <a:bodyPr wrap="square" lIns="0" tIns="0" rIns="0" bIns="0" rtlCol="0" anchor="ctr"/>
          <a:lstStyle/>
          <a:p>
            <a:pPr indent="0" marL="0">
              <a:buNone/>
            </a:pPr>
            <a:r>
              <a:rPr lang="en-US" sz="1000" dirty="0">
                <a:solidFill>
                  <a:srgbClr val="4A5568"/>
                </a:solidFill>
              </a:rPr>
              <a:t>→  Power analysis first: are we measuring enough?</a:t>
            </a:r>
            <a:endParaRPr lang="en-US" sz="1000" dirty="0"/>
          </a:p>
        </p:txBody>
      </p:sp>
      <p:sp>
        <p:nvSpPr>
          <p:cNvPr id="41" name="Text 3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THESE RECIPES IN YOUR WORLD</a:t>
            </a:r>
            <a:endParaRPr lang="en-US" sz="1300" dirty="0"/>
          </a:p>
        </p:txBody>
      </p:sp>
      <p:sp>
        <p:nvSpPr>
          <p:cNvPr id="4" name="Text 2"/>
          <p:cNvSpPr/>
          <p:nvPr/>
        </p:nvSpPr>
        <p:spPr>
          <a:xfrm>
            <a:off x="457200" y="713232"/>
            <a:ext cx="8229600" cy="384048"/>
          </a:xfrm>
          <a:prstGeom prst="rect">
            <a:avLst/>
          </a:prstGeom>
          <a:noFill/>
          <a:ln/>
        </p:spPr>
        <p:txBody>
          <a:bodyPr wrap="square" lIns="0" tIns="0" rIns="0" bIns="0" rtlCol="0" anchor="ctr"/>
          <a:lstStyle/>
          <a:p>
            <a:pPr indent="0" marL="0">
              <a:buNone/>
            </a:pPr>
            <a:r>
              <a:rPr lang="en-US" sz="1500" i="1" dirty="0">
                <a:solidFill>
                  <a:srgbClr val="1A2535"/>
                </a:solidFill>
                <a:latin typeface="Georgia" pitchFamily="34" charset="0"/>
                <a:ea typeface="Georgia" pitchFamily="34" charset="-122"/>
                <a:cs typeface="Georgia" pitchFamily="34" charset="-120"/>
              </a:rPr>
              <a:t>$2.4B revenue. 7,400+ clients. 14.5M digital users. 77% private cloud. Every recipe applies.</a:t>
            </a:r>
            <a:endParaRPr lang="en-US" sz="1500" dirty="0"/>
          </a:p>
        </p:txBody>
      </p:sp>
      <p:sp>
        <p:nvSpPr>
          <p:cNvPr id="5" name="Shape 3"/>
          <p:cNvSpPr/>
          <p:nvPr/>
        </p:nvSpPr>
        <p:spPr>
          <a:xfrm>
            <a:off x="320040" y="1225296"/>
            <a:ext cx="8503920" cy="640080"/>
          </a:xfrm>
          <a:prstGeom prst="rect">
            <a:avLst/>
          </a:prstGeom>
          <a:solidFill>
            <a:srgbClr val="EBF5FF"/>
          </a:solidFill>
          <a:ln w="12700">
            <a:solidFill>
              <a:srgbClr val="EEEEEE"/>
            </a:solidFill>
            <a:prstDash val="solid"/>
          </a:ln>
        </p:spPr>
      </p:sp>
      <p:sp>
        <p:nvSpPr>
          <p:cNvPr id="6" name="Shape 4"/>
          <p:cNvSpPr/>
          <p:nvPr/>
        </p:nvSpPr>
        <p:spPr>
          <a:xfrm>
            <a:off x="320040" y="1225296"/>
            <a:ext cx="128016" cy="640080"/>
          </a:xfrm>
          <a:prstGeom prst="rect">
            <a:avLst/>
          </a:prstGeom>
          <a:solidFill>
            <a:srgbClr val="2196F3"/>
          </a:solidFill>
          <a:ln w="12700">
            <a:solidFill>
              <a:srgbClr val="2196F3"/>
            </a:solidFill>
            <a:prstDash val="solid"/>
          </a:ln>
        </p:spPr>
      </p:sp>
      <p:sp>
        <p:nvSpPr>
          <p:cNvPr id="7" name="Text 5"/>
          <p:cNvSpPr/>
          <p:nvPr/>
        </p:nvSpPr>
        <p:spPr>
          <a:xfrm>
            <a:off x="530352" y="1371600"/>
            <a:ext cx="1828800" cy="347472"/>
          </a:xfrm>
          <a:prstGeom prst="rect">
            <a:avLst/>
          </a:prstGeom>
          <a:noFill/>
          <a:ln/>
        </p:spPr>
        <p:txBody>
          <a:bodyPr wrap="square" lIns="0" tIns="0" rIns="0" bIns="0" rtlCol="0" anchor="ctr"/>
          <a:lstStyle/>
          <a:p>
            <a:pPr indent="0" marL="0">
              <a:buNone/>
            </a:pPr>
            <a:r>
              <a:rPr lang="en-US" sz="1250" b="1" dirty="0">
                <a:solidFill>
                  <a:srgbClr val="1A2535"/>
                </a:solidFill>
              </a:rPr>
              <a:t>Classify</a:t>
            </a:r>
            <a:endParaRPr lang="en-US" sz="1250" dirty="0"/>
          </a:p>
        </p:txBody>
      </p:sp>
      <p:sp>
        <p:nvSpPr>
          <p:cNvPr id="8" name="Text 6"/>
          <p:cNvSpPr/>
          <p:nvPr/>
        </p:nvSpPr>
        <p:spPr>
          <a:xfrm>
            <a:off x="2487168" y="1371600"/>
            <a:ext cx="2377440" cy="347472"/>
          </a:xfrm>
          <a:prstGeom prst="rect">
            <a:avLst/>
          </a:prstGeom>
          <a:noFill/>
          <a:ln/>
        </p:spPr>
        <p:txBody>
          <a:bodyPr wrap="square" lIns="0" tIns="0" rIns="0" bIns="0" rtlCol="0" anchor="ctr"/>
          <a:lstStyle/>
          <a:p>
            <a:pPr indent="0" marL="0">
              <a:buNone/>
            </a:pPr>
            <a:r>
              <a:rPr lang="en-US" sz="1300" b="1" dirty="0">
                <a:solidFill>
                  <a:srgbClr val="1E2D4E"/>
                </a:solidFill>
              </a:rPr>
              <a:t>Fraud Detection</a:t>
            </a:r>
            <a:endParaRPr lang="en-US" sz="1300" dirty="0"/>
          </a:p>
        </p:txBody>
      </p:sp>
      <p:sp>
        <p:nvSpPr>
          <p:cNvPr id="9" name="Text 7"/>
          <p:cNvSpPr/>
          <p:nvPr/>
        </p:nvSpPr>
        <p:spPr>
          <a:xfrm>
            <a:off x="4983480" y="1371600"/>
            <a:ext cx="3749040" cy="347472"/>
          </a:xfrm>
          <a:prstGeom prst="rect">
            <a:avLst/>
          </a:prstGeom>
          <a:noFill/>
          <a:ln/>
        </p:spPr>
        <p:txBody>
          <a:bodyPr wrap="square" lIns="0" tIns="0" rIns="0" bIns="0" rtlCol="0" anchor="ctr"/>
          <a:lstStyle/>
          <a:p>
            <a:pPr indent="0" marL="0">
              <a:buNone/>
            </a:pPr>
            <a:r>
              <a:rPr lang="en-US" sz="1150" i="1" dirty="0">
                <a:solidFill>
                  <a:srgbClr val="4A5568"/>
                </a:solidFill>
              </a:rPr>
              <a:t>Is this ACH transfer, wire, or card transaction legitimate or fraudulent?</a:t>
            </a:r>
            <a:endParaRPr lang="en-US" sz="1150" dirty="0"/>
          </a:p>
        </p:txBody>
      </p:sp>
      <p:sp>
        <p:nvSpPr>
          <p:cNvPr id="10" name="Shape 8"/>
          <p:cNvSpPr/>
          <p:nvPr/>
        </p:nvSpPr>
        <p:spPr>
          <a:xfrm>
            <a:off x="320040" y="1956816"/>
            <a:ext cx="8503920" cy="640080"/>
          </a:xfrm>
          <a:prstGeom prst="rect">
            <a:avLst/>
          </a:prstGeom>
          <a:solidFill>
            <a:srgbClr val="EDFAF4"/>
          </a:solidFill>
          <a:ln w="12700">
            <a:solidFill>
              <a:srgbClr val="EEEEEE"/>
            </a:solidFill>
            <a:prstDash val="solid"/>
          </a:ln>
        </p:spPr>
      </p:sp>
      <p:sp>
        <p:nvSpPr>
          <p:cNvPr id="11" name="Shape 9"/>
          <p:cNvSpPr/>
          <p:nvPr/>
        </p:nvSpPr>
        <p:spPr>
          <a:xfrm>
            <a:off x="320040" y="1956816"/>
            <a:ext cx="128016" cy="640080"/>
          </a:xfrm>
          <a:prstGeom prst="rect">
            <a:avLst/>
          </a:prstGeom>
          <a:solidFill>
            <a:srgbClr val="27AE60"/>
          </a:solidFill>
          <a:ln w="12700">
            <a:solidFill>
              <a:srgbClr val="27AE60"/>
            </a:solidFill>
            <a:prstDash val="solid"/>
          </a:ln>
        </p:spPr>
      </p:sp>
      <p:sp>
        <p:nvSpPr>
          <p:cNvPr id="12" name="Text 10"/>
          <p:cNvSpPr/>
          <p:nvPr/>
        </p:nvSpPr>
        <p:spPr>
          <a:xfrm>
            <a:off x="530352" y="2103120"/>
            <a:ext cx="1828800" cy="347472"/>
          </a:xfrm>
          <a:prstGeom prst="rect">
            <a:avLst/>
          </a:prstGeom>
          <a:noFill/>
          <a:ln/>
        </p:spPr>
        <p:txBody>
          <a:bodyPr wrap="square" lIns="0" tIns="0" rIns="0" bIns="0" rtlCol="0" anchor="ctr"/>
          <a:lstStyle/>
          <a:p>
            <a:pPr indent="0" marL="0">
              <a:buNone/>
            </a:pPr>
            <a:r>
              <a:rPr lang="en-US" sz="1250" b="1" dirty="0">
                <a:solidFill>
                  <a:srgbClr val="1A2535"/>
                </a:solidFill>
              </a:rPr>
              <a:t>Predict</a:t>
            </a:r>
            <a:endParaRPr lang="en-US" sz="1250" dirty="0"/>
          </a:p>
        </p:txBody>
      </p:sp>
      <p:sp>
        <p:nvSpPr>
          <p:cNvPr id="13" name="Text 11"/>
          <p:cNvSpPr/>
          <p:nvPr/>
        </p:nvSpPr>
        <p:spPr>
          <a:xfrm>
            <a:off x="2487168" y="2103120"/>
            <a:ext cx="2377440" cy="347472"/>
          </a:xfrm>
          <a:prstGeom prst="rect">
            <a:avLst/>
          </a:prstGeom>
          <a:noFill/>
          <a:ln/>
        </p:spPr>
        <p:txBody>
          <a:bodyPr wrap="square" lIns="0" tIns="0" rIns="0" bIns="0" rtlCol="0" anchor="ctr"/>
          <a:lstStyle/>
          <a:p>
            <a:pPr indent="0" marL="0">
              <a:buNone/>
            </a:pPr>
            <a:r>
              <a:rPr lang="en-US" sz="1300" b="1" dirty="0">
                <a:solidFill>
                  <a:srgbClr val="1E2D4E"/>
                </a:solidFill>
              </a:rPr>
              <a:t>Cash Flow Forecasting</a:t>
            </a:r>
            <a:endParaRPr lang="en-US" sz="1300" dirty="0"/>
          </a:p>
        </p:txBody>
      </p:sp>
      <p:sp>
        <p:nvSpPr>
          <p:cNvPr id="14" name="Text 12"/>
          <p:cNvSpPr/>
          <p:nvPr/>
        </p:nvSpPr>
        <p:spPr>
          <a:xfrm>
            <a:off x="4983480" y="2103120"/>
            <a:ext cx="3749040" cy="347472"/>
          </a:xfrm>
          <a:prstGeom prst="rect">
            <a:avLst/>
          </a:prstGeom>
          <a:noFill/>
          <a:ln/>
        </p:spPr>
        <p:txBody>
          <a:bodyPr wrap="square" lIns="0" tIns="0" rIns="0" bIns="0" rtlCol="0" anchor="ctr"/>
          <a:lstStyle/>
          <a:p>
            <a:pPr indent="0" marL="0">
              <a:buNone/>
            </a:pPr>
            <a:r>
              <a:rPr lang="en-US" sz="1150" i="1" dirty="0">
                <a:solidFill>
                  <a:srgbClr val="4A5568"/>
                </a:solidFill>
              </a:rPr>
              <a:t>What will this community bank's deposit volume look like next quarter?</a:t>
            </a:r>
            <a:endParaRPr lang="en-US" sz="1150" dirty="0"/>
          </a:p>
        </p:txBody>
      </p:sp>
      <p:sp>
        <p:nvSpPr>
          <p:cNvPr id="15" name="Shape 13"/>
          <p:cNvSpPr/>
          <p:nvPr/>
        </p:nvSpPr>
        <p:spPr>
          <a:xfrm>
            <a:off x="320040" y="2688336"/>
            <a:ext cx="8503920" cy="640080"/>
          </a:xfrm>
          <a:prstGeom prst="rect">
            <a:avLst/>
          </a:prstGeom>
          <a:solidFill>
            <a:srgbClr val="FFF4EB"/>
          </a:solidFill>
          <a:ln w="12700">
            <a:solidFill>
              <a:srgbClr val="EEEEEE"/>
            </a:solidFill>
            <a:prstDash val="solid"/>
          </a:ln>
        </p:spPr>
      </p:sp>
      <p:sp>
        <p:nvSpPr>
          <p:cNvPr id="16" name="Shape 14"/>
          <p:cNvSpPr/>
          <p:nvPr/>
        </p:nvSpPr>
        <p:spPr>
          <a:xfrm>
            <a:off x="320040" y="2688336"/>
            <a:ext cx="128016" cy="640080"/>
          </a:xfrm>
          <a:prstGeom prst="rect">
            <a:avLst/>
          </a:prstGeom>
          <a:solidFill>
            <a:srgbClr val="E67E22"/>
          </a:solidFill>
          <a:ln w="12700">
            <a:solidFill>
              <a:srgbClr val="E67E22"/>
            </a:solidFill>
            <a:prstDash val="solid"/>
          </a:ln>
        </p:spPr>
      </p:sp>
      <p:sp>
        <p:nvSpPr>
          <p:cNvPr id="17" name="Text 15"/>
          <p:cNvSpPr/>
          <p:nvPr/>
        </p:nvSpPr>
        <p:spPr>
          <a:xfrm>
            <a:off x="530352" y="2834640"/>
            <a:ext cx="1828800" cy="347472"/>
          </a:xfrm>
          <a:prstGeom prst="rect">
            <a:avLst/>
          </a:prstGeom>
          <a:noFill/>
          <a:ln/>
        </p:spPr>
        <p:txBody>
          <a:bodyPr wrap="square" lIns="0" tIns="0" rIns="0" bIns="0" rtlCol="0" anchor="ctr"/>
          <a:lstStyle/>
          <a:p>
            <a:pPr indent="0" marL="0">
              <a:buNone/>
            </a:pPr>
            <a:r>
              <a:rPr lang="en-US" sz="1250" b="1" dirty="0">
                <a:solidFill>
                  <a:srgbClr val="1A2535"/>
                </a:solidFill>
              </a:rPr>
              <a:t>Cluster</a:t>
            </a:r>
            <a:endParaRPr lang="en-US" sz="1250" dirty="0"/>
          </a:p>
        </p:txBody>
      </p:sp>
      <p:sp>
        <p:nvSpPr>
          <p:cNvPr id="18" name="Text 16"/>
          <p:cNvSpPr/>
          <p:nvPr/>
        </p:nvSpPr>
        <p:spPr>
          <a:xfrm>
            <a:off x="2487168" y="2834640"/>
            <a:ext cx="2377440" cy="347472"/>
          </a:xfrm>
          <a:prstGeom prst="rect">
            <a:avLst/>
          </a:prstGeom>
          <a:noFill/>
          <a:ln/>
        </p:spPr>
        <p:txBody>
          <a:bodyPr wrap="square" lIns="0" tIns="0" rIns="0" bIns="0" rtlCol="0" anchor="ctr"/>
          <a:lstStyle/>
          <a:p>
            <a:pPr indent="0" marL="0">
              <a:buNone/>
            </a:pPr>
            <a:r>
              <a:rPr lang="en-US" sz="1300" b="1" dirty="0">
                <a:solidFill>
                  <a:srgbClr val="1E2D4E"/>
                </a:solidFill>
              </a:rPr>
              <a:t>Customer Segmentation</a:t>
            </a:r>
            <a:endParaRPr lang="en-US" sz="1300" dirty="0"/>
          </a:p>
        </p:txBody>
      </p:sp>
      <p:sp>
        <p:nvSpPr>
          <p:cNvPr id="19" name="Text 17"/>
          <p:cNvSpPr/>
          <p:nvPr/>
        </p:nvSpPr>
        <p:spPr>
          <a:xfrm>
            <a:off x="4983480" y="2834640"/>
            <a:ext cx="3749040" cy="347472"/>
          </a:xfrm>
          <a:prstGeom prst="rect">
            <a:avLst/>
          </a:prstGeom>
          <a:noFill/>
          <a:ln/>
        </p:spPr>
        <p:txBody>
          <a:bodyPr wrap="square" lIns="0" tIns="0" rIns="0" bIns="0" rtlCol="0" anchor="ctr"/>
          <a:lstStyle/>
          <a:p>
            <a:pPr indent="0" marL="0">
              <a:buNone/>
            </a:pPr>
            <a:r>
              <a:rPr lang="en-US" sz="1150" i="1" dirty="0">
                <a:solidFill>
                  <a:srgbClr val="4A5568"/>
                </a:solidFill>
              </a:rPr>
              <a:t>Which small businesses behave similarly enough to get the same product pitch?</a:t>
            </a:r>
            <a:endParaRPr lang="en-US" sz="1150" dirty="0"/>
          </a:p>
        </p:txBody>
      </p:sp>
      <p:sp>
        <p:nvSpPr>
          <p:cNvPr id="20" name="Shape 18"/>
          <p:cNvSpPr/>
          <p:nvPr/>
        </p:nvSpPr>
        <p:spPr>
          <a:xfrm>
            <a:off x="320040" y="3419856"/>
            <a:ext cx="8503920" cy="640080"/>
          </a:xfrm>
          <a:prstGeom prst="rect">
            <a:avLst/>
          </a:prstGeom>
          <a:solidFill>
            <a:srgbClr val="FFF0F0"/>
          </a:solidFill>
          <a:ln w="12700">
            <a:solidFill>
              <a:srgbClr val="EEEEEE"/>
            </a:solidFill>
            <a:prstDash val="solid"/>
          </a:ln>
        </p:spPr>
      </p:sp>
      <p:sp>
        <p:nvSpPr>
          <p:cNvPr id="21" name="Shape 19"/>
          <p:cNvSpPr/>
          <p:nvPr/>
        </p:nvSpPr>
        <p:spPr>
          <a:xfrm>
            <a:off x="320040" y="3419856"/>
            <a:ext cx="128016" cy="640080"/>
          </a:xfrm>
          <a:prstGeom prst="rect">
            <a:avLst/>
          </a:prstGeom>
          <a:solidFill>
            <a:srgbClr val="C0392B"/>
          </a:solidFill>
          <a:ln w="12700">
            <a:solidFill>
              <a:srgbClr val="C0392B"/>
            </a:solidFill>
            <a:prstDash val="solid"/>
          </a:ln>
        </p:spPr>
      </p:sp>
      <p:sp>
        <p:nvSpPr>
          <p:cNvPr id="22" name="Text 20"/>
          <p:cNvSpPr/>
          <p:nvPr/>
        </p:nvSpPr>
        <p:spPr>
          <a:xfrm>
            <a:off x="530352" y="3566160"/>
            <a:ext cx="1828800" cy="347472"/>
          </a:xfrm>
          <a:prstGeom prst="rect">
            <a:avLst/>
          </a:prstGeom>
          <a:noFill/>
          <a:ln/>
        </p:spPr>
        <p:txBody>
          <a:bodyPr wrap="square" lIns="0" tIns="0" rIns="0" bIns="0" rtlCol="0" anchor="ctr"/>
          <a:lstStyle/>
          <a:p>
            <a:pPr indent="0" marL="0">
              <a:buNone/>
            </a:pPr>
            <a:r>
              <a:rPr lang="en-US" sz="1250" b="1" dirty="0">
                <a:solidFill>
                  <a:srgbClr val="1A2535"/>
                </a:solidFill>
              </a:rPr>
              <a:t>Anomaly Detect</a:t>
            </a:r>
            <a:endParaRPr lang="en-US" sz="1250" dirty="0"/>
          </a:p>
        </p:txBody>
      </p:sp>
      <p:sp>
        <p:nvSpPr>
          <p:cNvPr id="23" name="Text 21"/>
          <p:cNvSpPr/>
          <p:nvPr/>
        </p:nvSpPr>
        <p:spPr>
          <a:xfrm>
            <a:off x="2487168" y="3566160"/>
            <a:ext cx="2377440" cy="347472"/>
          </a:xfrm>
          <a:prstGeom prst="rect">
            <a:avLst/>
          </a:prstGeom>
          <a:noFill/>
          <a:ln/>
        </p:spPr>
        <p:txBody>
          <a:bodyPr wrap="square" lIns="0" tIns="0" rIns="0" bIns="0" rtlCol="0" anchor="ctr"/>
          <a:lstStyle/>
          <a:p>
            <a:pPr indent="0" marL="0">
              <a:buNone/>
            </a:pPr>
            <a:r>
              <a:rPr lang="en-US" sz="1300" b="1" dirty="0">
                <a:solidFill>
                  <a:srgbClr val="1E2D4E"/>
                </a:solidFill>
              </a:rPr>
              <a:t>BSA / AML Compliance</a:t>
            </a:r>
            <a:endParaRPr lang="en-US" sz="1300" dirty="0"/>
          </a:p>
        </p:txBody>
      </p:sp>
      <p:sp>
        <p:nvSpPr>
          <p:cNvPr id="24" name="Text 22"/>
          <p:cNvSpPr/>
          <p:nvPr/>
        </p:nvSpPr>
        <p:spPr>
          <a:xfrm>
            <a:off x="4983480" y="3566160"/>
            <a:ext cx="3749040" cy="347472"/>
          </a:xfrm>
          <a:prstGeom prst="rect">
            <a:avLst/>
          </a:prstGeom>
          <a:noFill/>
          <a:ln/>
        </p:spPr>
        <p:txBody>
          <a:bodyPr wrap="square" lIns="0" tIns="0" rIns="0" bIns="0" rtlCol="0" anchor="ctr"/>
          <a:lstStyle/>
          <a:p>
            <a:pPr indent="0" marL="0">
              <a:buNone/>
            </a:pPr>
            <a:r>
              <a:rPr lang="en-US" sz="1150" i="1" dirty="0">
                <a:solidFill>
                  <a:srgbClr val="4A5568"/>
                </a:solidFill>
              </a:rPr>
              <a:t>This transaction pattern looks unusual for this account — flag for review.</a:t>
            </a:r>
            <a:endParaRPr lang="en-US" sz="1150" dirty="0"/>
          </a:p>
        </p:txBody>
      </p:sp>
      <p:sp>
        <p:nvSpPr>
          <p:cNvPr id="25" name="Shape 23"/>
          <p:cNvSpPr/>
          <p:nvPr/>
        </p:nvSpPr>
        <p:spPr>
          <a:xfrm>
            <a:off x="320040" y="4151376"/>
            <a:ext cx="8503920" cy="640080"/>
          </a:xfrm>
          <a:prstGeom prst="rect">
            <a:avLst/>
          </a:prstGeom>
          <a:solidFill>
            <a:srgbClr val="F8F0FF"/>
          </a:solidFill>
          <a:ln w="12700">
            <a:solidFill>
              <a:srgbClr val="EEEEEE"/>
            </a:solidFill>
            <a:prstDash val="solid"/>
          </a:ln>
        </p:spPr>
      </p:sp>
      <p:sp>
        <p:nvSpPr>
          <p:cNvPr id="26" name="Shape 24"/>
          <p:cNvSpPr/>
          <p:nvPr/>
        </p:nvSpPr>
        <p:spPr>
          <a:xfrm>
            <a:off x="320040" y="4151376"/>
            <a:ext cx="128016" cy="640080"/>
          </a:xfrm>
          <a:prstGeom prst="rect">
            <a:avLst/>
          </a:prstGeom>
          <a:solidFill>
            <a:srgbClr val="9B59B6"/>
          </a:solidFill>
          <a:ln w="12700">
            <a:solidFill>
              <a:srgbClr val="9B59B6"/>
            </a:solidFill>
            <a:prstDash val="solid"/>
          </a:ln>
        </p:spPr>
      </p:sp>
      <p:sp>
        <p:nvSpPr>
          <p:cNvPr id="27" name="Text 25"/>
          <p:cNvSpPr/>
          <p:nvPr/>
        </p:nvSpPr>
        <p:spPr>
          <a:xfrm>
            <a:off x="530352" y="4297680"/>
            <a:ext cx="1828800" cy="347472"/>
          </a:xfrm>
          <a:prstGeom prst="rect">
            <a:avLst/>
          </a:prstGeom>
          <a:noFill/>
          <a:ln/>
        </p:spPr>
        <p:txBody>
          <a:bodyPr wrap="square" lIns="0" tIns="0" rIns="0" bIns="0" rtlCol="0" anchor="ctr"/>
          <a:lstStyle/>
          <a:p>
            <a:pPr indent="0" marL="0">
              <a:buNone/>
            </a:pPr>
            <a:r>
              <a:rPr lang="en-US" sz="1250" b="1" dirty="0">
                <a:solidFill>
                  <a:srgbClr val="1A2535"/>
                </a:solidFill>
              </a:rPr>
              <a:t>Rank &amp; Recommend</a:t>
            </a:r>
            <a:endParaRPr lang="en-US" sz="1250" dirty="0"/>
          </a:p>
        </p:txBody>
      </p:sp>
      <p:sp>
        <p:nvSpPr>
          <p:cNvPr id="28" name="Text 26"/>
          <p:cNvSpPr/>
          <p:nvPr/>
        </p:nvSpPr>
        <p:spPr>
          <a:xfrm>
            <a:off x="2487168" y="4297680"/>
            <a:ext cx="2377440" cy="347472"/>
          </a:xfrm>
          <a:prstGeom prst="rect">
            <a:avLst/>
          </a:prstGeom>
          <a:noFill/>
          <a:ln/>
        </p:spPr>
        <p:txBody>
          <a:bodyPr wrap="square" lIns="0" tIns="0" rIns="0" bIns="0" rtlCol="0" anchor="ctr"/>
          <a:lstStyle/>
          <a:p>
            <a:pPr indent="0" marL="0">
              <a:buNone/>
            </a:pPr>
            <a:r>
              <a:rPr lang="en-US" sz="1300" b="1" dirty="0">
                <a:solidFill>
                  <a:srgbClr val="1E2D4E"/>
                </a:solidFill>
              </a:rPr>
              <a:t>Product Recommendations</a:t>
            </a:r>
            <a:endParaRPr lang="en-US" sz="1300" dirty="0"/>
          </a:p>
        </p:txBody>
      </p:sp>
      <p:sp>
        <p:nvSpPr>
          <p:cNvPr id="29" name="Text 27"/>
          <p:cNvSpPr/>
          <p:nvPr/>
        </p:nvSpPr>
        <p:spPr>
          <a:xfrm>
            <a:off x="4983480" y="4297680"/>
            <a:ext cx="3749040" cy="347472"/>
          </a:xfrm>
          <a:prstGeom prst="rect">
            <a:avLst/>
          </a:prstGeom>
          <a:noFill/>
          <a:ln/>
        </p:spPr>
        <p:txBody>
          <a:bodyPr wrap="square" lIns="0" tIns="0" rIns="0" bIns="0" rtlCol="0" anchor="ctr"/>
          <a:lstStyle/>
          <a:p>
            <a:pPr indent="0" marL="0">
              <a:buNone/>
            </a:pPr>
            <a:r>
              <a:rPr lang="en-US" sz="1150" i="1" dirty="0">
                <a:solidFill>
                  <a:srgbClr val="4A5568"/>
                </a:solidFill>
              </a:rPr>
              <a:t>Which treasury features should we surface to this CFO right now?</a:t>
            </a:r>
            <a:endParaRPr lang="en-US" sz="1150" dirty="0"/>
          </a:p>
        </p:txBody>
      </p:sp>
      <p:sp>
        <p:nvSpPr>
          <p:cNvPr id="31" name="Text 2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700000"/>
          </a:solidFill>
          <a:ln w="12700">
            <a:solidFill>
              <a:srgbClr val="700000"/>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RECIPE SPOTLIGHT: LOW-LATENCY FRAUD DETECTION</a:t>
            </a:r>
            <a:endParaRPr lang="en-US" sz="1300" dirty="0"/>
          </a:p>
        </p:txBody>
      </p:sp>
      <p:sp>
        <p:nvSpPr>
          <p:cNvPr id="4" name="Text 2"/>
          <p:cNvSpPr/>
          <p:nvPr/>
        </p:nvSpPr>
        <p:spPr>
          <a:xfrm>
            <a:off x="411480" y="731520"/>
            <a:ext cx="4572000" cy="411480"/>
          </a:xfrm>
          <a:prstGeom prst="rect">
            <a:avLst/>
          </a:prstGeom>
          <a:noFill/>
          <a:ln/>
        </p:spPr>
        <p:txBody>
          <a:bodyPr wrap="square" lIns="0" tIns="0" rIns="0" bIns="0" rtlCol="0" anchor="ctr"/>
          <a:lstStyle/>
          <a:p>
            <a:pPr indent="0" marL="0">
              <a:buNone/>
            </a:pPr>
            <a:r>
              <a:rPr lang="en-US" sz="1600" b="1" dirty="0">
                <a:solidFill>
                  <a:srgbClr val="02C39A"/>
                </a:solidFill>
                <a:latin typeface="Georgia" pitchFamily="34" charset="0"/>
                <a:ea typeface="Georgia" pitchFamily="34" charset="-122"/>
                <a:cs typeface="Georgia" pitchFamily="34" charset="-120"/>
              </a:rPr>
              <a:t>Real-world: Colombia, 2024</a:t>
            </a:r>
            <a:endParaRPr lang="en-US" sz="1600" dirty="0"/>
          </a:p>
        </p:txBody>
      </p:sp>
      <p:sp>
        <p:nvSpPr>
          <p:cNvPr id="5" name="Text 3"/>
          <p:cNvSpPr/>
          <p:nvPr/>
        </p:nvSpPr>
        <p:spPr>
          <a:xfrm>
            <a:off x="411480" y="1188720"/>
            <a:ext cx="4389120" cy="502920"/>
          </a:xfrm>
          <a:prstGeom prst="rect">
            <a:avLst/>
          </a:prstGeom>
          <a:noFill/>
          <a:ln/>
        </p:spPr>
        <p:txBody>
          <a:bodyPr wrap="square" lIns="0" tIns="0" rIns="0" bIns="0" rtlCol="0" anchor="ctr"/>
          <a:lstStyle/>
          <a:p>
            <a:pPr indent="0" marL="0">
              <a:buNone/>
            </a:pPr>
            <a:r>
              <a:rPr lang="en-US" sz="1200" i="1" dirty="0">
                <a:solidFill>
                  <a:srgbClr val="E0E0E0"/>
                </a:solidFill>
              </a:rPr>
              <a:t>Redeban — Colombia's primary national payment network — launched instant peer-to-peer payments.</a:t>
            </a:r>
            <a:endParaRPr lang="en-US" sz="1200" dirty="0"/>
          </a:p>
        </p:txBody>
      </p:sp>
      <p:sp>
        <p:nvSpPr>
          <p:cNvPr id="6" name="Shape 4"/>
          <p:cNvSpPr/>
          <p:nvPr/>
        </p:nvSpPr>
        <p:spPr>
          <a:xfrm>
            <a:off x="411480" y="1810512"/>
            <a:ext cx="347472" cy="347472"/>
          </a:xfrm>
          <a:prstGeom prst="ellipse">
            <a:avLst/>
          </a:prstGeom>
          <a:solidFill>
            <a:srgbClr val="8B0000"/>
          </a:solidFill>
          <a:ln w="12700">
            <a:solidFill>
              <a:srgbClr val="8B0000"/>
            </a:solidFill>
            <a:prstDash val="solid"/>
          </a:ln>
        </p:spPr>
      </p:sp>
      <p:sp>
        <p:nvSpPr>
          <p:cNvPr id="7" name="Text 5"/>
          <p:cNvSpPr/>
          <p:nvPr/>
        </p:nvSpPr>
        <p:spPr>
          <a:xfrm>
            <a:off x="868680" y="1828800"/>
            <a:ext cx="3840480" cy="384048"/>
          </a:xfrm>
          <a:prstGeom prst="rect">
            <a:avLst/>
          </a:prstGeom>
          <a:noFill/>
          <a:ln/>
        </p:spPr>
        <p:txBody>
          <a:bodyPr wrap="square" lIns="0" tIns="0" rIns="0" bIns="0" rtlCol="0" anchor="ctr"/>
          <a:lstStyle/>
          <a:p>
            <a:pPr indent="0" marL="0">
              <a:buNone/>
            </a:pPr>
            <a:r>
              <a:rPr lang="en-US" sz="1200" dirty="0">
                <a:solidFill>
                  <a:srgbClr val="FFFFFF"/>
                </a:solidFill>
              </a:rPr>
              <a:t>The victim AUTHORIZED the payment — authorized push fraud</a:t>
            </a:r>
            <a:endParaRPr lang="en-US" sz="1200" dirty="0"/>
          </a:p>
        </p:txBody>
      </p:sp>
      <p:sp>
        <p:nvSpPr>
          <p:cNvPr id="8" name="Shape 6"/>
          <p:cNvSpPr/>
          <p:nvPr/>
        </p:nvSpPr>
        <p:spPr>
          <a:xfrm>
            <a:off x="411480" y="2404872"/>
            <a:ext cx="347472" cy="347472"/>
          </a:xfrm>
          <a:prstGeom prst="ellipse">
            <a:avLst/>
          </a:prstGeom>
          <a:solidFill>
            <a:srgbClr val="8B0000"/>
          </a:solidFill>
          <a:ln w="12700">
            <a:solidFill>
              <a:srgbClr val="8B0000"/>
            </a:solidFill>
            <a:prstDash val="solid"/>
          </a:ln>
        </p:spPr>
      </p:sp>
      <p:sp>
        <p:nvSpPr>
          <p:cNvPr id="9" name="Text 7"/>
          <p:cNvSpPr/>
          <p:nvPr/>
        </p:nvSpPr>
        <p:spPr>
          <a:xfrm>
            <a:off x="868680" y="2423160"/>
            <a:ext cx="3840480" cy="384048"/>
          </a:xfrm>
          <a:prstGeom prst="rect">
            <a:avLst/>
          </a:prstGeom>
          <a:noFill/>
          <a:ln/>
        </p:spPr>
        <p:txBody>
          <a:bodyPr wrap="square" lIns="0" tIns="0" rIns="0" bIns="0" rtlCol="0" anchor="ctr"/>
          <a:lstStyle/>
          <a:p>
            <a:pPr indent="0" marL="0">
              <a:buNone/>
            </a:pPr>
            <a:r>
              <a:rPr lang="en-US" sz="1200" dirty="0">
                <a:solidFill>
                  <a:srgbClr val="FFFFFF"/>
                </a:solidFill>
              </a:rPr>
              <a:t>Instant debit: once you hit 'send,' the money is gone</a:t>
            </a:r>
            <a:endParaRPr lang="en-US" sz="1200" dirty="0"/>
          </a:p>
        </p:txBody>
      </p:sp>
      <p:sp>
        <p:nvSpPr>
          <p:cNvPr id="10" name="Shape 8"/>
          <p:cNvSpPr/>
          <p:nvPr/>
        </p:nvSpPr>
        <p:spPr>
          <a:xfrm>
            <a:off x="411480" y="2999232"/>
            <a:ext cx="347472" cy="347472"/>
          </a:xfrm>
          <a:prstGeom prst="ellipse">
            <a:avLst/>
          </a:prstGeom>
          <a:solidFill>
            <a:srgbClr val="8B0000"/>
          </a:solidFill>
          <a:ln w="12700">
            <a:solidFill>
              <a:srgbClr val="8B0000"/>
            </a:solidFill>
            <a:prstDash val="solid"/>
          </a:ln>
        </p:spPr>
      </p:sp>
      <p:sp>
        <p:nvSpPr>
          <p:cNvPr id="11" name="Text 9"/>
          <p:cNvSpPr/>
          <p:nvPr/>
        </p:nvSpPr>
        <p:spPr>
          <a:xfrm>
            <a:off x="868680" y="3017520"/>
            <a:ext cx="3840480" cy="384048"/>
          </a:xfrm>
          <a:prstGeom prst="rect">
            <a:avLst/>
          </a:prstGeom>
          <a:noFill/>
          <a:ln/>
        </p:spPr>
        <p:txBody>
          <a:bodyPr wrap="square" lIns="0" tIns="0" rIns="0" bIns="0" rtlCol="0" anchor="ctr"/>
          <a:lstStyle/>
          <a:p>
            <a:pPr indent="0" marL="0">
              <a:buNone/>
            </a:pPr>
            <a:r>
              <a:rPr lang="en-US" sz="1200" dirty="0">
                <a:solidFill>
                  <a:srgbClr val="FFFFFF"/>
                </a:solidFill>
              </a:rPr>
              <a:t>Solution: real-time graph DB — sender, receiver, amount, time</a:t>
            </a:r>
            <a:endParaRPr lang="en-US" sz="1200" dirty="0"/>
          </a:p>
        </p:txBody>
      </p:sp>
      <p:sp>
        <p:nvSpPr>
          <p:cNvPr id="12" name="Shape 10"/>
          <p:cNvSpPr/>
          <p:nvPr/>
        </p:nvSpPr>
        <p:spPr>
          <a:xfrm>
            <a:off x="411480" y="3593592"/>
            <a:ext cx="347472" cy="347472"/>
          </a:xfrm>
          <a:prstGeom prst="ellipse">
            <a:avLst/>
          </a:prstGeom>
          <a:solidFill>
            <a:srgbClr val="8B0000"/>
          </a:solidFill>
          <a:ln w="12700">
            <a:solidFill>
              <a:srgbClr val="8B0000"/>
            </a:solidFill>
            <a:prstDash val="solid"/>
          </a:ln>
        </p:spPr>
      </p:sp>
      <p:sp>
        <p:nvSpPr>
          <p:cNvPr id="13" name="Text 11"/>
          <p:cNvSpPr/>
          <p:nvPr/>
        </p:nvSpPr>
        <p:spPr>
          <a:xfrm>
            <a:off x="868680" y="3611880"/>
            <a:ext cx="3840480" cy="384048"/>
          </a:xfrm>
          <a:prstGeom prst="rect">
            <a:avLst/>
          </a:prstGeom>
          <a:noFill/>
          <a:ln/>
        </p:spPr>
        <p:txBody>
          <a:bodyPr wrap="square" lIns="0" tIns="0" rIns="0" bIns="0" rtlCol="0" anchor="ctr"/>
          <a:lstStyle/>
          <a:p>
            <a:pPr indent="0" marL="0">
              <a:buNone/>
            </a:pPr>
            <a:r>
              <a:rPr lang="en-US" sz="1200" dirty="0">
                <a:solidFill>
                  <a:srgbClr val="FFFFFF"/>
                </a:solidFill>
              </a:rPr>
              <a:t>Neighborhood features: is this account sending to many new accounts?</a:t>
            </a:r>
            <a:endParaRPr lang="en-US" sz="1200" dirty="0"/>
          </a:p>
        </p:txBody>
      </p:sp>
      <p:sp>
        <p:nvSpPr>
          <p:cNvPr id="14" name="Shape 12"/>
          <p:cNvSpPr/>
          <p:nvPr/>
        </p:nvSpPr>
        <p:spPr>
          <a:xfrm>
            <a:off x="411480" y="4187952"/>
            <a:ext cx="347472" cy="347472"/>
          </a:xfrm>
          <a:prstGeom prst="ellipse">
            <a:avLst/>
          </a:prstGeom>
          <a:solidFill>
            <a:srgbClr val="8B0000"/>
          </a:solidFill>
          <a:ln w="12700">
            <a:solidFill>
              <a:srgbClr val="8B0000"/>
            </a:solidFill>
            <a:prstDash val="solid"/>
          </a:ln>
        </p:spPr>
      </p:sp>
      <p:sp>
        <p:nvSpPr>
          <p:cNvPr id="15" name="Text 13"/>
          <p:cNvSpPr/>
          <p:nvPr/>
        </p:nvSpPr>
        <p:spPr>
          <a:xfrm>
            <a:off x="868680" y="4206240"/>
            <a:ext cx="3840480" cy="384048"/>
          </a:xfrm>
          <a:prstGeom prst="rect">
            <a:avLst/>
          </a:prstGeom>
          <a:noFill/>
          <a:ln/>
        </p:spPr>
        <p:txBody>
          <a:bodyPr wrap="square" lIns="0" tIns="0" rIns="0" bIns="0" rtlCol="0" anchor="ctr"/>
          <a:lstStyle/>
          <a:p>
            <a:pPr indent="0" marL="0">
              <a:buNone/>
            </a:pPr>
            <a:r>
              <a:rPr lang="en-US" sz="1200" dirty="0">
                <a:solidFill>
                  <a:srgbClr val="FFFFFF"/>
                </a:solidFill>
              </a:rPr>
              <a:t>KEY: scores alone are insufficient — must explain WHY it was flagged</a:t>
            </a:r>
            <a:endParaRPr lang="en-US" sz="1200" dirty="0"/>
          </a:p>
        </p:txBody>
      </p:sp>
      <p:sp>
        <p:nvSpPr>
          <p:cNvPr id="16" name="Shape 14"/>
          <p:cNvSpPr/>
          <p:nvPr/>
        </p:nvSpPr>
        <p:spPr>
          <a:xfrm>
            <a:off x="4937760" y="685800"/>
            <a:ext cx="3886200" cy="4206240"/>
          </a:xfrm>
          <a:prstGeom prst="rect">
            <a:avLst/>
          </a:prstGeom>
          <a:solidFill>
            <a:srgbClr val="1A2B45"/>
          </a:solidFill>
          <a:ln w="12700">
            <a:solidFill>
              <a:srgbClr val="028090"/>
            </a:solidFill>
            <a:prstDash val="solid"/>
          </a:ln>
          <a:effectLst>
            <a:outerShdw sx="100000" sy="100000" kx="0" ky="0" algn="bl" rotWithShape="0" blurRad="101600" dist="38100" dir="8100000">
              <a:srgbClr val="000000">
                <a:alpha val="10000"/>
              </a:srgbClr>
            </a:outerShdw>
          </a:effectLst>
        </p:spPr>
      </p:sp>
      <p:sp>
        <p:nvSpPr>
          <p:cNvPr id="17" name="Text 15"/>
          <p:cNvSpPr/>
          <p:nvPr/>
        </p:nvSpPr>
        <p:spPr>
          <a:xfrm>
            <a:off x="5074920" y="777240"/>
            <a:ext cx="3657600" cy="411480"/>
          </a:xfrm>
          <a:prstGeom prst="rect">
            <a:avLst/>
          </a:prstGeom>
          <a:noFill/>
          <a:ln/>
        </p:spPr>
        <p:txBody>
          <a:bodyPr wrap="square" lIns="0" tIns="0" rIns="0" bIns="0" rtlCol="0" anchor="ctr"/>
          <a:lstStyle/>
          <a:p>
            <a:pPr indent="0" marL="0">
              <a:buNone/>
            </a:pPr>
            <a:r>
              <a:rPr lang="en-US" sz="1500" b="1" dirty="0">
                <a:solidFill>
                  <a:srgbClr val="02C39A"/>
                </a:solidFill>
                <a:latin typeface="Georgia" pitchFamily="34" charset="0"/>
                <a:ea typeface="Georgia" pitchFamily="34" charset="-122"/>
                <a:cs typeface="Georgia" pitchFamily="34" charset="-120"/>
              </a:rPr>
              <a:t>What the Recipe Uses</a:t>
            </a:r>
            <a:endParaRPr lang="en-US" sz="1500" dirty="0"/>
          </a:p>
        </p:txBody>
      </p:sp>
      <p:sp>
        <p:nvSpPr>
          <p:cNvPr id="18" name="Shape 16"/>
          <p:cNvSpPr/>
          <p:nvPr/>
        </p:nvSpPr>
        <p:spPr>
          <a:xfrm>
            <a:off x="5074920" y="1353312"/>
            <a:ext cx="73152" cy="320040"/>
          </a:xfrm>
          <a:prstGeom prst="rect">
            <a:avLst/>
          </a:prstGeom>
          <a:solidFill>
            <a:srgbClr val="02C39A"/>
          </a:solidFill>
          <a:ln w="12700">
            <a:solidFill>
              <a:srgbClr val="02C39A"/>
            </a:solidFill>
            <a:prstDash val="solid"/>
          </a:ln>
        </p:spPr>
      </p:sp>
      <p:sp>
        <p:nvSpPr>
          <p:cNvPr id="19" name="Text 17"/>
          <p:cNvSpPr/>
          <p:nvPr/>
        </p:nvSpPr>
        <p:spPr>
          <a:xfrm>
            <a:off x="5257800" y="1353312"/>
            <a:ext cx="3474720" cy="384048"/>
          </a:xfrm>
          <a:prstGeom prst="rect">
            <a:avLst/>
          </a:prstGeom>
          <a:noFill/>
          <a:ln/>
        </p:spPr>
        <p:txBody>
          <a:bodyPr wrap="square" lIns="0" tIns="0" rIns="0" bIns="0" rtlCol="0" anchor="ctr"/>
          <a:lstStyle/>
          <a:p>
            <a:pPr indent="0" marL="0">
              <a:buNone/>
            </a:pPr>
            <a:r>
              <a:rPr lang="en-US" sz="1200" dirty="0">
                <a:solidFill>
                  <a:srgbClr val="FFFFFF"/>
                </a:solidFill>
              </a:rPr>
              <a:t>XGBoost / CatBoost — fast, accurate, handles imbalance</a:t>
            </a:r>
            <a:endParaRPr lang="en-US" sz="1200" dirty="0"/>
          </a:p>
        </p:txBody>
      </p:sp>
      <p:sp>
        <p:nvSpPr>
          <p:cNvPr id="20" name="Shape 18"/>
          <p:cNvSpPr/>
          <p:nvPr/>
        </p:nvSpPr>
        <p:spPr>
          <a:xfrm>
            <a:off x="5074920" y="2011680"/>
            <a:ext cx="73152" cy="320040"/>
          </a:xfrm>
          <a:prstGeom prst="rect">
            <a:avLst/>
          </a:prstGeom>
          <a:solidFill>
            <a:srgbClr val="02C39A"/>
          </a:solidFill>
          <a:ln w="12700">
            <a:solidFill>
              <a:srgbClr val="02C39A"/>
            </a:solidFill>
            <a:prstDash val="solid"/>
          </a:ln>
        </p:spPr>
      </p:sp>
      <p:sp>
        <p:nvSpPr>
          <p:cNvPr id="21" name="Text 19"/>
          <p:cNvSpPr/>
          <p:nvPr/>
        </p:nvSpPr>
        <p:spPr>
          <a:xfrm>
            <a:off x="5257800" y="2011680"/>
            <a:ext cx="3474720" cy="384048"/>
          </a:xfrm>
          <a:prstGeom prst="rect">
            <a:avLst/>
          </a:prstGeom>
          <a:noFill/>
          <a:ln/>
        </p:spPr>
        <p:txBody>
          <a:bodyPr wrap="square" lIns="0" tIns="0" rIns="0" bIns="0" rtlCol="0" anchor="ctr"/>
          <a:lstStyle/>
          <a:p>
            <a:pPr indent="0" marL="0">
              <a:buNone/>
            </a:pPr>
            <a:r>
              <a:rPr lang="en-US" sz="1200" dirty="0">
                <a:solidFill>
                  <a:srgbClr val="FFFFFF"/>
                </a:solidFill>
              </a:rPr>
              <a:t>SHAP values — explain every single decision</a:t>
            </a:r>
            <a:endParaRPr lang="en-US" sz="1200" dirty="0"/>
          </a:p>
        </p:txBody>
      </p:sp>
      <p:sp>
        <p:nvSpPr>
          <p:cNvPr id="22" name="Shape 20"/>
          <p:cNvSpPr/>
          <p:nvPr/>
        </p:nvSpPr>
        <p:spPr>
          <a:xfrm>
            <a:off x="5074920" y="2670048"/>
            <a:ext cx="73152" cy="320040"/>
          </a:xfrm>
          <a:prstGeom prst="rect">
            <a:avLst/>
          </a:prstGeom>
          <a:solidFill>
            <a:srgbClr val="02C39A"/>
          </a:solidFill>
          <a:ln w="12700">
            <a:solidFill>
              <a:srgbClr val="02C39A"/>
            </a:solidFill>
            <a:prstDash val="solid"/>
          </a:ln>
        </p:spPr>
      </p:sp>
      <p:sp>
        <p:nvSpPr>
          <p:cNvPr id="23" name="Text 21"/>
          <p:cNvSpPr/>
          <p:nvPr/>
        </p:nvSpPr>
        <p:spPr>
          <a:xfrm>
            <a:off x="5257800" y="2670048"/>
            <a:ext cx="3474720" cy="384048"/>
          </a:xfrm>
          <a:prstGeom prst="rect">
            <a:avLst/>
          </a:prstGeom>
          <a:noFill/>
          <a:ln/>
        </p:spPr>
        <p:txBody>
          <a:bodyPr wrap="square" lIns="0" tIns="0" rIns="0" bIns="0" rtlCol="0" anchor="ctr"/>
          <a:lstStyle/>
          <a:p>
            <a:pPr indent="0" marL="0">
              <a:buNone/>
            </a:pPr>
            <a:r>
              <a:rPr lang="en-US" sz="1200" dirty="0">
                <a:solidFill>
                  <a:srgbClr val="FFFFFF"/>
                </a:solidFill>
              </a:rPr>
              <a:t>Custom loss: false negative costs 10x more</a:t>
            </a:r>
            <a:endParaRPr lang="en-US" sz="1200" dirty="0"/>
          </a:p>
        </p:txBody>
      </p:sp>
      <p:sp>
        <p:nvSpPr>
          <p:cNvPr id="24" name="Shape 22"/>
          <p:cNvSpPr/>
          <p:nvPr/>
        </p:nvSpPr>
        <p:spPr>
          <a:xfrm>
            <a:off x="5074920" y="3328416"/>
            <a:ext cx="73152" cy="320040"/>
          </a:xfrm>
          <a:prstGeom prst="rect">
            <a:avLst/>
          </a:prstGeom>
          <a:solidFill>
            <a:srgbClr val="02C39A"/>
          </a:solidFill>
          <a:ln w="12700">
            <a:solidFill>
              <a:srgbClr val="02C39A"/>
            </a:solidFill>
            <a:prstDash val="solid"/>
          </a:ln>
        </p:spPr>
      </p:sp>
      <p:sp>
        <p:nvSpPr>
          <p:cNvPr id="25" name="Text 23"/>
          <p:cNvSpPr/>
          <p:nvPr/>
        </p:nvSpPr>
        <p:spPr>
          <a:xfrm>
            <a:off x="5257800" y="3328416"/>
            <a:ext cx="3474720" cy="384048"/>
          </a:xfrm>
          <a:prstGeom prst="rect">
            <a:avLst/>
          </a:prstGeom>
          <a:noFill/>
          <a:ln/>
        </p:spPr>
        <p:txBody>
          <a:bodyPr wrap="square" lIns="0" tIns="0" rIns="0" bIns="0" rtlCol="0" anchor="ctr"/>
          <a:lstStyle/>
          <a:p>
            <a:pPr indent="0" marL="0">
              <a:buNone/>
            </a:pPr>
            <a:r>
              <a:rPr lang="en-US" sz="1200" dirty="0">
                <a:solidFill>
                  <a:srgbClr val="FFFFFF"/>
                </a:solidFill>
              </a:rPr>
              <a:t>Features: velocity, geo-distance, behavior drift</a:t>
            </a:r>
            <a:endParaRPr lang="en-US" sz="1200" dirty="0"/>
          </a:p>
        </p:txBody>
      </p:sp>
      <p:sp>
        <p:nvSpPr>
          <p:cNvPr id="26" name="Shape 24"/>
          <p:cNvSpPr/>
          <p:nvPr/>
        </p:nvSpPr>
        <p:spPr>
          <a:xfrm>
            <a:off x="5074920" y="3986784"/>
            <a:ext cx="73152" cy="320040"/>
          </a:xfrm>
          <a:prstGeom prst="rect">
            <a:avLst/>
          </a:prstGeom>
          <a:solidFill>
            <a:srgbClr val="02C39A"/>
          </a:solidFill>
          <a:ln w="12700">
            <a:solidFill>
              <a:srgbClr val="02C39A"/>
            </a:solidFill>
            <a:prstDash val="solid"/>
          </a:ln>
        </p:spPr>
      </p:sp>
      <p:sp>
        <p:nvSpPr>
          <p:cNvPr id="27" name="Text 25"/>
          <p:cNvSpPr/>
          <p:nvPr/>
        </p:nvSpPr>
        <p:spPr>
          <a:xfrm>
            <a:off x="5257800" y="3986784"/>
            <a:ext cx="3474720" cy="384048"/>
          </a:xfrm>
          <a:prstGeom prst="rect">
            <a:avLst/>
          </a:prstGeom>
          <a:noFill/>
          <a:ln/>
        </p:spPr>
        <p:txBody>
          <a:bodyPr wrap="square" lIns="0" tIns="0" rIns="0" bIns="0" rtlCol="0" anchor="ctr"/>
          <a:lstStyle/>
          <a:p>
            <a:pPr indent="0" marL="0">
              <a:buNone/>
            </a:pPr>
            <a:r>
              <a:rPr lang="en-US" sz="1200" dirty="0">
                <a:solidFill>
                  <a:srgbClr val="FFFFFF"/>
                </a:solidFill>
              </a:rPr>
              <a:t>Champion / challenger model testing in prod</a:t>
            </a:r>
            <a:endParaRPr lang="en-US" sz="1200" dirty="0"/>
          </a:p>
        </p:txBody>
      </p:sp>
      <p:sp>
        <p:nvSpPr>
          <p:cNvPr id="28" name="Text 26"/>
          <p:cNvSpPr/>
          <p:nvPr/>
        </p:nvSpPr>
        <p:spPr>
          <a:xfrm>
            <a:off x="365760" y="4773168"/>
            <a:ext cx="8412480" cy="256032"/>
          </a:xfrm>
          <a:prstGeom prst="rect">
            <a:avLst/>
          </a:prstGeom>
          <a:noFill/>
          <a:ln/>
        </p:spPr>
        <p:txBody>
          <a:bodyPr wrap="square" lIns="0" tIns="0" rIns="0" bIns="0" rtlCol="0" anchor="ctr"/>
          <a:lstStyle/>
          <a:p>
            <a:pPr algn="ctr" indent="0" marL="0">
              <a:buNone/>
            </a:pPr>
            <a:r>
              <a:rPr lang="en-US" sz="1050" i="1" dirty="0">
                <a:solidFill>
                  <a:srgbClr val="94A3B8"/>
                </a:solidFill>
              </a:rPr>
              <a:t>Key lesson: getting to 99% accuracy is easy. Getting the RIGHT 99% is the whole game.</a:t>
            </a:r>
            <a:endParaRPr lang="en-US" sz="1050" dirty="0"/>
          </a:p>
        </p:txBody>
      </p:sp>
      <p:sp>
        <p:nvSpPr>
          <p:cNvPr id="30" name="Text 27"/>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RECIPE SPOTLIGHT: RECOMMENDATIONS &amp; FORECASTING</a:t>
            </a:r>
            <a:endParaRPr lang="en-US" sz="1300" dirty="0"/>
          </a:p>
        </p:txBody>
      </p:sp>
      <p:sp>
        <p:nvSpPr>
          <p:cNvPr id="4" name="Shape 2"/>
          <p:cNvSpPr/>
          <p:nvPr/>
        </p:nvSpPr>
        <p:spPr>
          <a:xfrm>
            <a:off x="320040" y="713232"/>
            <a:ext cx="3977640" cy="2423160"/>
          </a:xfrm>
          <a:prstGeom prst="rect">
            <a:avLst/>
          </a:prstGeom>
          <a:solidFill>
            <a:srgbClr val="FFFBEA"/>
          </a:solidFill>
          <a:ln w="12700">
            <a:solidFill>
              <a:srgbClr val="D4A020"/>
            </a:solidFill>
            <a:prstDash val="solid"/>
          </a:ln>
          <a:effectLst>
            <a:outerShdw sx="100000" sy="100000" kx="0" ky="0" algn="bl" rotWithShape="0" blurRad="63500" dist="25400" dir="8100000">
              <a:srgbClr val="000000">
                <a:alpha val="7000"/>
              </a:srgbClr>
            </a:outerShdw>
          </a:effectLst>
        </p:spPr>
      </p:sp>
      <p:sp>
        <p:nvSpPr>
          <p:cNvPr id="5" name="Text 3"/>
          <p:cNvSpPr/>
          <p:nvPr/>
        </p:nvSpPr>
        <p:spPr>
          <a:xfrm>
            <a:off x="457200" y="804672"/>
            <a:ext cx="3657600" cy="402336"/>
          </a:xfrm>
          <a:prstGeom prst="rect">
            <a:avLst/>
          </a:prstGeom>
          <a:noFill/>
          <a:ln/>
        </p:spPr>
        <p:txBody>
          <a:bodyPr wrap="square" lIns="0" tIns="0" rIns="0" bIns="0" rtlCol="0" anchor="ctr"/>
          <a:lstStyle/>
          <a:p>
            <a:pPr indent="0" marL="0">
              <a:buNone/>
            </a:pPr>
            <a:r>
              <a:rPr lang="en-US" sz="1500" b="1" dirty="0">
                <a:solidFill>
                  <a:srgbClr val="8B6914"/>
                </a:solidFill>
              </a:rPr>
              <a:t>The Amazon Story</a:t>
            </a:r>
            <a:endParaRPr lang="en-US" sz="1500" dirty="0"/>
          </a:p>
        </p:txBody>
      </p:sp>
      <p:sp>
        <p:nvSpPr>
          <p:cNvPr id="6" name="Text 4"/>
          <p:cNvSpPr/>
          <p:nvPr/>
        </p:nvSpPr>
        <p:spPr>
          <a:xfrm>
            <a:off x="457200" y="1298448"/>
            <a:ext cx="3657600" cy="329184"/>
          </a:xfrm>
          <a:prstGeom prst="rect">
            <a:avLst/>
          </a:prstGeom>
          <a:noFill/>
          <a:ln/>
        </p:spPr>
        <p:txBody>
          <a:bodyPr wrap="square" lIns="0" tIns="0" rIns="0" bIns="0" rtlCol="0" anchor="ctr"/>
          <a:lstStyle/>
          <a:p>
            <a:pPr indent="0" marL="0">
              <a:buNone/>
            </a:pPr>
            <a:r>
              <a:rPr lang="en-US" sz="1250" b="1" dirty="0">
                <a:solidFill>
                  <a:srgbClr val="1A2535"/>
                </a:solidFill>
              </a:rPr>
              <a:t>35% of Amazon revenue from recommendations</a:t>
            </a:r>
            <a:endParaRPr lang="en-US" sz="1250" dirty="0"/>
          </a:p>
        </p:txBody>
      </p:sp>
      <p:sp>
        <p:nvSpPr>
          <p:cNvPr id="7" name="Text 5"/>
          <p:cNvSpPr/>
          <p:nvPr/>
        </p:nvSpPr>
        <p:spPr>
          <a:xfrm>
            <a:off x="457200" y="1664208"/>
            <a:ext cx="3657600" cy="310896"/>
          </a:xfrm>
          <a:prstGeom prst="rect">
            <a:avLst/>
          </a:prstGeom>
          <a:noFill/>
          <a:ln/>
        </p:spPr>
        <p:txBody>
          <a:bodyPr wrap="square" lIns="0" tIns="0" rIns="0" bIns="0" rtlCol="0" anchor="ctr"/>
          <a:lstStyle/>
          <a:p>
            <a:pPr indent="0" marL="0">
              <a:buNone/>
            </a:pPr>
            <a:r>
              <a:rPr lang="en-US" sz="1200" i="1" dirty="0">
                <a:solidFill>
                  <a:srgbClr val="4A5568"/>
                </a:solidFill>
              </a:rPr>
              <a:t>The algorithm doesn't know WHY — it just sees patterns.</a:t>
            </a:r>
            <a:endParaRPr lang="en-US" sz="1200" dirty="0"/>
          </a:p>
        </p:txBody>
      </p:sp>
      <p:sp>
        <p:nvSpPr>
          <p:cNvPr id="8" name="Text 6"/>
          <p:cNvSpPr/>
          <p:nvPr/>
        </p:nvSpPr>
        <p:spPr>
          <a:xfrm>
            <a:off x="457200" y="2011680"/>
            <a:ext cx="3657600" cy="310896"/>
          </a:xfrm>
          <a:prstGeom prst="rect">
            <a:avLst/>
          </a:prstGeom>
          <a:noFill/>
          <a:ln/>
        </p:spPr>
        <p:txBody>
          <a:bodyPr wrap="square" lIns="0" tIns="0" rIns="0" bIns="0" rtlCol="0" anchor="ctr"/>
          <a:lstStyle/>
          <a:p>
            <a:pPr indent="0" marL="0">
              <a:buNone/>
            </a:pPr>
            <a:r>
              <a:rPr lang="en-US" sz="1200" dirty="0">
                <a:solidFill>
                  <a:srgbClr val="4A5568"/>
                </a:solidFill>
              </a:rPr>
              <a:t>Scale: billions of recs/day across 350M+ products.</a:t>
            </a:r>
            <a:endParaRPr lang="en-US" sz="1200" dirty="0"/>
          </a:p>
        </p:txBody>
      </p:sp>
      <p:sp>
        <p:nvSpPr>
          <p:cNvPr id="9" name="Text 7"/>
          <p:cNvSpPr/>
          <p:nvPr/>
        </p:nvSpPr>
        <p:spPr>
          <a:xfrm>
            <a:off x="457200" y="2514600"/>
            <a:ext cx="3657600" cy="310896"/>
          </a:xfrm>
          <a:prstGeom prst="rect">
            <a:avLst/>
          </a:prstGeom>
          <a:noFill/>
          <a:ln/>
        </p:spPr>
        <p:txBody>
          <a:bodyPr wrap="square" lIns="0" tIns="0" rIns="0" bIns="0" rtlCol="0" anchor="ctr"/>
          <a:lstStyle/>
          <a:p>
            <a:pPr indent="0" marL="0">
              <a:buNone/>
            </a:pPr>
            <a:r>
              <a:rPr lang="en-US" sz="1200" b="1" dirty="0">
                <a:solidFill>
                  <a:srgbClr val="8B6914"/>
                </a:solidFill>
              </a:rPr>
              <a:t>350M products. 120 countries. Milliseconds.</a:t>
            </a:r>
            <a:endParaRPr lang="en-US" sz="1200" dirty="0"/>
          </a:p>
        </p:txBody>
      </p:sp>
      <p:sp>
        <p:nvSpPr>
          <p:cNvPr id="10" name="Shape 8"/>
          <p:cNvSpPr/>
          <p:nvPr/>
        </p:nvSpPr>
        <p:spPr>
          <a:xfrm>
            <a:off x="4754880" y="713232"/>
            <a:ext cx="4069080" cy="2423160"/>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11" name="Text 9"/>
          <p:cNvSpPr/>
          <p:nvPr/>
        </p:nvSpPr>
        <p:spPr>
          <a:xfrm>
            <a:off x="4892040" y="804672"/>
            <a:ext cx="3749040" cy="402336"/>
          </a:xfrm>
          <a:prstGeom prst="rect">
            <a:avLst/>
          </a:prstGeom>
          <a:noFill/>
          <a:ln/>
        </p:spPr>
        <p:txBody>
          <a:bodyPr wrap="square" lIns="0" tIns="0" rIns="0" bIns="0" rtlCol="0" anchor="ctr"/>
          <a:lstStyle/>
          <a:p>
            <a:pPr indent="0" marL="0">
              <a:buNone/>
            </a:pPr>
            <a:r>
              <a:rPr lang="en-US" sz="1500" b="1" dirty="0">
                <a:solidFill>
                  <a:srgbClr val="028090"/>
                </a:solidFill>
              </a:rPr>
              <a:t>The Banking Version</a:t>
            </a:r>
            <a:endParaRPr lang="en-US" sz="1500" dirty="0"/>
          </a:p>
        </p:txBody>
      </p:sp>
      <p:sp>
        <p:nvSpPr>
          <p:cNvPr id="12" name="Text 10"/>
          <p:cNvSpPr/>
          <p:nvPr/>
        </p:nvSpPr>
        <p:spPr>
          <a:xfrm>
            <a:off x="4892040" y="1298448"/>
            <a:ext cx="3749040" cy="329184"/>
          </a:xfrm>
          <a:prstGeom prst="rect">
            <a:avLst/>
          </a:prstGeom>
          <a:noFill/>
          <a:ln/>
        </p:spPr>
        <p:txBody>
          <a:bodyPr wrap="square" lIns="0" tIns="0" rIns="0" bIns="0" rtlCol="0" anchor="ctr"/>
          <a:lstStyle/>
          <a:p>
            <a:pPr indent="0" marL="0">
              <a:buNone/>
            </a:pPr>
            <a:r>
              <a:rPr lang="en-US" sz="1250" b="1" dirty="0">
                <a:solidFill>
                  <a:srgbClr val="1A2535"/>
                </a:solidFill>
              </a:rPr>
              <a:t>Surface the right product at the right moment</a:t>
            </a:r>
            <a:endParaRPr lang="en-US" sz="1250" dirty="0"/>
          </a:p>
        </p:txBody>
      </p:sp>
      <p:sp>
        <p:nvSpPr>
          <p:cNvPr id="13" name="Text 11"/>
          <p:cNvSpPr/>
          <p:nvPr/>
        </p:nvSpPr>
        <p:spPr>
          <a:xfrm>
            <a:off x="4892040" y="1664208"/>
            <a:ext cx="3749040" cy="310896"/>
          </a:xfrm>
          <a:prstGeom prst="rect">
            <a:avLst/>
          </a:prstGeom>
          <a:noFill/>
          <a:ln/>
        </p:spPr>
        <p:txBody>
          <a:bodyPr wrap="square" lIns="0" tIns="0" rIns="0" bIns="0" rtlCol="0" anchor="ctr"/>
          <a:lstStyle/>
          <a:p>
            <a:pPr indent="0" marL="0">
              <a:buNone/>
            </a:pPr>
            <a:r>
              <a:rPr lang="en-US" sz="1200" i="1" dirty="0">
                <a:solidFill>
                  <a:srgbClr val="4A5568"/>
                </a:solidFill>
              </a:rPr>
              <a:t>Predict which customers are ready to upgrade.</a:t>
            </a:r>
            <a:endParaRPr lang="en-US" sz="1200" dirty="0"/>
          </a:p>
        </p:txBody>
      </p:sp>
      <p:sp>
        <p:nvSpPr>
          <p:cNvPr id="14" name="Text 12"/>
          <p:cNvSpPr/>
          <p:nvPr/>
        </p:nvSpPr>
        <p:spPr>
          <a:xfrm>
            <a:off x="4892040" y="2011680"/>
            <a:ext cx="3749040" cy="310896"/>
          </a:xfrm>
          <a:prstGeom prst="rect">
            <a:avLst/>
          </a:prstGeom>
          <a:noFill/>
          <a:ln/>
        </p:spPr>
        <p:txBody>
          <a:bodyPr wrap="square" lIns="0" tIns="0" rIns="0" bIns="0" rtlCol="0" anchor="ctr"/>
          <a:lstStyle/>
          <a:p>
            <a:pPr indent="0" marL="0">
              <a:buNone/>
            </a:pPr>
            <a:r>
              <a:rPr lang="en-US" sz="1200" dirty="0">
                <a:solidFill>
                  <a:srgbClr val="4A5568"/>
                </a:solidFill>
              </a:rPr>
              <a:t>Reduce churn by recommending underused features.</a:t>
            </a:r>
            <a:endParaRPr lang="en-US" sz="1200" dirty="0"/>
          </a:p>
        </p:txBody>
      </p:sp>
      <p:sp>
        <p:nvSpPr>
          <p:cNvPr id="15" name="Text 13"/>
          <p:cNvSpPr/>
          <p:nvPr/>
        </p:nvSpPr>
        <p:spPr>
          <a:xfrm>
            <a:off x="4892040" y="2514600"/>
            <a:ext cx="3749040" cy="310896"/>
          </a:xfrm>
          <a:prstGeom prst="rect">
            <a:avLst/>
          </a:prstGeom>
          <a:noFill/>
          <a:ln/>
        </p:spPr>
        <p:txBody>
          <a:bodyPr wrap="square" lIns="0" tIns="0" rIns="0" bIns="0" rtlCol="0" anchor="ctr"/>
          <a:lstStyle/>
          <a:p>
            <a:pPr indent="0" marL="0">
              <a:buNone/>
            </a:pPr>
            <a:r>
              <a:rPr lang="en-US" sz="1200" b="1" dirty="0">
                <a:solidFill>
                  <a:srgbClr val="028090"/>
                </a:solidFill>
              </a:rPr>
              <a:t>Cash flow forecasting for every community bank.</a:t>
            </a:r>
            <a:endParaRPr lang="en-US" sz="1200" dirty="0"/>
          </a:p>
        </p:txBody>
      </p:sp>
      <p:sp>
        <p:nvSpPr>
          <p:cNvPr id="16" name="Shape 14"/>
          <p:cNvSpPr/>
          <p:nvPr/>
        </p:nvSpPr>
        <p:spPr>
          <a:xfrm>
            <a:off x="320040" y="3273552"/>
            <a:ext cx="8503920" cy="822960"/>
          </a:xfrm>
          <a:prstGeom prst="rect">
            <a:avLst/>
          </a:prstGeom>
          <a:solidFill>
            <a:srgbClr val="1E2D4E"/>
          </a:solidFill>
          <a:ln w="12700">
            <a:solidFill>
              <a:srgbClr val="1E2D4E"/>
            </a:solidFill>
            <a:prstDash val="solid"/>
          </a:ln>
        </p:spPr>
      </p:sp>
      <p:sp>
        <p:nvSpPr>
          <p:cNvPr id="17" name="Text 15"/>
          <p:cNvSpPr/>
          <p:nvPr/>
        </p:nvSpPr>
        <p:spPr>
          <a:xfrm>
            <a:off x="502920" y="3337560"/>
            <a:ext cx="8229600" cy="685800"/>
          </a:xfrm>
          <a:prstGeom prst="rect">
            <a:avLst/>
          </a:prstGeom>
          <a:noFill/>
          <a:ln/>
        </p:spPr>
        <p:txBody>
          <a:bodyPr wrap="square" lIns="0" tIns="0" rIns="0" bIns="0" rtlCol="0" anchor="ctr"/>
          <a:lstStyle/>
          <a:p>
            <a:pPr algn="ctr" indent="0" marL="0">
              <a:buNone/>
            </a:pPr>
            <a:r>
              <a:rPr lang="en-US" sz="1500" i="1" dirty="0">
                <a:solidFill>
                  <a:srgbClr val="FFFFFF"/>
                </a:solidFill>
                <a:latin typeface="Georgia" pitchFamily="34" charset="0"/>
                <a:ea typeface="Georgia" pitchFamily="34" charset="-122"/>
                <a:cs typeface="Georgia" pitchFamily="34" charset="-120"/>
              </a:rPr>
              <a:t>Same recipe. Different kitchen. The algorithm doesn't care if it's recommending books or business banking products.</a:t>
            </a:r>
            <a:endParaRPr lang="en-US" sz="1500" dirty="0"/>
          </a:p>
        </p:txBody>
      </p:sp>
      <p:sp>
        <p:nvSpPr>
          <p:cNvPr id="18" name="Shape 16"/>
          <p:cNvSpPr/>
          <p:nvPr/>
        </p:nvSpPr>
        <p:spPr>
          <a:xfrm>
            <a:off x="320040" y="4224528"/>
            <a:ext cx="8503920" cy="658368"/>
          </a:xfrm>
          <a:prstGeom prst="rect">
            <a:avLst/>
          </a:prstGeom>
          <a:solidFill>
            <a:srgbClr val="F0F0F0"/>
          </a:solidFill>
          <a:ln w="12700">
            <a:solidFill>
              <a:srgbClr val="DDDDDD"/>
            </a:solidFill>
            <a:prstDash val="solid"/>
          </a:ln>
        </p:spPr>
      </p:sp>
      <p:sp>
        <p:nvSpPr>
          <p:cNvPr id="19" name="Text 17"/>
          <p:cNvSpPr/>
          <p:nvPr/>
        </p:nvSpPr>
        <p:spPr>
          <a:xfrm>
            <a:off x="475488" y="4297680"/>
            <a:ext cx="8229600" cy="502920"/>
          </a:xfrm>
          <a:prstGeom prst="rect">
            <a:avLst/>
          </a:prstGeom>
          <a:noFill/>
          <a:ln/>
        </p:spPr>
        <p:txBody>
          <a:bodyPr wrap="square" lIns="0" tIns="0" rIns="0" bIns="0" rtlCol="0" anchor="ctr"/>
          <a:lstStyle/>
          <a:p>
            <a:pPr algn="ctr" indent="0" marL="0">
              <a:buNone/>
            </a:pPr>
            <a:r>
              <a:rPr lang="en-US" sz="1200" i="1" dirty="0">
                <a:solidFill>
                  <a:srgbClr val="4A5568"/>
                </a:solidFill>
              </a:rPr>
              <a:t>Forecasting lesson: the model being 5% more accurate matters less than deploying quickly and measuring the business impact.</a:t>
            </a:r>
            <a:endParaRPr lang="en-US" sz="1200" dirty="0"/>
          </a:p>
        </p:txBody>
      </p:sp>
      <p:sp>
        <p:nvSpPr>
          <p:cNvPr id="21" name="Text 1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A28"/>
        </a:solidFill>
      </p:bgPr>
    </p:bg>
    <p:spTree>
      <p:nvGrpSpPr>
        <p:cNvPr id="1" name=""/>
        <p:cNvGrpSpPr/>
        <p:nvPr/>
      </p:nvGrpSpPr>
      <p:grpSpPr>
        <a:xfrm>
          <a:off x="0" y="0"/>
          <a:ext cx="0" cy="0"/>
          <a:chOff x="0" y="0"/>
          <a:chExt cx="0" cy="0"/>
        </a:xfrm>
      </p:grpSpPr>
      <p:sp>
        <p:nvSpPr>
          <p:cNvPr id="2" name="Text 0"/>
          <p:cNvSpPr/>
          <p:nvPr/>
        </p:nvSpPr>
        <p:spPr>
          <a:xfrm>
            <a:off x="731520" y="640080"/>
            <a:ext cx="7315200" cy="1188720"/>
          </a:xfrm>
          <a:prstGeom prst="rect">
            <a:avLst/>
          </a:prstGeom>
          <a:noFill/>
          <a:ln/>
        </p:spPr>
        <p:txBody>
          <a:bodyPr wrap="square" lIns="0" tIns="0" rIns="0" bIns="0" rtlCol="0" anchor="ctr"/>
          <a:lstStyle/>
          <a:p>
            <a:pPr algn="l" indent="0" marL="0">
              <a:buNone/>
            </a:pPr>
            <a:r>
              <a:rPr lang="en-US" sz="8800" b="1" dirty="0">
                <a:solidFill>
                  <a:srgbClr val="FFFFFF"/>
                </a:solidFill>
                <a:latin typeface="Georgia" pitchFamily="34" charset="0"/>
                <a:ea typeface="Georgia" pitchFamily="34" charset="-122"/>
                <a:cs typeface="Georgia" pitchFamily="34" charset="-120"/>
              </a:rPr>
              <a:t>OK.</a:t>
            </a:r>
            <a:endParaRPr lang="en-US" sz="8800" dirty="0"/>
          </a:p>
        </p:txBody>
      </p:sp>
      <p:sp>
        <p:nvSpPr>
          <p:cNvPr id="3" name="Text 1"/>
          <p:cNvSpPr/>
          <p:nvPr/>
        </p:nvSpPr>
        <p:spPr>
          <a:xfrm>
            <a:off x="731520" y="1737360"/>
            <a:ext cx="7315200" cy="685800"/>
          </a:xfrm>
          <a:prstGeom prst="rect">
            <a:avLst/>
          </a:prstGeom>
          <a:noFill/>
          <a:ln/>
        </p:spPr>
        <p:txBody>
          <a:bodyPr wrap="square" lIns="0" tIns="0" rIns="0" bIns="0" rtlCol="0" anchor="ctr"/>
          <a:lstStyle/>
          <a:p>
            <a:pPr algn="l" indent="0" marL="0">
              <a:buNone/>
            </a:pPr>
            <a:r>
              <a:rPr lang="en-US" sz="3400" i="1" dirty="0">
                <a:solidFill>
                  <a:srgbClr val="94A3B8"/>
                </a:solidFill>
                <a:latin typeface="Georgia" pitchFamily="34" charset="0"/>
                <a:ea typeface="Georgia" pitchFamily="34" charset="-122"/>
                <a:cs typeface="Georgia" pitchFamily="34" charset="-120"/>
              </a:rPr>
              <a:t>Anyone can run a recipe.</a:t>
            </a:r>
            <a:endParaRPr lang="en-US" sz="3400" dirty="0"/>
          </a:p>
        </p:txBody>
      </p:sp>
      <p:sp>
        <p:nvSpPr>
          <p:cNvPr id="4" name="Shape 2"/>
          <p:cNvSpPr/>
          <p:nvPr/>
        </p:nvSpPr>
        <p:spPr>
          <a:xfrm>
            <a:off x="731520" y="2542032"/>
            <a:ext cx="5029200" cy="54864"/>
          </a:xfrm>
          <a:prstGeom prst="rect">
            <a:avLst/>
          </a:prstGeom>
          <a:solidFill>
            <a:srgbClr val="028090"/>
          </a:solidFill>
          <a:ln w="12700">
            <a:solidFill>
              <a:srgbClr val="028090"/>
            </a:solidFill>
            <a:prstDash val="solid"/>
          </a:ln>
        </p:spPr>
      </p:sp>
      <p:sp>
        <p:nvSpPr>
          <p:cNvPr id="5" name="Text 3"/>
          <p:cNvSpPr/>
          <p:nvPr/>
        </p:nvSpPr>
        <p:spPr>
          <a:xfrm>
            <a:off x="731520" y="2743200"/>
            <a:ext cx="7315200" cy="594360"/>
          </a:xfrm>
          <a:prstGeom prst="rect">
            <a:avLst/>
          </a:prstGeom>
          <a:noFill/>
          <a:ln/>
        </p:spPr>
        <p:txBody>
          <a:bodyPr wrap="square" lIns="0" tIns="0" rIns="0" bIns="0" rtlCol="0" anchor="ctr"/>
          <a:lstStyle/>
          <a:p>
            <a:pPr algn="l" indent="0" marL="0">
              <a:buNone/>
            </a:pPr>
            <a:r>
              <a:rPr lang="en-US" sz="2400" dirty="0">
                <a:solidFill>
                  <a:srgbClr val="FFFFFF"/>
                </a:solidFill>
                <a:latin typeface="Georgia" pitchFamily="34" charset="0"/>
                <a:ea typeface="Georgia" pitchFamily="34" charset="-122"/>
                <a:cs typeface="Georgia" pitchFamily="34" charset="-120"/>
              </a:rPr>
              <a:t>The real question is:</a:t>
            </a:r>
            <a:endParaRPr lang="en-US" sz="2400" dirty="0"/>
          </a:p>
        </p:txBody>
      </p:sp>
      <p:sp>
        <p:nvSpPr>
          <p:cNvPr id="6" name="Text 4"/>
          <p:cNvSpPr/>
          <p:nvPr/>
        </p:nvSpPr>
        <p:spPr>
          <a:xfrm>
            <a:off x="731520" y="3364992"/>
            <a:ext cx="7315200" cy="1005840"/>
          </a:xfrm>
          <a:prstGeom prst="rect">
            <a:avLst/>
          </a:prstGeom>
          <a:noFill/>
          <a:ln/>
        </p:spPr>
        <p:txBody>
          <a:bodyPr wrap="square" lIns="0" tIns="0" rIns="0" bIns="0" rtlCol="0" anchor="ctr"/>
          <a:lstStyle/>
          <a:p>
            <a:pPr algn="l" indent="0" marL="0">
              <a:buNone/>
            </a:pPr>
            <a:r>
              <a:rPr lang="en-US" sz="5800" b="1" dirty="0">
                <a:solidFill>
                  <a:srgbClr val="02C39A"/>
                </a:solidFill>
                <a:latin typeface="Georgia" pitchFamily="34" charset="0"/>
                <a:ea typeface="Georgia" pitchFamily="34" charset="-122"/>
                <a:cs typeface="Georgia" pitchFamily="34" charset="-120"/>
              </a:rPr>
              <a:t>Did. It. Work?</a:t>
            </a:r>
            <a:endParaRPr lang="en-US" sz="5800" dirty="0"/>
          </a:p>
        </p:txBody>
      </p:sp>
      <p:sp>
        <p:nvSpPr>
          <p:cNvPr id="7" name="Text 5"/>
          <p:cNvSpPr/>
          <p:nvPr/>
        </p:nvSpPr>
        <p:spPr>
          <a:xfrm>
            <a:off x="731520" y="4434840"/>
            <a:ext cx="7315200" cy="411480"/>
          </a:xfrm>
          <a:prstGeom prst="rect">
            <a:avLst/>
          </a:prstGeom>
          <a:noFill/>
          <a:ln/>
        </p:spPr>
        <p:txBody>
          <a:bodyPr wrap="square" lIns="0" tIns="0" rIns="0" bIns="0" rtlCol="0" anchor="ctr"/>
          <a:lstStyle/>
          <a:p>
            <a:pPr algn="l" indent="0" marL="0">
              <a:buNone/>
            </a:pPr>
            <a:r>
              <a:rPr lang="en-US" sz="1500" i="1" dirty="0">
                <a:solidFill>
                  <a:srgbClr val="94A3B8"/>
                </a:solidFill>
                <a:latin typeface="Georgia" pitchFamily="34" charset="0"/>
                <a:ea typeface="Georgia" pitchFamily="34" charset="-122"/>
                <a:cs typeface="Georgia" pitchFamily="34" charset="-120"/>
              </a:rPr>
              <a:t>This is where most DS projects meet their crime scene.</a:t>
            </a:r>
            <a:endParaRPr lang="en-US" sz="1500" dirty="0"/>
          </a:p>
        </p:txBody>
      </p:sp>
      <p:sp>
        <p:nvSpPr>
          <p:cNvPr id="9" name="Text 6"/>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PART 2: EVALUATION IS EVERYTHING</a:t>
            </a:r>
            <a:endParaRPr lang="en-US" sz="1300" dirty="0"/>
          </a:p>
        </p:txBody>
      </p:sp>
      <p:sp>
        <p:nvSpPr>
          <p:cNvPr id="4" name="Text 2"/>
          <p:cNvSpPr/>
          <p:nvPr/>
        </p:nvSpPr>
        <p:spPr>
          <a:xfrm>
            <a:off x="457200" y="731520"/>
            <a:ext cx="8229600" cy="347472"/>
          </a:xfrm>
          <a:prstGeom prst="rect">
            <a:avLst/>
          </a:prstGeom>
          <a:noFill/>
          <a:ln/>
        </p:spPr>
        <p:txBody>
          <a:bodyPr wrap="square" lIns="0" tIns="0" rIns="0" bIns="0" rtlCol="0" anchor="ctr"/>
          <a:lstStyle/>
          <a:p>
            <a:pPr indent="0" marL="0">
              <a:buNone/>
            </a:pPr>
            <a:r>
              <a:rPr lang="en-US" sz="1600" i="1" dirty="0">
                <a:solidFill>
                  <a:srgbClr val="1A2535"/>
                </a:solidFill>
                <a:latin typeface="Georgia" pitchFamily="34" charset="0"/>
                <a:ea typeface="Georgia" pitchFamily="34" charset="-122"/>
                <a:cs typeface="Georgia" pitchFamily="34" charset="-120"/>
              </a:rPr>
              <a:t>The #1 cause of failed DS projects isn't a bad algorithm.</a:t>
            </a:r>
            <a:endParaRPr lang="en-US" sz="1600" dirty="0"/>
          </a:p>
        </p:txBody>
      </p:sp>
      <p:sp>
        <p:nvSpPr>
          <p:cNvPr id="5" name="Text 3"/>
          <p:cNvSpPr/>
          <p:nvPr/>
        </p:nvSpPr>
        <p:spPr>
          <a:xfrm>
            <a:off x="457200" y="1078992"/>
            <a:ext cx="5486400" cy="438912"/>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It's bad evaluation.</a:t>
            </a:r>
            <a:endParaRPr lang="en-US" sz="2200" dirty="0"/>
          </a:p>
        </p:txBody>
      </p:sp>
      <p:sp>
        <p:nvSpPr>
          <p:cNvPr id="6" name="Text 4"/>
          <p:cNvSpPr/>
          <p:nvPr/>
        </p:nvSpPr>
        <p:spPr>
          <a:xfrm>
            <a:off x="457200" y="1517904"/>
            <a:ext cx="8229600" cy="274320"/>
          </a:xfrm>
          <a:prstGeom prst="rect">
            <a:avLst/>
          </a:prstGeom>
          <a:noFill/>
          <a:ln/>
        </p:spPr>
        <p:txBody>
          <a:bodyPr wrap="square" lIns="0" tIns="0" rIns="0" bIns="0" rtlCol="0" anchor="ctr"/>
          <a:lstStyle/>
          <a:p>
            <a:pPr indent="0" marL="0">
              <a:buNone/>
            </a:pPr>
            <a:r>
              <a:rPr lang="en-US" sz="1300" i="1" dirty="0">
                <a:solidFill>
                  <a:srgbClr val="4A5568"/>
                </a:solidFill>
                <a:latin typeface="Georgia" pitchFamily="34" charset="0"/>
                <a:ea typeface="Georgia" pitchFamily="34" charset="-122"/>
                <a:cs typeface="Georgia" pitchFamily="34" charset="-120"/>
              </a:rPr>
              <a:t>Three crime scenes. Same victim every time.</a:t>
            </a:r>
            <a:endParaRPr lang="en-US" sz="1300" dirty="0"/>
          </a:p>
        </p:txBody>
      </p:sp>
      <p:sp>
        <p:nvSpPr>
          <p:cNvPr id="7" name="Shape 5"/>
          <p:cNvSpPr/>
          <p:nvPr/>
        </p:nvSpPr>
        <p:spPr>
          <a:xfrm>
            <a:off x="320040" y="1737360"/>
            <a:ext cx="2697480" cy="3154680"/>
          </a:xfrm>
          <a:prstGeom prst="rect">
            <a:avLst/>
          </a:prstGeom>
          <a:solidFill>
            <a:srgbClr val="FFF0F0"/>
          </a:solidFill>
          <a:ln w="12700">
            <a:solidFill>
              <a:srgbClr val="C0392B"/>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737360"/>
            <a:ext cx="2697480" cy="128016"/>
          </a:xfrm>
          <a:prstGeom prst="rect">
            <a:avLst/>
          </a:prstGeom>
          <a:solidFill>
            <a:srgbClr val="C0392B"/>
          </a:solidFill>
          <a:ln w="12700">
            <a:solidFill>
              <a:srgbClr val="C0392B"/>
            </a:solidFill>
            <a:prstDash val="solid"/>
          </a:ln>
        </p:spPr>
      </p:sp>
      <p:sp>
        <p:nvSpPr>
          <p:cNvPr id="9" name="Text 7"/>
          <p:cNvSpPr/>
          <p:nvPr/>
        </p:nvSpPr>
        <p:spPr>
          <a:xfrm>
            <a:off x="457200" y="1901952"/>
            <a:ext cx="777240" cy="502920"/>
          </a:xfrm>
          <a:prstGeom prst="rect">
            <a:avLst/>
          </a:prstGeom>
          <a:noFill/>
          <a:ln/>
        </p:spPr>
        <p:txBody>
          <a:bodyPr wrap="square" lIns="0" tIns="0" rIns="0" bIns="0" rtlCol="0" anchor="ctr"/>
          <a:lstStyle/>
          <a:p>
            <a:pPr indent="0" marL="0">
              <a:buNone/>
            </a:pPr>
            <a:r>
              <a:rPr lang="en-US" sz="2800" b="1" dirty="0">
                <a:solidFill>
                  <a:srgbClr val="C0392B"/>
                </a:solidFill>
                <a:latin typeface="Georgia" pitchFamily="34" charset="0"/>
                <a:ea typeface="Georgia" pitchFamily="34" charset="-122"/>
                <a:cs typeface="Georgia" pitchFamily="34" charset="-120"/>
              </a:rPr>
              <a:t>01</a:t>
            </a:r>
            <a:endParaRPr lang="en-US" sz="2800" dirty="0"/>
          </a:p>
        </p:txBody>
      </p:sp>
      <p:sp>
        <p:nvSpPr>
          <p:cNvPr id="10" name="Text 8"/>
          <p:cNvSpPr/>
          <p:nvPr/>
        </p:nvSpPr>
        <p:spPr>
          <a:xfrm>
            <a:off x="457200" y="2423160"/>
            <a:ext cx="2468880" cy="594360"/>
          </a:xfrm>
          <a:prstGeom prst="rect">
            <a:avLst/>
          </a:prstGeom>
          <a:noFill/>
          <a:ln/>
        </p:spPr>
        <p:txBody>
          <a:bodyPr wrap="square" lIns="0" tIns="0" rIns="0" bIns="0" rtlCol="0" anchor="ctr"/>
          <a:lstStyle/>
          <a:p>
            <a:pPr indent="0" marL="0">
              <a:buNone/>
            </a:pPr>
            <a:r>
              <a:rPr lang="en-US" sz="1700" b="1" dirty="0">
                <a:solidFill>
                  <a:srgbClr val="1A2535"/>
                </a:solidFill>
                <a:latin typeface="Georgia" pitchFamily="34" charset="0"/>
                <a:ea typeface="Georgia" pitchFamily="34" charset="-122"/>
                <a:cs typeface="Georgia" pitchFamily="34" charset="-120"/>
              </a:rPr>
              <a:t>Wrong Metric</a:t>
            </a:r>
            <a:endParaRPr lang="en-US" sz="1700" dirty="0"/>
          </a:p>
        </p:txBody>
      </p:sp>
      <p:sp>
        <p:nvSpPr>
          <p:cNvPr id="11" name="Text 9"/>
          <p:cNvSpPr/>
          <p:nvPr/>
        </p:nvSpPr>
        <p:spPr>
          <a:xfrm>
            <a:off x="457200" y="3035808"/>
            <a:ext cx="2468880" cy="347472"/>
          </a:xfrm>
          <a:prstGeom prst="rect">
            <a:avLst/>
          </a:prstGeom>
          <a:noFill/>
          <a:ln/>
        </p:spPr>
        <p:txBody>
          <a:bodyPr wrap="square" lIns="0" tIns="0" rIns="0" bIns="0" rtlCol="0" anchor="ctr"/>
          <a:lstStyle/>
          <a:p>
            <a:pPr indent="0" marL="0">
              <a:buNone/>
            </a:pPr>
            <a:r>
              <a:rPr lang="en-US" sz="1200" i="1" dirty="0">
                <a:solidFill>
                  <a:srgbClr val="4A5568"/>
                </a:solidFill>
              </a:rPr>
              <a:t>Measuring the wrong thing perfectly</a:t>
            </a:r>
            <a:endParaRPr lang="en-US" sz="1200" dirty="0"/>
          </a:p>
        </p:txBody>
      </p:sp>
      <p:sp>
        <p:nvSpPr>
          <p:cNvPr id="12" name="Shape 10"/>
          <p:cNvSpPr/>
          <p:nvPr/>
        </p:nvSpPr>
        <p:spPr>
          <a:xfrm>
            <a:off x="457200" y="3401568"/>
            <a:ext cx="2423160" cy="36576"/>
          </a:xfrm>
          <a:prstGeom prst="rect">
            <a:avLst/>
          </a:prstGeom>
          <a:solidFill>
            <a:srgbClr val="C0392B"/>
          </a:solidFill>
          <a:ln w="12700">
            <a:solidFill>
              <a:srgbClr val="C0392B"/>
            </a:solidFill>
            <a:prstDash val="solid"/>
          </a:ln>
        </p:spPr>
      </p:sp>
      <p:sp>
        <p:nvSpPr>
          <p:cNvPr id="13" name="Text 11"/>
          <p:cNvSpPr/>
          <p:nvPr/>
        </p:nvSpPr>
        <p:spPr>
          <a:xfrm>
            <a:off x="457200" y="3493008"/>
            <a:ext cx="2468880" cy="1234440"/>
          </a:xfrm>
          <a:prstGeom prst="rect">
            <a:avLst/>
          </a:prstGeom>
          <a:noFill/>
          <a:ln/>
        </p:spPr>
        <p:txBody>
          <a:bodyPr wrap="square" lIns="0" tIns="0" rIns="0" bIns="0" rtlCol="0" anchor="ctr"/>
          <a:lstStyle/>
          <a:p>
            <a:pPr indent="0" marL="0">
              <a:buNone/>
            </a:pPr>
            <a:r>
              <a:rPr lang="en-US" sz="1200" i="1" dirty="0">
                <a:solidFill>
                  <a:srgbClr val="1A2535"/>
                </a:solidFill>
              </a:rPr>
              <a:t>"Our model is 99.9% accurate!"</a:t>
            </a:r>
            <a:endParaRPr lang="en-US" sz="1200" dirty="0"/>
          </a:p>
          <a:p>
            <a:pPr indent="0" marL="0">
              <a:buNone/>
            </a:pPr>
            <a:r>
              <a:rPr lang="en-US" sz="1200" i="1" dirty="0">
                <a:solidFill>
                  <a:srgbClr val="1A2535"/>
                </a:solidFill>
              </a:rPr>
              <a:t>(It never catches actual fraud.)</a:t>
            </a:r>
            <a:endParaRPr lang="en-US" sz="1200" dirty="0"/>
          </a:p>
        </p:txBody>
      </p:sp>
      <p:sp>
        <p:nvSpPr>
          <p:cNvPr id="14" name="Shape 12"/>
          <p:cNvSpPr/>
          <p:nvPr/>
        </p:nvSpPr>
        <p:spPr>
          <a:xfrm>
            <a:off x="3264408" y="1737360"/>
            <a:ext cx="2697480" cy="3154680"/>
          </a:xfrm>
          <a:prstGeom prst="rect">
            <a:avLst/>
          </a:prstGeom>
          <a:solidFill>
            <a:srgbClr val="FFF4E6"/>
          </a:solidFill>
          <a:ln w="12700">
            <a:solidFill>
              <a:srgbClr val="E67E22"/>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64408" y="1737360"/>
            <a:ext cx="2697480" cy="128016"/>
          </a:xfrm>
          <a:prstGeom prst="rect">
            <a:avLst/>
          </a:prstGeom>
          <a:solidFill>
            <a:srgbClr val="E67E22"/>
          </a:solidFill>
          <a:ln w="12700">
            <a:solidFill>
              <a:srgbClr val="E67E22"/>
            </a:solidFill>
            <a:prstDash val="solid"/>
          </a:ln>
        </p:spPr>
      </p:sp>
      <p:sp>
        <p:nvSpPr>
          <p:cNvPr id="16" name="Text 14"/>
          <p:cNvSpPr/>
          <p:nvPr/>
        </p:nvSpPr>
        <p:spPr>
          <a:xfrm>
            <a:off x="3401568" y="1901952"/>
            <a:ext cx="777240" cy="502920"/>
          </a:xfrm>
          <a:prstGeom prst="rect">
            <a:avLst/>
          </a:prstGeom>
          <a:noFill/>
          <a:ln/>
        </p:spPr>
        <p:txBody>
          <a:bodyPr wrap="square" lIns="0" tIns="0" rIns="0" bIns="0" rtlCol="0" anchor="ctr"/>
          <a:lstStyle/>
          <a:p>
            <a:pPr indent="0" marL="0">
              <a:buNone/>
            </a:pPr>
            <a:r>
              <a:rPr lang="en-US" sz="2800" b="1" dirty="0">
                <a:solidFill>
                  <a:srgbClr val="E67E22"/>
                </a:solidFill>
                <a:latin typeface="Georgia" pitchFamily="34" charset="0"/>
                <a:ea typeface="Georgia" pitchFamily="34" charset="-122"/>
                <a:cs typeface="Georgia" pitchFamily="34" charset="-120"/>
              </a:rPr>
              <a:t>02</a:t>
            </a:r>
            <a:endParaRPr lang="en-US" sz="2800" dirty="0"/>
          </a:p>
        </p:txBody>
      </p:sp>
      <p:sp>
        <p:nvSpPr>
          <p:cNvPr id="17" name="Text 15"/>
          <p:cNvSpPr/>
          <p:nvPr/>
        </p:nvSpPr>
        <p:spPr>
          <a:xfrm>
            <a:off x="3401568" y="2423160"/>
            <a:ext cx="2468880" cy="594360"/>
          </a:xfrm>
          <a:prstGeom prst="rect">
            <a:avLst/>
          </a:prstGeom>
          <a:noFill/>
          <a:ln/>
        </p:spPr>
        <p:txBody>
          <a:bodyPr wrap="square" lIns="0" tIns="0" rIns="0" bIns="0" rtlCol="0" anchor="ctr"/>
          <a:lstStyle/>
          <a:p>
            <a:pPr indent="0" marL="0">
              <a:buNone/>
            </a:pPr>
            <a:r>
              <a:rPr lang="en-US" sz="1700" b="1" dirty="0">
                <a:solidFill>
                  <a:srgbClr val="1A2535"/>
                </a:solidFill>
                <a:latin typeface="Georgia" pitchFamily="34" charset="0"/>
                <a:ea typeface="Georgia" pitchFamily="34" charset="-122"/>
                <a:cs typeface="Georgia" pitchFamily="34" charset="-120"/>
              </a:rPr>
              <a:t>Overfitting</a:t>
            </a:r>
            <a:endParaRPr lang="en-US" sz="1700" dirty="0"/>
          </a:p>
          <a:p>
            <a:pPr indent="0" marL="0">
              <a:buNone/>
            </a:pPr>
            <a:r>
              <a:rPr lang="en-US" sz="1700" b="1" dirty="0">
                <a:solidFill>
                  <a:srgbClr val="1A2535"/>
                </a:solidFill>
                <a:latin typeface="Georgia" pitchFamily="34" charset="0"/>
                <a:ea typeface="Georgia" pitchFamily="34" charset="-122"/>
                <a:cs typeface="Georgia" pitchFamily="34" charset="-120"/>
              </a:rPr>
              <a:t>&amp; Bad Sampling</a:t>
            </a:r>
            <a:endParaRPr lang="en-US" sz="1700" dirty="0"/>
          </a:p>
        </p:txBody>
      </p:sp>
      <p:sp>
        <p:nvSpPr>
          <p:cNvPr id="18" name="Text 16"/>
          <p:cNvSpPr/>
          <p:nvPr/>
        </p:nvSpPr>
        <p:spPr>
          <a:xfrm>
            <a:off x="3401568" y="3035808"/>
            <a:ext cx="2468880" cy="347472"/>
          </a:xfrm>
          <a:prstGeom prst="rect">
            <a:avLst/>
          </a:prstGeom>
          <a:noFill/>
          <a:ln/>
        </p:spPr>
        <p:txBody>
          <a:bodyPr wrap="square" lIns="0" tIns="0" rIns="0" bIns="0" rtlCol="0" anchor="ctr"/>
          <a:lstStyle/>
          <a:p>
            <a:pPr indent="0" marL="0">
              <a:buNone/>
            </a:pPr>
            <a:r>
              <a:rPr lang="en-US" sz="1200" i="1" dirty="0">
                <a:solidFill>
                  <a:srgbClr val="4A5568"/>
                </a:solidFill>
              </a:rPr>
              <a:t>Your model memorized the past</a:t>
            </a:r>
            <a:endParaRPr lang="en-US" sz="1200" dirty="0"/>
          </a:p>
        </p:txBody>
      </p:sp>
      <p:sp>
        <p:nvSpPr>
          <p:cNvPr id="19" name="Shape 17"/>
          <p:cNvSpPr/>
          <p:nvPr/>
        </p:nvSpPr>
        <p:spPr>
          <a:xfrm>
            <a:off x="3401568" y="3401568"/>
            <a:ext cx="2423160" cy="36576"/>
          </a:xfrm>
          <a:prstGeom prst="rect">
            <a:avLst/>
          </a:prstGeom>
          <a:solidFill>
            <a:srgbClr val="E67E22"/>
          </a:solidFill>
          <a:ln w="12700">
            <a:solidFill>
              <a:srgbClr val="E67E22"/>
            </a:solidFill>
            <a:prstDash val="solid"/>
          </a:ln>
        </p:spPr>
      </p:sp>
      <p:sp>
        <p:nvSpPr>
          <p:cNvPr id="20" name="Text 18"/>
          <p:cNvSpPr/>
          <p:nvPr/>
        </p:nvSpPr>
        <p:spPr>
          <a:xfrm>
            <a:off x="3401568" y="3493008"/>
            <a:ext cx="2468880" cy="1234440"/>
          </a:xfrm>
          <a:prstGeom prst="rect">
            <a:avLst/>
          </a:prstGeom>
          <a:noFill/>
          <a:ln/>
        </p:spPr>
        <p:txBody>
          <a:bodyPr wrap="square" lIns="0" tIns="0" rIns="0" bIns="0" rtlCol="0" anchor="ctr"/>
          <a:lstStyle/>
          <a:p>
            <a:pPr indent="0" marL="0">
              <a:buNone/>
            </a:pPr>
            <a:r>
              <a:rPr lang="en-US" sz="1200" i="1" dirty="0">
                <a:solidFill>
                  <a:srgbClr val="1A2535"/>
                </a:solidFill>
              </a:rPr>
              <a:t>"Works great in testing..."</a:t>
            </a:r>
            <a:endParaRPr lang="en-US" sz="1200" dirty="0"/>
          </a:p>
          <a:p>
            <a:pPr indent="0" marL="0">
              <a:buNone/>
            </a:pPr>
            <a:r>
              <a:rPr lang="en-US" sz="1200" i="1" dirty="0">
                <a:solidFill>
                  <a:srgbClr val="1A2535"/>
                </a:solidFill>
              </a:rPr>
              <a:t>(That was 2019 data. It's 2026.)</a:t>
            </a:r>
            <a:endParaRPr lang="en-US" sz="1200" dirty="0"/>
          </a:p>
        </p:txBody>
      </p:sp>
      <p:sp>
        <p:nvSpPr>
          <p:cNvPr id="21" name="Shape 19"/>
          <p:cNvSpPr/>
          <p:nvPr/>
        </p:nvSpPr>
        <p:spPr>
          <a:xfrm>
            <a:off x="6208776" y="1737360"/>
            <a:ext cx="2697480" cy="3154680"/>
          </a:xfrm>
          <a:prstGeom prst="rect">
            <a:avLst/>
          </a:prstGeom>
          <a:solidFill>
            <a:srgbClr val="F8F0FF"/>
          </a:solidFill>
          <a:ln w="12700">
            <a:solidFill>
              <a:srgbClr val="9B59B6"/>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6208776" y="1737360"/>
            <a:ext cx="2697480" cy="128016"/>
          </a:xfrm>
          <a:prstGeom prst="rect">
            <a:avLst/>
          </a:prstGeom>
          <a:solidFill>
            <a:srgbClr val="9B59B6"/>
          </a:solidFill>
          <a:ln w="12700">
            <a:solidFill>
              <a:srgbClr val="9B59B6"/>
            </a:solidFill>
            <a:prstDash val="solid"/>
          </a:ln>
        </p:spPr>
      </p:sp>
      <p:sp>
        <p:nvSpPr>
          <p:cNvPr id="23" name="Text 21"/>
          <p:cNvSpPr/>
          <p:nvPr/>
        </p:nvSpPr>
        <p:spPr>
          <a:xfrm>
            <a:off x="6345936" y="1901952"/>
            <a:ext cx="777240" cy="502920"/>
          </a:xfrm>
          <a:prstGeom prst="rect">
            <a:avLst/>
          </a:prstGeom>
          <a:noFill/>
          <a:ln/>
        </p:spPr>
        <p:txBody>
          <a:bodyPr wrap="square" lIns="0" tIns="0" rIns="0" bIns="0" rtlCol="0" anchor="ctr"/>
          <a:lstStyle/>
          <a:p>
            <a:pPr indent="0" marL="0">
              <a:buNone/>
            </a:pPr>
            <a:r>
              <a:rPr lang="en-US" sz="2800" b="1" dirty="0">
                <a:solidFill>
                  <a:srgbClr val="9B59B6"/>
                </a:solidFill>
                <a:latin typeface="Georgia" pitchFamily="34" charset="0"/>
                <a:ea typeface="Georgia" pitchFamily="34" charset="-122"/>
                <a:cs typeface="Georgia" pitchFamily="34" charset="-120"/>
              </a:rPr>
              <a:t>03</a:t>
            </a:r>
            <a:endParaRPr lang="en-US" sz="2800" dirty="0"/>
          </a:p>
        </p:txBody>
      </p:sp>
      <p:sp>
        <p:nvSpPr>
          <p:cNvPr id="24" name="Text 22"/>
          <p:cNvSpPr/>
          <p:nvPr/>
        </p:nvSpPr>
        <p:spPr>
          <a:xfrm>
            <a:off x="6345936" y="2423160"/>
            <a:ext cx="2468880" cy="594360"/>
          </a:xfrm>
          <a:prstGeom prst="rect">
            <a:avLst/>
          </a:prstGeom>
          <a:noFill/>
          <a:ln/>
        </p:spPr>
        <p:txBody>
          <a:bodyPr wrap="square" lIns="0" tIns="0" rIns="0" bIns="0" rtlCol="0" anchor="ctr"/>
          <a:lstStyle/>
          <a:p>
            <a:pPr indent="0" marL="0">
              <a:buNone/>
            </a:pPr>
            <a:r>
              <a:rPr lang="en-US" sz="1700" b="1" dirty="0">
                <a:solidFill>
                  <a:srgbClr val="1A2535"/>
                </a:solidFill>
                <a:latin typeface="Georgia" pitchFamily="34" charset="0"/>
                <a:ea typeface="Georgia" pitchFamily="34" charset="-122"/>
                <a:cs typeface="Georgia" pitchFamily="34" charset="-120"/>
              </a:rPr>
              <a:t>Leakage</a:t>
            </a:r>
            <a:endParaRPr lang="en-US" sz="1700" dirty="0"/>
          </a:p>
        </p:txBody>
      </p:sp>
      <p:sp>
        <p:nvSpPr>
          <p:cNvPr id="25" name="Text 23"/>
          <p:cNvSpPr/>
          <p:nvPr/>
        </p:nvSpPr>
        <p:spPr>
          <a:xfrm>
            <a:off x="6345936" y="3035808"/>
            <a:ext cx="2468880" cy="347472"/>
          </a:xfrm>
          <a:prstGeom prst="rect">
            <a:avLst/>
          </a:prstGeom>
          <a:noFill/>
          <a:ln/>
        </p:spPr>
        <p:txBody>
          <a:bodyPr wrap="square" lIns="0" tIns="0" rIns="0" bIns="0" rtlCol="0" anchor="ctr"/>
          <a:lstStyle/>
          <a:p>
            <a:pPr indent="0" marL="0">
              <a:buNone/>
            </a:pPr>
            <a:r>
              <a:rPr lang="en-US" sz="1200" i="1" dirty="0">
                <a:solidFill>
                  <a:srgbClr val="4A5568"/>
                </a:solidFill>
              </a:rPr>
              <a:t>You accidentally cheated</a:t>
            </a:r>
            <a:endParaRPr lang="en-US" sz="1200" dirty="0"/>
          </a:p>
        </p:txBody>
      </p:sp>
      <p:sp>
        <p:nvSpPr>
          <p:cNvPr id="26" name="Shape 24"/>
          <p:cNvSpPr/>
          <p:nvPr/>
        </p:nvSpPr>
        <p:spPr>
          <a:xfrm>
            <a:off x="6345936" y="3401568"/>
            <a:ext cx="2423160" cy="36576"/>
          </a:xfrm>
          <a:prstGeom prst="rect">
            <a:avLst/>
          </a:prstGeom>
          <a:solidFill>
            <a:srgbClr val="9B59B6"/>
          </a:solidFill>
          <a:ln w="12700">
            <a:solidFill>
              <a:srgbClr val="9B59B6"/>
            </a:solidFill>
            <a:prstDash val="solid"/>
          </a:ln>
        </p:spPr>
      </p:sp>
      <p:sp>
        <p:nvSpPr>
          <p:cNvPr id="27" name="Text 25"/>
          <p:cNvSpPr/>
          <p:nvPr/>
        </p:nvSpPr>
        <p:spPr>
          <a:xfrm>
            <a:off x="6345936" y="3493008"/>
            <a:ext cx="2468880" cy="1234440"/>
          </a:xfrm>
          <a:prstGeom prst="rect">
            <a:avLst/>
          </a:prstGeom>
          <a:noFill/>
          <a:ln/>
        </p:spPr>
        <p:txBody>
          <a:bodyPr wrap="square" lIns="0" tIns="0" rIns="0" bIns="0" rtlCol="0" anchor="ctr"/>
          <a:lstStyle/>
          <a:p>
            <a:pPr indent="0" marL="0">
              <a:buNone/>
            </a:pPr>
            <a:r>
              <a:rPr lang="en-US" sz="1200" i="1" dirty="0">
                <a:solidFill>
                  <a:srgbClr val="1A2535"/>
                </a:solidFill>
              </a:rPr>
              <a:t>"We used the outcome to</a:t>
            </a:r>
            <a:endParaRPr lang="en-US" sz="1200" dirty="0"/>
          </a:p>
          <a:p>
            <a:pPr indent="0" marL="0">
              <a:buNone/>
            </a:pPr>
            <a:r>
              <a:rPr lang="en-US" sz="1200" i="1" dirty="0">
                <a:solidFill>
                  <a:srgbClr val="1A2535"/>
                </a:solidFill>
              </a:rPr>
              <a:t>predict the outcome."</a:t>
            </a:r>
            <a:endParaRPr lang="en-US" sz="1200" dirty="0"/>
          </a:p>
        </p:txBody>
      </p:sp>
      <p:sp>
        <p:nvSpPr>
          <p:cNvPr id="29" name="Text 26"/>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700000"/>
          </a:solidFill>
          <a:ln w="12700">
            <a:solidFill>
              <a:srgbClr val="700000"/>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FAILURE MODE #1: WRONG METRIC — AND THERE'S NEVER JUST ONE</a:t>
            </a:r>
            <a:endParaRPr lang="en-US" sz="1300" dirty="0"/>
          </a:p>
        </p:txBody>
      </p:sp>
      <p:sp>
        <p:nvSpPr>
          <p:cNvPr id="4" name="Shape 2"/>
          <p:cNvSpPr/>
          <p:nvPr/>
        </p:nvSpPr>
        <p:spPr>
          <a:xfrm>
            <a:off x="320040" y="713232"/>
            <a:ext cx="8503920" cy="914400"/>
          </a:xfrm>
          <a:prstGeom prst="rect">
            <a:avLst/>
          </a:prstGeom>
          <a:solidFill>
            <a:srgbClr val="FFF0F0"/>
          </a:solidFill>
          <a:ln w="12700">
            <a:solidFill>
              <a:srgbClr val="C0392B"/>
            </a:solidFill>
            <a:prstDash val="solid"/>
          </a:ln>
        </p:spPr>
      </p:sp>
      <p:sp>
        <p:nvSpPr>
          <p:cNvPr id="5" name="Text 3"/>
          <p:cNvSpPr/>
          <p:nvPr/>
        </p:nvSpPr>
        <p:spPr>
          <a:xfrm>
            <a:off x="502920" y="786384"/>
            <a:ext cx="8138160" cy="384048"/>
          </a:xfrm>
          <a:prstGeom prst="rect">
            <a:avLst/>
          </a:prstGeom>
          <a:noFill/>
          <a:ln/>
        </p:spPr>
        <p:txBody>
          <a:bodyPr wrap="square" lIns="0" tIns="0" rIns="0" bIns="0" rtlCol="0" anchor="ctr"/>
          <a:lstStyle/>
          <a:p>
            <a:pPr indent="0" marL="0">
              <a:buNone/>
            </a:pPr>
            <a:r>
              <a:rPr lang="en-US" sz="1800" b="1" dirty="0">
                <a:solidFill>
                  <a:srgbClr val="C0392B"/>
                </a:solidFill>
                <a:latin typeface="Georgia" pitchFamily="34" charset="0"/>
                <a:ea typeface="Georgia" pitchFamily="34" charset="-122"/>
                <a:cs typeface="Georgia" pitchFamily="34" charset="-120"/>
              </a:rPr>
              <a:t>"Our fraud model is 99.9% accurate!"</a:t>
            </a:r>
            <a:endParaRPr lang="en-US" sz="1800" dirty="0"/>
          </a:p>
        </p:txBody>
      </p:sp>
      <p:sp>
        <p:nvSpPr>
          <p:cNvPr id="6" name="Text 4"/>
          <p:cNvSpPr/>
          <p:nvPr/>
        </p:nvSpPr>
        <p:spPr>
          <a:xfrm>
            <a:off x="502920" y="1188720"/>
            <a:ext cx="8138160" cy="310896"/>
          </a:xfrm>
          <a:prstGeom prst="rect">
            <a:avLst/>
          </a:prstGeom>
          <a:noFill/>
          <a:ln/>
        </p:spPr>
        <p:txBody>
          <a:bodyPr wrap="square" lIns="0" tIns="0" rIns="0" bIns="0" rtlCol="0" anchor="ctr"/>
          <a:lstStyle/>
          <a:p>
            <a:pPr indent="0" marL="0">
              <a:buNone/>
            </a:pPr>
            <a:r>
              <a:rPr lang="en-US" sz="1300" dirty="0">
                <a:solidFill>
                  <a:srgbClr val="1A2535"/>
                </a:solidFill>
              </a:rPr>
              <a:t>If 0.1% of transactions are fraud, a model that NEVER flags anything is also 99.9% accurate.</a:t>
            </a:r>
            <a:endParaRPr lang="en-US" sz="1300" dirty="0"/>
          </a:p>
        </p:txBody>
      </p:sp>
      <p:sp>
        <p:nvSpPr>
          <p:cNvPr id="7" name="Text 5"/>
          <p:cNvSpPr/>
          <p:nvPr/>
        </p:nvSpPr>
        <p:spPr>
          <a:xfrm>
            <a:off x="457200" y="1764792"/>
            <a:ext cx="8229600" cy="347472"/>
          </a:xfrm>
          <a:prstGeom prst="rect">
            <a:avLst/>
          </a:prstGeom>
          <a:noFill/>
          <a:ln/>
        </p:spPr>
        <p:txBody>
          <a:bodyPr wrap="square" lIns="0" tIns="0" rIns="0" bIns="0" rtlCol="0" anchor="ctr"/>
          <a:lstStyle/>
          <a:p>
            <a:pPr indent="0" marL="0">
              <a:buNone/>
            </a:pPr>
            <a:r>
              <a:rPr lang="en-US" sz="1400" b="1" dirty="0">
                <a:solidFill>
                  <a:srgbClr val="1E2D4E"/>
                </a:solidFill>
              </a:rPr>
              <a:t>Every recipe family has its own metric ecosystem:</a:t>
            </a:r>
            <a:endParaRPr lang="en-US" sz="1400" dirty="0"/>
          </a:p>
        </p:txBody>
      </p:sp>
      <p:sp>
        <p:nvSpPr>
          <p:cNvPr id="8" name="Shape 6"/>
          <p:cNvSpPr/>
          <p:nvPr/>
        </p:nvSpPr>
        <p:spPr>
          <a:xfrm>
            <a:off x="274320" y="2194560"/>
            <a:ext cx="2697480" cy="2743200"/>
          </a:xfrm>
          <a:prstGeom prst="rect">
            <a:avLst/>
          </a:prstGeom>
          <a:solidFill>
            <a:srgbClr val="EBF5FF"/>
          </a:solidFill>
          <a:ln w="12700">
            <a:solidFill>
              <a:srgbClr val="2196F3"/>
            </a:solidFill>
            <a:prstDash val="solid"/>
          </a:ln>
        </p:spPr>
      </p:sp>
      <p:sp>
        <p:nvSpPr>
          <p:cNvPr id="9" name="Shape 7"/>
          <p:cNvSpPr/>
          <p:nvPr/>
        </p:nvSpPr>
        <p:spPr>
          <a:xfrm>
            <a:off x="274320" y="2194560"/>
            <a:ext cx="2697480" cy="109728"/>
          </a:xfrm>
          <a:prstGeom prst="rect">
            <a:avLst/>
          </a:prstGeom>
          <a:solidFill>
            <a:srgbClr val="2196F3"/>
          </a:solidFill>
          <a:ln w="12700">
            <a:solidFill>
              <a:srgbClr val="2196F3"/>
            </a:solidFill>
            <a:prstDash val="solid"/>
          </a:ln>
        </p:spPr>
      </p:sp>
      <p:sp>
        <p:nvSpPr>
          <p:cNvPr id="10" name="Text 8"/>
          <p:cNvSpPr/>
          <p:nvPr/>
        </p:nvSpPr>
        <p:spPr>
          <a:xfrm>
            <a:off x="384048" y="2322576"/>
            <a:ext cx="2514600" cy="365760"/>
          </a:xfrm>
          <a:prstGeom prst="rect">
            <a:avLst/>
          </a:prstGeom>
          <a:noFill/>
          <a:ln/>
        </p:spPr>
        <p:txBody>
          <a:bodyPr wrap="square" lIns="0" tIns="0" rIns="0" bIns="0" rtlCol="0" anchor="ctr"/>
          <a:lstStyle/>
          <a:p>
            <a:pPr indent="0" marL="0">
              <a:buNone/>
            </a:pPr>
            <a:r>
              <a:rPr lang="en-US" sz="1300" b="1" dirty="0">
                <a:solidFill>
                  <a:srgbClr val="1A2535"/>
                </a:solidFill>
              </a:rPr>
              <a:t>Classification</a:t>
            </a:r>
            <a:endParaRPr lang="en-US" sz="1300" dirty="0"/>
          </a:p>
        </p:txBody>
      </p:sp>
      <p:sp>
        <p:nvSpPr>
          <p:cNvPr id="11" name="Shape 9"/>
          <p:cNvSpPr/>
          <p:nvPr/>
        </p:nvSpPr>
        <p:spPr>
          <a:xfrm>
            <a:off x="384048" y="2743200"/>
            <a:ext cx="54864" cy="237744"/>
          </a:xfrm>
          <a:prstGeom prst="rect">
            <a:avLst/>
          </a:prstGeom>
          <a:solidFill>
            <a:srgbClr val="2196F3"/>
          </a:solidFill>
          <a:ln w="12700">
            <a:solidFill>
              <a:srgbClr val="2196F3"/>
            </a:solidFill>
            <a:prstDash val="solid"/>
          </a:ln>
        </p:spPr>
      </p:sp>
      <p:sp>
        <p:nvSpPr>
          <p:cNvPr id="12" name="Text 10"/>
          <p:cNvSpPr/>
          <p:nvPr/>
        </p:nvSpPr>
        <p:spPr>
          <a:xfrm>
            <a:off x="502920" y="274320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AUC-ROC</a:t>
            </a:r>
            <a:endParaRPr lang="en-US" sz="1050" dirty="0"/>
          </a:p>
        </p:txBody>
      </p:sp>
      <p:sp>
        <p:nvSpPr>
          <p:cNvPr id="13" name="Text 11"/>
          <p:cNvSpPr/>
          <p:nvPr/>
        </p:nvSpPr>
        <p:spPr>
          <a:xfrm>
            <a:off x="502920" y="2944368"/>
            <a:ext cx="2395728" cy="274320"/>
          </a:xfrm>
          <a:prstGeom prst="rect">
            <a:avLst/>
          </a:prstGeom>
          <a:noFill/>
          <a:ln/>
        </p:spPr>
        <p:txBody>
          <a:bodyPr wrap="square" lIns="0" tIns="0" rIns="0" bIns="0" rtlCol="0" anchor="ctr"/>
          <a:lstStyle/>
          <a:p>
            <a:pPr indent="0" marL="0">
              <a:buNone/>
            </a:pPr>
            <a:r>
              <a:rPr lang="en-US" sz="950" dirty="0">
                <a:solidFill>
                  <a:srgbClr val="4A5568"/>
                </a:solidFill>
              </a:rPr>
              <a:t>Overall ranking quality — does the model put fraud higher than legit?</a:t>
            </a:r>
            <a:endParaRPr lang="en-US" sz="950" dirty="0"/>
          </a:p>
        </p:txBody>
      </p:sp>
      <p:sp>
        <p:nvSpPr>
          <p:cNvPr id="14" name="Shape 12"/>
          <p:cNvSpPr/>
          <p:nvPr/>
        </p:nvSpPr>
        <p:spPr>
          <a:xfrm>
            <a:off x="384048" y="3246120"/>
            <a:ext cx="54864" cy="237744"/>
          </a:xfrm>
          <a:prstGeom prst="rect">
            <a:avLst/>
          </a:prstGeom>
          <a:solidFill>
            <a:srgbClr val="2196F3"/>
          </a:solidFill>
          <a:ln w="12700">
            <a:solidFill>
              <a:srgbClr val="2196F3"/>
            </a:solidFill>
            <a:prstDash val="solid"/>
          </a:ln>
        </p:spPr>
      </p:sp>
      <p:sp>
        <p:nvSpPr>
          <p:cNvPr id="15" name="Text 13"/>
          <p:cNvSpPr/>
          <p:nvPr/>
        </p:nvSpPr>
        <p:spPr>
          <a:xfrm>
            <a:off x="502920" y="324612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PR-AUC</a:t>
            </a:r>
            <a:endParaRPr lang="en-US" sz="1050" dirty="0"/>
          </a:p>
        </p:txBody>
      </p:sp>
      <p:sp>
        <p:nvSpPr>
          <p:cNvPr id="16" name="Text 14"/>
          <p:cNvSpPr/>
          <p:nvPr/>
        </p:nvSpPr>
        <p:spPr>
          <a:xfrm>
            <a:off x="502920" y="3447288"/>
            <a:ext cx="2395728" cy="274320"/>
          </a:xfrm>
          <a:prstGeom prst="rect">
            <a:avLst/>
          </a:prstGeom>
          <a:noFill/>
          <a:ln/>
        </p:spPr>
        <p:txBody>
          <a:bodyPr wrap="square" lIns="0" tIns="0" rIns="0" bIns="0" rtlCol="0" anchor="ctr"/>
          <a:lstStyle/>
          <a:p>
            <a:pPr indent="0" marL="0">
              <a:buNone/>
            </a:pPr>
            <a:r>
              <a:rPr lang="en-US" sz="950" dirty="0">
                <a:solidFill>
                  <a:srgbClr val="4A5568"/>
                </a:solidFill>
              </a:rPr>
              <a:t>For imbalanced datasets (like fraud) — AUC on the precision-recall curve</a:t>
            </a:r>
            <a:endParaRPr lang="en-US" sz="950" dirty="0"/>
          </a:p>
        </p:txBody>
      </p:sp>
      <p:sp>
        <p:nvSpPr>
          <p:cNvPr id="17" name="Shape 15"/>
          <p:cNvSpPr/>
          <p:nvPr/>
        </p:nvSpPr>
        <p:spPr>
          <a:xfrm>
            <a:off x="384048" y="3749040"/>
            <a:ext cx="54864" cy="237744"/>
          </a:xfrm>
          <a:prstGeom prst="rect">
            <a:avLst/>
          </a:prstGeom>
          <a:solidFill>
            <a:srgbClr val="2196F3"/>
          </a:solidFill>
          <a:ln w="12700">
            <a:solidFill>
              <a:srgbClr val="2196F3"/>
            </a:solidFill>
            <a:prstDash val="solid"/>
          </a:ln>
        </p:spPr>
      </p:sp>
      <p:sp>
        <p:nvSpPr>
          <p:cNvPr id="18" name="Text 16"/>
          <p:cNvSpPr/>
          <p:nvPr/>
        </p:nvSpPr>
        <p:spPr>
          <a:xfrm>
            <a:off x="502920" y="374904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Log Loss</a:t>
            </a:r>
            <a:endParaRPr lang="en-US" sz="1050" dirty="0"/>
          </a:p>
        </p:txBody>
      </p:sp>
      <p:sp>
        <p:nvSpPr>
          <p:cNvPr id="19" name="Text 17"/>
          <p:cNvSpPr/>
          <p:nvPr/>
        </p:nvSpPr>
        <p:spPr>
          <a:xfrm>
            <a:off x="502920" y="3950208"/>
            <a:ext cx="2395728" cy="274320"/>
          </a:xfrm>
          <a:prstGeom prst="rect">
            <a:avLst/>
          </a:prstGeom>
          <a:noFill/>
          <a:ln/>
        </p:spPr>
        <p:txBody>
          <a:bodyPr wrap="square" lIns="0" tIns="0" rIns="0" bIns="0" rtlCol="0" anchor="ctr"/>
          <a:lstStyle/>
          <a:p>
            <a:pPr indent="0" marL="0">
              <a:buNone/>
            </a:pPr>
            <a:r>
              <a:rPr lang="en-US" sz="950" dirty="0">
                <a:solidFill>
                  <a:srgbClr val="4A5568"/>
                </a:solidFill>
              </a:rPr>
              <a:t>Is the model well-calibrated? Does 70% confidence actually mean 70%?</a:t>
            </a:r>
            <a:endParaRPr lang="en-US" sz="950" dirty="0"/>
          </a:p>
        </p:txBody>
      </p:sp>
      <p:sp>
        <p:nvSpPr>
          <p:cNvPr id="20" name="Shape 18"/>
          <p:cNvSpPr/>
          <p:nvPr/>
        </p:nvSpPr>
        <p:spPr>
          <a:xfrm>
            <a:off x="384048" y="4251960"/>
            <a:ext cx="54864" cy="237744"/>
          </a:xfrm>
          <a:prstGeom prst="rect">
            <a:avLst/>
          </a:prstGeom>
          <a:solidFill>
            <a:srgbClr val="2196F3"/>
          </a:solidFill>
          <a:ln w="12700">
            <a:solidFill>
              <a:srgbClr val="2196F3"/>
            </a:solidFill>
            <a:prstDash val="solid"/>
          </a:ln>
        </p:spPr>
      </p:sp>
      <p:sp>
        <p:nvSpPr>
          <p:cNvPr id="21" name="Text 19"/>
          <p:cNvSpPr/>
          <p:nvPr/>
        </p:nvSpPr>
        <p:spPr>
          <a:xfrm>
            <a:off x="502920" y="425196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Precision / Recall @ threshold</a:t>
            </a:r>
            <a:endParaRPr lang="en-US" sz="1050" dirty="0"/>
          </a:p>
        </p:txBody>
      </p:sp>
      <p:sp>
        <p:nvSpPr>
          <p:cNvPr id="22" name="Text 20"/>
          <p:cNvSpPr/>
          <p:nvPr/>
        </p:nvSpPr>
        <p:spPr>
          <a:xfrm>
            <a:off x="502920" y="4453128"/>
            <a:ext cx="2395728" cy="274320"/>
          </a:xfrm>
          <a:prstGeom prst="rect">
            <a:avLst/>
          </a:prstGeom>
          <a:noFill/>
          <a:ln/>
        </p:spPr>
        <p:txBody>
          <a:bodyPr wrap="square" lIns="0" tIns="0" rIns="0" bIns="0" rtlCol="0" anchor="ctr"/>
          <a:lstStyle/>
          <a:p>
            <a:pPr indent="0" marL="0">
              <a:buNone/>
            </a:pPr>
            <a:r>
              <a:rPr lang="en-US" sz="950" dirty="0">
                <a:solidFill>
                  <a:srgbClr val="4A5568"/>
                </a:solidFill>
              </a:rPr>
              <a:t>Operational cutoff: what score do we flag at?</a:t>
            </a:r>
            <a:endParaRPr lang="en-US" sz="950" dirty="0"/>
          </a:p>
        </p:txBody>
      </p:sp>
      <p:sp>
        <p:nvSpPr>
          <p:cNvPr id="23" name="Shape 21"/>
          <p:cNvSpPr/>
          <p:nvPr/>
        </p:nvSpPr>
        <p:spPr>
          <a:xfrm>
            <a:off x="3227832" y="2194560"/>
            <a:ext cx="2697480" cy="2743200"/>
          </a:xfrm>
          <a:prstGeom prst="rect">
            <a:avLst/>
          </a:prstGeom>
          <a:solidFill>
            <a:srgbClr val="EDFAF4"/>
          </a:solidFill>
          <a:ln w="12700">
            <a:solidFill>
              <a:srgbClr val="27AE60"/>
            </a:solidFill>
            <a:prstDash val="solid"/>
          </a:ln>
        </p:spPr>
      </p:sp>
      <p:sp>
        <p:nvSpPr>
          <p:cNvPr id="24" name="Shape 22"/>
          <p:cNvSpPr/>
          <p:nvPr/>
        </p:nvSpPr>
        <p:spPr>
          <a:xfrm>
            <a:off x="3227832" y="2194560"/>
            <a:ext cx="2697480" cy="109728"/>
          </a:xfrm>
          <a:prstGeom prst="rect">
            <a:avLst/>
          </a:prstGeom>
          <a:solidFill>
            <a:srgbClr val="27AE60"/>
          </a:solidFill>
          <a:ln w="12700">
            <a:solidFill>
              <a:srgbClr val="27AE60"/>
            </a:solidFill>
            <a:prstDash val="solid"/>
          </a:ln>
        </p:spPr>
      </p:sp>
      <p:sp>
        <p:nvSpPr>
          <p:cNvPr id="25" name="Text 23"/>
          <p:cNvSpPr/>
          <p:nvPr/>
        </p:nvSpPr>
        <p:spPr>
          <a:xfrm>
            <a:off x="3337560" y="2322576"/>
            <a:ext cx="2514600" cy="365760"/>
          </a:xfrm>
          <a:prstGeom prst="rect">
            <a:avLst/>
          </a:prstGeom>
          <a:noFill/>
          <a:ln/>
        </p:spPr>
        <p:txBody>
          <a:bodyPr wrap="square" lIns="0" tIns="0" rIns="0" bIns="0" rtlCol="0" anchor="ctr"/>
          <a:lstStyle/>
          <a:p>
            <a:pPr indent="0" marL="0">
              <a:buNone/>
            </a:pPr>
            <a:r>
              <a:rPr lang="en-US" sz="1300" b="1" dirty="0">
                <a:solidFill>
                  <a:srgbClr val="1A2535"/>
                </a:solidFill>
              </a:rPr>
              <a:t>Forecasting</a:t>
            </a:r>
            <a:endParaRPr lang="en-US" sz="1300" dirty="0"/>
          </a:p>
        </p:txBody>
      </p:sp>
      <p:sp>
        <p:nvSpPr>
          <p:cNvPr id="26" name="Shape 24"/>
          <p:cNvSpPr/>
          <p:nvPr/>
        </p:nvSpPr>
        <p:spPr>
          <a:xfrm>
            <a:off x="3337560" y="2743200"/>
            <a:ext cx="54864" cy="237744"/>
          </a:xfrm>
          <a:prstGeom prst="rect">
            <a:avLst/>
          </a:prstGeom>
          <a:solidFill>
            <a:srgbClr val="27AE60"/>
          </a:solidFill>
          <a:ln w="12700">
            <a:solidFill>
              <a:srgbClr val="27AE60"/>
            </a:solidFill>
            <a:prstDash val="solid"/>
          </a:ln>
        </p:spPr>
      </p:sp>
      <p:sp>
        <p:nvSpPr>
          <p:cNvPr id="27" name="Text 25"/>
          <p:cNvSpPr/>
          <p:nvPr/>
        </p:nvSpPr>
        <p:spPr>
          <a:xfrm>
            <a:off x="3456432" y="274320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MAPE</a:t>
            </a:r>
            <a:endParaRPr lang="en-US" sz="1050" dirty="0"/>
          </a:p>
        </p:txBody>
      </p:sp>
      <p:sp>
        <p:nvSpPr>
          <p:cNvPr id="28" name="Text 26"/>
          <p:cNvSpPr/>
          <p:nvPr/>
        </p:nvSpPr>
        <p:spPr>
          <a:xfrm>
            <a:off x="3456432" y="2944368"/>
            <a:ext cx="2395728" cy="274320"/>
          </a:xfrm>
          <a:prstGeom prst="rect">
            <a:avLst/>
          </a:prstGeom>
          <a:noFill/>
          <a:ln/>
        </p:spPr>
        <p:txBody>
          <a:bodyPr wrap="square" lIns="0" tIns="0" rIns="0" bIns="0" rtlCol="0" anchor="ctr"/>
          <a:lstStyle/>
          <a:p>
            <a:pPr indent="0" marL="0">
              <a:buNone/>
            </a:pPr>
            <a:r>
              <a:rPr lang="en-US" sz="950" dirty="0">
                <a:solidFill>
                  <a:srgbClr val="4A5568"/>
                </a:solidFill>
              </a:rPr>
              <a:t>Mean Absolute % Error — how wrong are we, on average, as a percent?</a:t>
            </a:r>
            <a:endParaRPr lang="en-US" sz="950" dirty="0"/>
          </a:p>
        </p:txBody>
      </p:sp>
      <p:sp>
        <p:nvSpPr>
          <p:cNvPr id="29" name="Shape 27"/>
          <p:cNvSpPr/>
          <p:nvPr/>
        </p:nvSpPr>
        <p:spPr>
          <a:xfrm>
            <a:off x="3337560" y="3246120"/>
            <a:ext cx="54864" cy="237744"/>
          </a:xfrm>
          <a:prstGeom prst="rect">
            <a:avLst/>
          </a:prstGeom>
          <a:solidFill>
            <a:srgbClr val="27AE60"/>
          </a:solidFill>
          <a:ln w="12700">
            <a:solidFill>
              <a:srgbClr val="27AE60"/>
            </a:solidFill>
            <a:prstDash val="solid"/>
          </a:ln>
        </p:spPr>
      </p:sp>
      <p:sp>
        <p:nvSpPr>
          <p:cNvPr id="30" name="Text 28"/>
          <p:cNvSpPr/>
          <p:nvPr/>
        </p:nvSpPr>
        <p:spPr>
          <a:xfrm>
            <a:off x="3456432" y="324612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RMSE</a:t>
            </a:r>
            <a:endParaRPr lang="en-US" sz="1050" dirty="0"/>
          </a:p>
        </p:txBody>
      </p:sp>
      <p:sp>
        <p:nvSpPr>
          <p:cNvPr id="31" name="Text 29"/>
          <p:cNvSpPr/>
          <p:nvPr/>
        </p:nvSpPr>
        <p:spPr>
          <a:xfrm>
            <a:off x="3456432" y="3447288"/>
            <a:ext cx="2395728" cy="274320"/>
          </a:xfrm>
          <a:prstGeom prst="rect">
            <a:avLst/>
          </a:prstGeom>
          <a:noFill/>
          <a:ln/>
        </p:spPr>
        <p:txBody>
          <a:bodyPr wrap="square" lIns="0" tIns="0" rIns="0" bIns="0" rtlCol="0" anchor="ctr"/>
          <a:lstStyle/>
          <a:p>
            <a:pPr indent="0" marL="0">
              <a:buNone/>
            </a:pPr>
            <a:r>
              <a:rPr lang="en-US" sz="950" dirty="0">
                <a:solidFill>
                  <a:srgbClr val="4A5568"/>
                </a:solidFill>
              </a:rPr>
              <a:t>Penalizes large errors more — critical when big misses are costly</a:t>
            </a:r>
            <a:endParaRPr lang="en-US" sz="950" dirty="0"/>
          </a:p>
        </p:txBody>
      </p:sp>
      <p:sp>
        <p:nvSpPr>
          <p:cNvPr id="32" name="Shape 30"/>
          <p:cNvSpPr/>
          <p:nvPr/>
        </p:nvSpPr>
        <p:spPr>
          <a:xfrm>
            <a:off x="3337560" y="3749040"/>
            <a:ext cx="54864" cy="237744"/>
          </a:xfrm>
          <a:prstGeom prst="rect">
            <a:avLst/>
          </a:prstGeom>
          <a:solidFill>
            <a:srgbClr val="27AE60"/>
          </a:solidFill>
          <a:ln w="12700">
            <a:solidFill>
              <a:srgbClr val="27AE60"/>
            </a:solidFill>
            <a:prstDash val="solid"/>
          </a:ln>
        </p:spPr>
      </p:sp>
      <p:sp>
        <p:nvSpPr>
          <p:cNvPr id="33" name="Text 31"/>
          <p:cNvSpPr/>
          <p:nvPr/>
        </p:nvSpPr>
        <p:spPr>
          <a:xfrm>
            <a:off x="3456432" y="374904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WAPE</a:t>
            </a:r>
            <a:endParaRPr lang="en-US" sz="1050" dirty="0"/>
          </a:p>
        </p:txBody>
      </p:sp>
      <p:sp>
        <p:nvSpPr>
          <p:cNvPr id="34" name="Text 32"/>
          <p:cNvSpPr/>
          <p:nvPr/>
        </p:nvSpPr>
        <p:spPr>
          <a:xfrm>
            <a:off x="3456432" y="3950208"/>
            <a:ext cx="2395728" cy="274320"/>
          </a:xfrm>
          <a:prstGeom prst="rect">
            <a:avLst/>
          </a:prstGeom>
          <a:noFill/>
          <a:ln/>
        </p:spPr>
        <p:txBody>
          <a:bodyPr wrap="square" lIns="0" tIns="0" rIns="0" bIns="0" rtlCol="0" anchor="ctr"/>
          <a:lstStyle/>
          <a:p>
            <a:pPr indent="0" marL="0">
              <a:buNone/>
            </a:pPr>
            <a:r>
              <a:rPr lang="en-US" sz="950" dirty="0">
                <a:solidFill>
                  <a:srgbClr val="4A5568"/>
                </a:solidFill>
              </a:rPr>
              <a:t>Weighted — handles zero-value periods (banks with low volume)</a:t>
            </a:r>
            <a:endParaRPr lang="en-US" sz="950" dirty="0"/>
          </a:p>
        </p:txBody>
      </p:sp>
      <p:sp>
        <p:nvSpPr>
          <p:cNvPr id="35" name="Shape 33"/>
          <p:cNvSpPr/>
          <p:nvPr/>
        </p:nvSpPr>
        <p:spPr>
          <a:xfrm>
            <a:off x="3337560" y="4251960"/>
            <a:ext cx="54864" cy="237744"/>
          </a:xfrm>
          <a:prstGeom prst="rect">
            <a:avLst/>
          </a:prstGeom>
          <a:solidFill>
            <a:srgbClr val="27AE60"/>
          </a:solidFill>
          <a:ln w="12700">
            <a:solidFill>
              <a:srgbClr val="27AE60"/>
            </a:solidFill>
            <a:prstDash val="solid"/>
          </a:ln>
        </p:spPr>
      </p:sp>
      <p:sp>
        <p:nvSpPr>
          <p:cNvPr id="36" name="Text 34"/>
          <p:cNvSpPr/>
          <p:nvPr/>
        </p:nvSpPr>
        <p:spPr>
          <a:xfrm>
            <a:off x="3456432" y="425196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Bias</a:t>
            </a:r>
            <a:endParaRPr lang="en-US" sz="1050" dirty="0"/>
          </a:p>
        </p:txBody>
      </p:sp>
      <p:sp>
        <p:nvSpPr>
          <p:cNvPr id="37" name="Text 35"/>
          <p:cNvSpPr/>
          <p:nvPr/>
        </p:nvSpPr>
        <p:spPr>
          <a:xfrm>
            <a:off x="3456432" y="4453128"/>
            <a:ext cx="2395728" cy="274320"/>
          </a:xfrm>
          <a:prstGeom prst="rect">
            <a:avLst/>
          </a:prstGeom>
          <a:noFill/>
          <a:ln/>
        </p:spPr>
        <p:txBody>
          <a:bodyPr wrap="square" lIns="0" tIns="0" rIns="0" bIns="0" rtlCol="0" anchor="ctr"/>
          <a:lstStyle/>
          <a:p>
            <a:pPr indent="0" marL="0">
              <a:buNone/>
            </a:pPr>
            <a:r>
              <a:rPr lang="en-US" sz="950" dirty="0">
                <a:solidFill>
                  <a:srgbClr val="4A5568"/>
                </a:solidFill>
              </a:rPr>
              <a:t>Systematically high or low? Direction of error matters.</a:t>
            </a:r>
            <a:endParaRPr lang="en-US" sz="950" dirty="0"/>
          </a:p>
        </p:txBody>
      </p:sp>
      <p:sp>
        <p:nvSpPr>
          <p:cNvPr id="38" name="Shape 36"/>
          <p:cNvSpPr/>
          <p:nvPr/>
        </p:nvSpPr>
        <p:spPr>
          <a:xfrm>
            <a:off x="6181344" y="2194560"/>
            <a:ext cx="2697480" cy="2743200"/>
          </a:xfrm>
          <a:prstGeom prst="rect">
            <a:avLst/>
          </a:prstGeom>
          <a:solidFill>
            <a:srgbClr val="F8F0FF"/>
          </a:solidFill>
          <a:ln w="12700">
            <a:solidFill>
              <a:srgbClr val="9B59B6"/>
            </a:solidFill>
            <a:prstDash val="solid"/>
          </a:ln>
        </p:spPr>
      </p:sp>
      <p:sp>
        <p:nvSpPr>
          <p:cNvPr id="39" name="Shape 37"/>
          <p:cNvSpPr/>
          <p:nvPr/>
        </p:nvSpPr>
        <p:spPr>
          <a:xfrm>
            <a:off x="6181344" y="2194560"/>
            <a:ext cx="2697480" cy="109728"/>
          </a:xfrm>
          <a:prstGeom prst="rect">
            <a:avLst/>
          </a:prstGeom>
          <a:solidFill>
            <a:srgbClr val="9B59B6"/>
          </a:solidFill>
          <a:ln w="12700">
            <a:solidFill>
              <a:srgbClr val="9B59B6"/>
            </a:solidFill>
            <a:prstDash val="solid"/>
          </a:ln>
        </p:spPr>
      </p:sp>
      <p:sp>
        <p:nvSpPr>
          <p:cNvPr id="40" name="Text 38"/>
          <p:cNvSpPr/>
          <p:nvPr/>
        </p:nvSpPr>
        <p:spPr>
          <a:xfrm>
            <a:off x="6291072" y="2322576"/>
            <a:ext cx="2514600" cy="365760"/>
          </a:xfrm>
          <a:prstGeom prst="rect">
            <a:avLst/>
          </a:prstGeom>
          <a:noFill/>
          <a:ln/>
        </p:spPr>
        <p:txBody>
          <a:bodyPr wrap="square" lIns="0" tIns="0" rIns="0" bIns="0" rtlCol="0" anchor="ctr"/>
          <a:lstStyle/>
          <a:p>
            <a:pPr indent="0" marL="0">
              <a:buNone/>
            </a:pPr>
            <a:r>
              <a:rPr lang="en-US" sz="1300" b="1" dirty="0">
                <a:solidFill>
                  <a:srgbClr val="1A2535"/>
                </a:solidFill>
              </a:rPr>
              <a:t>Text / NLP</a:t>
            </a:r>
            <a:endParaRPr lang="en-US" sz="1300" dirty="0"/>
          </a:p>
        </p:txBody>
      </p:sp>
      <p:sp>
        <p:nvSpPr>
          <p:cNvPr id="41" name="Shape 39"/>
          <p:cNvSpPr/>
          <p:nvPr/>
        </p:nvSpPr>
        <p:spPr>
          <a:xfrm>
            <a:off x="6291072" y="2743200"/>
            <a:ext cx="54864" cy="237744"/>
          </a:xfrm>
          <a:prstGeom prst="rect">
            <a:avLst/>
          </a:prstGeom>
          <a:solidFill>
            <a:srgbClr val="9B59B6"/>
          </a:solidFill>
          <a:ln w="12700">
            <a:solidFill>
              <a:srgbClr val="9B59B6"/>
            </a:solidFill>
            <a:prstDash val="solid"/>
          </a:ln>
        </p:spPr>
      </p:sp>
      <p:sp>
        <p:nvSpPr>
          <p:cNvPr id="42" name="Text 40"/>
          <p:cNvSpPr/>
          <p:nvPr/>
        </p:nvSpPr>
        <p:spPr>
          <a:xfrm>
            <a:off x="6409944" y="274320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F1 Score</a:t>
            </a:r>
            <a:endParaRPr lang="en-US" sz="1050" dirty="0"/>
          </a:p>
        </p:txBody>
      </p:sp>
      <p:sp>
        <p:nvSpPr>
          <p:cNvPr id="43" name="Text 41"/>
          <p:cNvSpPr/>
          <p:nvPr/>
        </p:nvSpPr>
        <p:spPr>
          <a:xfrm>
            <a:off x="6409944" y="2944368"/>
            <a:ext cx="2395728" cy="274320"/>
          </a:xfrm>
          <a:prstGeom prst="rect">
            <a:avLst/>
          </a:prstGeom>
          <a:noFill/>
          <a:ln/>
        </p:spPr>
        <p:txBody>
          <a:bodyPr wrap="square" lIns="0" tIns="0" rIns="0" bIns="0" rtlCol="0" anchor="ctr"/>
          <a:lstStyle/>
          <a:p>
            <a:pPr indent="0" marL="0">
              <a:buNone/>
            </a:pPr>
            <a:r>
              <a:rPr lang="en-US" sz="950" dirty="0">
                <a:solidFill>
                  <a:srgbClr val="4A5568"/>
                </a:solidFill>
              </a:rPr>
              <a:t>Classification balance between precision &amp; recall for text labels</a:t>
            </a:r>
            <a:endParaRPr lang="en-US" sz="950" dirty="0"/>
          </a:p>
        </p:txBody>
      </p:sp>
      <p:sp>
        <p:nvSpPr>
          <p:cNvPr id="44" name="Shape 42"/>
          <p:cNvSpPr/>
          <p:nvPr/>
        </p:nvSpPr>
        <p:spPr>
          <a:xfrm>
            <a:off x="6291072" y="3246120"/>
            <a:ext cx="54864" cy="237744"/>
          </a:xfrm>
          <a:prstGeom prst="rect">
            <a:avLst/>
          </a:prstGeom>
          <a:solidFill>
            <a:srgbClr val="9B59B6"/>
          </a:solidFill>
          <a:ln w="12700">
            <a:solidFill>
              <a:srgbClr val="9B59B6"/>
            </a:solidFill>
            <a:prstDash val="solid"/>
          </a:ln>
        </p:spPr>
      </p:sp>
      <p:sp>
        <p:nvSpPr>
          <p:cNvPr id="45" name="Text 43"/>
          <p:cNvSpPr/>
          <p:nvPr/>
        </p:nvSpPr>
        <p:spPr>
          <a:xfrm>
            <a:off x="6409944" y="324612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BLEU/ROUGE</a:t>
            </a:r>
            <a:endParaRPr lang="en-US" sz="1050" dirty="0"/>
          </a:p>
        </p:txBody>
      </p:sp>
      <p:sp>
        <p:nvSpPr>
          <p:cNvPr id="46" name="Text 44"/>
          <p:cNvSpPr/>
          <p:nvPr/>
        </p:nvSpPr>
        <p:spPr>
          <a:xfrm>
            <a:off x="6409944" y="3447288"/>
            <a:ext cx="2395728" cy="274320"/>
          </a:xfrm>
          <a:prstGeom prst="rect">
            <a:avLst/>
          </a:prstGeom>
          <a:noFill/>
          <a:ln/>
        </p:spPr>
        <p:txBody>
          <a:bodyPr wrap="square" lIns="0" tIns="0" rIns="0" bIns="0" rtlCol="0" anchor="ctr"/>
          <a:lstStyle/>
          <a:p>
            <a:pPr indent="0" marL="0">
              <a:buNone/>
            </a:pPr>
            <a:r>
              <a:rPr lang="en-US" sz="950" dirty="0">
                <a:solidFill>
                  <a:srgbClr val="4A5568"/>
                </a:solidFill>
              </a:rPr>
              <a:t>For generated text — how similar to a reference answer?</a:t>
            </a:r>
            <a:endParaRPr lang="en-US" sz="950" dirty="0"/>
          </a:p>
        </p:txBody>
      </p:sp>
      <p:sp>
        <p:nvSpPr>
          <p:cNvPr id="47" name="Shape 45"/>
          <p:cNvSpPr/>
          <p:nvPr/>
        </p:nvSpPr>
        <p:spPr>
          <a:xfrm>
            <a:off x="6291072" y="3749040"/>
            <a:ext cx="54864" cy="237744"/>
          </a:xfrm>
          <a:prstGeom prst="rect">
            <a:avLst/>
          </a:prstGeom>
          <a:solidFill>
            <a:srgbClr val="9B59B6"/>
          </a:solidFill>
          <a:ln w="12700">
            <a:solidFill>
              <a:srgbClr val="9B59B6"/>
            </a:solidFill>
            <a:prstDash val="solid"/>
          </a:ln>
        </p:spPr>
      </p:sp>
      <p:sp>
        <p:nvSpPr>
          <p:cNvPr id="48" name="Text 46"/>
          <p:cNvSpPr/>
          <p:nvPr/>
        </p:nvSpPr>
        <p:spPr>
          <a:xfrm>
            <a:off x="6409944" y="374904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Perplexity</a:t>
            </a:r>
            <a:endParaRPr lang="en-US" sz="1050" dirty="0"/>
          </a:p>
        </p:txBody>
      </p:sp>
      <p:sp>
        <p:nvSpPr>
          <p:cNvPr id="49" name="Text 47"/>
          <p:cNvSpPr/>
          <p:nvPr/>
        </p:nvSpPr>
        <p:spPr>
          <a:xfrm>
            <a:off x="6409944" y="3950208"/>
            <a:ext cx="2395728" cy="274320"/>
          </a:xfrm>
          <a:prstGeom prst="rect">
            <a:avLst/>
          </a:prstGeom>
          <a:noFill/>
          <a:ln/>
        </p:spPr>
        <p:txBody>
          <a:bodyPr wrap="square" lIns="0" tIns="0" rIns="0" bIns="0" rtlCol="0" anchor="ctr"/>
          <a:lstStyle/>
          <a:p>
            <a:pPr indent="0" marL="0">
              <a:buNone/>
            </a:pPr>
            <a:r>
              <a:rPr lang="en-US" sz="950" dirty="0">
                <a:solidFill>
                  <a:srgbClr val="4A5568"/>
                </a:solidFill>
              </a:rPr>
              <a:t>How confident is the language model in its own predictions?</a:t>
            </a:r>
            <a:endParaRPr lang="en-US" sz="950" dirty="0"/>
          </a:p>
        </p:txBody>
      </p:sp>
      <p:sp>
        <p:nvSpPr>
          <p:cNvPr id="50" name="Shape 48"/>
          <p:cNvSpPr/>
          <p:nvPr/>
        </p:nvSpPr>
        <p:spPr>
          <a:xfrm>
            <a:off x="6291072" y="4251960"/>
            <a:ext cx="54864" cy="237744"/>
          </a:xfrm>
          <a:prstGeom prst="rect">
            <a:avLst/>
          </a:prstGeom>
          <a:solidFill>
            <a:srgbClr val="9B59B6"/>
          </a:solidFill>
          <a:ln w="12700">
            <a:solidFill>
              <a:srgbClr val="9B59B6"/>
            </a:solidFill>
            <a:prstDash val="solid"/>
          </a:ln>
        </p:spPr>
      </p:sp>
      <p:sp>
        <p:nvSpPr>
          <p:cNvPr id="51" name="Text 49"/>
          <p:cNvSpPr/>
          <p:nvPr/>
        </p:nvSpPr>
        <p:spPr>
          <a:xfrm>
            <a:off x="6409944" y="4251960"/>
            <a:ext cx="2395728" cy="210312"/>
          </a:xfrm>
          <a:prstGeom prst="rect">
            <a:avLst/>
          </a:prstGeom>
          <a:noFill/>
          <a:ln/>
        </p:spPr>
        <p:txBody>
          <a:bodyPr wrap="square" lIns="0" tIns="0" rIns="0" bIns="0" rtlCol="0" anchor="ctr"/>
          <a:lstStyle/>
          <a:p>
            <a:pPr indent="0" marL="0">
              <a:buNone/>
            </a:pPr>
            <a:r>
              <a:rPr lang="en-US" sz="1050" b="1" dirty="0">
                <a:solidFill>
                  <a:srgbClr val="1A2535"/>
                </a:solidFill>
              </a:rPr>
              <a:t>Hallucination Rate</a:t>
            </a:r>
            <a:endParaRPr lang="en-US" sz="1050" dirty="0"/>
          </a:p>
        </p:txBody>
      </p:sp>
      <p:sp>
        <p:nvSpPr>
          <p:cNvPr id="52" name="Text 50"/>
          <p:cNvSpPr/>
          <p:nvPr/>
        </p:nvSpPr>
        <p:spPr>
          <a:xfrm>
            <a:off x="6409944" y="4453128"/>
            <a:ext cx="2395728" cy="274320"/>
          </a:xfrm>
          <a:prstGeom prst="rect">
            <a:avLst/>
          </a:prstGeom>
          <a:noFill/>
          <a:ln/>
        </p:spPr>
        <p:txBody>
          <a:bodyPr wrap="square" lIns="0" tIns="0" rIns="0" bIns="0" rtlCol="0" anchor="ctr"/>
          <a:lstStyle/>
          <a:p>
            <a:pPr indent="0" marL="0">
              <a:buNone/>
            </a:pPr>
            <a:r>
              <a:rPr lang="en-US" sz="950" dirty="0">
                <a:solidFill>
                  <a:srgbClr val="4A5568"/>
                </a:solidFill>
              </a:rPr>
              <a:t>For LLMs specifically — how often does it make things up?</a:t>
            </a:r>
            <a:endParaRPr lang="en-US" sz="950" dirty="0"/>
          </a:p>
        </p:txBody>
      </p:sp>
      <p:sp>
        <p:nvSpPr>
          <p:cNvPr id="54" name="Text 51"/>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8B4000"/>
          </a:solidFill>
          <a:ln w="12700">
            <a:solidFill>
              <a:srgbClr val="8B4000"/>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FAILURE MODE #2: OVERFITTING — AND SAMPLING IS HOW IT GETS IN</a:t>
            </a:r>
            <a:endParaRPr lang="en-US" sz="1300" dirty="0"/>
          </a:p>
        </p:txBody>
      </p:sp>
      <p:sp>
        <p:nvSpPr>
          <p:cNvPr id="4" name="Shape 2"/>
          <p:cNvSpPr/>
          <p:nvPr/>
        </p:nvSpPr>
        <p:spPr>
          <a:xfrm>
            <a:off x="320040" y="713232"/>
            <a:ext cx="8503920" cy="804672"/>
          </a:xfrm>
          <a:prstGeom prst="rect">
            <a:avLst/>
          </a:prstGeom>
          <a:solidFill>
            <a:srgbClr val="FFF4E6"/>
          </a:solidFill>
          <a:ln w="12700">
            <a:solidFill>
              <a:srgbClr val="E67E22"/>
            </a:solidFill>
            <a:prstDash val="solid"/>
          </a:ln>
        </p:spPr>
      </p:sp>
      <p:sp>
        <p:nvSpPr>
          <p:cNvPr id="5" name="Text 3"/>
          <p:cNvSpPr/>
          <p:nvPr/>
        </p:nvSpPr>
        <p:spPr>
          <a:xfrm>
            <a:off x="502920" y="822960"/>
            <a:ext cx="8229600" cy="594360"/>
          </a:xfrm>
          <a:prstGeom prst="rect">
            <a:avLst/>
          </a:prstGeom>
          <a:noFill/>
          <a:ln/>
        </p:spPr>
        <p:txBody>
          <a:bodyPr wrap="square" lIns="0" tIns="0" rIns="0" bIns="0" rtlCol="0" anchor="ctr"/>
          <a:lstStyle/>
          <a:p>
            <a:pPr indent="0" marL="0">
              <a:buNone/>
            </a:pPr>
            <a:r>
              <a:rPr lang="en-US" sz="1700" i="1" dirty="0">
                <a:solidFill>
                  <a:srgbClr val="8B4000"/>
                </a:solidFill>
                <a:latin typeface="Georgia" pitchFamily="34" charset="0"/>
                <a:ea typeface="Georgia" pitchFamily="34" charset="-122"/>
                <a:cs typeface="Georgia" pitchFamily="34" charset="-120"/>
              </a:rPr>
              <a:t>Your model is a time traveler who studied only the past — and forgot the future exists.</a:t>
            </a:r>
            <a:endParaRPr lang="en-US" sz="1700" dirty="0"/>
          </a:p>
        </p:txBody>
      </p:sp>
      <p:sp>
        <p:nvSpPr>
          <p:cNvPr id="6" name="Shape 4"/>
          <p:cNvSpPr/>
          <p:nvPr/>
        </p:nvSpPr>
        <p:spPr>
          <a:xfrm>
            <a:off x="320040" y="1645920"/>
            <a:ext cx="3977640" cy="324612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7000"/>
              </a:srgbClr>
            </a:outerShdw>
          </a:effectLst>
        </p:spPr>
      </p:sp>
      <p:sp>
        <p:nvSpPr>
          <p:cNvPr id="7" name="Text 5"/>
          <p:cNvSpPr/>
          <p:nvPr/>
        </p:nvSpPr>
        <p:spPr>
          <a:xfrm>
            <a:off x="457200" y="1737360"/>
            <a:ext cx="3703320" cy="411480"/>
          </a:xfrm>
          <a:prstGeom prst="rect">
            <a:avLst/>
          </a:prstGeom>
          <a:noFill/>
          <a:ln/>
        </p:spPr>
        <p:txBody>
          <a:bodyPr wrap="square" lIns="0" tIns="0" rIns="0" bIns="0" rtlCol="0" anchor="ctr"/>
          <a:lstStyle/>
          <a:p>
            <a:pPr indent="0" marL="0">
              <a:buNone/>
            </a:pPr>
            <a:r>
              <a:rPr lang="en-US" sz="1500" b="1" dirty="0">
                <a:solidFill>
                  <a:srgbClr val="1E2D4E"/>
                </a:solidFill>
                <a:latin typeface="Georgia" pitchFamily="34" charset="0"/>
                <a:ea typeface="Georgia" pitchFamily="34" charset="-122"/>
                <a:cs typeface="Georgia" pitchFamily="34" charset="-120"/>
              </a:rPr>
              <a:t>What Overfitting Is</a:t>
            </a:r>
            <a:endParaRPr lang="en-US" sz="1500" dirty="0"/>
          </a:p>
        </p:txBody>
      </p:sp>
      <p:sp>
        <p:nvSpPr>
          <p:cNvPr id="8" name="Text 6"/>
          <p:cNvSpPr/>
          <p:nvPr/>
        </p:nvSpPr>
        <p:spPr>
          <a:xfrm>
            <a:off x="457200" y="2240280"/>
            <a:ext cx="3703320" cy="365760"/>
          </a:xfrm>
          <a:prstGeom prst="rect">
            <a:avLst/>
          </a:prstGeom>
          <a:noFill/>
          <a:ln/>
        </p:spPr>
        <p:txBody>
          <a:bodyPr wrap="square" lIns="0" tIns="0" rIns="0" bIns="0" rtlCol="0" anchor="ctr"/>
          <a:lstStyle/>
          <a:p>
            <a:pPr indent="0" marL="0">
              <a:buNone/>
            </a:pPr>
            <a:r>
              <a:rPr lang="en-US" sz="1200" dirty="0">
                <a:solidFill>
                  <a:srgbClr val="1A2535"/>
                </a:solidFill>
              </a:rPr>
              <a:t>→  Model learns training data too well — including noise</a:t>
            </a:r>
            <a:endParaRPr lang="en-US" sz="1200" dirty="0"/>
          </a:p>
        </p:txBody>
      </p:sp>
      <p:sp>
        <p:nvSpPr>
          <p:cNvPr id="9" name="Text 7"/>
          <p:cNvSpPr/>
          <p:nvPr/>
        </p:nvSpPr>
        <p:spPr>
          <a:xfrm>
            <a:off x="457200" y="2679192"/>
            <a:ext cx="3703320" cy="365760"/>
          </a:xfrm>
          <a:prstGeom prst="rect">
            <a:avLst/>
          </a:prstGeom>
          <a:noFill/>
          <a:ln/>
        </p:spPr>
        <p:txBody>
          <a:bodyPr wrap="square" lIns="0" tIns="0" rIns="0" bIns="0" rtlCol="0" anchor="ctr"/>
          <a:lstStyle/>
          <a:p>
            <a:pPr indent="0" marL="0">
              <a:buNone/>
            </a:pPr>
            <a:r>
              <a:rPr lang="en-US" sz="1200" dirty="0">
                <a:solidFill>
                  <a:srgbClr val="1A2535"/>
                </a:solidFill>
              </a:rPr>
              <a:t>→  Memorizes quirks instead of learning real patterns</a:t>
            </a:r>
            <a:endParaRPr lang="en-US" sz="1200" dirty="0"/>
          </a:p>
        </p:txBody>
      </p:sp>
      <p:sp>
        <p:nvSpPr>
          <p:cNvPr id="10" name="Text 8"/>
          <p:cNvSpPr/>
          <p:nvPr/>
        </p:nvSpPr>
        <p:spPr>
          <a:xfrm>
            <a:off x="457200" y="3118104"/>
            <a:ext cx="3703320" cy="365760"/>
          </a:xfrm>
          <a:prstGeom prst="rect">
            <a:avLst/>
          </a:prstGeom>
          <a:noFill/>
          <a:ln/>
        </p:spPr>
        <p:txBody>
          <a:bodyPr wrap="square" lIns="0" tIns="0" rIns="0" bIns="0" rtlCol="0" anchor="ctr"/>
          <a:lstStyle/>
          <a:p>
            <a:pPr indent="0" marL="0">
              <a:buNone/>
            </a:pPr>
            <a:r>
              <a:rPr lang="en-US" sz="1200" dirty="0">
                <a:solidFill>
                  <a:srgbClr val="1A2535"/>
                </a:solidFill>
              </a:rPr>
              <a:t>→  Looks amazing in testing, falls apart in production</a:t>
            </a:r>
            <a:endParaRPr lang="en-US" sz="1200" dirty="0"/>
          </a:p>
        </p:txBody>
      </p:sp>
      <p:sp>
        <p:nvSpPr>
          <p:cNvPr id="11" name="Text 9"/>
          <p:cNvSpPr/>
          <p:nvPr/>
        </p:nvSpPr>
        <p:spPr>
          <a:xfrm>
            <a:off x="457200" y="3557016"/>
            <a:ext cx="3703320" cy="365760"/>
          </a:xfrm>
          <a:prstGeom prst="rect">
            <a:avLst/>
          </a:prstGeom>
          <a:noFill/>
          <a:ln/>
        </p:spPr>
        <p:txBody>
          <a:bodyPr wrap="square" lIns="0" tIns="0" rIns="0" bIns="0" rtlCol="0" anchor="ctr"/>
          <a:lstStyle/>
          <a:p>
            <a:pPr indent="0" marL="0">
              <a:buNone/>
            </a:pPr>
            <a:r>
              <a:rPr lang="en-US" sz="1200" dirty="0">
                <a:solidFill>
                  <a:srgbClr val="1A2535"/>
                </a:solidFill>
              </a:rPr>
              <a:t>→  Classic: 98% test accuracy, 60% production accuracy</a:t>
            </a:r>
            <a:endParaRPr lang="en-US" sz="1200" dirty="0"/>
          </a:p>
        </p:txBody>
      </p:sp>
      <p:sp>
        <p:nvSpPr>
          <p:cNvPr id="12" name="Shape 10"/>
          <p:cNvSpPr/>
          <p:nvPr/>
        </p:nvSpPr>
        <p:spPr>
          <a:xfrm>
            <a:off x="457200" y="4041648"/>
            <a:ext cx="3657600" cy="36576"/>
          </a:xfrm>
          <a:prstGeom prst="rect">
            <a:avLst/>
          </a:prstGeom>
          <a:solidFill>
            <a:srgbClr val="E67E22"/>
          </a:solidFill>
          <a:ln w="12700">
            <a:solidFill>
              <a:srgbClr val="E67E22"/>
            </a:solidFill>
            <a:prstDash val="solid"/>
          </a:ln>
        </p:spPr>
      </p:sp>
      <p:sp>
        <p:nvSpPr>
          <p:cNvPr id="13" name="Text 11"/>
          <p:cNvSpPr/>
          <p:nvPr/>
        </p:nvSpPr>
        <p:spPr>
          <a:xfrm>
            <a:off x="457200" y="4114800"/>
            <a:ext cx="3703320" cy="274320"/>
          </a:xfrm>
          <a:prstGeom prst="rect">
            <a:avLst/>
          </a:prstGeom>
          <a:noFill/>
          <a:ln/>
        </p:spPr>
        <p:txBody>
          <a:bodyPr wrap="square" lIns="0" tIns="0" rIns="0" bIns="0" rtlCol="0" anchor="ctr"/>
          <a:lstStyle/>
          <a:p>
            <a:pPr indent="0" marL="0">
              <a:buNone/>
            </a:pPr>
            <a:r>
              <a:rPr lang="en-US" sz="1200" b="1" dirty="0">
                <a:solidFill>
                  <a:srgbClr val="8B4000"/>
                </a:solidFill>
              </a:rPr>
              <a:t>Sampling is how overfitting gets in the door:</a:t>
            </a:r>
            <a:endParaRPr lang="en-US" sz="1200" dirty="0"/>
          </a:p>
        </p:txBody>
      </p:sp>
      <p:sp>
        <p:nvSpPr>
          <p:cNvPr id="14" name="Text 12"/>
          <p:cNvSpPr/>
          <p:nvPr/>
        </p:nvSpPr>
        <p:spPr>
          <a:xfrm>
            <a:off x="457200" y="4425696"/>
            <a:ext cx="3703320" cy="237744"/>
          </a:xfrm>
          <a:prstGeom prst="rect">
            <a:avLst/>
          </a:prstGeom>
          <a:noFill/>
          <a:ln/>
        </p:spPr>
        <p:txBody>
          <a:bodyPr wrap="square" lIns="0" tIns="0" rIns="0" bIns="0" rtlCol="0" anchor="ctr"/>
          <a:lstStyle/>
          <a:p>
            <a:pPr indent="0" marL="0">
              <a:buNone/>
            </a:pPr>
            <a:r>
              <a:rPr lang="en-US" sz="1050" i="1" dirty="0">
                <a:solidFill>
                  <a:srgbClr val="4A5568"/>
                </a:solidFill>
              </a:rPr>
              <a:t>  Random splits leak future data into training (use time-based splits)</a:t>
            </a:r>
            <a:endParaRPr lang="en-US" sz="1050" dirty="0"/>
          </a:p>
        </p:txBody>
      </p:sp>
      <p:sp>
        <p:nvSpPr>
          <p:cNvPr id="15" name="Text 13"/>
          <p:cNvSpPr/>
          <p:nvPr/>
        </p:nvSpPr>
        <p:spPr>
          <a:xfrm>
            <a:off x="457200" y="4681728"/>
            <a:ext cx="3703320" cy="237744"/>
          </a:xfrm>
          <a:prstGeom prst="rect">
            <a:avLst/>
          </a:prstGeom>
          <a:noFill/>
          <a:ln/>
        </p:spPr>
        <p:txBody>
          <a:bodyPr wrap="square" lIns="0" tIns="0" rIns="0" bIns="0" rtlCol="0" anchor="ctr"/>
          <a:lstStyle/>
          <a:p>
            <a:pPr indent="0" marL="0">
              <a:buNone/>
            </a:pPr>
            <a:r>
              <a:rPr lang="en-US" sz="1050" i="1" dirty="0">
                <a:solidFill>
                  <a:srgbClr val="4A5568"/>
                </a:solidFill>
              </a:rPr>
              <a:t>  Class imbalance: 0.1% fraud means model rarely sees fraud</a:t>
            </a:r>
            <a:endParaRPr lang="en-US" sz="1050" dirty="0"/>
          </a:p>
        </p:txBody>
      </p:sp>
      <p:sp>
        <p:nvSpPr>
          <p:cNvPr id="16" name="Text 14"/>
          <p:cNvSpPr/>
          <p:nvPr/>
        </p:nvSpPr>
        <p:spPr>
          <a:xfrm>
            <a:off x="457200" y="4937760"/>
            <a:ext cx="3703320" cy="237744"/>
          </a:xfrm>
          <a:prstGeom prst="rect">
            <a:avLst/>
          </a:prstGeom>
          <a:noFill/>
          <a:ln/>
        </p:spPr>
        <p:txBody>
          <a:bodyPr wrap="square" lIns="0" tIns="0" rIns="0" bIns="0" rtlCol="0" anchor="ctr"/>
          <a:lstStyle/>
          <a:p>
            <a:pPr indent="0" marL="0">
              <a:buNone/>
            </a:pPr>
            <a:r>
              <a:rPr lang="en-US" sz="1050" i="1" dirty="0">
                <a:solidFill>
                  <a:srgbClr val="4A5568"/>
                </a:solidFill>
              </a:rPr>
              <a:t>  Fix with SMOTE, undersampling, or stratified sampling</a:t>
            </a:r>
            <a:endParaRPr lang="en-US" sz="1050" dirty="0"/>
          </a:p>
        </p:txBody>
      </p:sp>
      <p:sp>
        <p:nvSpPr>
          <p:cNvPr id="17" name="Shape 15"/>
          <p:cNvSpPr/>
          <p:nvPr/>
        </p:nvSpPr>
        <p:spPr>
          <a:xfrm>
            <a:off x="4754880" y="1645920"/>
            <a:ext cx="4069080" cy="3246120"/>
          </a:xfrm>
          <a:prstGeom prst="rect">
            <a:avLst/>
          </a:prstGeom>
          <a:solidFill>
            <a:srgbClr val="FFFDF0"/>
          </a:solidFill>
          <a:ln w="12700">
            <a:solidFill>
              <a:srgbClr val="E67E22"/>
            </a:solidFill>
            <a:prstDash val="solid"/>
          </a:ln>
          <a:effectLst>
            <a:outerShdw sx="100000" sy="100000" kx="0" ky="0" algn="bl" rotWithShape="0" blurRad="63500" dist="25400" dir="8100000">
              <a:srgbClr val="000000">
                <a:alpha val="7000"/>
              </a:srgbClr>
            </a:outerShdw>
          </a:effectLst>
        </p:spPr>
      </p:sp>
      <p:sp>
        <p:nvSpPr>
          <p:cNvPr id="18" name="Text 16"/>
          <p:cNvSpPr/>
          <p:nvPr/>
        </p:nvSpPr>
        <p:spPr>
          <a:xfrm>
            <a:off x="4892040" y="1737360"/>
            <a:ext cx="3749040" cy="411480"/>
          </a:xfrm>
          <a:prstGeom prst="rect">
            <a:avLst/>
          </a:prstGeom>
          <a:noFill/>
          <a:ln/>
        </p:spPr>
        <p:txBody>
          <a:bodyPr wrap="square" lIns="0" tIns="0" rIns="0" bIns="0" rtlCol="0" anchor="ctr"/>
          <a:lstStyle/>
          <a:p>
            <a:pPr indent="0" marL="0">
              <a:buNone/>
            </a:pPr>
            <a:r>
              <a:rPr lang="en-US" sz="1500" b="1" dirty="0">
                <a:solidFill>
                  <a:srgbClr val="8B4000"/>
                </a:solidFill>
                <a:latin typeface="Georgia" pitchFamily="34" charset="0"/>
                <a:ea typeface="Georgia" pitchFamily="34" charset="-122"/>
                <a:cs typeface="Georgia" pitchFamily="34" charset="-120"/>
              </a:rPr>
              <a:t>Real Fintech Example</a:t>
            </a:r>
            <a:endParaRPr lang="en-US" sz="1500" dirty="0"/>
          </a:p>
        </p:txBody>
      </p:sp>
      <p:sp>
        <p:nvSpPr>
          <p:cNvPr id="19" name="Text 17"/>
          <p:cNvSpPr/>
          <p:nvPr/>
        </p:nvSpPr>
        <p:spPr>
          <a:xfrm>
            <a:off x="4892040" y="2240280"/>
            <a:ext cx="3794760" cy="594360"/>
          </a:xfrm>
          <a:prstGeom prst="rect">
            <a:avLst/>
          </a:prstGeom>
          <a:noFill/>
          <a:ln/>
        </p:spPr>
        <p:txBody>
          <a:bodyPr wrap="square" lIns="0" tIns="0" rIns="0" bIns="0" rtlCol="0" anchor="ctr"/>
          <a:lstStyle/>
          <a:p>
            <a:pPr indent="0" marL="0">
              <a:buNone/>
            </a:pPr>
            <a:r>
              <a:rPr lang="en-US" sz="1250" dirty="0">
                <a:solidFill>
                  <a:srgbClr val="1A2535"/>
                </a:solidFill>
              </a:rPr>
              <a:t>A fraud model trained on 2019–2022 data learned to flag international wire transfers as suspicious.</a:t>
            </a:r>
            <a:endParaRPr lang="en-US" sz="1250" dirty="0"/>
          </a:p>
        </p:txBody>
      </p:sp>
      <p:sp>
        <p:nvSpPr>
          <p:cNvPr id="20" name="Text 18"/>
          <p:cNvSpPr/>
          <p:nvPr/>
        </p:nvSpPr>
        <p:spPr>
          <a:xfrm>
            <a:off x="4892040" y="2898648"/>
            <a:ext cx="3794760" cy="594360"/>
          </a:xfrm>
          <a:prstGeom prst="rect">
            <a:avLst/>
          </a:prstGeom>
          <a:noFill/>
          <a:ln/>
        </p:spPr>
        <p:txBody>
          <a:bodyPr wrap="square" lIns="0" tIns="0" rIns="0" bIns="0" rtlCol="0" anchor="ctr"/>
          <a:lstStyle/>
          <a:p>
            <a:pPr indent="0" marL="0">
              <a:buNone/>
            </a:pPr>
            <a:r>
              <a:rPr lang="en-US" sz="1250" dirty="0">
                <a:solidFill>
                  <a:srgbClr val="1A2535"/>
                </a:solidFill>
              </a:rPr>
              <a:t>Then COVID happened. Remote work happened. International commerce patterns shifted dramatically.</a:t>
            </a:r>
            <a:endParaRPr lang="en-US" sz="1250" dirty="0"/>
          </a:p>
        </p:txBody>
      </p:sp>
      <p:sp>
        <p:nvSpPr>
          <p:cNvPr id="21" name="Text 19"/>
          <p:cNvSpPr/>
          <p:nvPr/>
        </p:nvSpPr>
        <p:spPr>
          <a:xfrm>
            <a:off x="4892040" y="3557016"/>
            <a:ext cx="3794760" cy="594360"/>
          </a:xfrm>
          <a:prstGeom prst="rect">
            <a:avLst/>
          </a:prstGeom>
          <a:noFill/>
          <a:ln/>
        </p:spPr>
        <p:txBody>
          <a:bodyPr wrap="square" lIns="0" tIns="0" rIns="0" bIns="0" rtlCol="0" anchor="ctr"/>
          <a:lstStyle/>
          <a:p>
            <a:pPr indent="0" marL="0">
              <a:buNone/>
            </a:pPr>
            <a:r>
              <a:rPr lang="en-US" sz="1250" b="1" dirty="0">
                <a:solidFill>
                  <a:srgbClr val="1A2535"/>
                </a:solidFill>
              </a:rPr>
              <a:t>The model had memorized a world that no longer existed.</a:t>
            </a:r>
            <a:endParaRPr lang="en-US" sz="1250" dirty="0"/>
          </a:p>
        </p:txBody>
      </p:sp>
      <p:sp>
        <p:nvSpPr>
          <p:cNvPr id="22" name="Text 20"/>
          <p:cNvSpPr/>
          <p:nvPr/>
        </p:nvSpPr>
        <p:spPr>
          <a:xfrm>
            <a:off x="4892040" y="4215384"/>
            <a:ext cx="3794760" cy="594360"/>
          </a:xfrm>
          <a:prstGeom prst="rect">
            <a:avLst/>
          </a:prstGeom>
          <a:noFill/>
          <a:ln/>
        </p:spPr>
        <p:txBody>
          <a:bodyPr wrap="square" lIns="0" tIns="0" rIns="0" bIns="0" rtlCol="0" anchor="ctr"/>
          <a:lstStyle/>
          <a:p>
            <a:pPr indent="0" marL="0">
              <a:buNone/>
            </a:pPr>
            <a:r>
              <a:rPr lang="en-US" sz="1250" dirty="0">
                <a:solidFill>
                  <a:srgbClr val="1A2535"/>
                </a:solidFill>
              </a:rPr>
              <a:t>Retrained with time-based splits and stratified sampling — 40% fewer false positives.</a:t>
            </a:r>
            <a:endParaRPr lang="en-US" sz="1250" dirty="0"/>
          </a:p>
        </p:txBody>
      </p:sp>
      <p:sp>
        <p:nvSpPr>
          <p:cNvPr id="23" name="Text 21"/>
          <p:cNvSpPr/>
          <p:nvPr/>
        </p:nvSpPr>
        <p:spPr>
          <a:xfrm>
            <a:off x="457200" y="4773168"/>
            <a:ext cx="8229600" cy="256032"/>
          </a:xfrm>
          <a:prstGeom prst="rect">
            <a:avLst/>
          </a:prstGeom>
          <a:noFill/>
          <a:ln/>
        </p:spPr>
        <p:txBody>
          <a:bodyPr wrap="square" lIns="0" tIns="0" rIns="0" bIns="0" rtlCol="0" anchor="ctr"/>
          <a:lstStyle/>
          <a:p>
            <a:pPr algn="ctr" indent="0" marL="0">
              <a:buNone/>
            </a:pPr>
            <a:r>
              <a:rPr lang="en-US" sz="1150" i="1" dirty="0">
                <a:solidFill>
                  <a:srgbClr val="028090"/>
                </a:solidFill>
              </a:rPr>
              <a:t>Fix: time-based test splits. Retrain regularly. Watch for drift. Sample correctly.</a:t>
            </a:r>
            <a:endParaRPr lang="en-US" sz="1150" dirty="0"/>
          </a:p>
        </p:txBody>
      </p:sp>
      <p:sp>
        <p:nvSpPr>
          <p:cNvPr id="25" name="Text 22"/>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400070"/>
          </a:solidFill>
          <a:ln w="12700">
            <a:solidFill>
              <a:srgbClr val="400070"/>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FAILURE MODE #3: DATA LEAKAGE</a:t>
            </a:r>
            <a:endParaRPr lang="en-US" sz="1300" dirty="0"/>
          </a:p>
        </p:txBody>
      </p:sp>
      <p:sp>
        <p:nvSpPr>
          <p:cNvPr id="4" name="Text 2"/>
          <p:cNvSpPr/>
          <p:nvPr/>
        </p:nvSpPr>
        <p:spPr>
          <a:xfrm>
            <a:off x="457200" y="713232"/>
            <a:ext cx="8229600" cy="411480"/>
          </a:xfrm>
          <a:prstGeom prst="rect">
            <a:avLst/>
          </a:prstGeom>
          <a:noFill/>
          <a:ln/>
        </p:spPr>
        <p:txBody>
          <a:bodyPr wrap="square" lIns="0" tIns="0" rIns="0" bIns="0" rtlCol="0" anchor="ctr"/>
          <a:lstStyle/>
          <a:p>
            <a:pPr indent="0" marL="0">
              <a:buNone/>
            </a:pPr>
            <a:r>
              <a:rPr lang="en-US" sz="1600" i="1" dirty="0">
                <a:solidFill>
                  <a:srgbClr val="1A2535"/>
                </a:solidFill>
                <a:latin typeface="Georgia" pitchFamily="34" charset="0"/>
                <a:ea typeface="Georgia" pitchFamily="34" charset="-122"/>
                <a:cs typeface="Georgia" pitchFamily="34" charset="-120"/>
              </a:rPr>
              <a:t>The sneakiest failure. Everything looks perfect... because you accidentally cheated.</a:t>
            </a:r>
            <a:endParaRPr lang="en-US" sz="1600" dirty="0"/>
          </a:p>
        </p:txBody>
      </p:sp>
      <p:sp>
        <p:nvSpPr>
          <p:cNvPr id="5" name="Shape 3"/>
          <p:cNvSpPr/>
          <p:nvPr/>
        </p:nvSpPr>
        <p:spPr>
          <a:xfrm>
            <a:off x="320040" y="1234440"/>
            <a:ext cx="8503920" cy="2286000"/>
          </a:xfrm>
          <a:prstGeom prst="rect">
            <a:avLst/>
          </a:prstGeom>
          <a:solidFill>
            <a:srgbClr val="F8F0FF"/>
          </a:solidFill>
          <a:ln w="12700">
            <a:solidFill>
              <a:srgbClr val="9B59B6"/>
            </a:solidFill>
            <a:prstDash val="solid"/>
          </a:ln>
          <a:effectLst>
            <a:outerShdw sx="100000" sy="100000" kx="0" ky="0" algn="bl" rotWithShape="0" blurRad="63500" dist="25400" dir="8100000">
              <a:srgbClr val="000000">
                <a:alpha val="7000"/>
              </a:srgbClr>
            </a:outerShdw>
          </a:effectLst>
        </p:spPr>
      </p:sp>
      <p:sp>
        <p:nvSpPr>
          <p:cNvPr id="6" name="Text 4"/>
          <p:cNvSpPr/>
          <p:nvPr/>
        </p:nvSpPr>
        <p:spPr>
          <a:xfrm>
            <a:off x="502920" y="1325880"/>
            <a:ext cx="8229600" cy="420624"/>
          </a:xfrm>
          <a:prstGeom prst="rect">
            <a:avLst/>
          </a:prstGeom>
          <a:noFill/>
          <a:ln/>
        </p:spPr>
        <p:txBody>
          <a:bodyPr wrap="square" lIns="0" tIns="0" rIns="0" bIns="0" rtlCol="0" anchor="ctr"/>
          <a:lstStyle/>
          <a:p>
            <a:pPr indent="0" marL="0">
              <a:buNone/>
            </a:pPr>
            <a:r>
              <a:rPr lang="en-US" sz="1600" b="1" dirty="0">
                <a:solidFill>
                  <a:srgbClr val="5B2C8D"/>
                </a:solidFill>
              </a:rPr>
              <a:t>The Classic Banking Example</a:t>
            </a:r>
            <a:endParaRPr lang="en-US" sz="1600" dirty="0"/>
          </a:p>
        </p:txBody>
      </p:sp>
      <p:sp>
        <p:nvSpPr>
          <p:cNvPr id="7" name="Text 5"/>
          <p:cNvSpPr/>
          <p:nvPr/>
        </p:nvSpPr>
        <p:spPr>
          <a:xfrm>
            <a:off x="502920" y="1828800"/>
            <a:ext cx="8229600" cy="301752"/>
          </a:xfrm>
          <a:prstGeom prst="rect">
            <a:avLst/>
          </a:prstGeom>
          <a:noFill/>
          <a:ln/>
        </p:spPr>
        <p:txBody>
          <a:bodyPr wrap="square" lIns="0" tIns="0" rIns="0" bIns="0" rtlCol="0" anchor="ctr"/>
          <a:lstStyle/>
          <a:p>
            <a:pPr indent="0" marL="0">
              <a:buNone/>
            </a:pPr>
            <a:r>
              <a:rPr lang="en-US" sz="1250" dirty="0">
                <a:solidFill>
                  <a:srgbClr val="1A2535"/>
                </a:solidFill>
              </a:rPr>
              <a:t>You want to predict which customers will default on a loan.</a:t>
            </a:r>
            <a:endParaRPr lang="en-US" sz="1250" dirty="0"/>
          </a:p>
        </p:txBody>
      </p:sp>
      <p:sp>
        <p:nvSpPr>
          <p:cNvPr id="8" name="Text 6"/>
          <p:cNvSpPr/>
          <p:nvPr/>
        </p:nvSpPr>
        <p:spPr>
          <a:xfrm>
            <a:off x="502920" y="2176272"/>
            <a:ext cx="8229600" cy="301752"/>
          </a:xfrm>
          <a:prstGeom prst="rect">
            <a:avLst/>
          </a:prstGeom>
          <a:noFill/>
          <a:ln/>
        </p:spPr>
        <p:txBody>
          <a:bodyPr wrap="square" lIns="0" tIns="0" rIns="0" bIns="0" rtlCol="0" anchor="ctr"/>
          <a:lstStyle/>
          <a:p>
            <a:pPr indent="0" marL="0">
              <a:buNone/>
            </a:pPr>
            <a:r>
              <a:rPr lang="en-US" sz="1250" dirty="0">
                <a:solidFill>
                  <a:srgbClr val="1A2535"/>
                </a:solidFill>
              </a:rPr>
              <a:t>You include "account_closed_date" as a feature in your model.</a:t>
            </a:r>
            <a:endParaRPr lang="en-US" sz="1250" dirty="0"/>
          </a:p>
        </p:txBody>
      </p:sp>
      <p:sp>
        <p:nvSpPr>
          <p:cNvPr id="9" name="Text 7"/>
          <p:cNvSpPr/>
          <p:nvPr/>
        </p:nvSpPr>
        <p:spPr>
          <a:xfrm>
            <a:off x="502920" y="2523744"/>
            <a:ext cx="8229600" cy="301752"/>
          </a:xfrm>
          <a:prstGeom prst="rect">
            <a:avLst/>
          </a:prstGeom>
          <a:noFill/>
          <a:ln/>
        </p:spPr>
        <p:txBody>
          <a:bodyPr wrap="square" lIns="0" tIns="0" rIns="0" bIns="0" rtlCol="0" anchor="ctr"/>
          <a:lstStyle/>
          <a:p>
            <a:pPr indent="0" marL="0">
              <a:buNone/>
            </a:pPr>
            <a:r>
              <a:rPr lang="en-US" sz="1250" dirty="0">
                <a:solidFill>
                  <a:srgbClr val="1A2535"/>
                </a:solidFill>
              </a:rPr>
              <a:t>Your model gets 99% accuracy! The team celebrates.</a:t>
            </a:r>
            <a:endParaRPr lang="en-US" sz="1250" dirty="0"/>
          </a:p>
        </p:txBody>
      </p:sp>
      <p:sp>
        <p:nvSpPr>
          <p:cNvPr id="10" name="Text 8"/>
          <p:cNvSpPr/>
          <p:nvPr/>
        </p:nvSpPr>
        <p:spPr>
          <a:xfrm>
            <a:off x="502920" y="2871216"/>
            <a:ext cx="8229600" cy="301752"/>
          </a:xfrm>
          <a:prstGeom prst="rect">
            <a:avLst/>
          </a:prstGeom>
          <a:noFill/>
          <a:ln/>
        </p:spPr>
        <p:txBody>
          <a:bodyPr wrap="square" lIns="0" tIns="0" rIns="0" bIns="0" rtlCol="0" anchor="ctr"/>
          <a:lstStyle/>
          <a:p>
            <a:pPr indent="0" marL="0">
              <a:buNone/>
            </a:pPr>
            <a:r>
              <a:rPr lang="en-US" sz="1250" b="1" dirty="0">
                <a:solidFill>
                  <a:srgbClr val="1A2535"/>
                </a:solidFill>
              </a:rPr>
              <a:t>Then you realize: accounts are closed BECAUSE of default. You used the outcome to predict the outcome.</a:t>
            </a:r>
            <a:endParaRPr lang="en-US" sz="1250" dirty="0"/>
          </a:p>
        </p:txBody>
      </p:sp>
      <p:sp>
        <p:nvSpPr>
          <p:cNvPr id="11" name="Text 9"/>
          <p:cNvSpPr/>
          <p:nvPr/>
        </p:nvSpPr>
        <p:spPr>
          <a:xfrm>
            <a:off x="457200" y="3639312"/>
            <a:ext cx="8229600" cy="365760"/>
          </a:xfrm>
          <a:prstGeom prst="rect">
            <a:avLst/>
          </a:prstGeom>
          <a:noFill/>
          <a:ln/>
        </p:spPr>
        <p:txBody>
          <a:bodyPr wrap="square" lIns="0" tIns="0" rIns="0" bIns="0" rtlCol="0" anchor="ctr"/>
          <a:lstStyle/>
          <a:p>
            <a:pPr indent="0" marL="0">
              <a:buNone/>
            </a:pPr>
            <a:r>
              <a:rPr lang="en-US" sz="1500" b="1" dirty="0">
                <a:solidFill>
                  <a:srgbClr val="1E2D4E"/>
                </a:solidFill>
              </a:rPr>
              <a:t>Common sources of leakage:</a:t>
            </a:r>
            <a:endParaRPr lang="en-US" sz="1500" dirty="0"/>
          </a:p>
        </p:txBody>
      </p:sp>
      <p:sp>
        <p:nvSpPr>
          <p:cNvPr id="12" name="Shape 10"/>
          <p:cNvSpPr/>
          <p:nvPr/>
        </p:nvSpPr>
        <p:spPr>
          <a:xfrm>
            <a:off x="320040" y="4096512"/>
            <a:ext cx="2697480" cy="868680"/>
          </a:xfrm>
          <a:prstGeom prst="rect">
            <a:avLst/>
          </a:prstGeom>
          <a:solidFill>
            <a:srgbClr val="F3E8FD"/>
          </a:solidFill>
          <a:ln w="12700">
            <a:solidFill>
              <a:srgbClr val="C39BD3"/>
            </a:solidFill>
            <a:prstDash val="solid"/>
          </a:ln>
        </p:spPr>
      </p:sp>
      <p:sp>
        <p:nvSpPr>
          <p:cNvPr id="13" name="Text 11"/>
          <p:cNvSpPr/>
          <p:nvPr/>
        </p:nvSpPr>
        <p:spPr>
          <a:xfrm>
            <a:off x="438912" y="4142232"/>
            <a:ext cx="2450592" cy="347472"/>
          </a:xfrm>
          <a:prstGeom prst="rect">
            <a:avLst/>
          </a:prstGeom>
          <a:noFill/>
          <a:ln/>
        </p:spPr>
        <p:txBody>
          <a:bodyPr wrap="square" lIns="0" tIns="0" rIns="0" bIns="0" rtlCol="0" anchor="ctr"/>
          <a:lstStyle/>
          <a:p>
            <a:pPr indent="0" marL="0">
              <a:buNone/>
            </a:pPr>
            <a:r>
              <a:rPr lang="en-US" sz="1250" b="1" dirty="0">
                <a:solidFill>
                  <a:srgbClr val="5B2C8D"/>
                </a:solidFill>
              </a:rPr>
              <a:t>Time Leakage</a:t>
            </a:r>
            <a:endParaRPr lang="en-US" sz="1250" dirty="0"/>
          </a:p>
        </p:txBody>
      </p:sp>
      <p:sp>
        <p:nvSpPr>
          <p:cNvPr id="14" name="Text 12"/>
          <p:cNvSpPr/>
          <p:nvPr/>
        </p:nvSpPr>
        <p:spPr>
          <a:xfrm>
            <a:off x="438912" y="4480560"/>
            <a:ext cx="2450592" cy="347472"/>
          </a:xfrm>
          <a:prstGeom prst="rect">
            <a:avLst/>
          </a:prstGeom>
          <a:noFill/>
          <a:ln/>
        </p:spPr>
        <p:txBody>
          <a:bodyPr wrap="square" lIns="0" tIns="0" rIns="0" bIns="0" rtlCol="0" anchor="ctr"/>
          <a:lstStyle/>
          <a:p>
            <a:pPr indent="0" marL="0">
              <a:buNone/>
            </a:pPr>
            <a:r>
              <a:rPr lang="en-US" sz="1100" i="1" dirty="0">
                <a:solidFill>
                  <a:srgbClr val="4A5568"/>
                </a:solidFill>
              </a:rPr>
              <a:t>Training on future data to predict the past</a:t>
            </a:r>
            <a:endParaRPr lang="en-US" sz="1100" dirty="0"/>
          </a:p>
        </p:txBody>
      </p:sp>
      <p:sp>
        <p:nvSpPr>
          <p:cNvPr id="15" name="Shape 13"/>
          <p:cNvSpPr/>
          <p:nvPr/>
        </p:nvSpPr>
        <p:spPr>
          <a:xfrm>
            <a:off x="3264408" y="4096512"/>
            <a:ext cx="2697480" cy="868680"/>
          </a:xfrm>
          <a:prstGeom prst="rect">
            <a:avLst/>
          </a:prstGeom>
          <a:solidFill>
            <a:srgbClr val="F3E8FD"/>
          </a:solidFill>
          <a:ln w="12700">
            <a:solidFill>
              <a:srgbClr val="C39BD3"/>
            </a:solidFill>
            <a:prstDash val="solid"/>
          </a:ln>
        </p:spPr>
      </p:sp>
      <p:sp>
        <p:nvSpPr>
          <p:cNvPr id="16" name="Text 14"/>
          <p:cNvSpPr/>
          <p:nvPr/>
        </p:nvSpPr>
        <p:spPr>
          <a:xfrm>
            <a:off x="3383280" y="4142232"/>
            <a:ext cx="2450592" cy="347472"/>
          </a:xfrm>
          <a:prstGeom prst="rect">
            <a:avLst/>
          </a:prstGeom>
          <a:noFill/>
          <a:ln/>
        </p:spPr>
        <p:txBody>
          <a:bodyPr wrap="square" lIns="0" tIns="0" rIns="0" bIns="0" rtlCol="0" anchor="ctr"/>
          <a:lstStyle/>
          <a:p>
            <a:pPr indent="0" marL="0">
              <a:buNone/>
            </a:pPr>
            <a:r>
              <a:rPr lang="en-US" sz="1250" b="1" dirty="0">
                <a:solidFill>
                  <a:srgbClr val="5B2C8D"/>
                </a:solidFill>
              </a:rPr>
              <a:t>Target Leakage</a:t>
            </a:r>
            <a:endParaRPr lang="en-US" sz="1250" dirty="0"/>
          </a:p>
        </p:txBody>
      </p:sp>
      <p:sp>
        <p:nvSpPr>
          <p:cNvPr id="17" name="Text 15"/>
          <p:cNvSpPr/>
          <p:nvPr/>
        </p:nvSpPr>
        <p:spPr>
          <a:xfrm>
            <a:off x="3383280" y="4480560"/>
            <a:ext cx="2450592" cy="347472"/>
          </a:xfrm>
          <a:prstGeom prst="rect">
            <a:avLst/>
          </a:prstGeom>
          <a:noFill/>
          <a:ln/>
        </p:spPr>
        <p:txBody>
          <a:bodyPr wrap="square" lIns="0" tIns="0" rIns="0" bIns="0" rtlCol="0" anchor="ctr"/>
          <a:lstStyle/>
          <a:p>
            <a:pPr indent="0" marL="0">
              <a:buNone/>
            </a:pPr>
            <a:r>
              <a:rPr lang="en-US" sz="1100" i="1" dirty="0">
                <a:solidFill>
                  <a:srgbClr val="4A5568"/>
                </a:solidFill>
              </a:rPr>
              <a:t>A feature that implicitly encodes the answer</a:t>
            </a:r>
            <a:endParaRPr lang="en-US" sz="1100" dirty="0"/>
          </a:p>
        </p:txBody>
      </p:sp>
      <p:sp>
        <p:nvSpPr>
          <p:cNvPr id="18" name="Shape 16"/>
          <p:cNvSpPr/>
          <p:nvPr/>
        </p:nvSpPr>
        <p:spPr>
          <a:xfrm>
            <a:off x="6208776" y="4096512"/>
            <a:ext cx="2697480" cy="868680"/>
          </a:xfrm>
          <a:prstGeom prst="rect">
            <a:avLst/>
          </a:prstGeom>
          <a:solidFill>
            <a:srgbClr val="F3E8FD"/>
          </a:solidFill>
          <a:ln w="12700">
            <a:solidFill>
              <a:srgbClr val="C39BD3"/>
            </a:solidFill>
            <a:prstDash val="solid"/>
          </a:ln>
        </p:spPr>
      </p:sp>
      <p:sp>
        <p:nvSpPr>
          <p:cNvPr id="19" name="Text 17"/>
          <p:cNvSpPr/>
          <p:nvPr/>
        </p:nvSpPr>
        <p:spPr>
          <a:xfrm>
            <a:off x="6327648" y="4142232"/>
            <a:ext cx="2450592" cy="347472"/>
          </a:xfrm>
          <a:prstGeom prst="rect">
            <a:avLst/>
          </a:prstGeom>
          <a:noFill/>
          <a:ln/>
        </p:spPr>
        <p:txBody>
          <a:bodyPr wrap="square" lIns="0" tIns="0" rIns="0" bIns="0" rtlCol="0" anchor="ctr"/>
          <a:lstStyle/>
          <a:p>
            <a:pPr indent="0" marL="0">
              <a:buNone/>
            </a:pPr>
            <a:r>
              <a:rPr lang="en-US" sz="1250" b="1" dirty="0">
                <a:solidFill>
                  <a:srgbClr val="5B2C8D"/>
                </a:solidFill>
              </a:rPr>
              <a:t>Test Contamination</a:t>
            </a:r>
            <a:endParaRPr lang="en-US" sz="1250" dirty="0"/>
          </a:p>
        </p:txBody>
      </p:sp>
      <p:sp>
        <p:nvSpPr>
          <p:cNvPr id="20" name="Text 18"/>
          <p:cNvSpPr/>
          <p:nvPr/>
        </p:nvSpPr>
        <p:spPr>
          <a:xfrm>
            <a:off x="6327648" y="4480560"/>
            <a:ext cx="2450592" cy="347472"/>
          </a:xfrm>
          <a:prstGeom prst="rect">
            <a:avLst/>
          </a:prstGeom>
          <a:noFill/>
          <a:ln/>
        </p:spPr>
        <p:txBody>
          <a:bodyPr wrap="square" lIns="0" tIns="0" rIns="0" bIns="0" rtlCol="0" anchor="ctr"/>
          <a:lstStyle/>
          <a:p>
            <a:pPr indent="0" marL="0">
              <a:buNone/>
            </a:pPr>
            <a:r>
              <a:rPr lang="en-US" sz="1100" i="1" dirty="0">
                <a:solidFill>
                  <a:srgbClr val="4A5568"/>
                </a:solidFill>
              </a:rPr>
              <a:t>Your 'unseen' test set influenced training</a:t>
            </a:r>
            <a:endParaRPr lang="en-US" sz="1100" dirty="0"/>
          </a:p>
        </p:txBody>
      </p:sp>
      <p:sp>
        <p:nvSpPr>
          <p:cNvPr id="22" name="Text 1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A5E3F"/>
          </a:solidFill>
          <a:ln w="12700">
            <a:solidFill>
              <a:srgbClr val="0A5E3F"/>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WHAT GOOD EVALUATION LOOKS LIKE</a:t>
            </a:r>
            <a:endParaRPr lang="en-US" sz="1300" dirty="0"/>
          </a:p>
        </p:txBody>
      </p:sp>
      <p:sp>
        <p:nvSpPr>
          <p:cNvPr id="4" name="Shape 2"/>
          <p:cNvSpPr/>
          <p:nvPr/>
        </p:nvSpPr>
        <p:spPr>
          <a:xfrm>
            <a:off x="320040" y="731520"/>
            <a:ext cx="8503920" cy="886968"/>
          </a:xfrm>
          <a:prstGeom prst="rect">
            <a:avLst/>
          </a:prstGeom>
          <a:solidFill>
            <a:srgbClr val="1A3A30"/>
          </a:solidFill>
          <a:ln w="12700">
            <a:solidFill>
              <a:srgbClr val="FFFFFF"/>
            </a:solidFill>
            <a:prstDash val="solid"/>
          </a:ln>
        </p:spPr>
      </p:sp>
      <p:sp>
        <p:nvSpPr>
          <p:cNvPr id="5" name="Shape 3"/>
          <p:cNvSpPr/>
          <p:nvPr/>
        </p:nvSpPr>
        <p:spPr>
          <a:xfrm>
            <a:off x="411480" y="896112"/>
            <a:ext cx="548640" cy="548640"/>
          </a:xfrm>
          <a:prstGeom prst="ellipse">
            <a:avLst/>
          </a:prstGeom>
          <a:solidFill>
            <a:srgbClr val="02C39A"/>
          </a:solidFill>
          <a:ln w="12700">
            <a:solidFill>
              <a:srgbClr val="02C39A"/>
            </a:solidFill>
            <a:prstDash val="solid"/>
          </a:ln>
        </p:spPr>
      </p:sp>
      <p:sp>
        <p:nvSpPr>
          <p:cNvPr id="6" name="Text 4"/>
          <p:cNvSpPr/>
          <p:nvPr/>
        </p:nvSpPr>
        <p:spPr>
          <a:xfrm>
            <a:off x="411480" y="896112"/>
            <a:ext cx="548640" cy="548640"/>
          </a:xfrm>
          <a:prstGeom prst="rect">
            <a:avLst/>
          </a:prstGeom>
          <a:noFill/>
          <a:ln/>
        </p:spPr>
        <p:txBody>
          <a:bodyPr wrap="square" lIns="0" tIns="0" rIns="0" bIns="0" rtlCol="0" anchor="ctr"/>
          <a:lstStyle/>
          <a:p>
            <a:pPr algn="ctr" indent="0" marL="0">
              <a:buNone/>
            </a:pPr>
            <a:r>
              <a:rPr lang="en-US" sz="1800" b="1" dirty="0">
                <a:solidFill>
                  <a:srgbClr val="1E2D4E"/>
                </a:solidFill>
              </a:rPr>
              <a:t>1</a:t>
            </a:r>
            <a:endParaRPr lang="en-US" sz="1800" dirty="0"/>
          </a:p>
        </p:txBody>
      </p:sp>
      <p:sp>
        <p:nvSpPr>
          <p:cNvPr id="7" name="Text 5"/>
          <p:cNvSpPr/>
          <p:nvPr/>
        </p:nvSpPr>
        <p:spPr>
          <a:xfrm>
            <a:off x="1097280" y="822960"/>
            <a:ext cx="7498080" cy="384048"/>
          </a:xfrm>
          <a:prstGeom prst="rect">
            <a:avLst/>
          </a:prstGeom>
          <a:noFill/>
          <a:ln/>
        </p:spPr>
        <p:txBody>
          <a:bodyPr wrap="square" lIns="0" tIns="0" rIns="0" bIns="0" rtlCol="0" anchor="ctr"/>
          <a:lstStyle/>
          <a:p>
            <a:pPr indent="0" marL="0">
              <a:buNone/>
            </a:pPr>
            <a:r>
              <a:rPr lang="en-US" sz="1500" b="1" dirty="0">
                <a:solidFill>
                  <a:srgbClr val="02C39A"/>
                </a:solidFill>
                <a:latin typeface="Georgia" pitchFamily="34" charset="0"/>
                <a:ea typeface="Georgia" pitchFamily="34" charset="-122"/>
                <a:cs typeface="Georgia" pitchFamily="34" charset="-120"/>
              </a:rPr>
              <a:t>Right metrics for the problem — plural</a:t>
            </a:r>
            <a:endParaRPr lang="en-US" sz="1500" dirty="0"/>
          </a:p>
        </p:txBody>
      </p:sp>
      <p:sp>
        <p:nvSpPr>
          <p:cNvPr id="8" name="Text 6"/>
          <p:cNvSpPr/>
          <p:nvPr/>
        </p:nvSpPr>
        <p:spPr>
          <a:xfrm>
            <a:off x="1097280" y="1207008"/>
            <a:ext cx="7498080" cy="329184"/>
          </a:xfrm>
          <a:prstGeom prst="rect">
            <a:avLst/>
          </a:prstGeom>
          <a:noFill/>
          <a:ln/>
        </p:spPr>
        <p:txBody>
          <a:bodyPr wrap="square" lIns="0" tIns="0" rIns="0" bIns="0" rtlCol="0" anchor="ctr"/>
          <a:lstStyle/>
          <a:p>
            <a:pPr indent="0" marL="0">
              <a:buNone/>
            </a:pPr>
            <a:r>
              <a:rPr lang="en-US" sz="1200" dirty="0">
                <a:solidFill>
                  <a:srgbClr val="B0BEC5"/>
                </a:solidFill>
              </a:rPr>
              <a:t>Choose the metric family: AUC-ROC + PR-AUC + logloss for classification. MAPE + RMSE for forecasting. Never just one number.</a:t>
            </a:r>
            <a:endParaRPr lang="en-US" sz="1200" dirty="0"/>
          </a:p>
        </p:txBody>
      </p:sp>
      <p:sp>
        <p:nvSpPr>
          <p:cNvPr id="9" name="Shape 7"/>
          <p:cNvSpPr/>
          <p:nvPr/>
        </p:nvSpPr>
        <p:spPr>
          <a:xfrm>
            <a:off x="320040" y="1792224"/>
            <a:ext cx="8503920" cy="886968"/>
          </a:xfrm>
          <a:prstGeom prst="rect">
            <a:avLst/>
          </a:prstGeom>
          <a:solidFill>
            <a:srgbClr val="1A2B3A"/>
          </a:solidFill>
          <a:ln w="12700">
            <a:solidFill>
              <a:srgbClr val="FFFFFF"/>
            </a:solidFill>
            <a:prstDash val="solid"/>
          </a:ln>
        </p:spPr>
      </p:sp>
      <p:sp>
        <p:nvSpPr>
          <p:cNvPr id="10" name="Shape 8"/>
          <p:cNvSpPr/>
          <p:nvPr/>
        </p:nvSpPr>
        <p:spPr>
          <a:xfrm>
            <a:off x="411480" y="1956816"/>
            <a:ext cx="548640" cy="548640"/>
          </a:xfrm>
          <a:prstGeom prst="ellipse">
            <a:avLst/>
          </a:prstGeom>
          <a:solidFill>
            <a:srgbClr val="02C39A"/>
          </a:solidFill>
          <a:ln w="12700">
            <a:solidFill>
              <a:srgbClr val="02C39A"/>
            </a:solidFill>
            <a:prstDash val="solid"/>
          </a:ln>
        </p:spPr>
      </p:sp>
      <p:sp>
        <p:nvSpPr>
          <p:cNvPr id="11" name="Text 9"/>
          <p:cNvSpPr/>
          <p:nvPr/>
        </p:nvSpPr>
        <p:spPr>
          <a:xfrm>
            <a:off x="411480" y="1956816"/>
            <a:ext cx="548640" cy="548640"/>
          </a:xfrm>
          <a:prstGeom prst="rect">
            <a:avLst/>
          </a:prstGeom>
          <a:noFill/>
          <a:ln/>
        </p:spPr>
        <p:txBody>
          <a:bodyPr wrap="square" lIns="0" tIns="0" rIns="0" bIns="0" rtlCol="0" anchor="ctr"/>
          <a:lstStyle/>
          <a:p>
            <a:pPr algn="ctr" indent="0" marL="0">
              <a:buNone/>
            </a:pPr>
            <a:r>
              <a:rPr lang="en-US" sz="1800" b="1" dirty="0">
                <a:solidFill>
                  <a:srgbClr val="1E2D4E"/>
                </a:solidFill>
              </a:rPr>
              <a:t>2</a:t>
            </a:r>
            <a:endParaRPr lang="en-US" sz="1800" dirty="0"/>
          </a:p>
        </p:txBody>
      </p:sp>
      <p:sp>
        <p:nvSpPr>
          <p:cNvPr id="12" name="Text 10"/>
          <p:cNvSpPr/>
          <p:nvPr/>
        </p:nvSpPr>
        <p:spPr>
          <a:xfrm>
            <a:off x="1097280" y="1883664"/>
            <a:ext cx="7498080" cy="384048"/>
          </a:xfrm>
          <a:prstGeom prst="rect">
            <a:avLst/>
          </a:prstGeom>
          <a:noFill/>
          <a:ln/>
        </p:spPr>
        <p:txBody>
          <a:bodyPr wrap="square" lIns="0" tIns="0" rIns="0" bIns="0" rtlCol="0" anchor="ctr"/>
          <a:lstStyle/>
          <a:p>
            <a:pPr indent="0" marL="0">
              <a:buNone/>
            </a:pPr>
            <a:r>
              <a:rPr lang="en-US" sz="1500" b="1" dirty="0">
                <a:solidFill>
                  <a:srgbClr val="02C39A"/>
                </a:solidFill>
                <a:latin typeface="Georgia" pitchFamily="34" charset="0"/>
                <a:ea typeface="Georgia" pitchFamily="34" charset="-122"/>
                <a:cs typeface="Georgia" pitchFamily="34" charset="-120"/>
              </a:rPr>
              <a:t>Test on genuinely unseen, time-based data</a:t>
            </a:r>
            <a:endParaRPr lang="en-US" sz="1500" dirty="0"/>
          </a:p>
        </p:txBody>
      </p:sp>
      <p:sp>
        <p:nvSpPr>
          <p:cNvPr id="13" name="Text 11"/>
          <p:cNvSpPr/>
          <p:nvPr/>
        </p:nvSpPr>
        <p:spPr>
          <a:xfrm>
            <a:off x="1097280" y="2267712"/>
            <a:ext cx="7498080" cy="329184"/>
          </a:xfrm>
          <a:prstGeom prst="rect">
            <a:avLst/>
          </a:prstGeom>
          <a:noFill/>
          <a:ln/>
        </p:spPr>
        <p:txBody>
          <a:bodyPr wrap="square" lIns="0" tIns="0" rIns="0" bIns="0" rtlCol="0" anchor="ctr"/>
          <a:lstStyle/>
          <a:p>
            <a:pPr indent="0" marL="0">
              <a:buNone/>
            </a:pPr>
            <a:r>
              <a:rPr lang="en-US" sz="1200" dirty="0">
                <a:solidFill>
                  <a:srgbClr val="B0BEC5"/>
                </a:solidFill>
              </a:rPr>
              <a:t>Hold out a future time period. Never contaminate your test set. Simulate real deployment conditions.</a:t>
            </a:r>
            <a:endParaRPr lang="en-US" sz="1200" dirty="0"/>
          </a:p>
        </p:txBody>
      </p:sp>
      <p:sp>
        <p:nvSpPr>
          <p:cNvPr id="14" name="Shape 12"/>
          <p:cNvSpPr/>
          <p:nvPr/>
        </p:nvSpPr>
        <p:spPr>
          <a:xfrm>
            <a:off x="320040" y="2852928"/>
            <a:ext cx="8503920" cy="886968"/>
          </a:xfrm>
          <a:prstGeom prst="rect">
            <a:avLst/>
          </a:prstGeom>
          <a:solidFill>
            <a:srgbClr val="25203A"/>
          </a:solidFill>
          <a:ln w="12700">
            <a:solidFill>
              <a:srgbClr val="FFFFFF"/>
            </a:solidFill>
            <a:prstDash val="solid"/>
          </a:ln>
        </p:spPr>
      </p:sp>
      <p:sp>
        <p:nvSpPr>
          <p:cNvPr id="15" name="Shape 13"/>
          <p:cNvSpPr/>
          <p:nvPr/>
        </p:nvSpPr>
        <p:spPr>
          <a:xfrm>
            <a:off x="411480" y="3017520"/>
            <a:ext cx="548640" cy="548640"/>
          </a:xfrm>
          <a:prstGeom prst="ellipse">
            <a:avLst/>
          </a:prstGeom>
          <a:solidFill>
            <a:srgbClr val="02C39A"/>
          </a:solidFill>
          <a:ln w="12700">
            <a:solidFill>
              <a:srgbClr val="02C39A"/>
            </a:solidFill>
            <a:prstDash val="solid"/>
          </a:ln>
        </p:spPr>
      </p:sp>
      <p:sp>
        <p:nvSpPr>
          <p:cNvPr id="16" name="Text 14"/>
          <p:cNvSpPr/>
          <p:nvPr/>
        </p:nvSpPr>
        <p:spPr>
          <a:xfrm>
            <a:off x="411480" y="3017520"/>
            <a:ext cx="548640" cy="548640"/>
          </a:xfrm>
          <a:prstGeom prst="rect">
            <a:avLst/>
          </a:prstGeom>
          <a:noFill/>
          <a:ln/>
        </p:spPr>
        <p:txBody>
          <a:bodyPr wrap="square" lIns="0" tIns="0" rIns="0" bIns="0" rtlCol="0" anchor="ctr"/>
          <a:lstStyle/>
          <a:p>
            <a:pPr algn="ctr" indent="0" marL="0">
              <a:buNone/>
            </a:pPr>
            <a:r>
              <a:rPr lang="en-US" sz="1800" b="1" dirty="0">
                <a:solidFill>
                  <a:srgbClr val="1E2D4E"/>
                </a:solidFill>
              </a:rPr>
              <a:t>3</a:t>
            </a:r>
            <a:endParaRPr lang="en-US" sz="1800" dirty="0"/>
          </a:p>
        </p:txBody>
      </p:sp>
      <p:sp>
        <p:nvSpPr>
          <p:cNvPr id="17" name="Text 15"/>
          <p:cNvSpPr/>
          <p:nvPr/>
        </p:nvSpPr>
        <p:spPr>
          <a:xfrm>
            <a:off x="1097280" y="2944368"/>
            <a:ext cx="7498080" cy="384048"/>
          </a:xfrm>
          <a:prstGeom prst="rect">
            <a:avLst/>
          </a:prstGeom>
          <a:noFill/>
          <a:ln/>
        </p:spPr>
        <p:txBody>
          <a:bodyPr wrap="square" lIns="0" tIns="0" rIns="0" bIns="0" rtlCol="0" anchor="ctr"/>
          <a:lstStyle/>
          <a:p>
            <a:pPr indent="0" marL="0">
              <a:buNone/>
            </a:pPr>
            <a:r>
              <a:rPr lang="en-US" sz="1500" b="1" dirty="0">
                <a:solidFill>
                  <a:srgbClr val="02C39A"/>
                </a:solidFill>
                <a:latin typeface="Georgia" pitchFamily="34" charset="0"/>
                <a:ea typeface="Georgia" pitchFamily="34" charset="-122"/>
                <a:cs typeface="Georgia" pitchFamily="34" charset="-120"/>
              </a:rPr>
              <a:t>Demand a white-box — explain every decision</a:t>
            </a:r>
            <a:endParaRPr lang="en-US" sz="1500" dirty="0"/>
          </a:p>
        </p:txBody>
      </p:sp>
      <p:sp>
        <p:nvSpPr>
          <p:cNvPr id="18" name="Text 16"/>
          <p:cNvSpPr/>
          <p:nvPr/>
        </p:nvSpPr>
        <p:spPr>
          <a:xfrm>
            <a:off x="1097280" y="3328416"/>
            <a:ext cx="7498080" cy="329184"/>
          </a:xfrm>
          <a:prstGeom prst="rect">
            <a:avLst/>
          </a:prstGeom>
          <a:noFill/>
          <a:ln/>
        </p:spPr>
        <p:txBody>
          <a:bodyPr wrap="square" lIns="0" tIns="0" rIns="0" bIns="0" rtlCol="0" anchor="ctr"/>
          <a:lstStyle/>
          <a:p>
            <a:pPr indent="0" marL="0">
              <a:buNone/>
            </a:pPr>
            <a:r>
              <a:rPr lang="en-US" sz="1200" dirty="0">
                <a:solidFill>
                  <a:srgbClr val="B0BEC5"/>
                </a:solidFill>
              </a:rPr>
              <a:t>If you can't explain WHY the model flagged something, you can't govern it, defend it, or improve it. SHAP values, feature importance.</a:t>
            </a:r>
            <a:endParaRPr lang="en-US" sz="1200" dirty="0"/>
          </a:p>
        </p:txBody>
      </p:sp>
      <p:sp>
        <p:nvSpPr>
          <p:cNvPr id="19" name="Shape 17"/>
          <p:cNvSpPr/>
          <p:nvPr/>
        </p:nvSpPr>
        <p:spPr>
          <a:xfrm>
            <a:off x="320040" y="3913632"/>
            <a:ext cx="8503920" cy="886968"/>
          </a:xfrm>
          <a:prstGeom prst="rect">
            <a:avLst/>
          </a:prstGeom>
          <a:solidFill>
            <a:srgbClr val="302520"/>
          </a:solidFill>
          <a:ln w="12700">
            <a:solidFill>
              <a:srgbClr val="FFFFFF"/>
            </a:solidFill>
            <a:prstDash val="solid"/>
          </a:ln>
        </p:spPr>
      </p:sp>
      <p:sp>
        <p:nvSpPr>
          <p:cNvPr id="20" name="Shape 18"/>
          <p:cNvSpPr/>
          <p:nvPr/>
        </p:nvSpPr>
        <p:spPr>
          <a:xfrm>
            <a:off x="411480" y="4078224"/>
            <a:ext cx="548640" cy="548640"/>
          </a:xfrm>
          <a:prstGeom prst="ellipse">
            <a:avLst/>
          </a:prstGeom>
          <a:solidFill>
            <a:srgbClr val="02C39A"/>
          </a:solidFill>
          <a:ln w="12700">
            <a:solidFill>
              <a:srgbClr val="02C39A"/>
            </a:solidFill>
            <a:prstDash val="solid"/>
          </a:ln>
        </p:spPr>
      </p:sp>
      <p:sp>
        <p:nvSpPr>
          <p:cNvPr id="21" name="Text 19"/>
          <p:cNvSpPr/>
          <p:nvPr/>
        </p:nvSpPr>
        <p:spPr>
          <a:xfrm>
            <a:off x="411480" y="4078224"/>
            <a:ext cx="548640" cy="548640"/>
          </a:xfrm>
          <a:prstGeom prst="rect">
            <a:avLst/>
          </a:prstGeom>
          <a:noFill/>
          <a:ln/>
        </p:spPr>
        <p:txBody>
          <a:bodyPr wrap="square" lIns="0" tIns="0" rIns="0" bIns="0" rtlCol="0" anchor="ctr"/>
          <a:lstStyle/>
          <a:p>
            <a:pPr algn="ctr" indent="0" marL="0">
              <a:buNone/>
            </a:pPr>
            <a:r>
              <a:rPr lang="en-US" sz="1800" b="1" dirty="0">
                <a:solidFill>
                  <a:srgbClr val="1E2D4E"/>
                </a:solidFill>
              </a:rPr>
              <a:t>4</a:t>
            </a:r>
            <a:endParaRPr lang="en-US" sz="1800" dirty="0"/>
          </a:p>
        </p:txBody>
      </p:sp>
      <p:sp>
        <p:nvSpPr>
          <p:cNvPr id="22" name="Text 20"/>
          <p:cNvSpPr/>
          <p:nvPr/>
        </p:nvSpPr>
        <p:spPr>
          <a:xfrm>
            <a:off x="1097280" y="4005072"/>
            <a:ext cx="7498080" cy="384048"/>
          </a:xfrm>
          <a:prstGeom prst="rect">
            <a:avLst/>
          </a:prstGeom>
          <a:noFill/>
          <a:ln/>
        </p:spPr>
        <p:txBody>
          <a:bodyPr wrap="square" lIns="0" tIns="0" rIns="0" bIns="0" rtlCol="0" anchor="ctr"/>
          <a:lstStyle/>
          <a:p>
            <a:pPr indent="0" marL="0">
              <a:buNone/>
            </a:pPr>
            <a:r>
              <a:rPr lang="en-US" sz="1500" b="1" dirty="0">
                <a:solidFill>
                  <a:srgbClr val="02C39A"/>
                </a:solidFill>
                <a:latin typeface="Georgia" pitchFamily="34" charset="0"/>
                <a:ea typeface="Georgia" pitchFamily="34" charset="-122"/>
                <a:cs typeface="Georgia" pitchFamily="34" charset="-120"/>
              </a:rPr>
              <a:t>Compare to baseline, then validate in production</a:t>
            </a:r>
            <a:endParaRPr lang="en-US" sz="1500" dirty="0"/>
          </a:p>
        </p:txBody>
      </p:sp>
      <p:sp>
        <p:nvSpPr>
          <p:cNvPr id="23" name="Text 21"/>
          <p:cNvSpPr/>
          <p:nvPr/>
        </p:nvSpPr>
        <p:spPr>
          <a:xfrm>
            <a:off x="1097280" y="4389120"/>
            <a:ext cx="7498080" cy="329184"/>
          </a:xfrm>
          <a:prstGeom prst="rect">
            <a:avLst/>
          </a:prstGeom>
          <a:noFill/>
          <a:ln/>
        </p:spPr>
        <p:txBody>
          <a:bodyPr wrap="square" lIns="0" tIns="0" rIns="0" bIns="0" rtlCol="0" anchor="ctr"/>
          <a:lstStyle/>
          <a:p>
            <a:pPr indent="0" marL="0">
              <a:buNone/>
            </a:pPr>
            <a:r>
              <a:rPr lang="en-US" sz="1200" dirty="0">
                <a:solidFill>
                  <a:srgbClr val="B0BEC5"/>
                </a:solidFill>
              </a:rPr>
              <a:t>Beat the naive model. Then A/B test in production. Lab accuracy does not equal real-world business value.</a:t>
            </a:r>
            <a:endParaRPr lang="en-US" sz="1200" dirty="0"/>
          </a:p>
        </p:txBody>
      </p:sp>
      <p:sp>
        <p:nvSpPr>
          <p:cNvPr id="25" name="Text 22"/>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SPECIAL CASE: EVALUATING AI / LLM RESPONSES</a:t>
            </a:r>
            <a:endParaRPr lang="en-US" sz="1300" dirty="0"/>
          </a:p>
        </p:txBody>
      </p:sp>
      <p:sp>
        <p:nvSpPr>
          <p:cNvPr id="4" name="Shape 2"/>
          <p:cNvSpPr/>
          <p:nvPr/>
        </p:nvSpPr>
        <p:spPr>
          <a:xfrm>
            <a:off x="320040" y="713232"/>
            <a:ext cx="8503920" cy="713232"/>
          </a:xfrm>
          <a:prstGeom prst="rect">
            <a:avLst/>
          </a:prstGeom>
          <a:solidFill>
            <a:srgbClr val="EDF7F9"/>
          </a:solidFill>
          <a:ln w="12700">
            <a:solidFill>
              <a:srgbClr val="028090"/>
            </a:solidFill>
            <a:prstDash val="solid"/>
          </a:ln>
        </p:spPr>
      </p:sp>
      <p:sp>
        <p:nvSpPr>
          <p:cNvPr id="5" name="Text 3"/>
          <p:cNvSpPr/>
          <p:nvPr/>
        </p:nvSpPr>
        <p:spPr>
          <a:xfrm>
            <a:off x="502920" y="822960"/>
            <a:ext cx="8229600" cy="457200"/>
          </a:xfrm>
          <a:prstGeom prst="rect">
            <a:avLst/>
          </a:prstGeom>
          <a:noFill/>
          <a:ln/>
        </p:spPr>
        <p:txBody>
          <a:bodyPr wrap="square" lIns="0" tIns="0" rIns="0" bIns="0" rtlCol="0" anchor="ctr"/>
          <a:lstStyle/>
          <a:p>
            <a:pPr indent="0" marL="0">
              <a:buNone/>
            </a:pPr>
            <a:r>
              <a:rPr lang="en-US" sz="1600" i="1" dirty="0">
                <a:solidFill>
                  <a:srgbClr val="1E2D4E"/>
                </a:solidFill>
                <a:latin typeface="Georgia" pitchFamily="34" charset="0"/>
                <a:ea typeface="Georgia" pitchFamily="34" charset="-122"/>
                <a:cs typeface="Georgia" pitchFamily="34" charset="-120"/>
              </a:rPr>
              <a:t>The rules change. Traditional DS evaluation doesn't apply to large language models.</a:t>
            </a:r>
            <a:endParaRPr lang="en-US" sz="1600" dirty="0"/>
          </a:p>
        </p:txBody>
      </p:sp>
      <p:sp>
        <p:nvSpPr>
          <p:cNvPr id="6" name="Text 4"/>
          <p:cNvSpPr/>
          <p:nvPr/>
        </p:nvSpPr>
        <p:spPr>
          <a:xfrm>
            <a:off x="457200" y="1554480"/>
            <a:ext cx="4389120" cy="347472"/>
          </a:xfrm>
          <a:prstGeom prst="rect">
            <a:avLst/>
          </a:prstGeom>
          <a:noFill/>
          <a:ln/>
        </p:spPr>
        <p:txBody>
          <a:bodyPr wrap="square" lIns="0" tIns="0" rIns="0" bIns="0" rtlCol="0" anchor="ctr"/>
          <a:lstStyle/>
          <a:p>
            <a:pPr indent="0" marL="0">
              <a:buNone/>
            </a:pPr>
            <a:r>
              <a:rPr lang="en-US" sz="1400" b="1" dirty="0">
                <a:solidFill>
                  <a:srgbClr val="1A2535"/>
                </a:solidFill>
              </a:rPr>
              <a:t>The 3 hard problems:</a:t>
            </a:r>
            <a:endParaRPr lang="en-US" sz="1400" dirty="0"/>
          </a:p>
        </p:txBody>
      </p:sp>
      <p:sp>
        <p:nvSpPr>
          <p:cNvPr id="7" name="Shape 5"/>
          <p:cNvSpPr/>
          <p:nvPr/>
        </p:nvSpPr>
        <p:spPr>
          <a:xfrm>
            <a:off x="320040" y="1993392"/>
            <a:ext cx="4389120" cy="658368"/>
          </a:xfrm>
          <a:prstGeom prst="rect">
            <a:avLst/>
          </a:prstGeom>
          <a:solidFill>
            <a:srgbClr val="F8F8F8"/>
          </a:solidFill>
          <a:ln w="12700">
            <a:solidFill>
              <a:srgbClr val="C0392B"/>
            </a:solidFill>
            <a:prstDash val="solid"/>
          </a:ln>
        </p:spPr>
      </p:sp>
      <p:sp>
        <p:nvSpPr>
          <p:cNvPr id="8" name="Shape 6"/>
          <p:cNvSpPr/>
          <p:nvPr/>
        </p:nvSpPr>
        <p:spPr>
          <a:xfrm>
            <a:off x="411480" y="2121408"/>
            <a:ext cx="384048" cy="384048"/>
          </a:xfrm>
          <a:prstGeom prst="ellipse">
            <a:avLst/>
          </a:prstGeom>
          <a:solidFill>
            <a:srgbClr val="C0392B"/>
          </a:solidFill>
          <a:ln w="12700">
            <a:solidFill>
              <a:srgbClr val="C0392B"/>
            </a:solidFill>
            <a:prstDash val="solid"/>
          </a:ln>
        </p:spPr>
      </p:sp>
      <p:sp>
        <p:nvSpPr>
          <p:cNvPr id="9" name="Text 7"/>
          <p:cNvSpPr/>
          <p:nvPr/>
        </p:nvSpPr>
        <p:spPr>
          <a:xfrm>
            <a:off x="411480" y="2121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8"/>
          <p:cNvSpPr/>
          <p:nvPr/>
        </p:nvSpPr>
        <p:spPr>
          <a:xfrm>
            <a:off x="896112" y="2066544"/>
            <a:ext cx="3657600" cy="256032"/>
          </a:xfrm>
          <a:prstGeom prst="rect">
            <a:avLst/>
          </a:prstGeom>
          <a:noFill/>
          <a:ln/>
        </p:spPr>
        <p:txBody>
          <a:bodyPr wrap="square" lIns="0" tIns="0" rIns="0" bIns="0" rtlCol="0" anchor="ctr"/>
          <a:lstStyle/>
          <a:p>
            <a:pPr indent="0" marL="0">
              <a:buNone/>
            </a:pPr>
            <a:r>
              <a:rPr lang="en-US" sz="1250" b="1" dirty="0">
                <a:solidFill>
                  <a:srgbClr val="1A2535"/>
                </a:solidFill>
              </a:rPr>
              <a:t>No ground truth</a:t>
            </a:r>
            <a:endParaRPr lang="en-US" sz="1250" dirty="0"/>
          </a:p>
        </p:txBody>
      </p:sp>
      <p:sp>
        <p:nvSpPr>
          <p:cNvPr id="11" name="Text 9"/>
          <p:cNvSpPr/>
          <p:nvPr/>
        </p:nvSpPr>
        <p:spPr>
          <a:xfrm>
            <a:off x="896112" y="2322576"/>
            <a:ext cx="3657600" cy="256032"/>
          </a:xfrm>
          <a:prstGeom prst="rect">
            <a:avLst/>
          </a:prstGeom>
          <a:noFill/>
          <a:ln/>
        </p:spPr>
        <p:txBody>
          <a:bodyPr wrap="square" lIns="0" tIns="0" rIns="0" bIns="0" rtlCol="0" anchor="ctr"/>
          <a:lstStyle/>
          <a:p>
            <a:pPr indent="0" marL="0">
              <a:buNone/>
            </a:pPr>
            <a:r>
              <a:rPr lang="en-US" sz="1100" dirty="0">
                <a:solidFill>
                  <a:srgbClr val="4A5568"/>
                </a:solidFill>
              </a:rPr>
              <a:t>There's no single "correct" answer to compare against. A chatbot response can be good in 5 different ways.</a:t>
            </a:r>
            <a:endParaRPr lang="en-US" sz="1100" dirty="0"/>
          </a:p>
        </p:txBody>
      </p:sp>
      <p:sp>
        <p:nvSpPr>
          <p:cNvPr id="12" name="Shape 10"/>
          <p:cNvSpPr/>
          <p:nvPr/>
        </p:nvSpPr>
        <p:spPr>
          <a:xfrm>
            <a:off x="320040" y="2743200"/>
            <a:ext cx="4389120" cy="658368"/>
          </a:xfrm>
          <a:prstGeom prst="rect">
            <a:avLst/>
          </a:prstGeom>
          <a:solidFill>
            <a:srgbClr val="F8F8F8"/>
          </a:solidFill>
          <a:ln w="12700">
            <a:solidFill>
              <a:srgbClr val="E67E22"/>
            </a:solidFill>
            <a:prstDash val="solid"/>
          </a:ln>
        </p:spPr>
      </p:sp>
      <p:sp>
        <p:nvSpPr>
          <p:cNvPr id="13" name="Shape 11"/>
          <p:cNvSpPr/>
          <p:nvPr/>
        </p:nvSpPr>
        <p:spPr>
          <a:xfrm>
            <a:off x="411480" y="2871216"/>
            <a:ext cx="384048" cy="384048"/>
          </a:xfrm>
          <a:prstGeom prst="ellipse">
            <a:avLst/>
          </a:prstGeom>
          <a:solidFill>
            <a:srgbClr val="E67E22"/>
          </a:solidFill>
          <a:ln w="12700">
            <a:solidFill>
              <a:srgbClr val="E67E22"/>
            </a:solidFill>
            <a:prstDash val="solid"/>
          </a:ln>
        </p:spPr>
      </p:sp>
      <p:sp>
        <p:nvSpPr>
          <p:cNvPr id="14" name="Text 12"/>
          <p:cNvSpPr/>
          <p:nvPr/>
        </p:nvSpPr>
        <p:spPr>
          <a:xfrm>
            <a:off x="41148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3"/>
          <p:cNvSpPr/>
          <p:nvPr/>
        </p:nvSpPr>
        <p:spPr>
          <a:xfrm>
            <a:off x="896112" y="2816352"/>
            <a:ext cx="3657600" cy="256032"/>
          </a:xfrm>
          <a:prstGeom prst="rect">
            <a:avLst/>
          </a:prstGeom>
          <a:noFill/>
          <a:ln/>
        </p:spPr>
        <p:txBody>
          <a:bodyPr wrap="square" lIns="0" tIns="0" rIns="0" bIns="0" rtlCol="0" anchor="ctr"/>
          <a:lstStyle/>
          <a:p>
            <a:pPr indent="0" marL="0">
              <a:buNone/>
            </a:pPr>
            <a:r>
              <a:rPr lang="en-US" sz="1250" b="1" dirty="0">
                <a:solidFill>
                  <a:srgbClr val="1A2535"/>
                </a:solidFill>
              </a:rPr>
              <a:t>Stochastic outputs</a:t>
            </a:r>
            <a:endParaRPr lang="en-US" sz="1250" dirty="0"/>
          </a:p>
        </p:txBody>
      </p:sp>
      <p:sp>
        <p:nvSpPr>
          <p:cNvPr id="16" name="Text 14"/>
          <p:cNvSpPr/>
          <p:nvPr/>
        </p:nvSpPr>
        <p:spPr>
          <a:xfrm>
            <a:off x="896112" y="3072384"/>
            <a:ext cx="3657600" cy="256032"/>
          </a:xfrm>
          <a:prstGeom prst="rect">
            <a:avLst/>
          </a:prstGeom>
          <a:noFill/>
          <a:ln/>
        </p:spPr>
        <p:txBody>
          <a:bodyPr wrap="square" lIns="0" tIns="0" rIns="0" bIns="0" rtlCol="0" anchor="ctr"/>
          <a:lstStyle/>
          <a:p>
            <a:pPr indent="0" marL="0">
              <a:buNone/>
            </a:pPr>
            <a:r>
              <a:rPr lang="en-US" sz="1100" dirty="0">
                <a:solidFill>
                  <a:srgbClr val="4A5568"/>
                </a:solidFill>
              </a:rPr>
              <a:t>Same prompt → different response every time. You can't run a confusion matrix on something non-deterministic.</a:t>
            </a:r>
            <a:endParaRPr lang="en-US" sz="1100" dirty="0"/>
          </a:p>
        </p:txBody>
      </p:sp>
      <p:sp>
        <p:nvSpPr>
          <p:cNvPr id="17" name="Shape 15"/>
          <p:cNvSpPr/>
          <p:nvPr/>
        </p:nvSpPr>
        <p:spPr>
          <a:xfrm>
            <a:off x="320040" y="3493008"/>
            <a:ext cx="4389120" cy="658368"/>
          </a:xfrm>
          <a:prstGeom prst="rect">
            <a:avLst/>
          </a:prstGeom>
          <a:solidFill>
            <a:srgbClr val="F8F8F8"/>
          </a:solidFill>
          <a:ln w="12700">
            <a:solidFill>
              <a:srgbClr val="5B2C8D"/>
            </a:solidFill>
            <a:prstDash val="solid"/>
          </a:ln>
        </p:spPr>
      </p:sp>
      <p:sp>
        <p:nvSpPr>
          <p:cNvPr id="18" name="Shape 16"/>
          <p:cNvSpPr/>
          <p:nvPr/>
        </p:nvSpPr>
        <p:spPr>
          <a:xfrm>
            <a:off x="411480" y="3621024"/>
            <a:ext cx="384048" cy="384048"/>
          </a:xfrm>
          <a:prstGeom prst="ellipse">
            <a:avLst/>
          </a:prstGeom>
          <a:solidFill>
            <a:srgbClr val="5B2C8D"/>
          </a:solidFill>
          <a:ln w="12700">
            <a:solidFill>
              <a:srgbClr val="5B2C8D"/>
            </a:solidFill>
            <a:prstDash val="solid"/>
          </a:ln>
        </p:spPr>
      </p:sp>
      <p:sp>
        <p:nvSpPr>
          <p:cNvPr id="19" name="Text 17"/>
          <p:cNvSpPr/>
          <p:nvPr/>
        </p:nvSpPr>
        <p:spPr>
          <a:xfrm>
            <a:off x="411480"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Text 18"/>
          <p:cNvSpPr/>
          <p:nvPr/>
        </p:nvSpPr>
        <p:spPr>
          <a:xfrm>
            <a:off x="896112" y="3566160"/>
            <a:ext cx="3657600" cy="256032"/>
          </a:xfrm>
          <a:prstGeom prst="rect">
            <a:avLst/>
          </a:prstGeom>
          <a:noFill/>
          <a:ln/>
        </p:spPr>
        <p:txBody>
          <a:bodyPr wrap="square" lIns="0" tIns="0" rIns="0" bIns="0" rtlCol="0" anchor="ctr"/>
          <a:lstStyle/>
          <a:p>
            <a:pPr indent="0" marL="0">
              <a:buNone/>
            </a:pPr>
            <a:r>
              <a:rPr lang="en-US" sz="1250" b="1" dirty="0">
                <a:solidFill>
                  <a:srgbClr val="1A2535"/>
                </a:solidFill>
              </a:rPr>
              <a:t>Eval requires AI</a:t>
            </a:r>
            <a:endParaRPr lang="en-US" sz="1250" dirty="0"/>
          </a:p>
        </p:txBody>
      </p:sp>
      <p:sp>
        <p:nvSpPr>
          <p:cNvPr id="21" name="Text 19"/>
          <p:cNvSpPr/>
          <p:nvPr/>
        </p:nvSpPr>
        <p:spPr>
          <a:xfrm>
            <a:off x="896112" y="3822192"/>
            <a:ext cx="3657600" cy="256032"/>
          </a:xfrm>
          <a:prstGeom prst="rect">
            <a:avLst/>
          </a:prstGeom>
          <a:noFill/>
          <a:ln/>
        </p:spPr>
        <p:txBody>
          <a:bodyPr wrap="square" lIns="0" tIns="0" rIns="0" bIns="0" rtlCol="0" anchor="ctr"/>
          <a:lstStyle/>
          <a:p>
            <a:pPr indent="0" marL="0">
              <a:buNone/>
            </a:pPr>
            <a:r>
              <a:rPr lang="en-US" sz="1100" dirty="0">
                <a:solidFill>
                  <a:srgbClr val="4A5568"/>
                </a:solidFill>
              </a:rPr>
              <a:t>You need another model to judge your model. Human eval is the gold standard — but expensive and slow.</a:t>
            </a:r>
            <a:endParaRPr lang="en-US" sz="1100" dirty="0"/>
          </a:p>
        </p:txBody>
      </p:sp>
      <p:sp>
        <p:nvSpPr>
          <p:cNvPr id="22" name="Text 20"/>
          <p:cNvSpPr/>
          <p:nvPr/>
        </p:nvSpPr>
        <p:spPr>
          <a:xfrm>
            <a:off x="5029200" y="1554480"/>
            <a:ext cx="3749040" cy="347472"/>
          </a:xfrm>
          <a:prstGeom prst="rect">
            <a:avLst/>
          </a:prstGeom>
          <a:noFill/>
          <a:ln/>
        </p:spPr>
        <p:txBody>
          <a:bodyPr wrap="square" lIns="0" tIns="0" rIns="0" bIns="0" rtlCol="0" anchor="ctr"/>
          <a:lstStyle/>
          <a:p>
            <a:pPr indent="0" marL="0">
              <a:buNone/>
            </a:pPr>
            <a:r>
              <a:rPr lang="en-US" sz="1400" b="1" dirty="0">
                <a:solidFill>
                  <a:srgbClr val="1A2535"/>
                </a:solidFill>
              </a:rPr>
              <a:t>Practical approaches:</a:t>
            </a:r>
            <a:endParaRPr lang="en-US" sz="1400" dirty="0"/>
          </a:p>
        </p:txBody>
      </p:sp>
      <p:sp>
        <p:nvSpPr>
          <p:cNvPr id="23" name="Shape 21"/>
          <p:cNvSpPr/>
          <p:nvPr/>
        </p:nvSpPr>
        <p:spPr>
          <a:xfrm>
            <a:off x="4937760" y="1975104"/>
            <a:ext cx="3886200" cy="2834640"/>
          </a:xfrm>
          <a:prstGeom prst="rect">
            <a:avLst/>
          </a:prstGeom>
          <a:solidFill>
            <a:srgbClr val="EAF4FD"/>
          </a:solidFill>
          <a:ln w="12700">
            <a:solidFill>
              <a:srgbClr val="028090"/>
            </a:solidFill>
            <a:prstDash val="solid"/>
          </a:ln>
        </p:spPr>
      </p:sp>
      <p:sp>
        <p:nvSpPr>
          <p:cNvPr id="24" name="Shape 22"/>
          <p:cNvSpPr/>
          <p:nvPr/>
        </p:nvSpPr>
        <p:spPr>
          <a:xfrm>
            <a:off x="5074920" y="2084832"/>
            <a:ext cx="73152" cy="320040"/>
          </a:xfrm>
          <a:prstGeom prst="rect">
            <a:avLst/>
          </a:prstGeom>
          <a:solidFill>
            <a:srgbClr val="028090"/>
          </a:solidFill>
          <a:ln w="12700">
            <a:solidFill>
              <a:srgbClr val="028090"/>
            </a:solidFill>
            <a:prstDash val="solid"/>
          </a:ln>
        </p:spPr>
      </p:sp>
      <p:sp>
        <p:nvSpPr>
          <p:cNvPr id="25" name="Text 23"/>
          <p:cNvSpPr/>
          <p:nvPr/>
        </p:nvSpPr>
        <p:spPr>
          <a:xfrm>
            <a:off x="5257800" y="2084832"/>
            <a:ext cx="3474720" cy="237744"/>
          </a:xfrm>
          <a:prstGeom prst="rect">
            <a:avLst/>
          </a:prstGeom>
          <a:noFill/>
          <a:ln/>
        </p:spPr>
        <p:txBody>
          <a:bodyPr wrap="square" lIns="0" tIns="0" rIns="0" bIns="0" rtlCol="0" anchor="ctr"/>
          <a:lstStyle/>
          <a:p>
            <a:pPr indent="0" marL="0">
              <a:buNone/>
            </a:pPr>
            <a:r>
              <a:rPr lang="en-US" sz="1200" b="1" dirty="0">
                <a:solidFill>
                  <a:srgbClr val="1E2D4E"/>
                </a:solidFill>
              </a:rPr>
              <a:t>Human eval</a:t>
            </a:r>
            <a:endParaRPr lang="en-US" sz="1200" dirty="0"/>
          </a:p>
        </p:txBody>
      </p:sp>
      <p:sp>
        <p:nvSpPr>
          <p:cNvPr id="26" name="Text 24"/>
          <p:cNvSpPr/>
          <p:nvPr/>
        </p:nvSpPr>
        <p:spPr>
          <a:xfrm>
            <a:off x="5257800" y="2322576"/>
            <a:ext cx="3474720" cy="292608"/>
          </a:xfrm>
          <a:prstGeom prst="rect">
            <a:avLst/>
          </a:prstGeom>
          <a:noFill/>
          <a:ln/>
        </p:spPr>
        <p:txBody>
          <a:bodyPr wrap="square" lIns="0" tIns="0" rIns="0" bIns="0" rtlCol="0" anchor="ctr"/>
          <a:lstStyle/>
          <a:p>
            <a:pPr indent="0" marL="0">
              <a:buNone/>
            </a:pPr>
            <a:r>
              <a:rPr lang="en-US" sz="1050" dirty="0">
                <a:solidFill>
                  <a:srgbClr val="4A5568"/>
                </a:solidFill>
              </a:rPr>
              <a:t>Gold standard. A human rates response quality against a rubric. Expensive, slow, doesn't scale.</a:t>
            </a:r>
            <a:endParaRPr lang="en-US" sz="1050" dirty="0"/>
          </a:p>
        </p:txBody>
      </p:sp>
      <p:sp>
        <p:nvSpPr>
          <p:cNvPr id="27" name="Shape 25"/>
          <p:cNvSpPr/>
          <p:nvPr/>
        </p:nvSpPr>
        <p:spPr>
          <a:xfrm>
            <a:off x="5074920" y="2743200"/>
            <a:ext cx="73152" cy="320040"/>
          </a:xfrm>
          <a:prstGeom prst="rect">
            <a:avLst/>
          </a:prstGeom>
          <a:solidFill>
            <a:srgbClr val="028090"/>
          </a:solidFill>
          <a:ln w="12700">
            <a:solidFill>
              <a:srgbClr val="028090"/>
            </a:solidFill>
            <a:prstDash val="solid"/>
          </a:ln>
        </p:spPr>
      </p:sp>
      <p:sp>
        <p:nvSpPr>
          <p:cNvPr id="28" name="Text 26"/>
          <p:cNvSpPr/>
          <p:nvPr/>
        </p:nvSpPr>
        <p:spPr>
          <a:xfrm>
            <a:off x="5257800" y="2743200"/>
            <a:ext cx="3474720" cy="237744"/>
          </a:xfrm>
          <a:prstGeom prst="rect">
            <a:avLst/>
          </a:prstGeom>
          <a:noFill/>
          <a:ln/>
        </p:spPr>
        <p:txBody>
          <a:bodyPr wrap="square" lIns="0" tIns="0" rIns="0" bIns="0" rtlCol="0" anchor="ctr"/>
          <a:lstStyle/>
          <a:p>
            <a:pPr indent="0" marL="0">
              <a:buNone/>
            </a:pPr>
            <a:r>
              <a:rPr lang="en-US" sz="1200" b="1" dirty="0">
                <a:solidFill>
                  <a:srgbClr val="1E2D4E"/>
                </a:solidFill>
              </a:rPr>
              <a:t>LLM-as-judge</a:t>
            </a:r>
            <a:endParaRPr lang="en-US" sz="1200" dirty="0"/>
          </a:p>
        </p:txBody>
      </p:sp>
      <p:sp>
        <p:nvSpPr>
          <p:cNvPr id="29" name="Text 27"/>
          <p:cNvSpPr/>
          <p:nvPr/>
        </p:nvSpPr>
        <p:spPr>
          <a:xfrm>
            <a:off x="5257800" y="2980944"/>
            <a:ext cx="3474720" cy="292608"/>
          </a:xfrm>
          <a:prstGeom prst="rect">
            <a:avLst/>
          </a:prstGeom>
          <a:noFill/>
          <a:ln/>
        </p:spPr>
        <p:txBody>
          <a:bodyPr wrap="square" lIns="0" tIns="0" rIns="0" bIns="0" rtlCol="0" anchor="ctr"/>
          <a:lstStyle/>
          <a:p>
            <a:pPr indent="0" marL="0">
              <a:buNone/>
            </a:pPr>
            <a:r>
              <a:rPr lang="en-US" sz="1050" dirty="0">
                <a:solidFill>
                  <a:srgbClr val="4A5568"/>
                </a:solidFill>
              </a:rPr>
              <a:t>Use GPT/Claude to grade responses against your rubric. Fast, scalable, but introduces model bias.</a:t>
            </a:r>
            <a:endParaRPr lang="en-US" sz="1050" dirty="0"/>
          </a:p>
        </p:txBody>
      </p:sp>
      <p:sp>
        <p:nvSpPr>
          <p:cNvPr id="30" name="Shape 28"/>
          <p:cNvSpPr/>
          <p:nvPr/>
        </p:nvSpPr>
        <p:spPr>
          <a:xfrm>
            <a:off x="5074920" y="3401568"/>
            <a:ext cx="73152" cy="320040"/>
          </a:xfrm>
          <a:prstGeom prst="rect">
            <a:avLst/>
          </a:prstGeom>
          <a:solidFill>
            <a:srgbClr val="028090"/>
          </a:solidFill>
          <a:ln w="12700">
            <a:solidFill>
              <a:srgbClr val="028090"/>
            </a:solidFill>
            <a:prstDash val="solid"/>
          </a:ln>
        </p:spPr>
      </p:sp>
      <p:sp>
        <p:nvSpPr>
          <p:cNvPr id="31" name="Text 29"/>
          <p:cNvSpPr/>
          <p:nvPr/>
        </p:nvSpPr>
        <p:spPr>
          <a:xfrm>
            <a:off x="5257800" y="3401568"/>
            <a:ext cx="3474720" cy="237744"/>
          </a:xfrm>
          <a:prstGeom prst="rect">
            <a:avLst/>
          </a:prstGeom>
          <a:noFill/>
          <a:ln/>
        </p:spPr>
        <p:txBody>
          <a:bodyPr wrap="square" lIns="0" tIns="0" rIns="0" bIns="0" rtlCol="0" anchor="ctr"/>
          <a:lstStyle/>
          <a:p>
            <a:pPr indent="0" marL="0">
              <a:buNone/>
            </a:pPr>
            <a:r>
              <a:rPr lang="en-US" sz="1200" b="1" dirty="0">
                <a:solidFill>
                  <a:srgbClr val="1E2D4E"/>
                </a:solidFill>
              </a:rPr>
              <a:t>Task-specific evals</a:t>
            </a:r>
            <a:endParaRPr lang="en-US" sz="1200" dirty="0"/>
          </a:p>
        </p:txBody>
      </p:sp>
      <p:sp>
        <p:nvSpPr>
          <p:cNvPr id="32" name="Text 30"/>
          <p:cNvSpPr/>
          <p:nvPr/>
        </p:nvSpPr>
        <p:spPr>
          <a:xfrm>
            <a:off x="5257800" y="3639312"/>
            <a:ext cx="3474720" cy="292608"/>
          </a:xfrm>
          <a:prstGeom prst="rect">
            <a:avLst/>
          </a:prstGeom>
          <a:noFill/>
          <a:ln/>
        </p:spPr>
        <p:txBody>
          <a:bodyPr wrap="square" lIns="0" tIns="0" rIns="0" bIns="0" rtlCol="0" anchor="ctr"/>
          <a:lstStyle/>
          <a:p>
            <a:pPr indent="0" marL="0">
              <a:buNone/>
            </a:pPr>
            <a:r>
              <a:rPr lang="en-US" sz="1050" dirty="0">
                <a:solidFill>
                  <a:srgbClr val="4A5568"/>
                </a:solidFill>
              </a:rPr>
              <a:t>Factuality, groundedness, coherence, hallucination rate — custom metrics for your use case.</a:t>
            </a:r>
            <a:endParaRPr lang="en-US" sz="1050" dirty="0"/>
          </a:p>
        </p:txBody>
      </p:sp>
      <p:sp>
        <p:nvSpPr>
          <p:cNvPr id="33" name="Shape 31"/>
          <p:cNvSpPr/>
          <p:nvPr/>
        </p:nvSpPr>
        <p:spPr>
          <a:xfrm>
            <a:off x="5074920" y="4059936"/>
            <a:ext cx="73152" cy="320040"/>
          </a:xfrm>
          <a:prstGeom prst="rect">
            <a:avLst/>
          </a:prstGeom>
          <a:solidFill>
            <a:srgbClr val="028090"/>
          </a:solidFill>
          <a:ln w="12700">
            <a:solidFill>
              <a:srgbClr val="028090"/>
            </a:solidFill>
            <a:prstDash val="solid"/>
          </a:ln>
        </p:spPr>
      </p:sp>
      <p:sp>
        <p:nvSpPr>
          <p:cNvPr id="34" name="Text 32"/>
          <p:cNvSpPr/>
          <p:nvPr/>
        </p:nvSpPr>
        <p:spPr>
          <a:xfrm>
            <a:off x="5257800" y="4059936"/>
            <a:ext cx="3474720" cy="237744"/>
          </a:xfrm>
          <a:prstGeom prst="rect">
            <a:avLst/>
          </a:prstGeom>
          <a:noFill/>
          <a:ln/>
        </p:spPr>
        <p:txBody>
          <a:bodyPr wrap="square" lIns="0" tIns="0" rIns="0" bIns="0" rtlCol="0" anchor="ctr"/>
          <a:lstStyle/>
          <a:p>
            <a:pPr indent="0" marL="0">
              <a:buNone/>
            </a:pPr>
            <a:r>
              <a:rPr lang="en-US" sz="1200" b="1" dirty="0">
                <a:solidFill>
                  <a:srgbClr val="1E2D4E"/>
                </a:solidFill>
              </a:rPr>
              <a:t>RAGAS (for RAG)</a:t>
            </a:r>
            <a:endParaRPr lang="en-US" sz="1200" dirty="0"/>
          </a:p>
        </p:txBody>
      </p:sp>
      <p:sp>
        <p:nvSpPr>
          <p:cNvPr id="35" name="Text 33"/>
          <p:cNvSpPr/>
          <p:nvPr/>
        </p:nvSpPr>
        <p:spPr>
          <a:xfrm>
            <a:off x="5257800" y="4297680"/>
            <a:ext cx="3474720" cy="292608"/>
          </a:xfrm>
          <a:prstGeom prst="rect">
            <a:avLst/>
          </a:prstGeom>
          <a:noFill/>
          <a:ln/>
        </p:spPr>
        <p:txBody>
          <a:bodyPr wrap="square" lIns="0" tIns="0" rIns="0" bIns="0" rtlCol="0" anchor="ctr"/>
          <a:lstStyle/>
          <a:p>
            <a:pPr indent="0" marL="0">
              <a:buNone/>
            </a:pPr>
            <a:r>
              <a:rPr lang="en-US" sz="1050" dirty="0">
                <a:solidFill>
                  <a:srgbClr val="4A5568"/>
                </a:solidFill>
              </a:rPr>
              <a:t>Specific framework: context precision, recall, faithfulness, answer relevance. Use for retrieval-based AI.</a:t>
            </a:r>
            <a:endParaRPr lang="en-US" sz="1050" dirty="0"/>
          </a:p>
        </p:txBody>
      </p:sp>
      <p:sp>
        <p:nvSpPr>
          <p:cNvPr id="36" name="Shape 34"/>
          <p:cNvSpPr/>
          <p:nvPr/>
        </p:nvSpPr>
        <p:spPr>
          <a:xfrm>
            <a:off x="320040" y="4617720"/>
            <a:ext cx="8503920" cy="347472"/>
          </a:xfrm>
          <a:prstGeom prst="rect">
            <a:avLst/>
          </a:prstGeom>
          <a:solidFill>
            <a:srgbClr val="1E2D4E"/>
          </a:solidFill>
          <a:ln w="12700">
            <a:solidFill>
              <a:srgbClr val="1E2D4E"/>
            </a:solidFill>
            <a:prstDash val="solid"/>
          </a:ln>
        </p:spPr>
      </p:sp>
      <p:sp>
        <p:nvSpPr>
          <p:cNvPr id="37" name="Text 35"/>
          <p:cNvSpPr/>
          <p:nvPr/>
        </p:nvSpPr>
        <p:spPr>
          <a:xfrm>
            <a:off x="457200" y="4663440"/>
            <a:ext cx="8321040" cy="274320"/>
          </a:xfrm>
          <a:prstGeom prst="rect">
            <a:avLst/>
          </a:prstGeom>
          <a:noFill/>
          <a:ln/>
        </p:spPr>
        <p:txBody>
          <a:bodyPr wrap="square" lIns="0" tIns="0" rIns="0" bIns="0" rtlCol="0" anchor="ctr"/>
          <a:lstStyle/>
          <a:p>
            <a:pPr algn="ctr" indent="0" marL="0">
              <a:buNone/>
            </a:pPr>
            <a:r>
              <a:rPr lang="en-US" sz="1150" i="1" dirty="0">
                <a:solidFill>
                  <a:srgbClr val="02C39A"/>
                </a:solidFill>
              </a:rPr>
              <a:t>For AI, the evaluation framework IS the product. If you can't measure it, you can't improve it. — Peter Drucker</a:t>
            </a:r>
            <a:endParaRPr lang="en-US" sz="1150" dirty="0"/>
          </a:p>
        </p:txBody>
      </p:sp>
      <p:sp>
        <p:nvSpPr>
          <p:cNvPr id="39" name="Text 36"/>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A28"/>
        </a:solidFill>
      </p:bgPr>
    </p:bg>
    <p:spTree>
      <p:nvGrpSpPr>
        <p:cNvPr id="1" name=""/>
        <p:cNvGrpSpPr/>
        <p:nvPr/>
      </p:nvGrpSpPr>
      <p:grpSpPr>
        <a:xfrm>
          <a:off x="0" y="0"/>
          <a:ext cx="0" cy="0"/>
          <a:chOff x="0" y="0"/>
          <a:chExt cx="0" cy="0"/>
        </a:xfrm>
      </p:grpSpPr>
      <p:sp>
        <p:nvSpPr>
          <p:cNvPr id="2" name="Text 0"/>
          <p:cNvSpPr/>
          <p:nvPr/>
        </p:nvSpPr>
        <p:spPr>
          <a:xfrm>
            <a:off x="731520" y="731520"/>
            <a:ext cx="7315200" cy="685800"/>
          </a:xfrm>
          <a:prstGeom prst="rect">
            <a:avLst/>
          </a:prstGeom>
          <a:noFill/>
          <a:ln/>
        </p:spPr>
        <p:txBody>
          <a:bodyPr wrap="square" lIns="0" tIns="0" rIns="0" bIns="0" rtlCol="0" anchor="ctr"/>
          <a:lstStyle/>
          <a:p>
            <a:pPr algn="l" indent="0" marL="0">
              <a:buNone/>
            </a:pPr>
            <a:r>
              <a:rPr lang="en-US" sz="3600" i="1" dirty="0">
                <a:solidFill>
                  <a:srgbClr val="94A3B8"/>
                </a:solidFill>
                <a:latin typeface="Georgia" pitchFamily="34" charset="0"/>
                <a:ea typeface="Georgia" pitchFamily="34" charset="-122"/>
                <a:cs typeface="Georgia" pitchFamily="34" charset="-120"/>
              </a:rPr>
              <a:t>The recipe runs.</a:t>
            </a:r>
            <a:endParaRPr lang="en-US" sz="3600" dirty="0"/>
          </a:p>
        </p:txBody>
      </p:sp>
      <p:sp>
        <p:nvSpPr>
          <p:cNvPr id="3" name="Text 1"/>
          <p:cNvSpPr/>
          <p:nvPr/>
        </p:nvSpPr>
        <p:spPr>
          <a:xfrm>
            <a:off x="731520" y="1444752"/>
            <a:ext cx="7315200" cy="685800"/>
          </a:xfrm>
          <a:prstGeom prst="rect">
            <a:avLst/>
          </a:prstGeom>
          <a:noFill/>
          <a:ln/>
        </p:spPr>
        <p:txBody>
          <a:bodyPr wrap="square" lIns="0" tIns="0" rIns="0" bIns="0" rtlCol="0" anchor="ctr"/>
          <a:lstStyle/>
          <a:p>
            <a:pPr algn="l" indent="0" marL="0">
              <a:buNone/>
            </a:pPr>
            <a:r>
              <a:rPr lang="en-US" sz="3600" i="1" dirty="0">
                <a:solidFill>
                  <a:srgbClr val="94A3B8"/>
                </a:solidFill>
                <a:latin typeface="Georgia" pitchFamily="34" charset="0"/>
                <a:ea typeface="Georgia" pitchFamily="34" charset="-122"/>
                <a:cs typeface="Georgia" pitchFamily="34" charset="-120"/>
              </a:rPr>
              <a:t>Evaluation keeps it honest.</a:t>
            </a:r>
            <a:endParaRPr lang="en-US" sz="3600" dirty="0"/>
          </a:p>
        </p:txBody>
      </p:sp>
      <p:sp>
        <p:nvSpPr>
          <p:cNvPr id="4" name="Shape 2"/>
          <p:cNvSpPr/>
          <p:nvPr/>
        </p:nvSpPr>
        <p:spPr>
          <a:xfrm>
            <a:off x="731520" y="2212848"/>
            <a:ext cx="6400800" cy="54864"/>
          </a:xfrm>
          <a:prstGeom prst="rect">
            <a:avLst/>
          </a:prstGeom>
          <a:solidFill>
            <a:srgbClr val="028090"/>
          </a:solidFill>
          <a:ln w="12700">
            <a:solidFill>
              <a:srgbClr val="028090"/>
            </a:solidFill>
            <a:prstDash val="solid"/>
          </a:ln>
        </p:spPr>
      </p:sp>
      <p:sp>
        <p:nvSpPr>
          <p:cNvPr id="5" name="Text 3"/>
          <p:cNvSpPr/>
          <p:nvPr/>
        </p:nvSpPr>
        <p:spPr>
          <a:xfrm>
            <a:off x="731520" y="2377440"/>
            <a:ext cx="7772400" cy="868680"/>
          </a:xfrm>
          <a:prstGeom prst="rect">
            <a:avLst/>
          </a:prstGeom>
          <a:noFill/>
          <a:ln/>
        </p:spPr>
        <p:txBody>
          <a:bodyPr wrap="square" lIns="0" tIns="0" rIns="0" bIns="0" rtlCol="0" anchor="ctr"/>
          <a:lstStyle/>
          <a:p>
            <a:pPr algn="l" indent="0" marL="0">
              <a:buNone/>
            </a:pPr>
            <a:r>
              <a:rPr lang="en-US" sz="5000" b="1" dirty="0">
                <a:solidFill>
                  <a:srgbClr val="02C39A"/>
                </a:solidFill>
                <a:latin typeface="Georgia" pitchFamily="34" charset="0"/>
                <a:ea typeface="Georgia" pitchFamily="34" charset="-122"/>
                <a:cs typeface="Georgia" pitchFamily="34" charset="-120"/>
              </a:rPr>
              <a:t>The system makes it last.</a:t>
            </a:r>
            <a:endParaRPr lang="en-US" sz="5000" dirty="0"/>
          </a:p>
        </p:txBody>
      </p:sp>
      <p:sp>
        <p:nvSpPr>
          <p:cNvPr id="6" name="Text 4"/>
          <p:cNvSpPr/>
          <p:nvPr/>
        </p:nvSpPr>
        <p:spPr>
          <a:xfrm>
            <a:off x="731520" y="3337560"/>
            <a:ext cx="7772400" cy="685800"/>
          </a:xfrm>
          <a:prstGeom prst="rect">
            <a:avLst/>
          </a:prstGeom>
          <a:noFill/>
          <a:ln/>
        </p:spPr>
        <p:txBody>
          <a:bodyPr wrap="square" lIns="0" tIns="0" rIns="0" bIns="0" rtlCol="0" anchor="ctr"/>
          <a:lstStyle/>
          <a:p>
            <a:pPr algn="l" indent="0" marL="0">
              <a:buNone/>
            </a:pPr>
            <a:r>
              <a:rPr lang="en-US" sz="1700" i="1" dirty="0">
                <a:solidFill>
                  <a:srgbClr val="94A3B8"/>
                </a:solidFill>
                <a:latin typeface="Georgia" pitchFamily="34" charset="0"/>
                <a:ea typeface="Georgia" pitchFamily="34" charset="-122"/>
                <a:cs typeface="Georgia" pitchFamily="34" charset="-120"/>
              </a:rPr>
              <a:t>A model in production that isn't monitored, retrained, and governed</a:t>
            </a:r>
            <a:endParaRPr lang="en-US" sz="1700" dirty="0"/>
          </a:p>
          <a:p>
            <a:pPr algn="l" indent="0" marL="0">
              <a:buNone/>
            </a:pPr>
            <a:r>
              <a:rPr lang="en-US" sz="1700" i="1" dirty="0">
                <a:solidFill>
                  <a:srgbClr val="94A3B8"/>
                </a:solidFill>
                <a:latin typeface="Georgia" pitchFamily="34" charset="0"/>
                <a:ea typeface="Georgia" pitchFamily="34" charset="-122"/>
                <a:cs typeface="Georgia" pitchFamily="34" charset="-120"/>
              </a:rPr>
              <a:t>is a model that's slowly becoming wrong.</a:t>
            </a:r>
            <a:endParaRPr lang="en-US" sz="1700" dirty="0"/>
          </a:p>
        </p:txBody>
      </p:sp>
      <p:sp>
        <p:nvSpPr>
          <p:cNvPr id="7" name="Text 5"/>
          <p:cNvSpPr/>
          <p:nvPr/>
        </p:nvSpPr>
        <p:spPr>
          <a:xfrm>
            <a:off x="731520" y="4133088"/>
            <a:ext cx="7315200" cy="347472"/>
          </a:xfrm>
          <a:prstGeom prst="rect">
            <a:avLst/>
          </a:prstGeom>
          <a:noFill/>
          <a:ln/>
        </p:spPr>
        <p:txBody>
          <a:bodyPr wrap="square" lIns="0" tIns="0" rIns="0" bIns="0" rtlCol="0" anchor="ctr"/>
          <a:lstStyle/>
          <a:p>
            <a:pPr algn="l" indent="0" marL="0">
              <a:buNone/>
            </a:pPr>
            <a:r>
              <a:rPr lang="en-US" sz="1500" i="1" dirty="0">
                <a:solidFill>
                  <a:srgbClr val="028090"/>
                </a:solidFill>
                <a:latin typeface="Georgia" pitchFamily="34" charset="0"/>
                <a:ea typeface="Georgia" pitchFamily="34" charset="-122"/>
                <a:cs typeface="Georgia" pitchFamily="34" charset="-120"/>
              </a:rPr>
              <a:t>Two suspects identified. One more to go.</a:t>
            </a:r>
            <a:endParaRPr lang="en-US" sz="1500" dirty="0"/>
          </a:p>
        </p:txBody>
      </p:sp>
      <p:sp>
        <p:nvSpPr>
          <p:cNvPr id="9" name="Text 6"/>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PART 3: DATA SCIENCE IS A SYSTEM — THE 4 A'S</a:t>
            </a:r>
            <a:endParaRPr lang="en-US" sz="1300" dirty="0"/>
          </a:p>
        </p:txBody>
      </p:sp>
      <p:sp>
        <p:nvSpPr>
          <p:cNvPr id="4" name="Text 2"/>
          <p:cNvSpPr/>
          <p:nvPr/>
        </p:nvSpPr>
        <p:spPr>
          <a:xfrm>
            <a:off x="457200" y="713232"/>
            <a:ext cx="8229600" cy="411480"/>
          </a:xfrm>
          <a:prstGeom prst="rect">
            <a:avLst/>
          </a:prstGeom>
          <a:noFill/>
          <a:ln/>
        </p:spPr>
        <p:txBody>
          <a:bodyPr wrap="square" lIns="0" tIns="0" rIns="0" bIns="0" rtlCol="0" anchor="ctr"/>
          <a:lstStyle/>
          <a:p>
            <a:pPr indent="0" marL="0">
              <a:buNone/>
            </a:pPr>
            <a:r>
              <a:rPr lang="en-US" sz="1700" i="1" dirty="0">
                <a:solidFill>
                  <a:srgbClr val="1A2535"/>
                </a:solidFill>
                <a:latin typeface="Georgia" pitchFamily="34" charset="0"/>
                <a:ea typeface="Georgia" pitchFamily="34" charset="-122"/>
                <a:cs typeface="Georgia" pitchFamily="34" charset="-120"/>
              </a:rPr>
              <a:t>It's not the algorithm that matters. It's the system that sustains it.</a:t>
            </a:r>
            <a:endParaRPr lang="en-US" sz="1700" dirty="0"/>
          </a:p>
        </p:txBody>
      </p:sp>
      <p:sp>
        <p:nvSpPr>
          <p:cNvPr id="5" name="Shape 3"/>
          <p:cNvSpPr/>
          <p:nvPr/>
        </p:nvSpPr>
        <p:spPr>
          <a:xfrm>
            <a:off x="320040" y="1207008"/>
            <a:ext cx="4069080" cy="1609344"/>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320040" y="1207008"/>
            <a:ext cx="4069080" cy="109728"/>
          </a:xfrm>
          <a:prstGeom prst="rect">
            <a:avLst/>
          </a:prstGeom>
          <a:solidFill>
            <a:srgbClr val="028090"/>
          </a:solidFill>
          <a:ln w="12700">
            <a:solidFill>
              <a:srgbClr val="028090"/>
            </a:solidFill>
            <a:prstDash val="solid"/>
          </a:ln>
        </p:spPr>
      </p:sp>
      <p:sp>
        <p:nvSpPr>
          <p:cNvPr id="7" name="Shape 5"/>
          <p:cNvSpPr/>
          <p:nvPr/>
        </p:nvSpPr>
        <p:spPr>
          <a:xfrm>
            <a:off x="457200" y="1389888"/>
            <a:ext cx="475488" cy="475488"/>
          </a:xfrm>
          <a:prstGeom prst="ellipse">
            <a:avLst/>
          </a:prstGeom>
          <a:solidFill>
            <a:srgbClr val="028090"/>
          </a:solidFill>
          <a:ln w="12700">
            <a:solidFill>
              <a:srgbClr val="028090"/>
            </a:solidFill>
            <a:prstDash val="solid"/>
          </a:ln>
        </p:spPr>
      </p:sp>
      <p:sp>
        <p:nvSpPr>
          <p:cNvPr id="8" name="Text 6"/>
          <p:cNvSpPr/>
          <p:nvPr/>
        </p:nvSpPr>
        <p:spPr>
          <a:xfrm>
            <a:off x="457200" y="1389888"/>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1033272" y="1389888"/>
            <a:ext cx="3200400" cy="457200"/>
          </a:xfrm>
          <a:prstGeom prst="rect">
            <a:avLst/>
          </a:prstGeom>
          <a:noFill/>
          <a:ln/>
        </p:spPr>
        <p:txBody>
          <a:bodyPr wrap="square" lIns="0" tIns="0" rIns="0" bIns="0" rtlCol="0" anchor="ctr"/>
          <a:lstStyle/>
          <a:p>
            <a:pPr indent="0" marL="0">
              <a:buNone/>
            </a:pPr>
            <a:r>
              <a:rPr lang="en-US" sz="1800" b="1" dirty="0">
                <a:solidFill>
                  <a:srgbClr val="1A2535"/>
                </a:solidFill>
                <a:latin typeface="Georgia" pitchFamily="34" charset="0"/>
                <a:ea typeface="Georgia" pitchFamily="34" charset="-122"/>
                <a:cs typeface="Georgia" pitchFamily="34" charset="-120"/>
              </a:rPr>
              <a:t>Automation</a:t>
            </a:r>
            <a:endParaRPr lang="en-US" sz="1800" dirty="0"/>
          </a:p>
        </p:txBody>
      </p:sp>
      <p:sp>
        <p:nvSpPr>
          <p:cNvPr id="10" name="Text 8"/>
          <p:cNvSpPr/>
          <p:nvPr/>
        </p:nvSpPr>
        <p:spPr>
          <a:xfrm>
            <a:off x="457200" y="1956816"/>
            <a:ext cx="3794760" cy="475488"/>
          </a:xfrm>
          <a:prstGeom prst="rect">
            <a:avLst/>
          </a:prstGeom>
          <a:noFill/>
          <a:ln/>
        </p:spPr>
        <p:txBody>
          <a:bodyPr wrap="square" lIns="0" tIns="0" rIns="0" bIns="0" rtlCol="0" anchor="ctr"/>
          <a:lstStyle/>
          <a:p>
            <a:pPr indent="0" marL="0">
              <a:buNone/>
            </a:pPr>
            <a:r>
              <a:rPr lang="en-US" sz="1100" dirty="0">
                <a:solidFill>
                  <a:srgbClr val="1A2535"/>
                </a:solidFill>
              </a:rPr>
              <a:t>Reduce decision lag — the time between observation and action. A fraud model that runs in 20ms is a system. A model that runs in batch overnight is a report.</a:t>
            </a:r>
            <a:endParaRPr lang="en-US" sz="1100" dirty="0"/>
          </a:p>
        </p:txBody>
      </p:sp>
      <p:sp>
        <p:nvSpPr>
          <p:cNvPr id="11" name="Text 9"/>
          <p:cNvSpPr/>
          <p:nvPr/>
        </p:nvSpPr>
        <p:spPr>
          <a:xfrm>
            <a:off x="457200" y="2450592"/>
            <a:ext cx="3794760" cy="310896"/>
          </a:xfrm>
          <a:prstGeom prst="rect">
            <a:avLst/>
          </a:prstGeom>
          <a:noFill/>
          <a:ln/>
        </p:spPr>
        <p:txBody>
          <a:bodyPr wrap="square" lIns="0" tIns="0" rIns="0" bIns="0" rtlCol="0" anchor="ctr"/>
          <a:lstStyle/>
          <a:p>
            <a:pPr indent="0" marL="0">
              <a:buNone/>
            </a:pPr>
            <a:r>
              <a:rPr lang="en-US" sz="1000" i="1" dirty="0">
                <a:solidFill>
                  <a:srgbClr val="4A5568"/>
                </a:solidFill>
              </a:rPr>
              <a:t>e.g. Real-time scoring engines, automated data pipelines, self-service dashboards</a:t>
            </a:r>
            <a:endParaRPr lang="en-US" sz="1000" dirty="0"/>
          </a:p>
        </p:txBody>
      </p:sp>
      <p:sp>
        <p:nvSpPr>
          <p:cNvPr id="12" name="Shape 10"/>
          <p:cNvSpPr/>
          <p:nvPr/>
        </p:nvSpPr>
        <p:spPr>
          <a:xfrm>
            <a:off x="4636008" y="1207008"/>
            <a:ext cx="4069080" cy="1609344"/>
          </a:xfrm>
          <a:prstGeom prst="rect">
            <a:avLst/>
          </a:prstGeom>
          <a:solidFill>
            <a:srgbClr val="EDFAF4"/>
          </a:solidFill>
          <a:ln w="12700">
            <a:solidFill>
              <a:srgbClr val="27AE60"/>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4636008" y="1207008"/>
            <a:ext cx="4069080" cy="109728"/>
          </a:xfrm>
          <a:prstGeom prst="rect">
            <a:avLst/>
          </a:prstGeom>
          <a:solidFill>
            <a:srgbClr val="27AE60"/>
          </a:solidFill>
          <a:ln w="12700">
            <a:solidFill>
              <a:srgbClr val="27AE60"/>
            </a:solidFill>
            <a:prstDash val="solid"/>
          </a:ln>
        </p:spPr>
      </p:sp>
      <p:sp>
        <p:nvSpPr>
          <p:cNvPr id="14" name="Shape 12"/>
          <p:cNvSpPr/>
          <p:nvPr/>
        </p:nvSpPr>
        <p:spPr>
          <a:xfrm>
            <a:off x="4773168" y="1389888"/>
            <a:ext cx="475488" cy="475488"/>
          </a:xfrm>
          <a:prstGeom prst="ellipse">
            <a:avLst/>
          </a:prstGeom>
          <a:solidFill>
            <a:srgbClr val="27AE60"/>
          </a:solidFill>
          <a:ln w="12700">
            <a:solidFill>
              <a:srgbClr val="27AE60"/>
            </a:solidFill>
            <a:prstDash val="solid"/>
          </a:ln>
        </p:spPr>
      </p:sp>
      <p:sp>
        <p:nvSpPr>
          <p:cNvPr id="15" name="Text 13"/>
          <p:cNvSpPr/>
          <p:nvPr/>
        </p:nvSpPr>
        <p:spPr>
          <a:xfrm>
            <a:off x="4773168" y="1389888"/>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5349240" y="1389888"/>
            <a:ext cx="3200400" cy="457200"/>
          </a:xfrm>
          <a:prstGeom prst="rect">
            <a:avLst/>
          </a:prstGeom>
          <a:noFill/>
          <a:ln/>
        </p:spPr>
        <p:txBody>
          <a:bodyPr wrap="square" lIns="0" tIns="0" rIns="0" bIns="0" rtlCol="0" anchor="ctr"/>
          <a:lstStyle/>
          <a:p>
            <a:pPr indent="0" marL="0">
              <a:buNone/>
            </a:pPr>
            <a:r>
              <a:rPr lang="en-US" sz="1800" b="1" dirty="0">
                <a:solidFill>
                  <a:srgbClr val="1A2535"/>
                </a:solidFill>
                <a:latin typeface="Georgia" pitchFamily="34" charset="0"/>
                <a:ea typeface="Georgia" pitchFamily="34" charset="-122"/>
                <a:cs typeface="Georgia" pitchFamily="34" charset="-120"/>
              </a:rPr>
              <a:t>Accuracy</a:t>
            </a:r>
            <a:endParaRPr lang="en-US" sz="1800" dirty="0"/>
          </a:p>
        </p:txBody>
      </p:sp>
      <p:sp>
        <p:nvSpPr>
          <p:cNvPr id="17" name="Text 15"/>
          <p:cNvSpPr/>
          <p:nvPr/>
        </p:nvSpPr>
        <p:spPr>
          <a:xfrm>
            <a:off x="4773168" y="1956816"/>
            <a:ext cx="3794760" cy="475488"/>
          </a:xfrm>
          <a:prstGeom prst="rect">
            <a:avLst/>
          </a:prstGeom>
          <a:noFill/>
          <a:ln/>
        </p:spPr>
        <p:txBody>
          <a:bodyPr wrap="square" lIns="0" tIns="0" rIns="0" bIns="0" rtlCol="0" anchor="ctr"/>
          <a:lstStyle/>
          <a:p>
            <a:pPr indent="0" marL="0">
              <a:buNone/>
            </a:pPr>
            <a:r>
              <a:rPr lang="en-US" sz="1100" dirty="0">
                <a:solidFill>
                  <a:srgbClr val="1A2535"/>
                </a:solidFill>
              </a:rPr>
              <a:t>A function of problem definition, data engineering, algorithm selection, AND evaluation rigor. Accuracy without the others is just a number.</a:t>
            </a:r>
            <a:endParaRPr lang="en-US" sz="1100" dirty="0"/>
          </a:p>
        </p:txBody>
      </p:sp>
      <p:sp>
        <p:nvSpPr>
          <p:cNvPr id="18" name="Text 16"/>
          <p:cNvSpPr/>
          <p:nvPr/>
        </p:nvSpPr>
        <p:spPr>
          <a:xfrm>
            <a:off x="4773168" y="2450592"/>
            <a:ext cx="3794760" cy="310896"/>
          </a:xfrm>
          <a:prstGeom prst="rect">
            <a:avLst/>
          </a:prstGeom>
          <a:noFill/>
          <a:ln/>
        </p:spPr>
        <p:txBody>
          <a:bodyPr wrap="square" lIns="0" tIns="0" rIns="0" bIns="0" rtlCol="0" anchor="ctr"/>
          <a:lstStyle/>
          <a:p>
            <a:pPr indent="0" marL="0">
              <a:buNone/>
            </a:pPr>
            <a:r>
              <a:rPr lang="en-US" sz="1000" i="1" dirty="0">
                <a:solidFill>
                  <a:srgbClr val="4A5568"/>
                </a:solidFill>
              </a:rPr>
              <a:t>e.g. Multi-metric evaluation, rigorous validation, production monitoring vs. test metrics</a:t>
            </a:r>
            <a:endParaRPr lang="en-US" sz="1000" dirty="0"/>
          </a:p>
        </p:txBody>
      </p:sp>
      <p:sp>
        <p:nvSpPr>
          <p:cNvPr id="19" name="Shape 17"/>
          <p:cNvSpPr/>
          <p:nvPr/>
        </p:nvSpPr>
        <p:spPr>
          <a:xfrm>
            <a:off x="320040" y="3127248"/>
            <a:ext cx="4069080" cy="1609344"/>
          </a:xfrm>
          <a:prstGeom prst="rect">
            <a:avLst/>
          </a:prstGeom>
          <a:solidFill>
            <a:srgbClr val="FFF4EB"/>
          </a:solidFill>
          <a:ln w="12700">
            <a:solidFill>
              <a:srgbClr val="E67E22"/>
            </a:solidFill>
            <a:prstDash val="solid"/>
          </a:ln>
          <a:effectLst>
            <a:outerShdw sx="100000" sy="100000" kx="0" ky="0" algn="bl" rotWithShape="0" blurRad="63500" dist="25400" dir="8100000">
              <a:srgbClr val="000000">
                <a:alpha val="7000"/>
              </a:srgbClr>
            </a:outerShdw>
          </a:effectLst>
        </p:spPr>
      </p:sp>
      <p:sp>
        <p:nvSpPr>
          <p:cNvPr id="20" name="Shape 18"/>
          <p:cNvSpPr/>
          <p:nvPr/>
        </p:nvSpPr>
        <p:spPr>
          <a:xfrm>
            <a:off x="320040" y="3127248"/>
            <a:ext cx="4069080" cy="109728"/>
          </a:xfrm>
          <a:prstGeom prst="rect">
            <a:avLst/>
          </a:prstGeom>
          <a:solidFill>
            <a:srgbClr val="E67E22"/>
          </a:solidFill>
          <a:ln w="12700">
            <a:solidFill>
              <a:srgbClr val="E67E22"/>
            </a:solidFill>
            <a:prstDash val="solid"/>
          </a:ln>
        </p:spPr>
      </p:sp>
      <p:sp>
        <p:nvSpPr>
          <p:cNvPr id="21" name="Shape 19"/>
          <p:cNvSpPr/>
          <p:nvPr/>
        </p:nvSpPr>
        <p:spPr>
          <a:xfrm>
            <a:off x="457200" y="3310128"/>
            <a:ext cx="475488" cy="475488"/>
          </a:xfrm>
          <a:prstGeom prst="ellipse">
            <a:avLst/>
          </a:prstGeom>
          <a:solidFill>
            <a:srgbClr val="E67E22"/>
          </a:solidFill>
          <a:ln w="12700">
            <a:solidFill>
              <a:srgbClr val="E67E22"/>
            </a:solidFill>
            <a:prstDash val="solid"/>
          </a:ln>
        </p:spPr>
      </p:sp>
      <p:sp>
        <p:nvSpPr>
          <p:cNvPr id="22" name="Text 20"/>
          <p:cNvSpPr/>
          <p:nvPr/>
        </p:nvSpPr>
        <p:spPr>
          <a:xfrm>
            <a:off x="457200" y="3310128"/>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1033272" y="3310128"/>
            <a:ext cx="3200400" cy="457200"/>
          </a:xfrm>
          <a:prstGeom prst="rect">
            <a:avLst/>
          </a:prstGeom>
          <a:noFill/>
          <a:ln/>
        </p:spPr>
        <p:txBody>
          <a:bodyPr wrap="square" lIns="0" tIns="0" rIns="0" bIns="0" rtlCol="0" anchor="ctr"/>
          <a:lstStyle/>
          <a:p>
            <a:pPr indent="0" marL="0">
              <a:buNone/>
            </a:pPr>
            <a:r>
              <a:rPr lang="en-US" sz="1800" b="1" dirty="0">
                <a:solidFill>
                  <a:srgbClr val="1A2535"/>
                </a:solidFill>
                <a:latin typeface="Georgia" pitchFamily="34" charset="0"/>
                <a:ea typeface="Georgia" pitchFamily="34" charset="-122"/>
                <a:cs typeface="Georgia" pitchFamily="34" charset="-120"/>
              </a:rPr>
              <a:t>Adaptability</a:t>
            </a:r>
            <a:endParaRPr lang="en-US" sz="1800" dirty="0"/>
          </a:p>
        </p:txBody>
      </p:sp>
      <p:sp>
        <p:nvSpPr>
          <p:cNvPr id="24" name="Text 22"/>
          <p:cNvSpPr/>
          <p:nvPr/>
        </p:nvSpPr>
        <p:spPr>
          <a:xfrm>
            <a:off x="457200" y="3877056"/>
            <a:ext cx="3794760" cy="475488"/>
          </a:xfrm>
          <a:prstGeom prst="rect">
            <a:avLst/>
          </a:prstGeom>
          <a:noFill/>
          <a:ln/>
        </p:spPr>
        <p:txBody>
          <a:bodyPr wrap="square" lIns="0" tIns="0" rIns="0" bIns="0" rtlCol="0" anchor="ctr"/>
          <a:lstStyle/>
          <a:p>
            <a:pPr indent="0" marL="0">
              <a:buNone/>
            </a:pPr>
            <a:r>
              <a:rPr lang="en-US" sz="1100" dirty="0">
                <a:solidFill>
                  <a:srgbClr val="1A2535"/>
                </a:solidFill>
              </a:rPr>
              <a:t>Learning new patterns, minimizing model drift, surviving the world changing. Fraudsters adapt. Customers change. Your model must too.</a:t>
            </a:r>
            <a:endParaRPr lang="en-US" sz="1100" dirty="0"/>
          </a:p>
        </p:txBody>
      </p:sp>
      <p:sp>
        <p:nvSpPr>
          <p:cNvPr id="25" name="Text 23"/>
          <p:cNvSpPr/>
          <p:nvPr/>
        </p:nvSpPr>
        <p:spPr>
          <a:xfrm>
            <a:off x="457200" y="4370832"/>
            <a:ext cx="3794760" cy="310896"/>
          </a:xfrm>
          <a:prstGeom prst="rect">
            <a:avLst/>
          </a:prstGeom>
          <a:noFill/>
          <a:ln/>
        </p:spPr>
        <p:txBody>
          <a:bodyPr wrap="square" lIns="0" tIns="0" rIns="0" bIns="0" rtlCol="0" anchor="ctr"/>
          <a:lstStyle/>
          <a:p>
            <a:pPr indent="0" marL="0">
              <a:buNone/>
            </a:pPr>
            <a:r>
              <a:rPr lang="en-US" sz="1000" i="1" dirty="0">
                <a:solidFill>
                  <a:srgbClr val="4A5568"/>
                </a:solidFill>
              </a:rPr>
              <a:t>e.g. Scheduled retraining, drift detection, champion/challenger model testing</a:t>
            </a:r>
            <a:endParaRPr lang="en-US" sz="1000" dirty="0"/>
          </a:p>
        </p:txBody>
      </p:sp>
      <p:sp>
        <p:nvSpPr>
          <p:cNvPr id="26" name="Shape 24"/>
          <p:cNvSpPr/>
          <p:nvPr/>
        </p:nvSpPr>
        <p:spPr>
          <a:xfrm>
            <a:off x="4636008" y="3127248"/>
            <a:ext cx="4069080" cy="1609344"/>
          </a:xfrm>
          <a:prstGeom prst="rect">
            <a:avLst/>
          </a:prstGeom>
          <a:solidFill>
            <a:srgbClr val="F8F0FF"/>
          </a:solidFill>
          <a:ln w="12700">
            <a:solidFill>
              <a:srgbClr val="9B59B6"/>
            </a:solidFill>
            <a:prstDash val="solid"/>
          </a:ln>
          <a:effectLst>
            <a:outerShdw sx="100000" sy="100000" kx="0" ky="0" algn="bl" rotWithShape="0" blurRad="63500" dist="25400" dir="8100000">
              <a:srgbClr val="000000">
                <a:alpha val="7000"/>
              </a:srgbClr>
            </a:outerShdw>
          </a:effectLst>
        </p:spPr>
      </p:sp>
      <p:sp>
        <p:nvSpPr>
          <p:cNvPr id="27" name="Shape 25"/>
          <p:cNvSpPr/>
          <p:nvPr/>
        </p:nvSpPr>
        <p:spPr>
          <a:xfrm>
            <a:off x="4636008" y="3127248"/>
            <a:ext cx="4069080" cy="109728"/>
          </a:xfrm>
          <a:prstGeom prst="rect">
            <a:avLst/>
          </a:prstGeom>
          <a:solidFill>
            <a:srgbClr val="9B59B6"/>
          </a:solidFill>
          <a:ln w="12700">
            <a:solidFill>
              <a:srgbClr val="9B59B6"/>
            </a:solidFill>
            <a:prstDash val="solid"/>
          </a:ln>
        </p:spPr>
      </p:sp>
      <p:sp>
        <p:nvSpPr>
          <p:cNvPr id="28" name="Shape 26"/>
          <p:cNvSpPr/>
          <p:nvPr/>
        </p:nvSpPr>
        <p:spPr>
          <a:xfrm>
            <a:off x="4773168" y="3310128"/>
            <a:ext cx="475488" cy="475488"/>
          </a:xfrm>
          <a:prstGeom prst="ellipse">
            <a:avLst/>
          </a:prstGeom>
          <a:solidFill>
            <a:srgbClr val="9B59B6"/>
          </a:solidFill>
          <a:ln w="12700">
            <a:solidFill>
              <a:srgbClr val="9B59B6"/>
            </a:solidFill>
            <a:prstDash val="solid"/>
          </a:ln>
        </p:spPr>
      </p:sp>
      <p:sp>
        <p:nvSpPr>
          <p:cNvPr id="29" name="Text 27"/>
          <p:cNvSpPr/>
          <p:nvPr/>
        </p:nvSpPr>
        <p:spPr>
          <a:xfrm>
            <a:off x="4773168" y="3310128"/>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Text 28"/>
          <p:cNvSpPr/>
          <p:nvPr/>
        </p:nvSpPr>
        <p:spPr>
          <a:xfrm>
            <a:off x="5349240" y="3310128"/>
            <a:ext cx="3200400" cy="457200"/>
          </a:xfrm>
          <a:prstGeom prst="rect">
            <a:avLst/>
          </a:prstGeom>
          <a:noFill/>
          <a:ln/>
        </p:spPr>
        <p:txBody>
          <a:bodyPr wrap="square" lIns="0" tIns="0" rIns="0" bIns="0" rtlCol="0" anchor="ctr"/>
          <a:lstStyle/>
          <a:p>
            <a:pPr indent="0" marL="0">
              <a:buNone/>
            </a:pPr>
            <a:r>
              <a:rPr lang="en-US" sz="1800" b="1" dirty="0">
                <a:solidFill>
                  <a:srgbClr val="1A2535"/>
                </a:solidFill>
                <a:latin typeface="Georgia" pitchFamily="34" charset="0"/>
                <a:ea typeface="Georgia" pitchFamily="34" charset="-122"/>
                <a:cs typeface="Georgia" pitchFamily="34" charset="-120"/>
              </a:rPr>
              <a:t>Accountability</a:t>
            </a:r>
            <a:endParaRPr lang="en-US" sz="1800" dirty="0"/>
          </a:p>
        </p:txBody>
      </p:sp>
      <p:sp>
        <p:nvSpPr>
          <p:cNvPr id="31" name="Text 29"/>
          <p:cNvSpPr/>
          <p:nvPr/>
        </p:nvSpPr>
        <p:spPr>
          <a:xfrm>
            <a:off x="4773168" y="3877056"/>
            <a:ext cx="3794760" cy="475488"/>
          </a:xfrm>
          <a:prstGeom prst="rect">
            <a:avLst/>
          </a:prstGeom>
          <a:noFill/>
          <a:ln/>
        </p:spPr>
        <p:txBody>
          <a:bodyPr wrap="square" lIns="0" tIns="0" rIns="0" bIns="0" rtlCol="0" anchor="ctr"/>
          <a:lstStyle/>
          <a:p>
            <a:pPr indent="0" marL="0">
              <a:buNone/>
            </a:pPr>
            <a:r>
              <a:rPr lang="en-US" sz="1100" dirty="0">
                <a:solidFill>
                  <a:srgbClr val="1A2535"/>
                </a:solidFill>
              </a:rPr>
              <a:t>Interpretability, governance, humans in the loop. Automated systems must be explainable, auditable, and correctable. Especially in regulated industries.</a:t>
            </a:r>
            <a:endParaRPr lang="en-US" sz="1100" dirty="0"/>
          </a:p>
        </p:txBody>
      </p:sp>
      <p:sp>
        <p:nvSpPr>
          <p:cNvPr id="32" name="Text 30"/>
          <p:cNvSpPr/>
          <p:nvPr/>
        </p:nvSpPr>
        <p:spPr>
          <a:xfrm>
            <a:off x="4773168" y="4370832"/>
            <a:ext cx="3794760" cy="310896"/>
          </a:xfrm>
          <a:prstGeom prst="rect">
            <a:avLst/>
          </a:prstGeom>
          <a:noFill/>
          <a:ln/>
        </p:spPr>
        <p:txBody>
          <a:bodyPr wrap="square" lIns="0" tIns="0" rIns="0" bIns="0" rtlCol="0" anchor="ctr"/>
          <a:lstStyle/>
          <a:p>
            <a:pPr indent="0" marL="0">
              <a:buNone/>
            </a:pPr>
            <a:r>
              <a:rPr lang="en-US" sz="1000" i="1" dirty="0">
                <a:solidFill>
                  <a:srgbClr val="4A5568"/>
                </a:solidFill>
              </a:rPr>
              <a:t>e.g. SHAP explanations, model cards, bias audits, human review workflows</a:t>
            </a:r>
            <a:endParaRPr lang="en-US" sz="1000" dirty="0"/>
          </a:p>
        </p:txBody>
      </p:sp>
      <p:sp>
        <p:nvSpPr>
          <p:cNvPr id="34" name="Text 31"/>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CLOSING THE LOOP: HOW GOOD SYSTEMS IMPROVE OVER TIME</a:t>
            </a:r>
            <a:endParaRPr lang="en-US" sz="1300" dirty="0"/>
          </a:p>
        </p:txBody>
      </p:sp>
      <p:sp>
        <p:nvSpPr>
          <p:cNvPr id="4" name="Shape 2"/>
          <p:cNvSpPr/>
          <p:nvPr/>
        </p:nvSpPr>
        <p:spPr>
          <a:xfrm>
            <a:off x="320040" y="713232"/>
            <a:ext cx="8503920" cy="658368"/>
          </a:xfrm>
          <a:prstGeom prst="rect">
            <a:avLst/>
          </a:prstGeom>
          <a:solidFill>
            <a:srgbClr val="EAF4FD"/>
          </a:solidFill>
          <a:ln w="12700">
            <a:solidFill>
              <a:srgbClr val="028090"/>
            </a:solidFill>
            <a:prstDash val="solid"/>
          </a:ln>
        </p:spPr>
      </p:sp>
      <p:sp>
        <p:nvSpPr>
          <p:cNvPr id="5" name="Text 3"/>
          <p:cNvSpPr/>
          <p:nvPr/>
        </p:nvSpPr>
        <p:spPr>
          <a:xfrm>
            <a:off x="502920" y="786384"/>
            <a:ext cx="8229600" cy="512064"/>
          </a:xfrm>
          <a:prstGeom prst="rect">
            <a:avLst/>
          </a:prstGeom>
          <a:noFill/>
          <a:ln/>
        </p:spPr>
        <p:txBody>
          <a:bodyPr wrap="square" lIns="0" tIns="0" rIns="0" bIns="0" rtlCol="0" anchor="ctr"/>
          <a:lstStyle/>
          <a:p>
            <a:pPr algn="ctr" indent="0" marL="0">
              <a:buNone/>
            </a:pPr>
            <a:r>
              <a:rPr lang="en-US" sz="1500" i="1" dirty="0">
                <a:solidFill>
                  <a:srgbClr val="1E2D4E"/>
                </a:solidFill>
                <a:latin typeface="Georgia" pitchFamily="34" charset="0"/>
                <a:ea typeface="Georgia" pitchFamily="34" charset="-122"/>
                <a:cs typeface="Georgia" pitchFamily="34" charset="-120"/>
              </a:rPr>
              <a:t>"The model was great last year" is not a system. A system learns from what it got right — and wrong — over time.</a:t>
            </a:r>
            <a:endParaRPr lang="en-US" sz="1500" dirty="0"/>
          </a:p>
        </p:txBody>
      </p:sp>
      <p:sp>
        <p:nvSpPr>
          <p:cNvPr id="6" name="Shape 4"/>
          <p:cNvSpPr/>
          <p:nvPr/>
        </p:nvSpPr>
        <p:spPr>
          <a:xfrm>
            <a:off x="320040" y="1508760"/>
            <a:ext cx="1938528" cy="2011680"/>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320040" y="1508760"/>
            <a:ext cx="1938528" cy="109728"/>
          </a:xfrm>
          <a:prstGeom prst="rect">
            <a:avLst/>
          </a:prstGeom>
          <a:solidFill>
            <a:srgbClr val="028090"/>
          </a:solidFill>
          <a:ln w="12700">
            <a:solidFill>
              <a:srgbClr val="028090"/>
            </a:solidFill>
            <a:prstDash val="solid"/>
          </a:ln>
        </p:spPr>
      </p:sp>
      <p:sp>
        <p:nvSpPr>
          <p:cNvPr id="8" name="Shape 6"/>
          <p:cNvSpPr/>
          <p:nvPr/>
        </p:nvSpPr>
        <p:spPr>
          <a:xfrm>
            <a:off x="429768" y="1673352"/>
            <a:ext cx="420624" cy="420624"/>
          </a:xfrm>
          <a:prstGeom prst="ellipse">
            <a:avLst/>
          </a:prstGeom>
          <a:solidFill>
            <a:srgbClr val="028090"/>
          </a:solidFill>
          <a:ln w="12700">
            <a:solidFill>
              <a:srgbClr val="028090"/>
            </a:solidFill>
            <a:prstDash val="solid"/>
          </a:ln>
        </p:spPr>
      </p:sp>
      <p:sp>
        <p:nvSpPr>
          <p:cNvPr id="9" name="Text 7"/>
          <p:cNvSpPr/>
          <p:nvPr/>
        </p:nvSpPr>
        <p:spPr>
          <a:xfrm>
            <a:off x="429768" y="1673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10" name="Text 8"/>
          <p:cNvSpPr/>
          <p:nvPr/>
        </p:nvSpPr>
        <p:spPr>
          <a:xfrm>
            <a:off x="923544" y="1709928"/>
            <a:ext cx="1243584" cy="347472"/>
          </a:xfrm>
          <a:prstGeom prst="rect">
            <a:avLst/>
          </a:prstGeom>
          <a:noFill/>
          <a:ln/>
        </p:spPr>
        <p:txBody>
          <a:bodyPr wrap="square" lIns="0" tIns="0" rIns="0" bIns="0" rtlCol="0" anchor="ctr"/>
          <a:lstStyle/>
          <a:p>
            <a:pPr indent="0" marL="0">
              <a:buNone/>
            </a:pPr>
            <a:r>
              <a:rPr lang="en-US" sz="1500" b="1" dirty="0">
                <a:solidFill>
                  <a:srgbClr val="1A2535"/>
                </a:solidFill>
                <a:latin typeface="Georgia" pitchFamily="34" charset="0"/>
                <a:ea typeface="Georgia" pitchFamily="34" charset="-122"/>
                <a:cs typeface="Georgia" pitchFamily="34" charset="-120"/>
              </a:rPr>
              <a:t>Deploy</a:t>
            </a:r>
            <a:endParaRPr lang="en-US" sz="1500" dirty="0"/>
          </a:p>
        </p:txBody>
      </p:sp>
      <p:sp>
        <p:nvSpPr>
          <p:cNvPr id="11" name="Text 9"/>
          <p:cNvSpPr/>
          <p:nvPr/>
        </p:nvSpPr>
        <p:spPr>
          <a:xfrm>
            <a:off x="429768" y="2194560"/>
            <a:ext cx="1719072" cy="1234440"/>
          </a:xfrm>
          <a:prstGeom prst="rect">
            <a:avLst/>
          </a:prstGeom>
          <a:noFill/>
          <a:ln/>
        </p:spPr>
        <p:txBody>
          <a:bodyPr wrap="square" lIns="0" tIns="0" rIns="0" bIns="0" rtlCol="0" anchor="ctr"/>
          <a:lstStyle/>
          <a:p>
            <a:pPr indent="0" marL="0">
              <a:buNone/>
            </a:pPr>
            <a:r>
              <a:rPr lang="en-US" sz="1050" dirty="0">
                <a:solidFill>
                  <a:srgbClr val="1A2535"/>
                </a:solidFill>
              </a:rPr>
              <a:t>Model scores</a:t>
            </a:r>
            <a:endParaRPr lang="en-US" sz="1050" dirty="0"/>
          </a:p>
          <a:p>
            <a:pPr indent="0" marL="0">
              <a:buNone/>
            </a:pPr>
            <a:r>
              <a:rPr lang="en-US" sz="1050" dirty="0">
                <a:solidFill>
                  <a:srgbClr val="1A2535"/>
                </a:solidFill>
              </a:rPr>
              <a:t>in production.</a:t>
            </a:r>
            <a:endParaRPr lang="en-US" sz="1050" dirty="0"/>
          </a:p>
          <a:p>
            <a:pPr indent="0" marL="0">
              <a:buNone/>
            </a:pPr>
            <a:r>
              <a:rPr lang="en-US" sz="1050" dirty="0">
                <a:solidFill>
                  <a:srgbClr val="1A2535"/>
                </a:solidFill>
              </a:rPr>
              <a:t>Decisions happen</a:t>
            </a:r>
            <a:endParaRPr lang="en-US" sz="1050" dirty="0"/>
          </a:p>
          <a:p>
            <a:pPr indent="0" marL="0">
              <a:buNone/>
            </a:pPr>
            <a:r>
              <a:rPr lang="en-US" sz="1050" dirty="0">
                <a:solidFill>
                  <a:srgbClr val="1A2535"/>
                </a:solidFill>
              </a:rPr>
              <a:t>in real time.</a:t>
            </a:r>
            <a:endParaRPr lang="en-US" sz="1050" dirty="0"/>
          </a:p>
        </p:txBody>
      </p:sp>
      <p:sp>
        <p:nvSpPr>
          <p:cNvPr id="12" name="Text 10"/>
          <p:cNvSpPr/>
          <p:nvPr/>
        </p:nvSpPr>
        <p:spPr>
          <a:xfrm>
            <a:off x="2258568" y="2331720"/>
            <a:ext cx="274320" cy="36576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13" name="Shape 11"/>
          <p:cNvSpPr/>
          <p:nvPr/>
        </p:nvSpPr>
        <p:spPr>
          <a:xfrm>
            <a:off x="2532888" y="1508760"/>
            <a:ext cx="1938528" cy="2011680"/>
          </a:xfrm>
          <a:prstGeom prst="rect">
            <a:avLst/>
          </a:prstGeom>
          <a:solidFill>
            <a:srgbClr val="EDFAF4"/>
          </a:solidFill>
          <a:ln w="12700">
            <a:solidFill>
              <a:srgbClr val="27AE60"/>
            </a:solidFill>
            <a:prstDash val="solid"/>
          </a:ln>
          <a:effectLst>
            <a:outerShdw sx="100000" sy="100000" kx="0" ky="0" algn="bl" rotWithShape="0" blurRad="63500" dist="25400" dir="8100000">
              <a:srgbClr val="000000">
                <a:alpha val="7000"/>
              </a:srgbClr>
            </a:outerShdw>
          </a:effectLst>
        </p:spPr>
      </p:sp>
      <p:sp>
        <p:nvSpPr>
          <p:cNvPr id="14" name="Shape 12"/>
          <p:cNvSpPr/>
          <p:nvPr/>
        </p:nvSpPr>
        <p:spPr>
          <a:xfrm>
            <a:off x="2532888" y="1508760"/>
            <a:ext cx="1938528" cy="109728"/>
          </a:xfrm>
          <a:prstGeom prst="rect">
            <a:avLst/>
          </a:prstGeom>
          <a:solidFill>
            <a:srgbClr val="27AE60"/>
          </a:solidFill>
          <a:ln w="12700">
            <a:solidFill>
              <a:srgbClr val="27AE60"/>
            </a:solidFill>
            <a:prstDash val="solid"/>
          </a:ln>
        </p:spPr>
      </p:sp>
      <p:sp>
        <p:nvSpPr>
          <p:cNvPr id="15" name="Shape 13"/>
          <p:cNvSpPr/>
          <p:nvPr/>
        </p:nvSpPr>
        <p:spPr>
          <a:xfrm>
            <a:off x="2642616" y="1673352"/>
            <a:ext cx="420624" cy="420624"/>
          </a:xfrm>
          <a:prstGeom prst="ellipse">
            <a:avLst/>
          </a:prstGeom>
          <a:solidFill>
            <a:srgbClr val="27AE60"/>
          </a:solidFill>
          <a:ln w="12700">
            <a:solidFill>
              <a:srgbClr val="27AE60"/>
            </a:solidFill>
            <a:prstDash val="solid"/>
          </a:ln>
        </p:spPr>
      </p:sp>
      <p:sp>
        <p:nvSpPr>
          <p:cNvPr id="16" name="Text 14"/>
          <p:cNvSpPr/>
          <p:nvPr/>
        </p:nvSpPr>
        <p:spPr>
          <a:xfrm>
            <a:off x="2642616" y="1673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17" name="Text 15"/>
          <p:cNvSpPr/>
          <p:nvPr/>
        </p:nvSpPr>
        <p:spPr>
          <a:xfrm>
            <a:off x="3136392" y="1709928"/>
            <a:ext cx="1243584" cy="347472"/>
          </a:xfrm>
          <a:prstGeom prst="rect">
            <a:avLst/>
          </a:prstGeom>
          <a:noFill/>
          <a:ln/>
        </p:spPr>
        <p:txBody>
          <a:bodyPr wrap="square" lIns="0" tIns="0" rIns="0" bIns="0" rtlCol="0" anchor="ctr"/>
          <a:lstStyle/>
          <a:p>
            <a:pPr indent="0" marL="0">
              <a:buNone/>
            </a:pPr>
            <a:r>
              <a:rPr lang="en-US" sz="1500" b="1" dirty="0">
                <a:solidFill>
                  <a:srgbClr val="1A2535"/>
                </a:solidFill>
                <a:latin typeface="Georgia" pitchFamily="34" charset="0"/>
                <a:ea typeface="Georgia" pitchFamily="34" charset="-122"/>
                <a:cs typeface="Georgia" pitchFamily="34" charset="-120"/>
              </a:rPr>
              <a:t>Observe</a:t>
            </a:r>
            <a:endParaRPr lang="en-US" sz="1500" dirty="0"/>
          </a:p>
        </p:txBody>
      </p:sp>
      <p:sp>
        <p:nvSpPr>
          <p:cNvPr id="18" name="Text 16"/>
          <p:cNvSpPr/>
          <p:nvPr/>
        </p:nvSpPr>
        <p:spPr>
          <a:xfrm>
            <a:off x="2642616" y="2194560"/>
            <a:ext cx="1719072" cy="1234440"/>
          </a:xfrm>
          <a:prstGeom prst="rect">
            <a:avLst/>
          </a:prstGeom>
          <a:noFill/>
          <a:ln/>
        </p:spPr>
        <p:txBody>
          <a:bodyPr wrap="square" lIns="0" tIns="0" rIns="0" bIns="0" rtlCol="0" anchor="ctr"/>
          <a:lstStyle/>
          <a:p>
            <a:pPr indent="0" marL="0">
              <a:buNone/>
            </a:pPr>
            <a:r>
              <a:rPr lang="en-US" sz="1050" dirty="0">
                <a:solidFill>
                  <a:srgbClr val="1A2535"/>
                </a:solidFill>
              </a:rPr>
              <a:t>Collect actual</a:t>
            </a:r>
            <a:endParaRPr lang="en-US" sz="1050" dirty="0"/>
          </a:p>
          <a:p>
            <a:pPr indent="0" marL="0">
              <a:buNone/>
            </a:pPr>
            <a:r>
              <a:rPr lang="en-US" sz="1050" dirty="0">
                <a:solidFill>
                  <a:srgbClr val="1A2535"/>
                </a:solidFill>
              </a:rPr>
              <a:t>outcomes. Did the</a:t>
            </a:r>
            <a:endParaRPr lang="en-US" sz="1050" dirty="0"/>
          </a:p>
          <a:p>
            <a:pPr indent="0" marL="0">
              <a:buNone/>
            </a:pPr>
            <a:r>
              <a:rPr lang="en-US" sz="1050" dirty="0">
                <a:solidFill>
                  <a:srgbClr val="1A2535"/>
                </a:solidFill>
              </a:rPr>
              <a:t>fraud actually</a:t>
            </a:r>
            <a:endParaRPr lang="en-US" sz="1050" dirty="0"/>
          </a:p>
          <a:p>
            <a:pPr indent="0" marL="0">
              <a:buNone/>
            </a:pPr>
            <a:r>
              <a:rPr lang="en-US" sz="1050" dirty="0">
                <a:solidFill>
                  <a:srgbClr val="1A2535"/>
                </a:solidFill>
              </a:rPr>
              <a:t>happen?</a:t>
            </a:r>
            <a:endParaRPr lang="en-US" sz="1050" dirty="0"/>
          </a:p>
        </p:txBody>
      </p:sp>
      <p:sp>
        <p:nvSpPr>
          <p:cNvPr id="19" name="Text 17"/>
          <p:cNvSpPr/>
          <p:nvPr/>
        </p:nvSpPr>
        <p:spPr>
          <a:xfrm>
            <a:off x="4471416" y="2331720"/>
            <a:ext cx="274320" cy="36576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20" name="Shape 18"/>
          <p:cNvSpPr/>
          <p:nvPr/>
        </p:nvSpPr>
        <p:spPr>
          <a:xfrm>
            <a:off x="4745736" y="1508760"/>
            <a:ext cx="1938528" cy="2011680"/>
          </a:xfrm>
          <a:prstGeom prst="rect">
            <a:avLst/>
          </a:prstGeom>
          <a:solidFill>
            <a:srgbClr val="FFF4EB"/>
          </a:solidFill>
          <a:ln w="12700">
            <a:solidFill>
              <a:srgbClr val="E67E22"/>
            </a:solidFill>
            <a:prstDash val="solid"/>
          </a:ln>
          <a:effectLst>
            <a:outerShdw sx="100000" sy="100000" kx="0" ky="0" algn="bl" rotWithShape="0" blurRad="63500" dist="25400" dir="8100000">
              <a:srgbClr val="000000">
                <a:alpha val="7000"/>
              </a:srgbClr>
            </a:outerShdw>
          </a:effectLst>
        </p:spPr>
      </p:sp>
      <p:sp>
        <p:nvSpPr>
          <p:cNvPr id="21" name="Shape 19"/>
          <p:cNvSpPr/>
          <p:nvPr/>
        </p:nvSpPr>
        <p:spPr>
          <a:xfrm>
            <a:off x="4745736" y="1508760"/>
            <a:ext cx="1938528" cy="109728"/>
          </a:xfrm>
          <a:prstGeom prst="rect">
            <a:avLst/>
          </a:prstGeom>
          <a:solidFill>
            <a:srgbClr val="E67E22"/>
          </a:solidFill>
          <a:ln w="12700">
            <a:solidFill>
              <a:srgbClr val="E67E22"/>
            </a:solidFill>
            <a:prstDash val="solid"/>
          </a:ln>
        </p:spPr>
      </p:sp>
      <p:sp>
        <p:nvSpPr>
          <p:cNvPr id="22" name="Shape 20"/>
          <p:cNvSpPr/>
          <p:nvPr/>
        </p:nvSpPr>
        <p:spPr>
          <a:xfrm>
            <a:off x="4855464" y="1673352"/>
            <a:ext cx="420624" cy="420624"/>
          </a:xfrm>
          <a:prstGeom prst="ellipse">
            <a:avLst/>
          </a:prstGeom>
          <a:solidFill>
            <a:srgbClr val="E67E22"/>
          </a:solidFill>
          <a:ln w="12700">
            <a:solidFill>
              <a:srgbClr val="E67E22"/>
            </a:solidFill>
            <a:prstDash val="solid"/>
          </a:ln>
        </p:spPr>
      </p:sp>
      <p:sp>
        <p:nvSpPr>
          <p:cNvPr id="23" name="Text 21"/>
          <p:cNvSpPr/>
          <p:nvPr/>
        </p:nvSpPr>
        <p:spPr>
          <a:xfrm>
            <a:off x="4855464" y="1673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24" name="Text 22"/>
          <p:cNvSpPr/>
          <p:nvPr/>
        </p:nvSpPr>
        <p:spPr>
          <a:xfrm>
            <a:off x="5349240" y="1709928"/>
            <a:ext cx="1243584" cy="347472"/>
          </a:xfrm>
          <a:prstGeom prst="rect">
            <a:avLst/>
          </a:prstGeom>
          <a:noFill/>
          <a:ln/>
        </p:spPr>
        <p:txBody>
          <a:bodyPr wrap="square" lIns="0" tIns="0" rIns="0" bIns="0" rtlCol="0" anchor="ctr"/>
          <a:lstStyle/>
          <a:p>
            <a:pPr indent="0" marL="0">
              <a:buNone/>
            </a:pPr>
            <a:r>
              <a:rPr lang="en-US" sz="1500" b="1" dirty="0">
                <a:solidFill>
                  <a:srgbClr val="1A2535"/>
                </a:solidFill>
                <a:latin typeface="Georgia" pitchFamily="34" charset="0"/>
                <a:ea typeface="Georgia" pitchFamily="34" charset="-122"/>
                <a:cs typeface="Georgia" pitchFamily="34" charset="-120"/>
              </a:rPr>
              <a:t>Evaluate</a:t>
            </a:r>
            <a:endParaRPr lang="en-US" sz="1500" dirty="0"/>
          </a:p>
        </p:txBody>
      </p:sp>
      <p:sp>
        <p:nvSpPr>
          <p:cNvPr id="25" name="Text 23"/>
          <p:cNvSpPr/>
          <p:nvPr/>
        </p:nvSpPr>
        <p:spPr>
          <a:xfrm>
            <a:off x="4855464" y="2194560"/>
            <a:ext cx="1719072" cy="1234440"/>
          </a:xfrm>
          <a:prstGeom prst="rect">
            <a:avLst/>
          </a:prstGeom>
          <a:noFill/>
          <a:ln/>
        </p:spPr>
        <p:txBody>
          <a:bodyPr wrap="square" lIns="0" tIns="0" rIns="0" bIns="0" rtlCol="0" anchor="ctr"/>
          <a:lstStyle/>
          <a:p>
            <a:pPr indent="0" marL="0">
              <a:buNone/>
            </a:pPr>
            <a:r>
              <a:rPr lang="en-US" sz="1050" dirty="0">
                <a:solidFill>
                  <a:srgbClr val="1A2535"/>
                </a:solidFill>
              </a:rPr>
              <a:t>Compare predictions</a:t>
            </a:r>
            <a:endParaRPr lang="en-US" sz="1050" dirty="0"/>
          </a:p>
          <a:p>
            <a:pPr indent="0" marL="0">
              <a:buNone/>
            </a:pPr>
            <a:r>
              <a:rPr lang="en-US" sz="1050" dirty="0">
                <a:solidFill>
                  <a:srgbClr val="1A2535"/>
                </a:solidFill>
              </a:rPr>
              <a:t>to reality. Is drift</a:t>
            </a:r>
            <a:endParaRPr lang="en-US" sz="1050" dirty="0"/>
          </a:p>
          <a:p>
            <a:pPr indent="0" marL="0">
              <a:buNone/>
            </a:pPr>
            <a:r>
              <a:rPr lang="en-US" sz="1050" dirty="0">
                <a:solidFill>
                  <a:srgbClr val="1A2535"/>
                </a:solidFill>
              </a:rPr>
              <a:t>occurring? Is the</a:t>
            </a:r>
            <a:endParaRPr lang="en-US" sz="1050" dirty="0"/>
          </a:p>
          <a:p>
            <a:pPr indent="0" marL="0">
              <a:buNone/>
            </a:pPr>
            <a:r>
              <a:rPr lang="en-US" sz="1050" dirty="0">
                <a:solidFill>
                  <a:srgbClr val="1A2535"/>
                </a:solidFill>
              </a:rPr>
              <a:t>metric family moving?</a:t>
            </a:r>
            <a:endParaRPr lang="en-US" sz="1050" dirty="0"/>
          </a:p>
        </p:txBody>
      </p:sp>
      <p:sp>
        <p:nvSpPr>
          <p:cNvPr id="26" name="Text 24"/>
          <p:cNvSpPr/>
          <p:nvPr/>
        </p:nvSpPr>
        <p:spPr>
          <a:xfrm>
            <a:off x="6684264" y="2331720"/>
            <a:ext cx="274320" cy="36576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27" name="Shape 25"/>
          <p:cNvSpPr/>
          <p:nvPr/>
        </p:nvSpPr>
        <p:spPr>
          <a:xfrm>
            <a:off x="6958584" y="1508760"/>
            <a:ext cx="1938528" cy="2011680"/>
          </a:xfrm>
          <a:prstGeom prst="rect">
            <a:avLst/>
          </a:prstGeom>
          <a:solidFill>
            <a:srgbClr val="F8F0FF"/>
          </a:solidFill>
          <a:ln w="12700">
            <a:solidFill>
              <a:srgbClr val="9B59B6"/>
            </a:solidFill>
            <a:prstDash val="solid"/>
          </a:ln>
          <a:effectLst>
            <a:outerShdw sx="100000" sy="100000" kx="0" ky="0" algn="bl" rotWithShape="0" blurRad="63500" dist="25400" dir="8100000">
              <a:srgbClr val="000000">
                <a:alpha val="7000"/>
              </a:srgbClr>
            </a:outerShdw>
          </a:effectLst>
        </p:spPr>
      </p:sp>
      <p:sp>
        <p:nvSpPr>
          <p:cNvPr id="28" name="Shape 26"/>
          <p:cNvSpPr/>
          <p:nvPr/>
        </p:nvSpPr>
        <p:spPr>
          <a:xfrm>
            <a:off x="6958584" y="1508760"/>
            <a:ext cx="1938528" cy="109728"/>
          </a:xfrm>
          <a:prstGeom prst="rect">
            <a:avLst/>
          </a:prstGeom>
          <a:solidFill>
            <a:srgbClr val="9B59B6"/>
          </a:solidFill>
          <a:ln w="12700">
            <a:solidFill>
              <a:srgbClr val="9B59B6"/>
            </a:solidFill>
            <a:prstDash val="solid"/>
          </a:ln>
        </p:spPr>
      </p:sp>
      <p:sp>
        <p:nvSpPr>
          <p:cNvPr id="29" name="Shape 27"/>
          <p:cNvSpPr/>
          <p:nvPr/>
        </p:nvSpPr>
        <p:spPr>
          <a:xfrm>
            <a:off x="7068312" y="1673352"/>
            <a:ext cx="420624" cy="420624"/>
          </a:xfrm>
          <a:prstGeom prst="ellipse">
            <a:avLst/>
          </a:prstGeom>
          <a:solidFill>
            <a:srgbClr val="9B59B6"/>
          </a:solidFill>
          <a:ln w="12700">
            <a:solidFill>
              <a:srgbClr val="9B59B6"/>
            </a:solidFill>
            <a:prstDash val="solid"/>
          </a:ln>
        </p:spPr>
      </p:sp>
      <p:sp>
        <p:nvSpPr>
          <p:cNvPr id="30" name="Text 28"/>
          <p:cNvSpPr/>
          <p:nvPr/>
        </p:nvSpPr>
        <p:spPr>
          <a:xfrm>
            <a:off x="7068312" y="1673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31" name="Text 29"/>
          <p:cNvSpPr/>
          <p:nvPr/>
        </p:nvSpPr>
        <p:spPr>
          <a:xfrm>
            <a:off x="7562088" y="1709928"/>
            <a:ext cx="1243584" cy="347472"/>
          </a:xfrm>
          <a:prstGeom prst="rect">
            <a:avLst/>
          </a:prstGeom>
          <a:noFill/>
          <a:ln/>
        </p:spPr>
        <p:txBody>
          <a:bodyPr wrap="square" lIns="0" tIns="0" rIns="0" bIns="0" rtlCol="0" anchor="ctr"/>
          <a:lstStyle/>
          <a:p>
            <a:pPr indent="0" marL="0">
              <a:buNone/>
            </a:pPr>
            <a:r>
              <a:rPr lang="en-US" sz="1500" b="1" dirty="0">
                <a:solidFill>
                  <a:srgbClr val="1A2535"/>
                </a:solidFill>
                <a:latin typeface="Georgia" pitchFamily="34" charset="0"/>
                <a:ea typeface="Georgia" pitchFamily="34" charset="-122"/>
                <a:cs typeface="Georgia" pitchFamily="34" charset="-120"/>
              </a:rPr>
              <a:t>Retrain</a:t>
            </a:r>
            <a:endParaRPr lang="en-US" sz="1500" dirty="0"/>
          </a:p>
        </p:txBody>
      </p:sp>
      <p:sp>
        <p:nvSpPr>
          <p:cNvPr id="32" name="Text 30"/>
          <p:cNvSpPr/>
          <p:nvPr/>
        </p:nvSpPr>
        <p:spPr>
          <a:xfrm>
            <a:off x="7068312" y="2194560"/>
            <a:ext cx="1719072" cy="1234440"/>
          </a:xfrm>
          <a:prstGeom prst="rect">
            <a:avLst/>
          </a:prstGeom>
          <a:noFill/>
          <a:ln/>
        </p:spPr>
        <p:txBody>
          <a:bodyPr wrap="square" lIns="0" tIns="0" rIns="0" bIns="0" rtlCol="0" anchor="ctr"/>
          <a:lstStyle/>
          <a:p>
            <a:pPr indent="0" marL="0">
              <a:buNone/>
            </a:pPr>
            <a:r>
              <a:rPr lang="en-US" sz="1050" dirty="0">
                <a:solidFill>
                  <a:srgbClr val="1A2535"/>
                </a:solidFill>
              </a:rPr>
              <a:t>New ground truth</a:t>
            </a:r>
            <a:endParaRPr lang="en-US" sz="1050" dirty="0"/>
          </a:p>
          <a:p>
            <a:pPr indent="0" marL="0">
              <a:buNone/>
            </a:pPr>
            <a:r>
              <a:rPr lang="en-US" sz="1050" dirty="0">
                <a:solidFill>
                  <a:srgbClr val="1A2535"/>
                </a:solidFill>
              </a:rPr>
              <a:t>flows back in.</a:t>
            </a:r>
            <a:endParaRPr lang="en-US" sz="1050" dirty="0"/>
          </a:p>
          <a:p>
            <a:pPr indent="0" marL="0">
              <a:buNone/>
            </a:pPr>
            <a:r>
              <a:rPr lang="en-US" sz="1050" dirty="0">
                <a:solidFill>
                  <a:srgbClr val="1A2535"/>
                </a:solidFill>
              </a:rPr>
              <a:t>Model improves.</a:t>
            </a:r>
            <a:endParaRPr lang="en-US" sz="1050" dirty="0"/>
          </a:p>
          <a:p>
            <a:pPr indent="0" marL="0">
              <a:buNone/>
            </a:pPr>
            <a:r>
              <a:rPr lang="en-US" sz="1050" dirty="0">
                <a:solidFill>
                  <a:srgbClr val="1A2535"/>
                </a:solidFill>
              </a:rPr>
              <a:t>Cycle repeats.</a:t>
            </a:r>
            <a:endParaRPr lang="en-US" sz="1050" dirty="0"/>
          </a:p>
        </p:txBody>
      </p:sp>
      <p:sp>
        <p:nvSpPr>
          <p:cNvPr id="33" name="Shape 31"/>
          <p:cNvSpPr/>
          <p:nvPr/>
        </p:nvSpPr>
        <p:spPr>
          <a:xfrm>
            <a:off x="320040" y="3611880"/>
            <a:ext cx="8503920" cy="256032"/>
          </a:xfrm>
          <a:prstGeom prst="rect">
            <a:avLst/>
          </a:prstGeom>
          <a:solidFill>
            <a:srgbClr val="028090"/>
          </a:solidFill>
          <a:ln w="12700">
            <a:solidFill>
              <a:srgbClr val="028090"/>
            </a:solidFill>
            <a:prstDash val="solid"/>
          </a:ln>
        </p:spPr>
      </p:sp>
      <p:sp>
        <p:nvSpPr>
          <p:cNvPr id="34" name="Text 32"/>
          <p:cNvSpPr/>
          <p:nvPr/>
        </p:nvSpPr>
        <p:spPr>
          <a:xfrm>
            <a:off x="457200" y="3630168"/>
            <a:ext cx="8321040" cy="219456"/>
          </a:xfrm>
          <a:prstGeom prst="rect">
            <a:avLst/>
          </a:prstGeom>
          <a:noFill/>
          <a:ln/>
        </p:spPr>
        <p:txBody>
          <a:bodyPr wrap="square" lIns="0" tIns="0" rIns="0" bIns="0" rtlCol="0" anchor="ctr"/>
          <a:lstStyle/>
          <a:p>
            <a:pPr algn="ctr" indent="0" marL="0">
              <a:buNone/>
            </a:pPr>
            <a:r>
              <a:rPr lang="en-US" sz="1100" b="1" dirty="0">
                <a:solidFill>
                  <a:srgbClr val="FFFFFF"/>
                </a:solidFill>
              </a:rPr>
              <a:t>⟳   The cycle continues — every loop makes the system smarter</a:t>
            </a:r>
            <a:endParaRPr lang="en-US" sz="1100" dirty="0"/>
          </a:p>
        </p:txBody>
      </p:sp>
      <p:sp>
        <p:nvSpPr>
          <p:cNvPr id="35" name="Shape 33"/>
          <p:cNvSpPr/>
          <p:nvPr/>
        </p:nvSpPr>
        <p:spPr>
          <a:xfrm>
            <a:off x="320040" y="3931920"/>
            <a:ext cx="4114800" cy="1005840"/>
          </a:xfrm>
          <a:prstGeom prst="rect">
            <a:avLst/>
          </a:prstGeom>
          <a:solidFill>
            <a:srgbClr val="FFF0F0"/>
          </a:solidFill>
          <a:ln w="12700">
            <a:solidFill>
              <a:srgbClr val="C0392B"/>
            </a:solidFill>
            <a:prstDash val="solid"/>
          </a:ln>
          <a:effectLst>
            <a:outerShdw sx="100000" sy="100000" kx="0" ky="0" algn="bl" rotWithShape="0" blurRad="63500" dist="25400" dir="8100000">
              <a:srgbClr val="000000">
                <a:alpha val="7000"/>
              </a:srgbClr>
            </a:outerShdw>
          </a:effectLst>
        </p:spPr>
      </p:sp>
      <p:sp>
        <p:nvSpPr>
          <p:cNvPr id="36" name="Text 34"/>
          <p:cNvSpPr/>
          <p:nvPr/>
        </p:nvSpPr>
        <p:spPr>
          <a:xfrm>
            <a:off x="457200" y="3986784"/>
            <a:ext cx="3840480" cy="274320"/>
          </a:xfrm>
          <a:prstGeom prst="rect">
            <a:avLst/>
          </a:prstGeom>
          <a:noFill/>
          <a:ln/>
        </p:spPr>
        <p:txBody>
          <a:bodyPr wrap="square" lIns="0" tIns="0" rIns="0" bIns="0" rtlCol="0" anchor="ctr"/>
          <a:lstStyle/>
          <a:p>
            <a:pPr indent="0" marL="0">
              <a:buNone/>
            </a:pPr>
            <a:r>
              <a:rPr lang="en-US" sz="1200" b="1" dirty="0">
                <a:solidFill>
                  <a:srgbClr val="C0392B"/>
                </a:solidFill>
              </a:rPr>
              <a:t>⚠️  The Fraud ML Gotcha: Outcome Censorship</a:t>
            </a:r>
            <a:endParaRPr lang="en-US" sz="1200" dirty="0"/>
          </a:p>
        </p:txBody>
      </p:sp>
      <p:sp>
        <p:nvSpPr>
          <p:cNvPr id="37" name="Text 35"/>
          <p:cNvSpPr/>
          <p:nvPr/>
        </p:nvSpPr>
        <p:spPr>
          <a:xfrm>
            <a:off x="457200" y="4279392"/>
            <a:ext cx="3840480" cy="594360"/>
          </a:xfrm>
          <a:prstGeom prst="rect">
            <a:avLst/>
          </a:prstGeom>
          <a:noFill/>
          <a:ln/>
        </p:spPr>
        <p:txBody>
          <a:bodyPr wrap="square" lIns="0" tIns="0" rIns="0" bIns="0" rtlCol="0" anchor="ctr"/>
          <a:lstStyle/>
          <a:p>
            <a:pPr indent="0" marL="0">
              <a:buNone/>
            </a:pPr>
            <a:r>
              <a:rPr lang="en-US" sz="1050" dirty="0">
                <a:solidFill>
                  <a:srgbClr val="1A2535"/>
                </a:solidFill>
              </a:rPr>
              <a:t>When you block a transaction, you never learn if it was actually fraud. Your ground truth is systematically incomplete — and your retrained model inherits that blindspot.</a:t>
            </a:r>
            <a:endParaRPr lang="en-US" sz="1050" dirty="0"/>
          </a:p>
        </p:txBody>
      </p:sp>
      <p:sp>
        <p:nvSpPr>
          <p:cNvPr id="38" name="Shape 36"/>
          <p:cNvSpPr/>
          <p:nvPr/>
        </p:nvSpPr>
        <p:spPr>
          <a:xfrm>
            <a:off x="4709160" y="3931920"/>
            <a:ext cx="4114800" cy="1005840"/>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39" name="Text 37"/>
          <p:cNvSpPr/>
          <p:nvPr/>
        </p:nvSpPr>
        <p:spPr>
          <a:xfrm>
            <a:off x="4846320" y="3986784"/>
            <a:ext cx="3840480" cy="274320"/>
          </a:xfrm>
          <a:prstGeom prst="rect">
            <a:avLst/>
          </a:prstGeom>
          <a:noFill/>
          <a:ln/>
        </p:spPr>
        <p:txBody>
          <a:bodyPr wrap="square" lIns="0" tIns="0" rIns="0" bIns="0" rtlCol="0" anchor="ctr"/>
          <a:lstStyle/>
          <a:p>
            <a:pPr indent="0" marL="0">
              <a:buNone/>
            </a:pPr>
            <a:r>
              <a:rPr lang="en-US" sz="1200" b="1" dirty="0">
                <a:solidFill>
                  <a:srgbClr val="028090"/>
                </a:solidFill>
              </a:rPr>
              <a:t>💡  The Data Flywheel</a:t>
            </a:r>
            <a:endParaRPr lang="en-US" sz="1200" dirty="0"/>
          </a:p>
        </p:txBody>
      </p:sp>
      <p:sp>
        <p:nvSpPr>
          <p:cNvPr id="40" name="Text 38"/>
          <p:cNvSpPr/>
          <p:nvPr/>
        </p:nvSpPr>
        <p:spPr>
          <a:xfrm>
            <a:off x="4846320" y="4279392"/>
            <a:ext cx="3840480" cy="594360"/>
          </a:xfrm>
          <a:prstGeom prst="rect">
            <a:avLst/>
          </a:prstGeom>
          <a:noFill/>
          <a:ln/>
        </p:spPr>
        <p:txBody>
          <a:bodyPr wrap="square" lIns="0" tIns="0" rIns="0" bIns="0" rtlCol="0" anchor="ctr"/>
          <a:lstStyle/>
          <a:p>
            <a:pPr indent="0" marL="0">
              <a:buNone/>
            </a:pPr>
            <a:r>
              <a:rPr lang="en-US" sz="1050" dirty="0">
                <a:solidFill>
                  <a:srgbClr val="1A2535"/>
                </a:solidFill>
              </a:rPr>
              <a:t>More predictions → more outcomes → better training data → more accurate model → more trust → more deployment. Scale creates quality. Quality creates scale.</a:t>
            </a:r>
            <a:endParaRPr lang="en-US" sz="1050" dirty="0"/>
          </a:p>
        </p:txBody>
      </p:sp>
      <p:sp>
        <p:nvSpPr>
          <p:cNvPr id="42" name="Text 3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WHAT THIS MEANS FOR YOU</a:t>
            </a:r>
            <a:endParaRPr lang="en-US" sz="1300" dirty="0"/>
          </a:p>
        </p:txBody>
      </p:sp>
      <p:sp>
        <p:nvSpPr>
          <p:cNvPr id="4" name="Text 2"/>
          <p:cNvSpPr/>
          <p:nvPr/>
        </p:nvSpPr>
        <p:spPr>
          <a:xfrm>
            <a:off x="457200" y="713232"/>
            <a:ext cx="8229600" cy="411480"/>
          </a:xfrm>
          <a:prstGeom prst="rect">
            <a:avLst/>
          </a:prstGeom>
          <a:noFill/>
          <a:ln/>
        </p:spPr>
        <p:txBody>
          <a:bodyPr wrap="square" lIns="0" tIns="0" rIns="0" bIns="0" rtlCol="0" anchor="ctr"/>
          <a:lstStyle/>
          <a:p>
            <a:pPr indent="0" marL="0">
              <a:buNone/>
            </a:pPr>
            <a:r>
              <a:rPr lang="en-US" sz="1600" i="1" dirty="0">
                <a:solidFill>
                  <a:srgbClr val="1A2535"/>
                </a:solidFill>
                <a:latin typeface="Georgia" pitchFamily="34" charset="0"/>
                <a:ea typeface="Georgia" pitchFamily="34" charset="-122"/>
                <a:cs typeface="Georgia" pitchFamily="34" charset="-120"/>
              </a:rPr>
              <a:t>Case closed. Now here's how you put it to work — four questions that make you a sharper consumer of DS.</a:t>
            </a:r>
            <a:endParaRPr lang="en-US" sz="1600" dirty="0"/>
          </a:p>
        </p:txBody>
      </p:sp>
      <p:sp>
        <p:nvSpPr>
          <p:cNvPr id="5" name="Shape 3"/>
          <p:cNvSpPr/>
          <p:nvPr/>
        </p:nvSpPr>
        <p:spPr>
          <a:xfrm>
            <a:off x="320040" y="1188720"/>
            <a:ext cx="8503920" cy="859536"/>
          </a:xfrm>
          <a:prstGeom prst="rect">
            <a:avLst/>
          </a:prstGeom>
          <a:solidFill>
            <a:srgbClr val="EEF6FF"/>
          </a:solidFill>
          <a:ln w="12700">
            <a:solidFill>
              <a:srgbClr val="028090"/>
            </a:solidFill>
            <a:prstDash val="solid"/>
          </a:ln>
        </p:spPr>
      </p:sp>
      <p:sp>
        <p:nvSpPr>
          <p:cNvPr id="6" name="Shape 4"/>
          <p:cNvSpPr/>
          <p:nvPr/>
        </p:nvSpPr>
        <p:spPr>
          <a:xfrm>
            <a:off x="320040" y="1188720"/>
            <a:ext cx="137160" cy="859536"/>
          </a:xfrm>
          <a:prstGeom prst="rect">
            <a:avLst/>
          </a:prstGeom>
          <a:solidFill>
            <a:srgbClr val="028090"/>
          </a:solidFill>
          <a:ln w="12700">
            <a:solidFill>
              <a:srgbClr val="028090"/>
            </a:solidFill>
            <a:prstDash val="solid"/>
          </a:ln>
        </p:spPr>
      </p:sp>
      <p:sp>
        <p:nvSpPr>
          <p:cNvPr id="7" name="Text 5"/>
          <p:cNvSpPr/>
          <p:nvPr/>
        </p:nvSpPr>
        <p:spPr>
          <a:xfrm>
            <a:off x="566928" y="1252728"/>
            <a:ext cx="8092440" cy="320040"/>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 metric are you optimizing — and why that one?</a:t>
            </a:r>
            <a:endParaRPr lang="en-US" sz="1350" dirty="0"/>
          </a:p>
        </p:txBody>
      </p:sp>
      <p:sp>
        <p:nvSpPr>
          <p:cNvPr id="8" name="Text 6"/>
          <p:cNvSpPr/>
          <p:nvPr/>
        </p:nvSpPr>
        <p:spPr>
          <a:xfrm>
            <a:off x="566928" y="1572768"/>
            <a:ext cx="8092440" cy="237744"/>
          </a:xfrm>
          <a:prstGeom prst="rect">
            <a:avLst/>
          </a:prstGeom>
          <a:noFill/>
          <a:ln/>
        </p:spPr>
        <p:txBody>
          <a:bodyPr wrap="square" lIns="0" tIns="0" rIns="0" bIns="0" rtlCol="0" anchor="ctr"/>
          <a:lstStyle/>
          <a:p>
            <a:pPr indent="0" marL="0">
              <a:buNone/>
            </a:pPr>
            <a:r>
              <a:rPr lang="en-US" sz="1100" dirty="0">
                <a:solidFill>
                  <a:srgbClr val="4A5568"/>
                </a:solidFill>
              </a:rPr>
              <a:t>Why: Makes sure the team is solving the right problem, not just showing impressive-sounding numbers.</a:t>
            </a:r>
            <a:endParaRPr lang="en-US" sz="1100" dirty="0"/>
          </a:p>
        </p:txBody>
      </p:sp>
      <p:sp>
        <p:nvSpPr>
          <p:cNvPr id="9" name="Text 7"/>
          <p:cNvSpPr/>
          <p:nvPr/>
        </p:nvSpPr>
        <p:spPr>
          <a:xfrm>
            <a:off x="566928" y="1810512"/>
            <a:ext cx="8092440" cy="201168"/>
          </a:xfrm>
          <a:prstGeom prst="rect">
            <a:avLst/>
          </a:prstGeom>
          <a:noFill/>
          <a:ln/>
        </p:spPr>
        <p:txBody>
          <a:bodyPr wrap="square" lIns="0" tIns="0" rIns="0" bIns="0" rtlCol="0" anchor="ctr"/>
          <a:lstStyle/>
          <a:p>
            <a:pPr indent="0" marL="0">
              <a:buNone/>
            </a:pPr>
            <a:r>
              <a:rPr lang="en-US" sz="1050" i="1" dirty="0">
                <a:solidFill>
                  <a:srgbClr val="4A5568"/>
                </a:solidFill>
              </a:rPr>
              <a:t>"99% accurate" vs "PR-AUC of 0.85 with logloss showing good calibration"</a:t>
            </a:r>
            <a:endParaRPr lang="en-US" sz="1050" dirty="0"/>
          </a:p>
        </p:txBody>
      </p:sp>
      <p:sp>
        <p:nvSpPr>
          <p:cNvPr id="10" name="Shape 8"/>
          <p:cNvSpPr/>
          <p:nvPr/>
        </p:nvSpPr>
        <p:spPr>
          <a:xfrm>
            <a:off x="320040" y="2167128"/>
            <a:ext cx="8503920" cy="859536"/>
          </a:xfrm>
          <a:prstGeom prst="rect">
            <a:avLst/>
          </a:prstGeom>
          <a:solidFill>
            <a:srgbClr val="F0FFF8"/>
          </a:solidFill>
          <a:ln w="12700">
            <a:solidFill>
              <a:srgbClr val="02C39A"/>
            </a:solidFill>
            <a:prstDash val="solid"/>
          </a:ln>
        </p:spPr>
      </p:sp>
      <p:sp>
        <p:nvSpPr>
          <p:cNvPr id="11" name="Shape 9"/>
          <p:cNvSpPr/>
          <p:nvPr/>
        </p:nvSpPr>
        <p:spPr>
          <a:xfrm>
            <a:off x="320040" y="2167128"/>
            <a:ext cx="137160" cy="859536"/>
          </a:xfrm>
          <a:prstGeom prst="rect">
            <a:avLst/>
          </a:prstGeom>
          <a:solidFill>
            <a:srgbClr val="02C39A"/>
          </a:solidFill>
          <a:ln w="12700">
            <a:solidFill>
              <a:srgbClr val="02C39A"/>
            </a:solidFill>
            <a:prstDash val="solid"/>
          </a:ln>
        </p:spPr>
      </p:sp>
      <p:sp>
        <p:nvSpPr>
          <p:cNvPr id="12" name="Text 10"/>
          <p:cNvSpPr/>
          <p:nvPr/>
        </p:nvSpPr>
        <p:spPr>
          <a:xfrm>
            <a:off x="566928" y="2231136"/>
            <a:ext cx="8092440" cy="320040"/>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 did you test it on, and how was it sampled?</a:t>
            </a:r>
            <a:endParaRPr lang="en-US" sz="1350" dirty="0"/>
          </a:p>
        </p:txBody>
      </p:sp>
      <p:sp>
        <p:nvSpPr>
          <p:cNvPr id="13" name="Text 11"/>
          <p:cNvSpPr/>
          <p:nvPr/>
        </p:nvSpPr>
        <p:spPr>
          <a:xfrm>
            <a:off x="566928" y="2551176"/>
            <a:ext cx="8092440" cy="237744"/>
          </a:xfrm>
          <a:prstGeom prst="rect">
            <a:avLst/>
          </a:prstGeom>
          <a:noFill/>
          <a:ln/>
        </p:spPr>
        <p:txBody>
          <a:bodyPr wrap="square" lIns="0" tIns="0" rIns="0" bIns="0" rtlCol="0" anchor="ctr"/>
          <a:lstStyle/>
          <a:p>
            <a:pPr indent="0" marL="0">
              <a:buNone/>
            </a:pPr>
            <a:r>
              <a:rPr lang="en-US" sz="1100" dirty="0">
                <a:solidFill>
                  <a:srgbClr val="4A5568"/>
                </a:solidFill>
              </a:rPr>
              <a:t>Why: Exposes overfitting, leakage, and bad sampling before they become expensive production failures.</a:t>
            </a:r>
            <a:endParaRPr lang="en-US" sz="1100" dirty="0"/>
          </a:p>
        </p:txBody>
      </p:sp>
      <p:sp>
        <p:nvSpPr>
          <p:cNvPr id="14" name="Text 12"/>
          <p:cNvSpPr/>
          <p:nvPr/>
        </p:nvSpPr>
        <p:spPr>
          <a:xfrm>
            <a:off x="566928" y="2788920"/>
            <a:ext cx="8092440" cy="201168"/>
          </a:xfrm>
          <a:prstGeom prst="rect">
            <a:avLst/>
          </a:prstGeom>
          <a:noFill/>
          <a:ln/>
        </p:spPr>
        <p:txBody>
          <a:bodyPr wrap="square" lIns="0" tIns="0" rIns="0" bIns="0" rtlCol="0" anchor="ctr"/>
          <a:lstStyle/>
          <a:p>
            <a:pPr indent="0" marL="0">
              <a:buNone/>
            </a:pPr>
            <a:r>
              <a:rPr lang="en-US" sz="1050" i="1" dirty="0">
                <a:solidFill>
                  <a:srgbClr val="4A5568"/>
                </a:solidFill>
              </a:rPr>
              <a:t>"Tested on last month's data" vs "Time-based holdout, stratified by fraud class"</a:t>
            </a:r>
            <a:endParaRPr lang="en-US" sz="1050" dirty="0"/>
          </a:p>
        </p:txBody>
      </p:sp>
      <p:sp>
        <p:nvSpPr>
          <p:cNvPr id="15" name="Shape 13"/>
          <p:cNvSpPr/>
          <p:nvPr/>
        </p:nvSpPr>
        <p:spPr>
          <a:xfrm>
            <a:off x="320040" y="3145536"/>
            <a:ext cx="8503920" cy="859536"/>
          </a:xfrm>
          <a:prstGeom prst="rect">
            <a:avLst/>
          </a:prstGeom>
          <a:solidFill>
            <a:srgbClr val="F5F0FF"/>
          </a:solidFill>
          <a:ln w="12700">
            <a:solidFill>
              <a:srgbClr val="9B59B6"/>
            </a:solidFill>
            <a:prstDash val="solid"/>
          </a:ln>
        </p:spPr>
      </p:sp>
      <p:sp>
        <p:nvSpPr>
          <p:cNvPr id="16" name="Shape 14"/>
          <p:cNvSpPr/>
          <p:nvPr/>
        </p:nvSpPr>
        <p:spPr>
          <a:xfrm>
            <a:off x="320040" y="3145536"/>
            <a:ext cx="137160" cy="859536"/>
          </a:xfrm>
          <a:prstGeom prst="rect">
            <a:avLst/>
          </a:prstGeom>
          <a:solidFill>
            <a:srgbClr val="9B59B6"/>
          </a:solidFill>
          <a:ln w="12700">
            <a:solidFill>
              <a:srgbClr val="9B59B6"/>
            </a:solidFill>
            <a:prstDash val="solid"/>
          </a:ln>
        </p:spPr>
      </p:sp>
      <p:sp>
        <p:nvSpPr>
          <p:cNvPr id="17" name="Text 15"/>
          <p:cNvSpPr/>
          <p:nvPr/>
        </p:nvSpPr>
        <p:spPr>
          <a:xfrm>
            <a:off x="566928" y="3209544"/>
            <a:ext cx="8092440" cy="320040"/>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What's the baseline you're beating?</a:t>
            </a:r>
            <a:endParaRPr lang="en-US" sz="1350" dirty="0"/>
          </a:p>
        </p:txBody>
      </p:sp>
      <p:sp>
        <p:nvSpPr>
          <p:cNvPr id="18" name="Text 16"/>
          <p:cNvSpPr/>
          <p:nvPr/>
        </p:nvSpPr>
        <p:spPr>
          <a:xfrm>
            <a:off x="566928" y="3529584"/>
            <a:ext cx="8092440" cy="237744"/>
          </a:xfrm>
          <a:prstGeom prst="rect">
            <a:avLst/>
          </a:prstGeom>
          <a:noFill/>
          <a:ln/>
        </p:spPr>
        <p:txBody>
          <a:bodyPr wrap="square" lIns="0" tIns="0" rIns="0" bIns="0" rtlCol="0" anchor="ctr"/>
          <a:lstStyle/>
          <a:p>
            <a:pPr indent="0" marL="0">
              <a:buNone/>
            </a:pPr>
            <a:r>
              <a:rPr lang="en-US" sz="1100" dirty="0">
                <a:solidFill>
                  <a:srgbClr val="4A5568"/>
                </a:solidFill>
              </a:rPr>
              <a:t>Why: Ensures the model adds real value over the current process — not just cost and complexity.</a:t>
            </a:r>
            <a:endParaRPr lang="en-US" sz="1100" dirty="0"/>
          </a:p>
        </p:txBody>
      </p:sp>
      <p:sp>
        <p:nvSpPr>
          <p:cNvPr id="19" name="Text 17"/>
          <p:cNvSpPr/>
          <p:nvPr/>
        </p:nvSpPr>
        <p:spPr>
          <a:xfrm>
            <a:off x="566928" y="3767328"/>
            <a:ext cx="8092440" cy="201168"/>
          </a:xfrm>
          <a:prstGeom prst="rect">
            <a:avLst/>
          </a:prstGeom>
          <a:noFill/>
          <a:ln/>
        </p:spPr>
        <p:txBody>
          <a:bodyPr wrap="square" lIns="0" tIns="0" rIns="0" bIns="0" rtlCol="0" anchor="ctr"/>
          <a:lstStyle/>
          <a:p>
            <a:pPr indent="0" marL="0">
              <a:buNone/>
            </a:pPr>
            <a:r>
              <a:rPr lang="en-US" sz="1050" i="1" dirty="0">
                <a:solidFill>
                  <a:srgbClr val="4A5568"/>
                </a:solidFill>
              </a:rPr>
              <a:t>"Our model predicts churn" → vs what exactly? A simple rule? A random guess?</a:t>
            </a:r>
            <a:endParaRPr lang="en-US" sz="1050" dirty="0"/>
          </a:p>
        </p:txBody>
      </p:sp>
      <p:sp>
        <p:nvSpPr>
          <p:cNvPr id="20" name="Shape 18"/>
          <p:cNvSpPr/>
          <p:nvPr/>
        </p:nvSpPr>
        <p:spPr>
          <a:xfrm>
            <a:off x="320040" y="4123944"/>
            <a:ext cx="8503920" cy="859536"/>
          </a:xfrm>
          <a:prstGeom prst="rect">
            <a:avLst/>
          </a:prstGeom>
          <a:solidFill>
            <a:srgbClr val="FFF8EE"/>
          </a:solidFill>
          <a:ln w="12700">
            <a:solidFill>
              <a:srgbClr val="E67E22"/>
            </a:solidFill>
            <a:prstDash val="solid"/>
          </a:ln>
        </p:spPr>
      </p:sp>
      <p:sp>
        <p:nvSpPr>
          <p:cNvPr id="21" name="Shape 19"/>
          <p:cNvSpPr/>
          <p:nvPr/>
        </p:nvSpPr>
        <p:spPr>
          <a:xfrm>
            <a:off x="320040" y="4123944"/>
            <a:ext cx="137160" cy="859536"/>
          </a:xfrm>
          <a:prstGeom prst="rect">
            <a:avLst/>
          </a:prstGeom>
          <a:solidFill>
            <a:srgbClr val="E67E22"/>
          </a:solidFill>
          <a:ln w="12700">
            <a:solidFill>
              <a:srgbClr val="E67E22"/>
            </a:solidFill>
            <a:prstDash val="solid"/>
          </a:ln>
        </p:spPr>
      </p:sp>
      <p:sp>
        <p:nvSpPr>
          <p:cNvPr id="22" name="Text 20"/>
          <p:cNvSpPr/>
          <p:nvPr/>
        </p:nvSpPr>
        <p:spPr>
          <a:xfrm>
            <a:off x="566928" y="4187952"/>
            <a:ext cx="8092440" cy="320040"/>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Can you explain WHY it made that decision?</a:t>
            </a:r>
            <a:endParaRPr lang="en-US" sz="1350" dirty="0"/>
          </a:p>
        </p:txBody>
      </p:sp>
      <p:sp>
        <p:nvSpPr>
          <p:cNvPr id="23" name="Text 21"/>
          <p:cNvSpPr/>
          <p:nvPr/>
        </p:nvSpPr>
        <p:spPr>
          <a:xfrm>
            <a:off x="566928" y="4507992"/>
            <a:ext cx="8092440" cy="237744"/>
          </a:xfrm>
          <a:prstGeom prst="rect">
            <a:avLst/>
          </a:prstGeom>
          <a:noFill/>
          <a:ln/>
        </p:spPr>
        <p:txBody>
          <a:bodyPr wrap="square" lIns="0" tIns="0" rIns="0" bIns="0" rtlCol="0" anchor="ctr"/>
          <a:lstStyle/>
          <a:p>
            <a:pPr indent="0" marL="0">
              <a:buNone/>
            </a:pPr>
            <a:r>
              <a:rPr lang="en-US" sz="1100" dirty="0">
                <a:solidFill>
                  <a:srgbClr val="4A5568"/>
                </a:solidFill>
              </a:rPr>
              <a:t>Why: If a model can't explain its decisions, you can't govern it, defend it, or trust it in production.</a:t>
            </a:r>
            <a:endParaRPr lang="en-US" sz="1100" dirty="0"/>
          </a:p>
        </p:txBody>
      </p:sp>
      <p:sp>
        <p:nvSpPr>
          <p:cNvPr id="24" name="Text 22"/>
          <p:cNvSpPr/>
          <p:nvPr/>
        </p:nvSpPr>
        <p:spPr>
          <a:xfrm>
            <a:off x="566928" y="4745736"/>
            <a:ext cx="8092440" cy="201168"/>
          </a:xfrm>
          <a:prstGeom prst="rect">
            <a:avLst/>
          </a:prstGeom>
          <a:noFill/>
          <a:ln/>
        </p:spPr>
        <p:txBody>
          <a:bodyPr wrap="square" lIns="0" tIns="0" rIns="0" bIns="0" rtlCol="0" anchor="ctr"/>
          <a:lstStyle/>
          <a:p>
            <a:pPr indent="0" marL="0">
              <a:buNone/>
            </a:pPr>
            <a:r>
              <a:rPr lang="en-US" sz="1050" i="1" dirty="0">
                <a:solidFill>
                  <a:srgbClr val="4A5568"/>
                </a:solidFill>
              </a:rPr>
              <a:t>Demand a white-box. "The AI said so" is not an answer — in any regulated industry.</a:t>
            </a:r>
            <a:endParaRPr lang="en-US" sz="1050" dirty="0"/>
          </a:p>
        </p:txBody>
      </p:sp>
      <p:sp>
        <p:nvSpPr>
          <p:cNvPr id="26" name="Text 2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BBBBBB"/>
                </a:solidFill>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D4E"/>
          </a:solidFill>
          <a:ln w="12700">
            <a:solidFill>
              <a:srgbClr val="1E2D4E"/>
            </a:solidFill>
            <a:prstDash val="solid"/>
          </a:ln>
        </p:spPr>
      </p:sp>
      <p:sp>
        <p:nvSpPr>
          <p:cNvPr id="3" name="Text 1"/>
          <p:cNvSpPr/>
          <p:nvPr/>
        </p:nvSpPr>
        <p:spPr>
          <a:xfrm>
            <a:off x="457200" y="73152"/>
            <a:ext cx="8229600" cy="438912"/>
          </a:xfrm>
          <a:prstGeom prst="rect">
            <a:avLst/>
          </a:prstGeom>
          <a:noFill/>
          <a:ln/>
        </p:spPr>
        <p:txBody>
          <a:bodyPr wrap="square" lIns="0" tIns="0" rIns="0" bIns="0" rtlCol="0" anchor="ctr"/>
          <a:lstStyle/>
          <a:p>
            <a:pPr algn="l" indent="0" marL="0">
              <a:buNone/>
            </a:pPr>
            <a:r>
              <a:rPr lang="en-US" sz="1300" b="1" spc="400" kern="0" dirty="0">
                <a:solidFill>
                  <a:srgbClr val="02C39A"/>
                </a:solidFill>
              </a:rPr>
              <a:t>A WORD ABOUT AI — AND WHERE IT FITS IN ALL OF THIS</a:t>
            </a:r>
            <a:endParaRPr lang="en-US" sz="1300" dirty="0"/>
          </a:p>
        </p:txBody>
      </p:sp>
      <p:sp>
        <p:nvSpPr>
          <p:cNvPr id="4" name="Shape 2"/>
          <p:cNvSpPr/>
          <p:nvPr/>
        </p:nvSpPr>
        <p:spPr>
          <a:xfrm>
            <a:off x="320040" y="713232"/>
            <a:ext cx="8503920" cy="960120"/>
          </a:xfrm>
          <a:prstGeom prst="rect">
            <a:avLst/>
          </a:prstGeom>
          <a:solidFill>
            <a:srgbClr val="1A3A5E"/>
          </a:solidFill>
          <a:ln w="12700">
            <a:solidFill>
              <a:srgbClr val="028090"/>
            </a:solidFill>
            <a:prstDash val="solid"/>
          </a:ln>
        </p:spPr>
      </p:sp>
      <p:sp>
        <p:nvSpPr>
          <p:cNvPr id="5" name="Text 3"/>
          <p:cNvSpPr/>
          <p:nvPr/>
        </p:nvSpPr>
        <p:spPr>
          <a:xfrm>
            <a:off x="502920" y="804672"/>
            <a:ext cx="8229600" cy="685800"/>
          </a:xfrm>
          <a:prstGeom prst="rect">
            <a:avLst/>
          </a:prstGeom>
          <a:noFill/>
          <a:ln/>
        </p:spPr>
        <p:txBody>
          <a:bodyPr wrap="square" lIns="0" tIns="0" rIns="0" bIns="0" rtlCol="0" anchor="ctr"/>
          <a:lstStyle/>
          <a:p>
            <a:pPr algn="ctr" indent="0" marL="0">
              <a:buNone/>
            </a:pPr>
            <a:r>
              <a:rPr lang="en-US" sz="2600" b="1" dirty="0">
                <a:solidFill>
                  <a:srgbClr val="02C39A"/>
                </a:solidFill>
                <a:latin typeface="Georgia" pitchFamily="34" charset="0"/>
                <a:ea typeface="Georgia" pitchFamily="34" charset="-122"/>
                <a:cs typeface="Georgia" pitchFamily="34" charset="-120"/>
              </a:rPr>
              <a:t>Yes — you can prompt your way to a model now.</a:t>
            </a:r>
            <a:endParaRPr lang="en-US" sz="2600" dirty="0"/>
          </a:p>
        </p:txBody>
      </p:sp>
      <p:sp>
        <p:nvSpPr>
          <p:cNvPr id="6" name="Text 4"/>
          <p:cNvSpPr/>
          <p:nvPr/>
        </p:nvSpPr>
        <p:spPr>
          <a:xfrm>
            <a:off x="457200" y="1810512"/>
            <a:ext cx="8229600" cy="384048"/>
          </a:xfrm>
          <a:prstGeom prst="rect">
            <a:avLst/>
          </a:prstGeom>
          <a:noFill/>
          <a:ln/>
        </p:spPr>
        <p:txBody>
          <a:bodyPr wrap="square" lIns="0" tIns="0" rIns="0" bIns="0" rtlCol="0" anchor="ctr"/>
          <a:lstStyle/>
          <a:p>
            <a:pPr algn="ctr" indent="0" marL="0">
              <a:buNone/>
            </a:pPr>
            <a:r>
              <a:rPr lang="en-US" sz="1600" i="1" dirty="0">
                <a:solidFill>
                  <a:srgbClr val="FFFFFF"/>
                </a:solidFill>
              </a:rPr>
              <a:t>The barrier to entry is shrinking every day. That's real. That's exciting.</a:t>
            </a:r>
            <a:endParaRPr lang="en-US" sz="1600" dirty="0"/>
          </a:p>
        </p:txBody>
      </p:sp>
      <p:sp>
        <p:nvSpPr>
          <p:cNvPr id="7" name="Shape 5"/>
          <p:cNvSpPr/>
          <p:nvPr/>
        </p:nvSpPr>
        <p:spPr>
          <a:xfrm>
            <a:off x="320040" y="2304288"/>
            <a:ext cx="8503920" cy="777240"/>
          </a:xfrm>
          <a:prstGeom prst="rect">
            <a:avLst/>
          </a:prstGeom>
          <a:solidFill>
            <a:srgbClr val="8B0000"/>
          </a:solidFill>
          <a:ln w="12700">
            <a:solidFill>
              <a:srgbClr val="8B0000"/>
            </a:solidFill>
            <a:prstDash val="solid"/>
          </a:ln>
        </p:spPr>
      </p:sp>
      <p:sp>
        <p:nvSpPr>
          <p:cNvPr id="8" name="Text 6"/>
          <p:cNvSpPr/>
          <p:nvPr/>
        </p:nvSpPr>
        <p:spPr>
          <a:xfrm>
            <a:off x="502920" y="2377440"/>
            <a:ext cx="8229600" cy="621792"/>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But. You cannot prompt your way to good evaluation.</a:t>
            </a:r>
            <a:endParaRPr lang="en-US" sz="2400" dirty="0"/>
          </a:p>
        </p:txBody>
      </p:sp>
      <p:sp>
        <p:nvSpPr>
          <p:cNvPr id="9" name="Shape 7"/>
          <p:cNvSpPr/>
          <p:nvPr/>
        </p:nvSpPr>
        <p:spPr>
          <a:xfrm>
            <a:off x="320040" y="3200400"/>
            <a:ext cx="2697480" cy="1828800"/>
          </a:xfrm>
          <a:prstGeom prst="rect">
            <a:avLst/>
          </a:prstGeom>
          <a:solidFill>
            <a:srgbClr val="1A3A30"/>
          </a:solidFill>
          <a:ln w="12700">
            <a:solidFill>
              <a:srgbClr val="02C39A"/>
            </a:solidFill>
            <a:prstDash val="solid"/>
          </a:ln>
        </p:spPr>
      </p:sp>
      <p:sp>
        <p:nvSpPr>
          <p:cNvPr id="10" name="Shape 8"/>
          <p:cNvSpPr/>
          <p:nvPr/>
        </p:nvSpPr>
        <p:spPr>
          <a:xfrm>
            <a:off x="320040" y="3200400"/>
            <a:ext cx="2697480" cy="109728"/>
          </a:xfrm>
          <a:prstGeom prst="rect">
            <a:avLst/>
          </a:prstGeom>
          <a:solidFill>
            <a:srgbClr val="02C39A"/>
          </a:solidFill>
          <a:ln w="12700">
            <a:solidFill>
              <a:srgbClr val="02C39A"/>
            </a:solidFill>
            <a:prstDash val="solid"/>
          </a:ln>
        </p:spPr>
      </p:sp>
      <p:sp>
        <p:nvSpPr>
          <p:cNvPr id="11" name="Text 9"/>
          <p:cNvSpPr/>
          <p:nvPr/>
        </p:nvSpPr>
        <p:spPr>
          <a:xfrm>
            <a:off x="429768" y="3328416"/>
            <a:ext cx="2560320" cy="347472"/>
          </a:xfrm>
          <a:prstGeom prst="rect">
            <a:avLst/>
          </a:prstGeom>
          <a:noFill/>
          <a:ln/>
        </p:spPr>
        <p:txBody>
          <a:bodyPr wrap="square" lIns="0" tIns="0" rIns="0" bIns="0" rtlCol="0" anchor="ctr"/>
          <a:lstStyle/>
          <a:p>
            <a:pPr indent="0" marL="0">
              <a:buNone/>
            </a:pPr>
            <a:r>
              <a:rPr lang="en-US" sz="1200" b="1" dirty="0">
                <a:solidFill>
                  <a:srgbClr val="02C39A"/>
                </a:solidFill>
              </a:rPr>
              <a:t>AI lowers the bar on...</a:t>
            </a:r>
            <a:endParaRPr lang="en-US" sz="1200" dirty="0"/>
          </a:p>
        </p:txBody>
      </p:sp>
      <p:sp>
        <p:nvSpPr>
          <p:cNvPr id="12" name="Text 10"/>
          <p:cNvSpPr/>
          <p:nvPr/>
        </p:nvSpPr>
        <p:spPr>
          <a:xfrm>
            <a:off x="429768" y="3730752"/>
            <a:ext cx="2560320" cy="219456"/>
          </a:xfrm>
          <a:prstGeom prst="rect">
            <a:avLst/>
          </a:prstGeom>
          <a:noFill/>
          <a:ln/>
        </p:spPr>
        <p:txBody>
          <a:bodyPr wrap="square" lIns="0" tIns="0" rIns="0" bIns="0" rtlCol="0" anchor="ctr"/>
          <a:lstStyle/>
          <a:p>
            <a:pPr indent="0" marL="0">
              <a:buNone/>
            </a:pPr>
            <a:r>
              <a:rPr lang="en-US" sz="1000" dirty="0">
                <a:solidFill>
                  <a:srgbClr val="CCCCCC"/>
                </a:solidFill>
              </a:rPr>
              <a:t>→  Writing the first model quickly</a:t>
            </a:r>
            <a:endParaRPr lang="en-US" sz="1000" dirty="0"/>
          </a:p>
        </p:txBody>
      </p:sp>
      <p:sp>
        <p:nvSpPr>
          <p:cNvPr id="13" name="Text 11"/>
          <p:cNvSpPr/>
          <p:nvPr/>
        </p:nvSpPr>
        <p:spPr>
          <a:xfrm>
            <a:off x="429768" y="3968496"/>
            <a:ext cx="2560320" cy="219456"/>
          </a:xfrm>
          <a:prstGeom prst="rect">
            <a:avLst/>
          </a:prstGeom>
          <a:noFill/>
          <a:ln/>
        </p:spPr>
        <p:txBody>
          <a:bodyPr wrap="square" lIns="0" tIns="0" rIns="0" bIns="0" rtlCol="0" anchor="ctr"/>
          <a:lstStyle/>
          <a:p>
            <a:pPr indent="0" marL="0">
              <a:buNone/>
            </a:pPr>
            <a:r>
              <a:rPr lang="en-US" sz="1000" dirty="0">
                <a:solidFill>
                  <a:srgbClr val="CCCCCC"/>
                </a:solidFill>
              </a:rPr>
              <a:t>→  Feature engineering suggestions</a:t>
            </a:r>
            <a:endParaRPr lang="en-US" sz="1000" dirty="0"/>
          </a:p>
        </p:txBody>
      </p:sp>
      <p:sp>
        <p:nvSpPr>
          <p:cNvPr id="14" name="Text 12"/>
          <p:cNvSpPr/>
          <p:nvPr/>
        </p:nvSpPr>
        <p:spPr>
          <a:xfrm>
            <a:off x="429768" y="4206240"/>
            <a:ext cx="2560320" cy="219456"/>
          </a:xfrm>
          <a:prstGeom prst="rect">
            <a:avLst/>
          </a:prstGeom>
          <a:noFill/>
          <a:ln/>
        </p:spPr>
        <p:txBody>
          <a:bodyPr wrap="square" lIns="0" tIns="0" rIns="0" bIns="0" rtlCol="0" anchor="ctr"/>
          <a:lstStyle/>
          <a:p>
            <a:pPr indent="0" marL="0">
              <a:buNone/>
            </a:pPr>
            <a:r>
              <a:rPr lang="en-US" sz="1000" dirty="0">
                <a:solidFill>
                  <a:srgbClr val="CCCCCC"/>
                </a:solidFill>
              </a:rPr>
              <a:t>→  Generating boilerplate pipelines</a:t>
            </a:r>
            <a:endParaRPr lang="en-US" sz="1000" dirty="0"/>
          </a:p>
        </p:txBody>
      </p:sp>
      <p:sp>
        <p:nvSpPr>
          <p:cNvPr id="15" name="Text 13"/>
          <p:cNvSpPr/>
          <p:nvPr/>
        </p:nvSpPr>
        <p:spPr>
          <a:xfrm>
            <a:off x="429768" y="4443984"/>
            <a:ext cx="2560320" cy="219456"/>
          </a:xfrm>
          <a:prstGeom prst="rect">
            <a:avLst/>
          </a:prstGeom>
          <a:noFill/>
          <a:ln/>
        </p:spPr>
        <p:txBody>
          <a:bodyPr wrap="square" lIns="0" tIns="0" rIns="0" bIns="0" rtlCol="0" anchor="ctr"/>
          <a:lstStyle/>
          <a:p>
            <a:pPr indent="0" marL="0">
              <a:buNone/>
            </a:pPr>
            <a:r>
              <a:rPr lang="en-US" sz="1000" dirty="0">
                <a:solidFill>
                  <a:srgbClr val="CCCCCC"/>
                </a:solidFill>
              </a:rPr>
              <a:t>→  Explaining code you didn't write</a:t>
            </a:r>
            <a:endParaRPr lang="en-US" sz="1000" dirty="0"/>
          </a:p>
        </p:txBody>
      </p:sp>
      <p:sp>
        <p:nvSpPr>
          <p:cNvPr id="16" name="Text 14"/>
          <p:cNvSpPr/>
          <p:nvPr/>
        </p:nvSpPr>
        <p:spPr>
          <a:xfrm>
            <a:off x="429768" y="4681728"/>
            <a:ext cx="2560320" cy="219456"/>
          </a:xfrm>
          <a:prstGeom prst="rect">
            <a:avLst/>
          </a:prstGeom>
          <a:noFill/>
          <a:ln/>
        </p:spPr>
        <p:txBody>
          <a:bodyPr wrap="square" lIns="0" tIns="0" rIns="0" bIns="0" rtlCol="0" anchor="ctr"/>
          <a:lstStyle/>
          <a:p>
            <a:pPr indent="0" marL="0">
              <a:buNone/>
            </a:pPr>
            <a:r>
              <a:rPr lang="en-US" sz="1000" dirty="0">
                <a:solidFill>
                  <a:srgbClr val="CCCCCC"/>
                </a:solidFill>
              </a:rPr>
              <a:t>→  Finding relevant papers &amp; patterns</a:t>
            </a:r>
            <a:endParaRPr lang="en-US" sz="1000" dirty="0"/>
          </a:p>
        </p:txBody>
      </p:sp>
      <p:sp>
        <p:nvSpPr>
          <p:cNvPr id="17" name="Shape 15"/>
          <p:cNvSpPr/>
          <p:nvPr/>
        </p:nvSpPr>
        <p:spPr>
          <a:xfrm>
            <a:off x="3264408" y="3200400"/>
            <a:ext cx="2697480" cy="1828800"/>
          </a:xfrm>
          <a:prstGeom prst="rect">
            <a:avLst/>
          </a:prstGeom>
          <a:solidFill>
            <a:srgbClr val="2A1E10"/>
          </a:solidFill>
          <a:ln w="12700">
            <a:solidFill>
              <a:srgbClr val="E67E22"/>
            </a:solidFill>
            <a:prstDash val="solid"/>
          </a:ln>
        </p:spPr>
      </p:sp>
      <p:sp>
        <p:nvSpPr>
          <p:cNvPr id="18" name="Shape 16"/>
          <p:cNvSpPr/>
          <p:nvPr/>
        </p:nvSpPr>
        <p:spPr>
          <a:xfrm>
            <a:off x="3264408" y="3200400"/>
            <a:ext cx="2697480" cy="109728"/>
          </a:xfrm>
          <a:prstGeom prst="rect">
            <a:avLst/>
          </a:prstGeom>
          <a:solidFill>
            <a:srgbClr val="E67E22"/>
          </a:solidFill>
          <a:ln w="12700">
            <a:solidFill>
              <a:srgbClr val="E67E22"/>
            </a:solidFill>
            <a:prstDash val="solid"/>
          </a:ln>
        </p:spPr>
      </p:sp>
      <p:sp>
        <p:nvSpPr>
          <p:cNvPr id="19" name="Text 17"/>
          <p:cNvSpPr/>
          <p:nvPr/>
        </p:nvSpPr>
        <p:spPr>
          <a:xfrm>
            <a:off x="3374136" y="3328416"/>
            <a:ext cx="2560320" cy="347472"/>
          </a:xfrm>
          <a:prstGeom prst="rect">
            <a:avLst/>
          </a:prstGeom>
          <a:noFill/>
          <a:ln/>
        </p:spPr>
        <p:txBody>
          <a:bodyPr wrap="square" lIns="0" tIns="0" rIns="0" bIns="0" rtlCol="0" anchor="ctr"/>
          <a:lstStyle/>
          <a:p>
            <a:pPr indent="0" marL="0">
              <a:buNone/>
            </a:pPr>
            <a:r>
              <a:rPr lang="en-US" sz="1200" b="1" dirty="0">
                <a:solidFill>
                  <a:srgbClr val="E67E22"/>
                </a:solidFill>
              </a:rPr>
              <a:t>AI doesn't replace...</a:t>
            </a:r>
            <a:endParaRPr lang="en-US" sz="1200" dirty="0"/>
          </a:p>
        </p:txBody>
      </p:sp>
      <p:sp>
        <p:nvSpPr>
          <p:cNvPr id="20" name="Text 18"/>
          <p:cNvSpPr/>
          <p:nvPr/>
        </p:nvSpPr>
        <p:spPr>
          <a:xfrm>
            <a:off x="3374136" y="3730752"/>
            <a:ext cx="2560320" cy="219456"/>
          </a:xfrm>
          <a:prstGeom prst="rect">
            <a:avLst/>
          </a:prstGeom>
          <a:noFill/>
          <a:ln/>
        </p:spPr>
        <p:txBody>
          <a:bodyPr wrap="square" lIns="0" tIns="0" rIns="0" bIns="0" rtlCol="0" anchor="ctr"/>
          <a:lstStyle/>
          <a:p>
            <a:pPr indent="0" marL="0">
              <a:buNone/>
            </a:pPr>
            <a:r>
              <a:rPr lang="en-US" sz="1000" dirty="0">
                <a:solidFill>
                  <a:srgbClr val="CCCCCC"/>
                </a:solidFill>
              </a:rPr>
              <a:t>→  Choosing the right metric family</a:t>
            </a:r>
            <a:endParaRPr lang="en-US" sz="1000" dirty="0"/>
          </a:p>
        </p:txBody>
      </p:sp>
      <p:sp>
        <p:nvSpPr>
          <p:cNvPr id="21" name="Text 19"/>
          <p:cNvSpPr/>
          <p:nvPr/>
        </p:nvSpPr>
        <p:spPr>
          <a:xfrm>
            <a:off x="3374136" y="3968496"/>
            <a:ext cx="2560320" cy="219456"/>
          </a:xfrm>
          <a:prstGeom prst="rect">
            <a:avLst/>
          </a:prstGeom>
          <a:noFill/>
          <a:ln/>
        </p:spPr>
        <p:txBody>
          <a:bodyPr wrap="square" lIns="0" tIns="0" rIns="0" bIns="0" rtlCol="0" anchor="ctr"/>
          <a:lstStyle/>
          <a:p>
            <a:pPr indent="0" marL="0">
              <a:buNone/>
            </a:pPr>
            <a:r>
              <a:rPr lang="en-US" sz="1000" dirty="0">
                <a:solidFill>
                  <a:srgbClr val="CCCCCC"/>
                </a:solidFill>
              </a:rPr>
              <a:t>→  Designing the right evaluation setup</a:t>
            </a:r>
            <a:endParaRPr lang="en-US" sz="1000" dirty="0"/>
          </a:p>
        </p:txBody>
      </p:sp>
      <p:sp>
        <p:nvSpPr>
          <p:cNvPr id="22" name="Text 20"/>
          <p:cNvSpPr/>
          <p:nvPr/>
        </p:nvSpPr>
        <p:spPr>
          <a:xfrm>
            <a:off x="3374136" y="4206240"/>
            <a:ext cx="2560320" cy="219456"/>
          </a:xfrm>
          <a:prstGeom prst="rect">
            <a:avLst/>
          </a:prstGeom>
          <a:noFill/>
          <a:ln/>
        </p:spPr>
        <p:txBody>
          <a:bodyPr wrap="square" lIns="0" tIns="0" rIns="0" bIns="0" rtlCol="0" anchor="ctr"/>
          <a:lstStyle/>
          <a:p>
            <a:pPr indent="0" marL="0">
              <a:buNone/>
            </a:pPr>
            <a:r>
              <a:rPr lang="en-US" sz="1000" dirty="0">
                <a:solidFill>
                  <a:srgbClr val="CCCCCC"/>
                </a:solidFill>
              </a:rPr>
              <a:t>→  Understanding domain-specific leakage</a:t>
            </a:r>
            <a:endParaRPr lang="en-US" sz="1000" dirty="0"/>
          </a:p>
        </p:txBody>
      </p:sp>
      <p:sp>
        <p:nvSpPr>
          <p:cNvPr id="23" name="Text 21"/>
          <p:cNvSpPr/>
          <p:nvPr/>
        </p:nvSpPr>
        <p:spPr>
          <a:xfrm>
            <a:off x="3374136" y="4443984"/>
            <a:ext cx="2560320" cy="219456"/>
          </a:xfrm>
          <a:prstGeom prst="rect">
            <a:avLst/>
          </a:prstGeom>
          <a:noFill/>
          <a:ln/>
        </p:spPr>
        <p:txBody>
          <a:bodyPr wrap="square" lIns="0" tIns="0" rIns="0" bIns="0" rtlCol="0" anchor="ctr"/>
          <a:lstStyle/>
          <a:p>
            <a:pPr indent="0" marL="0">
              <a:buNone/>
            </a:pPr>
            <a:r>
              <a:rPr lang="en-US" sz="1000" dirty="0">
                <a:solidFill>
                  <a:srgbClr val="CCCCCC"/>
                </a:solidFill>
              </a:rPr>
              <a:t>→  Building the system that sustains it</a:t>
            </a:r>
            <a:endParaRPr lang="en-US" sz="1000" dirty="0"/>
          </a:p>
        </p:txBody>
      </p:sp>
      <p:sp>
        <p:nvSpPr>
          <p:cNvPr id="24" name="Text 22"/>
          <p:cNvSpPr/>
          <p:nvPr/>
        </p:nvSpPr>
        <p:spPr>
          <a:xfrm>
            <a:off x="3374136" y="4681728"/>
            <a:ext cx="2560320" cy="219456"/>
          </a:xfrm>
          <a:prstGeom prst="rect">
            <a:avLst/>
          </a:prstGeom>
          <a:noFill/>
          <a:ln/>
        </p:spPr>
        <p:txBody>
          <a:bodyPr wrap="square" lIns="0" tIns="0" rIns="0" bIns="0" rtlCol="0" anchor="ctr"/>
          <a:lstStyle/>
          <a:p>
            <a:pPr indent="0" marL="0">
              <a:buNone/>
            </a:pPr>
            <a:r>
              <a:rPr lang="en-US" sz="1000" dirty="0">
                <a:solidFill>
                  <a:srgbClr val="CCCCCC"/>
                </a:solidFill>
              </a:rPr>
              <a:t>→  Judgment about what 'good enough' means</a:t>
            </a:r>
            <a:endParaRPr lang="en-US" sz="1000" dirty="0"/>
          </a:p>
        </p:txBody>
      </p:sp>
      <p:sp>
        <p:nvSpPr>
          <p:cNvPr id="25" name="Shape 23"/>
          <p:cNvSpPr/>
          <p:nvPr/>
        </p:nvSpPr>
        <p:spPr>
          <a:xfrm>
            <a:off x="6208776" y="3200400"/>
            <a:ext cx="2697480" cy="1828800"/>
          </a:xfrm>
          <a:prstGeom prst="rect">
            <a:avLst/>
          </a:prstGeom>
          <a:solidFill>
            <a:srgbClr val="2A1010"/>
          </a:solidFill>
          <a:ln w="12700">
            <a:solidFill>
              <a:srgbClr val="C0392B"/>
            </a:solidFill>
            <a:prstDash val="solid"/>
          </a:ln>
        </p:spPr>
      </p:sp>
      <p:sp>
        <p:nvSpPr>
          <p:cNvPr id="26" name="Shape 24"/>
          <p:cNvSpPr/>
          <p:nvPr/>
        </p:nvSpPr>
        <p:spPr>
          <a:xfrm>
            <a:off x="6208776" y="3200400"/>
            <a:ext cx="2697480" cy="109728"/>
          </a:xfrm>
          <a:prstGeom prst="rect">
            <a:avLst/>
          </a:prstGeom>
          <a:solidFill>
            <a:srgbClr val="C0392B"/>
          </a:solidFill>
          <a:ln w="12700">
            <a:solidFill>
              <a:srgbClr val="C0392B"/>
            </a:solidFill>
            <a:prstDash val="solid"/>
          </a:ln>
        </p:spPr>
      </p:sp>
      <p:sp>
        <p:nvSpPr>
          <p:cNvPr id="27" name="Text 25"/>
          <p:cNvSpPr/>
          <p:nvPr/>
        </p:nvSpPr>
        <p:spPr>
          <a:xfrm>
            <a:off x="6318504" y="3328416"/>
            <a:ext cx="2560320" cy="347472"/>
          </a:xfrm>
          <a:prstGeom prst="rect">
            <a:avLst/>
          </a:prstGeom>
          <a:noFill/>
          <a:ln/>
        </p:spPr>
        <p:txBody>
          <a:bodyPr wrap="square" lIns="0" tIns="0" rIns="0" bIns="0" rtlCol="0" anchor="ctr"/>
          <a:lstStyle/>
          <a:p>
            <a:pPr indent="0" marL="0">
              <a:buNone/>
            </a:pPr>
            <a:r>
              <a:rPr lang="en-US" sz="1200" b="1" dirty="0">
                <a:solidFill>
                  <a:srgbClr val="C0392B"/>
                </a:solidFill>
              </a:rPr>
              <a:t>The real risk...</a:t>
            </a:r>
            <a:endParaRPr lang="en-US" sz="1200" dirty="0"/>
          </a:p>
        </p:txBody>
      </p:sp>
      <p:sp>
        <p:nvSpPr>
          <p:cNvPr id="28" name="Text 26"/>
          <p:cNvSpPr/>
          <p:nvPr/>
        </p:nvSpPr>
        <p:spPr>
          <a:xfrm>
            <a:off x="6318504" y="3730752"/>
            <a:ext cx="2560320" cy="219456"/>
          </a:xfrm>
          <a:prstGeom prst="rect">
            <a:avLst/>
          </a:prstGeom>
          <a:noFill/>
          <a:ln/>
        </p:spPr>
        <p:txBody>
          <a:bodyPr wrap="square" lIns="0" tIns="0" rIns="0" bIns="0" rtlCol="0" anchor="ctr"/>
          <a:lstStyle/>
          <a:p>
            <a:pPr indent="0" marL="0">
              <a:buNone/>
            </a:pPr>
            <a:r>
              <a:rPr lang="en-US" sz="1000" dirty="0">
                <a:solidFill>
                  <a:srgbClr val="CCCCCC"/>
                </a:solidFill>
              </a:rPr>
              <a:t>→  Confident-sounding wrong answers</a:t>
            </a:r>
            <a:endParaRPr lang="en-US" sz="1000" dirty="0"/>
          </a:p>
        </p:txBody>
      </p:sp>
      <p:sp>
        <p:nvSpPr>
          <p:cNvPr id="29" name="Text 27"/>
          <p:cNvSpPr/>
          <p:nvPr/>
        </p:nvSpPr>
        <p:spPr>
          <a:xfrm>
            <a:off x="6318504" y="3968496"/>
            <a:ext cx="2560320" cy="219456"/>
          </a:xfrm>
          <a:prstGeom prst="rect">
            <a:avLst/>
          </a:prstGeom>
          <a:noFill/>
          <a:ln/>
        </p:spPr>
        <p:txBody>
          <a:bodyPr wrap="square" lIns="0" tIns="0" rIns="0" bIns="0" rtlCol="0" anchor="ctr"/>
          <a:lstStyle/>
          <a:p>
            <a:pPr indent="0" marL="0">
              <a:buNone/>
            </a:pPr>
            <a:r>
              <a:rPr lang="en-US" sz="1000" dirty="0">
                <a:solidFill>
                  <a:srgbClr val="CCCCCC"/>
                </a:solidFill>
              </a:rPr>
              <a:t>→  Models that pass vibe-check, fail QA</a:t>
            </a:r>
            <a:endParaRPr lang="en-US" sz="1000" dirty="0"/>
          </a:p>
        </p:txBody>
      </p:sp>
      <p:sp>
        <p:nvSpPr>
          <p:cNvPr id="30" name="Text 28"/>
          <p:cNvSpPr/>
          <p:nvPr/>
        </p:nvSpPr>
        <p:spPr>
          <a:xfrm>
            <a:off x="6318504" y="4206240"/>
            <a:ext cx="2560320" cy="219456"/>
          </a:xfrm>
          <a:prstGeom prst="rect">
            <a:avLst/>
          </a:prstGeom>
          <a:noFill/>
          <a:ln/>
        </p:spPr>
        <p:txBody>
          <a:bodyPr wrap="square" lIns="0" tIns="0" rIns="0" bIns="0" rtlCol="0" anchor="ctr"/>
          <a:lstStyle/>
          <a:p>
            <a:pPr indent="0" marL="0">
              <a:buNone/>
            </a:pPr>
            <a:r>
              <a:rPr lang="en-US" sz="1000" dirty="0">
                <a:solidFill>
                  <a:srgbClr val="CCCCCC"/>
                </a:solidFill>
              </a:rPr>
              <a:t>→  Shortcuts on evaluation that bite later</a:t>
            </a:r>
            <a:endParaRPr lang="en-US" sz="1000" dirty="0"/>
          </a:p>
        </p:txBody>
      </p:sp>
      <p:sp>
        <p:nvSpPr>
          <p:cNvPr id="31" name="Text 29"/>
          <p:cNvSpPr/>
          <p:nvPr/>
        </p:nvSpPr>
        <p:spPr>
          <a:xfrm>
            <a:off x="6318504" y="4443984"/>
            <a:ext cx="2560320" cy="219456"/>
          </a:xfrm>
          <a:prstGeom prst="rect">
            <a:avLst/>
          </a:prstGeom>
          <a:noFill/>
          <a:ln/>
        </p:spPr>
        <p:txBody>
          <a:bodyPr wrap="square" lIns="0" tIns="0" rIns="0" bIns="0" rtlCol="0" anchor="ctr"/>
          <a:lstStyle/>
          <a:p>
            <a:pPr indent="0" marL="0">
              <a:buNone/>
            </a:pPr>
            <a:r>
              <a:rPr lang="en-US" sz="1000" dirty="0">
                <a:solidFill>
                  <a:srgbClr val="CCCCCC"/>
                </a:solidFill>
              </a:rPr>
              <a:t>→  A generation of DS who never learned WHY</a:t>
            </a:r>
            <a:endParaRPr lang="en-US" sz="1000" dirty="0"/>
          </a:p>
        </p:txBody>
      </p:sp>
      <p:sp>
        <p:nvSpPr>
          <p:cNvPr id="32" name="Text 30"/>
          <p:cNvSpPr/>
          <p:nvPr/>
        </p:nvSpPr>
        <p:spPr>
          <a:xfrm>
            <a:off x="6318504" y="4681728"/>
            <a:ext cx="2560320" cy="219456"/>
          </a:xfrm>
          <a:prstGeom prst="rect">
            <a:avLst/>
          </a:prstGeom>
          <a:noFill/>
          <a:ln/>
        </p:spPr>
        <p:txBody>
          <a:bodyPr wrap="square" lIns="0" tIns="0" rIns="0" bIns="0" rtlCol="0" anchor="ctr"/>
          <a:lstStyle/>
          <a:p>
            <a:pPr indent="0" marL="0">
              <a:buNone/>
            </a:pPr>
            <a:r>
              <a:rPr lang="en-US" sz="1000" dirty="0">
                <a:solidFill>
                  <a:srgbClr val="CCCCCC"/>
                </a:solidFill>
              </a:rPr>
              <a:t>→  Speed to deployment without accountability</a:t>
            </a:r>
            <a:endParaRPr lang="en-US" sz="1000" dirty="0"/>
          </a:p>
        </p:txBody>
      </p:sp>
      <p:sp>
        <p:nvSpPr>
          <p:cNvPr id="34" name="Text 31"/>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28090"/>
          </a:solidFill>
          <a:ln w="12700">
            <a:solidFill>
              <a:srgbClr val="028090"/>
            </a:solidFill>
            <a:prstDash val="solid"/>
          </a:ln>
        </p:spPr>
      </p:sp>
      <p:sp>
        <p:nvSpPr>
          <p:cNvPr id="3" name="Shape 1"/>
          <p:cNvSpPr/>
          <p:nvPr/>
        </p:nvSpPr>
        <p:spPr>
          <a:xfrm>
            <a:off x="274320" y="0"/>
            <a:ext cx="91440" cy="5143500"/>
          </a:xfrm>
          <a:prstGeom prst="rect">
            <a:avLst/>
          </a:prstGeom>
          <a:solidFill>
            <a:srgbClr val="02C39A"/>
          </a:solidFill>
          <a:ln w="12700">
            <a:solidFill>
              <a:srgbClr val="02C39A"/>
            </a:solidFill>
            <a:prstDash val="solid"/>
          </a:ln>
        </p:spPr>
      </p:sp>
      <p:sp>
        <p:nvSpPr>
          <p:cNvPr id="4" name="Text 2"/>
          <p:cNvSpPr/>
          <p:nvPr/>
        </p:nvSpPr>
        <p:spPr>
          <a:xfrm>
            <a:off x="594360" y="201168"/>
            <a:ext cx="8229600" cy="658368"/>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Takeaways</a:t>
            </a:r>
            <a:endParaRPr lang="en-US" sz="3600" dirty="0"/>
          </a:p>
        </p:txBody>
      </p:sp>
      <p:sp>
        <p:nvSpPr>
          <p:cNvPr id="5" name="Shape 3"/>
          <p:cNvSpPr/>
          <p:nvPr/>
        </p:nvSpPr>
        <p:spPr>
          <a:xfrm>
            <a:off x="594360" y="1078992"/>
            <a:ext cx="475488" cy="475488"/>
          </a:xfrm>
          <a:prstGeom prst="ellipse">
            <a:avLst/>
          </a:prstGeom>
          <a:solidFill>
            <a:srgbClr val="028090"/>
          </a:solidFill>
          <a:ln w="12700">
            <a:solidFill>
              <a:srgbClr val="028090"/>
            </a:solidFill>
            <a:prstDash val="solid"/>
          </a:ln>
        </p:spPr>
      </p:sp>
      <p:sp>
        <p:nvSpPr>
          <p:cNvPr id="6" name="Text 4"/>
          <p:cNvSpPr/>
          <p:nvPr/>
        </p:nvSpPr>
        <p:spPr>
          <a:xfrm>
            <a:off x="594360" y="10789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1188720" y="1078992"/>
            <a:ext cx="7498080" cy="292608"/>
          </a:xfrm>
          <a:prstGeom prst="rect">
            <a:avLst/>
          </a:prstGeom>
          <a:noFill/>
          <a:ln/>
        </p:spPr>
        <p:txBody>
          <a:bodyPr wrap="square" lIns="0" tIns="0" rIns="0" bIns="0" rtlCol="0" anchor="ctr"/>
          <a:lstStyle/>
          <a:p>
            <a:pPr indent="0" marL="0">
              <a:buNone/>
            </a:pPr>
            <a:r>
              <a:rPr lang="en-US" sz="1400" b="1" dirty="0">
                <a:solidFill>
                  <a:srgbClr val="02C39A"/>
                </a:solidFill>
                <a:latin typeface="Georgia" pitchFamily="34" charset="0"/>
                <a:ea typeface="Georgia" pitchFamily="34" charset="-122"/>
                <a:cs typeface="Georgia" pitchFamily="34" charset="-120"/>
              </a:rPr>
              <a:t>Five analytic recipes cover 90% of problems</a:t>
            </a:r>
            <a:endParaRPr lang="en-US" sz="1400" dirty="0"/>
          </a:p>
        </p:txBody>
      </p:sp>
      <p:sp>
        <p:nvSpPr>
          <p:cNvPr id="8" name="Text 6"/>
          <p:cNvSpPr/>
          <p:nvPr/>
        </p:nvSpPr>
        <p:spPr>
          <a:xfrm>
            <a:off x="1188720" y="1371600"/>
            <a:ext cx="7498080" cy="256032"/>
          </a:xfrm>
          <a:prstGeom prst="rect">
            <a:avLst/>
          </a:prstGeom>
          <a:noFill/>
          <a:ln/>
        </p:spPr>
        <p:txBody>
          <a:bodyPr wrap="square" lIns="0" tIns="0" rIns="0" bIns="0" rtlCol="0" anchor="ctr"/>
          <a:lstStyle/>
          <a:p>
            <a:pPr indent="0" marL="0">
              <a:buNone/>
            </a:pPr>
            <a:r>
              <a:rPr lang="en-US" sz="1150" dirty="0">
                <a:solidFill>
                  <a:srgbClr val="94A3B8"/>
                </a:solidFill>
              </a:rPr>
              <a:t>Classify, Predict, Cluster, Detect, Recommend. Statistics is the ingredient that gives them credibility.</a:t>
            </a:r>
            <a:endParaRPr lang="en-US" sz="1150" dirty="0"/>
          </a:p>
        </p:txBody>
      </p:sp>
      <p:sp>
        <p:nvSpPr>
          <p:cNvPr id="9" name="Shape 7"/>
          <p:cNvSpPr/>
          <p:nvPr/>
        </p:nvSpPr>
        <p:spPr>
          <a:xfrm>
            <a:off x="594360" y="1847088"/>
            <a:ext cx="475488" cy="475488"/>
          </a:xfrm>
          <a:prstGeom prst="ellipse">
            <a:avLst/>
          </a:prstGeom>
          <a:solidFill>
            <a:srgbClr val="028090"/>
          </a:solidFill>
          <a:ln w="12700">
            <a:solidFill>
              <a:srgbClr val="028090"/>
            </a:solidFill>
            <a:prstDash val="solid"/>
          </a:ln>
        </p:spPr>
      </p:sp>
      <p:sp>
        <p:nvSpPr>
          <p:cNvPr id="10" name="Text 8"/>
          <p:cNvSpPr/>
          <p:nvPr/>
        </p:nvSpPr>
        <p:spPr>
          <a:xfrm>
            <a:off x="594360" y="18470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p:nvPr/>
        </p:nvSpPr>
        <p:spPr>
          <a:xfrm>
            <a:off x="1188720" y="1847088"/>
            <a:ext cx="7498080" cy="292608"/>
          </a:xfrm>
          <a:prstGeom prst="rect">
            <a:avLst/>
          </a:prstGeom>
          <a:noFill/>
          <a:ln/>
        </p:spPr>
        <p:txBody>
          <a:bodyPr wrap="square" lIns="0" tIns="0" rIns="0" bIns="0" rtlCol="0" anchor="ctr"/>
          <a:lstStyle/>
          <a:p>
            <a:pPr indent="0" marL="0">
              <a:buNone/>
            </a:pPr>
            <a:r>
              <a:rPr lang="en-US" sz="1400" b="1" dirty="0">
                <a:solidFill>
                  <a:srgbClr val="02C39A"/>
                </a:solidFill>
                <a:latin typeface="Georgia" pitchFamily="34" charset="0"/>
                <a:ea typeface="Georgia" pitchFamily="34" charset="-122"/>
                <a:cs typeface="Georgia" pitchFamily="34" charset="-120"/>
              </a:rPr>
              <a:t>Evaluation is the secret sauce — use multiple metrics</a:t>
            </a:r>
            <a:endParaRPr lang="en-US" sz="1400" dirty="0"/>
          </a:p>
        </p:txBody>
      </p:sp>
      <p:sp>
        <p:nvSpPr>
          <p:cNvPr id="12" name="Text 10"/>
          <p:cNvSpPr/>
          <p:nvPr/>
        </p:nvSpPr>
        <p:spPr>
          <a:xfrm>
            <a:off x="1188720" y="2139696"/>
            <a:ext cx="7498080" cy="256032"/>
          </a:xfrm>
          <a:prstGeom prst="rect">
            <a:avLst/>
          </a:prstGeom>
          <a:noFill/>
          <a:ln/>
        </p:spPr>
        <p:txBody>
          <a:bodyPr wrap="square" lIns="0" tIns="0" rIns="0" bIns="0" rtlCol="0" anchor="ctr"/>
          <a:lstStyle/>
          <a:p>
            <a:pPr indent="0" marL="0">
              <a:buNone/>
            </a:pPr>
            <a:r>
              <a:rPr lang="en-US" sz="1150" dirty="0">
                <a:solidFill>
                  <a:srgbClr val="94A3B8"/>
                </a:solidFill>
              </a:rPr>
              <a:t>AUC, PR-AUC, logloss, MAPE, F1 — right metric family for the recipe. Wrong metric = wrong answer.</a:t>
            </a:r>
            <a:endParaRPr lang="en-US" sz="1150" dirty="0"/>
          </a:p>
        </p:txBody>
      </p:sp>
      <p:sp>
        <p:nvSpPr>
          <p:cNvPr id="13" name="Shape 11"/>
          <p:cNvSpPr/>
          <p:nvPr/>
        </p:nvSpPr>
        <p:spPr>
          <a:xfrm>
            <a:off x="594360" y="2615184"/>
            <a:ext cx="475488" cy="475488"/>
          </a:xfrm>
          <a:prstGeom prst="ellipse">
            <a:avLst/>
          </a:prstGeom>
          <a:solidFill>
            <a:srgbClr val="028090"/>
          </a:solidFill>
          <a:ln w="12700">
            <a:solidFill>
              <a:srgbClr val="028090"/>
            </a:solidFill>
            <a:prstDash val="solid"/>
          </a:ln>
        </p:spPr>
      </p:sp>
      <p:sp>
        <p:nvSpPr>
          <p:cNvPr id="14" name="Text 12"/>
          <p:cNvSpPr/>
          <p:nvPr/>
        </p:nvSpPr>
        <p:spPr>
          <a:xfrm>
            <a:off x="594360" y="26151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5" name="Text 13"/>
          <p:cNvSpPr/>
          <p:nvPr/>
        </p:nvSpPr>
        <p:spPr>
          <a:xfrm>
            <a:off x="1188720" y="2615184"/>
            <a:ext cx="7498080" cy="292608"/>
          </a:xfrm>
          <a:prstGeom prst="rect">
            <a:avLst/>
          </a:prstGeom>
          <a:noFill/>
          <a:ln/>
        </p:spPr>
        <p:txBody>
          <a:bodyPr wrap="square" lIns="0" tIns="0" rIns="0" bIns="0" rtlCol="0" anchor="ctr"/>
          <a:lstStyle/>
          <a:p>
            <a:pPr indent="0" marL="0">
              <a:buNone/>
            </a:pPr>
            <a:r>
              <a:rPr lang="en-US" sz="1400" b="1" dirty="0">
                <a:solidFill>
                  <a:srgbClr val="02C39A"/>
                </a:solidFill>
                <a:latin typeface="Georgia" pitchFamily="34" charset="0"/>
                <a:ea typeface="Georgia" pitchFamily="34" charset="-122"/>
                <a:cs typeface="Georgia" pitchFamily="34" charset="-120"/>
              </a:rPr>
              <a:t>Three ways projects die</a:t>
            </a:r>
            <a:endParaRPr lang="en-US" sz="1400" dirty="0"/>
          </a:p>
        </p:txBody>
      </p:sp>
      <p:sp>
        <p:nvSpPr>
          <p:cNvPr id="16" name="Text 14"/>
          <p:cNvSpPr/>
          <p:nvPr/>
        </p:nvSpPr>
        <p:spPr>
          <a:xfrm>
            <a:off x="1188720" y="2907792"/>
            <a:ext cx="7498080" cy="256032"/>
          </a:xfrm>
          <a:prstGeom prst="rect">
            <a:avLst/>
          </a:prstGeom>
          <a:noFill/>
          <a:ln/>
        </p:spPr>
        <p:txBody>
          <a:bodyPr wrap="square" lIns="0" tIns="0" rIns="0" bIns="0" rtlCol="0" anchor="ctr"/>
          <a:lstStyle/>
          <a:p>
            <a:pPr indent="0" marL="0">
              <a:buNone/>
            </a:pPr>
            <a:r>
              <a:rPr lang="en-US" sz="1150" dirty="0">
                <a:solidFill>
                  <a:srgbClr val="94A3B8"/>
                </a:solidFill>
              </a:rPr>
              <a:t>Wrong metric. Overfitting (fueled by bad sampling). Leakage. You can spot all three before they strike.</a:t>
            </a:r>
            <a:endParaRPr lang="en-US" sz="1150" dirty="0"/>
          </a:p>
        </p:txBody>
      </p:sp>
      <p:sp>
        <p:nvSpPr>
          <p:cNvPr id="17" name="Shape 15"/>
          <p:cNvSpPr/>
          <p:nvPr/>
        </p:nvSpPr>
        <p:spPr>
          <a:xfrm>
            <a:off x="594360" y="3383280"/>
            <a:ext cx="475488" cy="475488"/>
          </a:xfrm>
          <a:prstGeom prst="ellipse">
            <a:avLst/>
          </a:prstGeom>
          <a:solidFill>
            <a:srgbClr val="028090"/>
          </a:solidFill>
          <a:ln w="12700">
            <a:solidFill>
              <a:srgbClr val="028090"/>
            </a:solidFill>
            <a:prstDash val="solid"/>
          </a:ln>
        </p:spPr>
      </p:sp>
      <p:sp>
        <p:nvSpPr>
          <p:cNvPr id="18" name="Text 16"/>
          <p:cNvSpPr/>
          <p:nvPr/>
        </p:nvSpPr>
        <p:spPr>
          <a:xfrm>
            <a:off x="594360" y="33832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 17"/>
          <p:cNvSpPr/>
          <p:nvPr/>
        </p:nvSpPr>
        <p:spPr>
          <a:xfrm>
            <a:off x="1188720" y="3383280"/>
            <a:ext cx="7498080" cy="292608"/>
          </a:xfrm>
          <a:prstGeom prst="rect">
            <a:avLst/>
          </a:prstGeom>
          <a:noFill/>
          <a:ln/>
        </p:spPr>
        <p:txBody>
          <a:bodyPr wrap="square" lIns="0" tIns="0" rIns="0" bIns="0" rtlCol="0" anchor="ctr"/>
          <a:lstStyle/>
          <a:p>
            <a:pPr indent="0" marL="0">
              <a:buNone/>
            </a:pPr>
            <a:r>
              <a:rPr lang="en-US" sz="1400" b="1" dirty="0">
                <a:solidFill>
                  <a:srgbClr val="02C39A"/>
                </a:solidFill>
                <a:latin typeface="Georgia" pitchFamily="34" charset="0"/>
                <a:ea typeface="Georgia" pitchFamily="34" charset="-122"/>
                <a:cs typeface="Georgia" pitchFamily="34" charset="-120"/>
              </a:rPr>
              <a:t>DS is a system — the 4 A's</a:t>
            </a:r>
            <a:endParaRPr lang="en-US" sz="1400" dirty="0"/>
          </a:p>
        </p:txBody>
      </p:sp>
      <p:sp>
        <p:nvSpPr>
          <p:cNvPr id="20" name="Text 18"/>
          <p:cNvSpPr/>
          <p:nvPr/>
        </p:nvSpPr>
        <p:spPr>
          <a:xfrm>
            <a:off x="1188720" y="3675888"/>
            <a:ext cx="7498080" cy="256032"/>
          </a:xfrm>
          <a:prstGeom prst="rect">
            <a:avLst/>
          </a:prstGeom>
          <a:noFill/>
          <a:ln/>
        </p:spPr>
        <p:txBody>
          <a:bodyPr wrap="square" lIns="0" tIns="0" rIns="0" bIns="0" rtlCol="0" anchor="ctr"/>
          <a:lstStyle/>
          <a:p>
            <a:pPr indent="0" marL="0">
              <a:buNone/>
            </a:pPr>
            <a:r>
              <a:rPr lang="en-US" sz="1150" dirty="0">
                <a:solidFill>
                  <a:srgbClr val="94A3B8"/>
                </a:solidFill>
              </a:rPr>
              <a:t>Automation, Accuracy, Adaptability, Accountability. The recipe runs; the system sustains it.</a:t>
            </a:r>
            <a:endParaRPr lang="en-US" sz="1150" dirty="0"/>
          </a:p>
        </p:txBody>
      </p:sp>
      <p:sp>
        <p:nvSpPr>
          <p:cNvPr id="21" name="Shape 19"/>
          <p:cNvSpPr/>
          <p:nvPr/>
        </p:nvSpPr>
        <p:spPr>
          <a:xfrm>
            <a:off x="594360" y="4151376"/>
            <a:ext cx="475488" cy="475488"/>
          </a:xfrm>
          <a:prstGeom prst="ellipse">
            <a:avLst/>
          </a:prstGeom>
          <a:solidFill>
            <a:srgbClr val="028090"/>
          </a:solidFill>
          <a:ln w="12700">
            <a:solidFill>
              <a:srgbClr val="028090"/>
            </a:solidFill>
            <a:prstDash val="solid"/>
          </a:ln>
        </p:spPr>
      </p:sp>
      <p:sp>
        <p:nvSpPr>
          <p:cNvPr id="22" name="Text 20"/>
          <p:cNvSpPr/>
          <p:nvPr/>
        </p:nvSpPr>
        <p:spPr>
          <a:xfrm>
            <a:off x="594360" y="415137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3" name="Text 21"/>
          <p:cNvSpPr/>
          <p:nvPr/>
        </p:nvSpPr>
        <p:spPr>
          <a:xfrm>
            <a:off x="1188720" y="4151376"/>
            <a:ext cx="7498080" cy="292608"/>
          </a:xfrm>
          <a:prstGeom prst="rect">
            <a:avLst/>
          </a:prstGeom>
          <a:noFill/>
          <a:ln/>
        </p:spPr>
        <p:txBody>
          <a:bodyPr wrap="square" lIns="0" tIns="0" rIns="0" bIns="0" rtlCol="0" anchor="ctr"/>
          <a:lstStyle/>
          <a:p>
            <a:pPr indent="0" marL="0">
              <a:buNone/>
            </a:pPr>
            <a:r>
              <a:rPr lang="en-US" sz="1400" b="1" dirty="0">
                <a:solidFill>
                  <a:srgbClr val="02C39A"/>
                </a:solidFill>
                <a:latin typeface="Georgia" pitchFamily="34" charset="0"/>
                <a:ea typeface="Georgia" pitchFamily="34" charset="-122"/>
                <a:cs typeface="Georgia" pitchFamily="34" charset="-120"/>
              </a:rPr>
              <a:t>Four questions to always ask</a:t>
            </a:r>
            <a:endParaRPr lang="en-US" sz="1400" dirty="0"/>
          </a:p>
        </p:txBody>
      </p:sp>
      <p:sp>
        <p:nvSpPr>
          <p:cNvPr id="24" name="Text 22"/>
          <p:cNvSpPr/>
          <p:nvPr/>
        </p:nvSpPr>
        <p:spPr>
          <a:xfrm>
            <a:off x="1188720" y="4443984"/>
            <a:ext cx="7498080" cy="256032"/>
          </a:xfrm>
          <a:prstGeom prst="rect">
            <a:avLst/>
          </a:prstGeom>
          <a:noFill/>
          <a:ln/>
        </p:spPr>
        <p:txBody>
          <a:bodyPr wrap="square" lIns="0" tIns="0" rIns="0" bIns="0" rtlCol="0" anchor="ctr"/>
          <a:lstStyle/>
          <a:p>
            <a:pPr indent="0" marL="0">
              <a:buNone/>
            </a:pPr>
            <a:r>
              <a:rPr lang="en-US" sz="1150" dirty="0">
                <a:solidFill>
                  <a:srgbClr val="94A3B8"/>
                </a:solidFill>
              </a:rPr>
              <a:t>Right metric? Sampled correctly? Beats baseline? Can you explain why? You now know more than most executives.</a:t>
            </a:r>
            <a:endParaRPr lang="en-US" sz="1150" dirty="0"/>
          </a:p>
        </p:txBody>
      </p:sp>
      <p:sp>
        <p:nvSpPr>
          <p:cNvPr id="25" name="Shape 23"/>
          <p:cNvSpPr/>
          <p:nvPr/>
        </p:nvSpPr>
        <p:spPr>
          <a:xfrm>
            <a:off x="594360" y="4681728"/>
            <a:ext cx="5486400" cy="45720"/>
          </a:xfrm>
          <a:prstGeom prst="rect">
            <a:avLst/>
          </a:prstGeom>
          <a:solidFill>
            <a:srgbClr val="028090"/>
          </a:solidFill>
          <a:ln w="12700">
            <a:solidFill>
              <a:srgbClr val="028090"/>
            </a:solidFill>
            <a:prstDash val="solid"/>
          </a:ln>
        </p:spPr>
      </p:sp>
      <p:sp>
        <p:nvSpPr>
          <p:cNvPr id="26" name="Text 24"/>
          <p:cNvSpPr/>
          <p:nvPr/>
        </p:nvSpPr>
        <p:spPr>
          <a:xfrm>
            <a:off x="594360" y="4754880"/>
            <a:ext cx="7772400" cy="274320"/>
          </a:xfrm>
          <a:prstGeom prst="rect">
            <a:avLst/>
          </a:prstGeom>
          <a:noFill/>
          <a:ln/>
        </p:spPr>
        <p:txBody>
          <a:bodyPr wrap="square" lIns="0" tIns="0" rIns="0" bIns="0" rtlCol="0" anchor="ctr"/>
          <a:lstStyle/>
          <a:p>
            <a:pPr indent="0" marL="0">
              <a:buNone/>
            </a:pPr>
            <a:r>
              <a:rPr lang="en-US" sz="1200" i="1" dirty="0">
                <a:solidFill>
                  <a:srgbClr val="02C39A"/>
                </a:solidFill>
              </a:rPr>
              <a:t>"Data science isn't about knowing more — it's about seeing differently."</a:t>
            </a:r>
            <a:endParaRPr lang="en-US" sz="1200" dirty="0"/>
          </a:p>
        </p:txBody>
      </p:sp>
      <p:sp>
        <p:nvSpPr>
          <p:cNvPr id="28" name="Text 25"/>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94A3B8"/>
                </a:solidFill>
              </a:rPr>
              <a:t>22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Isn't Magic: It's Recipes, Evaluation &amp; Systems.</dc:title>
  <dc:subject>PptxGenJS Presentation</dc:subject>
  <dc:creator>Mike Ames</dc:creator>
  <cp:lastModifiedBy>Mike Ames</cp:lastModifiedBy>
  <cp:revision>1</cp:revision>
  <dcterms:created xsi:type="dcterms:W3CDTF">2026-04-06T16:44:03Z</dcterms:created>
  <dcterms:modified xsi:type="dcterms:W3CDTF">2026-04-06T16:44:03Z</dcterms:modified>
</cp:coreProperties>
</file>