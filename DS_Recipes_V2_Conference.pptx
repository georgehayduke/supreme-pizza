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don't introduce yourself yet. Put the transaction up and ask for a quick show of hands: approve or decline? Then let the tension sit for a moment.
'You just made a probabilistic decision with incomplete information under time pressure. That is the problem data science is trying to solve — not building impressive models, but making better decisions.'
This sets up the entire talk. The punchline: 'We're intuitive. We're not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*why* we need data science — not to replace human judgment but to calibrate it.
Base rate neglect is the most counterintuitive: ask the room to guess the probability before revealing 16%. The gap between intuition and math is the whole point.
KEY LINE: 'We're intuitive. We're not calibrated.' This is the thesis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slide. Spend 2–3 minutes here — everything in the talk refers back to this.
Key points:
1. The formula is not just notation — it's a checklist. If any of the five terms are wrong, the outcome is wrong.
2. Algorithms (right column) are interchangeable ingredients. Swapping XGBoost for a neural net changes almost nothing if the recipe choice, sampling, evaluation, and explainability are right.
3. Most teams optimize the model (center step 4). The best teams design the whole system.
KEY LINE: 'Most teams optimize models. The best teams design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the recipe is a choice about what question you're answering — not what algorithm to run.
Algorithm selection is downstream. You could classify with logistic regression, a decision tree, XGBoost, or a neural net. All valid. What's not interchangeable is the recipe choice — if you cluster when you should classify, the result is wrong regardless of the algorithm.
Ask the room: 'I'll describe a problem. You shout the recipe.' (run through 3–4 quick examples from JHA's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gradient boosting (XGBoost/CatBoost) wins on tabular data almost every time. That's the workhorse of production DS in fintech. Neural networks are for text, images, and sequences — not for predicting fraud on transaction records.
The real point: organizations over-invest in algorithm selection and under-invest in everything around it. A well-tuned XGBoost on clean, well-sampled data will beat a neural net on bad data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underappreciated concept in applied DS. The model is only as good as the slice of reality you showed it.
Key points:
1. Class imbalance: 0.01% fraud means a model that predicts 'not fraud' for everything is 99.99% accurate but useless. You have to oversample the rare class or weight it heavily.
2. Temporal leakage: random train/test splits leak future patterns into training. Always use time-based splits.
3. Survivorship bias: you can only learn from fraud that was caught. The sophisticated fraud that slipped through isn't in your training data.
KEY LINE: 'Your model is only as good as the slice of reality you showed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most teams report one metric and call it evaluation. Real evaluation is a multi-dimensional systems problem.
The business tradeoffs dimension (card 2) is the one execs relate to most. Ask: 'As a bank, which is worse — blocking a legit transaction or letting fraud through?' The answer depends on the customer segment, regulatory environment, and business model. That's not a data science question. It's a strategy question that data science has to serve.
Latency and scale are the engineering dimensions that business stakeholders often miss when they ask for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three-level framework maps to three audiences:
- Global: data scientists and model developers
- Local: compliance officers and fraud analysts who need to justify specific decisions
- Operational: front-line staff and customers who need to understand an outcome in plain language
SHAP values (mentioned in Local) are the standard tool in fintech for exactly this. They decompose each individual prediction into the contribution of each feature, which satisfies both the regulatory need (explain THIS decision) and the operational need (say it in English).
KEY LINE: 'Demand a white-box. The AI said so is not an answer in a regulated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compliance officers and execs remember.
SHAP (SHapley Additive exPlanations) decomposes each prediction into the additive contribution of each feature. Red bars push toward fraud. Green bars push toward legit.
For community FIs: this is what allows a banker to call the customer and say 'we noticed an unusual transaction — can you confirm?' with a real reason rather than 'the system flagged it.'
For regulators: SHAP provides the audit trail for adverse action notices under ECOA and FCRA — 'here are the specific factors that influenced this decision.'
KEY LINE: 'SHAP values mean no black box — every decision has a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most common source of confusion in executive conversations about DS.
The key insight: they're not competing — they serve different purposes. You don't use GPT-4 to score fraud in 5ms. You don't use XGBoost to summarize a regulatory document.
For community FIs right now: ML (specifically XGBoost/CatBoost) is the workhorse for core DS — fraud, churn, forecasting. AI/LLMs are emerging for document processing, customer service, and knowledge retrieval. The evaluation frameworks are completely different — which is why the explainability and evaluation sections of this talk apply to both but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as a case study — each row maps to a step in the framework.
The Colombia story is a great concrete example because:
1. The sampling problem is real (instant payments = no time to reverse, so precision matters enormously)
2. The latency constraint (200ms) ruled out certain model architectures entirely — the model choice was shaped by the infrastructure constraint, not the other way around
3. The explainability requirement was regulatory, not optional — Colombian financial regulators required reason codes for declined transactions
The business insight that unlocked the model: most authorized push fraud happens in the first 90 seconds of a new receiver relationship. The graph feature measuring 'how many new receivers has this account sent to in the last hour' turned out to be the highest SHAP value across the entire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directly to the framework: failure mode 01 = bad step 3 (sampling), failure mode 02 = bad step 5 (evaluation), failure mode 03 = bad step 6 (explainability), failure mode 04 = no feedback loop / system design.
The organizational incentives point (#04) is the one that lands hardest with executives — because they own it. The data science team can do everything right and the project still dies if there's no organizational owner, no monitoring, and no one whose job it is to know when the model is decaying.
KEY LINE: 'A model nobody uses is worth nothing. A model nobody monitors is worse — because it's influencing decisions while slowly becoming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view — everything we've talked about (recipe, sampling, evaluation, explainability) runs in a loop.
The outcome censorship problem is unique to fraud ML: when you block a transaction, you never find out if it was actually fraud. This creates a biased feedback loop — you're only getting ground truth on the transactions you approved. Rejected inference techniques (like using proxy labels or held-out samples) are the standard solution.
The data flywheel: this is why Amazon's recommendation system kept improving — every interaction was training data for the next version. Community FIs can build the same loop at their scale.
KEY POINT: 'A model in production without a feedback loop is decaying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payoff slide. These four questions map directly to the four steps in the framework where projects most commonly fail:
1. Recipe choice → wrong question
2. Sampling → bad training data
3. Evaluation → single metric, wrong tradeoff
4. Explainability → ungovernable model
Any executive or business leader can ask these questions regardless of their technical background. They don't need to know what PR-AUC means — they need to know to ask 'are you measuring more than one thing?'
KEY LINE: 'You now know more than most executives about what questions to ask a data science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hard on the key line: 'Great data science is not about building models — it's about designing systems that make better decisions.'
The four takeaways map directly to the framework:
1. Recipe → type of question
2. Sampling → what you learn from
3. Evaluation → multi-dimensional, not one number
4. Explainability → trust is the prerequisite for use
Close with the tagline. Then be quiet. Let it sit.
If there's time for Q&amp;A: the best questions to provoke are 'what does your org currently evaluate for?' and 'can you get a SHAP explanation out of your current vendor's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028090"/>
          </a:solidFill>
          <a:ln w="12700">
            <a:solidFill>
              <a:srgbClr val="028090"/>
            </a:solidFill>
            <a:prstDash val="solid"/>
          </a:ln>
        </p:spPr>
      </p:sp>
      <p:sp>
        <p:nvSpPr>
          <p:cNvPr id="3" name="Shape 1"/>
          <p:cNvSpPr/>
          <p:nvPr/>
        </p:nvSpPr>
        <p:spPr>
          <a:xfrm>
            <a:off x="256032" y="0"/>
            <a:ext cx="91440" cy="5143500"/>
          </a:xfrm>
          <a:prstGeom prst="rect">
            <a:avLst/>
          </a:prstGeom>
          <a:solidFill>
            <a:srgbClr val="02C39A"/>
          </a:solidFill>
          <a:ln w="12700">
            <a:solidFill>
              <a:srgbClr val="02C39A"/>
            </a:solidFill>
            <a:prstDash val="solid"/>
          </a:ln>
        </p:spPr>
      </p:sp>
      <p:sp>
        <p:nvSpPr>
          <p:cNvPr id="4" name="Text 2"/>
          <p:cNvSpPr/>
          <p:nvPr/>
        </p:nvSpPr>
        <p:spPr>
          <a:xfrm>
            <a:off x="566928" y="822960"/>
            <a:ext cx="8321040" cy="1005840"/>
          </a:xfrm>
          <a:prstGeom prst="rect">
            <a:avLst/>
          </a:prstGeom>
          <a:noFill/>
          <a:ln/>
        </p:spPr>
        <p:txBody>
          <a:bodyPr wrap="square" lIns="0" tIns="0" rIns="0" bIns="0" rtlCol="0" anchor="ctr"/>
          <a:lstStyle/>
          <a:p>
            <a:pPr algn="l" indent="0" marL="0">
              <a:buNone/>
            </a:pPr>
            <a:r>
              <a:rPr lang="en-US" sz="4800" b="1" dirty="0">
                <a:solidFill>
                  <a:srgbClr val="FFFFFF"/>
                </a:solidFill>
                <a:latin typeface="Georgia" pitchFamily="34" charset="0"/>
                <a:ea typeface="Georgia" pitchFamily="34" charset="-122"/>
                <a:cs typeface="Georgia" pitchFamily="34" charset="-120"/>
              </a:rPr>
              <a:t>Data Science Is a Recipe</a:t>
            </a:r>
            <a:endParaRPr lang="en-US" sz="4800" dirty="0"/>
          </a:p>
        </p:txBody>
      </p:sp>
      <p:sp>
        <p:nvSpPr>
          <p:cNvPr id="5" name="Text 3"/>
          <p:cNvSpPr/>
          <p:nvPr/>
        </p:nvSpPr>
        <p:spPr>
          <a:xfrm>
            <a:off x="566928" y="1920240"/>
            <a:ext cx="8321040" cy="658368"/>
          </a:xfrm>
          <a:prstGeom prst="rect">
            <a:avLst/>
          </a:prstGeom>
          <a:noFill/>
          <a:ln/>
        </p:spPr>
        <p:txBody>
          <a:bodyPr wrap="square" lIns="0" tIns="0" rIns="0" bIns="0" rtlCol="0" anchor="ctr"/>
          <a:lstStyle/>
          <a:p>
            <a:pPr algn="l" indent="0" marL="0">
              <a:buNone/>
            </a:pPr>
            <a:r>
              <a:rPr lang="en-US" sz="2600" i="1" dirty="0">
                <a:solidFill>
                  <a:srgbClr val="02C39A"/>
                </a:solidFill>
                <a:latin typeface="Georgia" pitchFamily="34" charset="0"/>
                <a:ea typeface="Georgia" pitchFamily="34" charset="-122"/>
                <a:cs typeface="Georgia" pitchFamily="34" charset="-120"/>
              </a:rPr>
              <a:t>Choosing the Right One Matters.</a:t>
            </a:r>
            <a:endParaRPr lang="en-US" sz="2600" dirty="0"/>
          </a:p>
        </p:txBody>
      </p:sp>
      <p:sp>
        <p:nvSpPr>
          <p:cNvPr id="6" name="Shape 4"/>
          <p:cNvSpPr/>
          <p:nvPr/>
        </p:nvSpPr>
        <p:spPr>
          <a:xfrm>
            <a:off x="566928" y="2706624"/>
            <a:ext cx="4572000" cy="45720"/>
          </a:xfrm>
          <a:prstGeom prst="rect">
            <a:avLst/>
          </a:prstGeom>
          <a:solidFill>
            <a:srgbClr val="028090"/>
          </a:solidFill>
          <a:ln w="12700">
            <a:solidFill>
              <a:srgbClr val="028090"/>
            </a:solidFill>
            <a:prstDash val="solid"/>
          </a:ln>
        </p:spPr>
      </p:sp>
      <p:sp>
        <p:nvSpPr>
          <p:cNvPr id="7" name="Text 5"/>
          <p:cNvSpPr/>
          <p:nvPr/>
        </p:nvSpPr>
        <p:spPr>
          <a:xfrm>
            <a:off x="566928" y="2871216"/>
            <a:ext cx="8229600" cy="347472"/>
          </a:xfrm>
          <a:prstGeom prst="rect">
            <a:avLst/>
          </a:prstGeom>
          <a:noFill/>
          <a:ln/>
        </p:spPr>
        <p:txBody>
          <a:bodyPr wrap="square" lIns="0" tIns="0" rIns="0" bIns="0" rtlCol="0" anchor="ctr"/>
          <a:lstStyle/>
          <a:p>
            <a:pPr algn="l" indent="0" marL="0">
              <a:buNone/>
            </a:pPr>
            <a:r>
              <a:rPr lang="en-US" sz="1300" dirty="0">
                <a:solidFill>
                  <a:srgbClr val="94A3B8"/>
                </a:solidFill>
              </a:rPr>
              <a:t>Mike Ames  |  Head of Data Science  |  Jack Henry &amp; Associates</a:t>
            </a:r>
            <a:endParaRPr lang="en-US" sz="1300" dirty="0"/>
          </a:p>
        </p:txBody>
      </p:sp>
      <p:sp>
        <p:nvSpPr>
          <p:cNvPr id="8" name="Shape 6"/>
          <p:cNvSpPr/>
          <p:nvPr/>
        </p:nvSpPr>
        <p:spPr>
          <a:xfrm>
            <a:off x="566928" y="3429000"/>
            <a:ext cx="7772400" cy="658368"/>
          </a:xfrm>
          <a:prstGeom prst="rect">
            <a:avLst/>
          </a:prstGeom>
          <a:solidFill>
            <a:srgbClr val="243655"/>
          </a:solidFill>
          <a:ln w="12700">
            <a:solidFill>
              <a:srgbClr val="028090"/>
            </a:solidFill>
            <a:prstDash val="solid"/>
          </a:ln>
        </p:spPr>
      </p:sp>
      <p:sp>
        <p:nvSpPr>
          <p:cNvPr id="9" name="Text 7"/>
          <p:cNvSpPr/>
          <p:nvPr/>
        </p:nvSpPr>
        <p:spPr>
          <a:xfrm>
            <a:off x="713232" y="3474720"/>
            <a:ext cx="7498080" cy="566928"/>
          </a:xfrm>
          <a:prstGeom prst="rect">
            <a:avLst/>
          </a:prstGeom>
          <a:noFill/>
          <a:ln/>
        </p:spPr>
        <p:txBody>
          <a:bodyPr wrap="square" lIns="0" tIns="0" rIns="0" bIns="0" rtlCol="0" anchor="ctr"/>
          <a:lstStyle/>
          <a:p>
            <a:pPr algn="ctr" indent="0" marL="0">
              <a:buNone/>
            </a:pPr>
            <a:r>
              <a:rPr lang="en-US" sz="1800" dirty="0">
                <a:solidFill>
                  <a:srgbClr val="FFFFFF"/>
                </a:solidFill>
                <a:latin typeface="Georgia" pitchFamily="34" charset="0"/>
                <a:ea typeface="Georgia" pitchFamily="34" charset="-122"/>
                <a:cs typeface="Georgia" pitchFamily="34" charset="-120"/>
              </a:rPr>
              <a:t>Outcome = f(</a:t>
            </a:r>
            <a:pPr algn="ctr" indent="0" marL="0">
              <a:buNone/>
            </a:pPr>
            <a:r>
              <a:rPr lang="en-US" sz="1800" b="1" dirty="0">
                <a:solidFill>
                  <a:srgbClr val="028090"/>
                </a:solidFill>
                <a:latin typeface="Georgia" pitchFamily="34" charset="0"/>
                <a:ea typeface="Georgia" pitchFamily="34" charset="-122"/>
                <a:cs typeface="Georgia" pitchFamily="34" charset="-120"/>
              </a:rPr>
              <a:t>Problem</a:t>
            </a:r>
            <a:pPr algn="ctr" indent="0" marL="0">
              <a:buNone/>
            </a:pPr>
            <a:r>
              <a:rPr lang="en-US" sz="1800" dirty="0">
                <a:solidFill>
                  <a:srgbClr val="FFFFFF"/>
                </a:solidFill>
                <a:latin typeface="Georgia" pitchFamily="34" charset="0"/>
                <a:ea typeface="Georgia" pitchFamily="34" charset="-122"/>
                <a:cs typeface="Georgia" pitchFamily="34" charset="-120"/>
              </a:rPr>
              <a:t>, </a:t>
            </a:r>
            <a:pPr algn="ctr" indent="0" marL="0">
              <a:buNone/>
            </a:pPr>
            <a:r>
              <a:rPr lang="en-US" sz="1800" b="1" dirty="0">
                <a:solidFill>
                  <a:srgbClr val="E67E22"/>
                </a:solidFill>
                <a:latin typeface="Georgia" pitchFamily="34" charset="0"/>
                <a:ea typeface="Georgia" pitchFamily="34" charset="-122"/>
                <a:cs typeface="Georgia" pitchFamily="34" charset="-120"/>
              </a:rPr>
              <a:t>Data</a:t>
            </a:r>
            <a:pPr algn="ctr" indent="0" marL="0">
              <a:buNone/>
            </a:pPr>
            <a:r>
              <a:rPr lang="en-US" sz="1800" dirty="0">
                <a:solidFill>
                  <a:srgbClr val="FFFFFF"/>
                </a:solidFill>
                <a:latin typeface="Georgia" pitchFamily="34" charset="0"/>
                <a:ea typeface="Georgia" pitchFamily="34" charset="-122"/>
                <a:cs typeface="Georgia" pitchFamily="34" charset="-120"/>
              </a:rPr>
              <a:t>, </a:t>
            </a:r>
            <a:pPr algn="ctr" indent="0" marL="0">
              <a:buNone/>
            </a:pPr>
            <a:r>
              <a:rPr lang="en-US" sz="1800" b="1" dirty="0">
                <a:solidFill>
                  <a:srgbClr val="2196F3"/>
                </a:solidFill>
                <a:latin typeface="Georgia" pitchFamily="34" charset="0"/>
                <a:ea typeface="Georgia" pitchFamily="34" charset="-122"/>
                <a:cs typeface="Georgia" pitchFamily="34" charset="-120"/>
              </a:rPr>
              <a:t>Model</a:t>
            </a:r>
            <a:pPr algn="ctr" indent="0" marL="0">
              <a:buNone/>
            </a:pPr>
            <a:r>
              <a:rPr lang="en-US" sz="1800" dirty="0">
                <a:solidFill>
                  <a:srgbClr val="FFFFFF"/>
                </a:solidFill>
                <a:latin typeface="Georgia" pitchFamily="34" charset="0"/>
                <a:ea typeface="Georgia" pitchFamily="34" charset="-122"/>
                <a:cs typeface="Georgia" pitchFamily="34" charset="-120"/>
              </a:rPr>
              <a:t>, </a:t>
            </a:r>
            <a:pPr algn="ctr" indent="0" marL="0">
              <a:buNone/>
            </a:pPr>
            <a:r>
              <a:rPr lang="en-US" sz="1800" b="1" dirty="0">
                <a:solidFill>
                  <a:srgbClr val="02C39A"/>
                </a:solidFill>
                <a:latin typeface="Georgia" pitchFamily="34" charset="0"/>
                <a:ea typeface="Georgia" pitchFamily="34" charset="-122"/>
                <a:cs typeface="Georgia" pitchFamily="34" charset="-120"/>
              </a:rPr>
              <a:t>Evaluation</a:t>
            </a:r>
            <a:pPr algn="ctr" indent="0" marL="0">
              <a:buNone/>
            </a:pPr>
            <a:r>
              <a:rPr lang="en-US" sz="1800" dirty="0">
                <a:solidFill>
                  <a:srgbClr val="FFFFFF"/>
                </a:solidFill>
                <a:latin typeface="Georgia" pitchFamily="34" charset="0"/>
                <a:ea typeface="Georgia" pitchFamily="34" charset="-122"/>
                <a:cs typeface="Georgia" pitchFamily="34" charset="-120"/>
              </a:rPr>
              <a:t>, </a:t>
            </a:r>
            <a:pPr algn="ctr" indent="0" marL="0">
              <a:buNone/>
            </a:pPr>
            <a:r>
              <a:rPr lang="en-US" sz="1800" b="1" dirty="0">
                <a:solidFill>
                  <a:srgbClr val="5B2C8D"/>
                </a:solidFill>
                <a:latin typeface="Georgia" pitchFamily="34" charset="0"/>
                <a:ea typeface="Georgia" pitchFamily="34" charset="-122"/>
                <a:cs typeface="Georgia" pitchFamily="34" charset="-120"/>
              </a:rPr>
              <a:t>Explainability</a:t>
            </a:r>
            <a:pPr algn="ctr" indent="0" marL="0">
              <a:buNone/>
            </a:pPr>
            <a:r>
              <a:rPr lang="en-US" sz="1800" dirty="0">
                <a:solidFill>
                  <a:srgbClr val="FFFFFF"/>
                </a:solidFill>
                <a:latin typeface="Georgia" pitchFamily="34" charset="0"/>
                <a:ea typeface="Georgia" pitchFamily="34" charset="-122"/>
                <a:cs typeface="Georgia" pitchFamily="34" charset="-120"/>
              </a:rPr>
              <a:t>)</a:t>
            </a:r>
            <a:endParaRPr lang="en-US" sz="1800" dirty="0"/>
          </a:p>
        </p:txBody>
      </p:sp>
      <p:sp>
        <p:nvSpPr>
          <p:cNvPr id="10" name="Text 8"/>
          <p:cNvSpPr/>
          <p:nvPr/>
        </p:nvSpPr>
        <p:spPr>
          <a:xfrm>
            <a:off x="566928" y="4663440"/>
            <a:ext cx="8229600" cy="310896"/>
          </a:xfrm>
          <a:prstGeom prst="rect">
            <a:avLst/>
          </a:prstGeom>
          <a:noFill/>
          <a:ln/>
        </p:spPr>
        <p:txBody>
          <a:bodyPr wrap="square" lIns="0" tIns="0" rIns="0" bIns="0" rtlCol="0" anchor="ctr"/>
          <a:lstStyle/>
          <a:p>
            <a:pPr algn="l" indent="0" marL="0">
              <a:buNone/>
            </a:pPr>
            <a:r>
              <a:rPr lang="en-US" sz="1150" i="1" dirty="0">
                <a:solidFill>
                  <a:srgbClr val="94A3B8"/>
                </a:solidFill>
              </a:rPr>
              <a:t>"A model you can't evaluate is useless. A model you can't explain won't be used."</a:t>
            </a:r>
            <a:endParaRPr lang="en-US" sz="1150" dirty="0"/>
          </a:p>
        </p:txBody>
      </p:sp>
      <p:sp>
        <p:nvSpPr>
          <p:cNvPr id="11" name="Text 9"/>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1 / 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A28"/>
        </a:solidFill>
      </p:bgPr>
    </p:bg>
    <p:spTree>
      <p:nvGrpSpPr>
        <p:cNvPr id="1" name=""/>
        <p:cNvGrpSpPr/>
        <p:nvPr/>
      </p:nvGrpSpPr>
      <p:grpSpPr>
        <a:xfrm>
          <a:off x="0" y="0"/>
          <a:ext cx="0" cy="0"/>
          <a:chOff x="0" y="0"/>
          <a:chExt cx="0" cy="0"/>
        </a:xfrm>
      </p:grpSpPr>
      <p:sp>
        <p:nvSpPr>
          <p:cNvPr id="2" name="Text 0"/>
          <p:cNvSpPr/>
          <p:nvPr/>
        </p:nvSpPr>
        <p:spPr>
          <a:xfrm>
            <a:off x="640080" y="502920"/>
            <a:ext cx="7315200" cy="530352"/>
          </a:xfrm>
          <a:prstGeom prst="rect">
            <a:avLst/>
          </a:prstGeom>
          <a:noFill/>
          <a:ln/>
        </p:spPr>
        <p:txBody>
          <a:bodyPr wrap="square" lIns="0" tIns="0" rIns="0" bIns="0" rtlCol="0" anchor="ctr"/>
          <a:lstStyle/>
          <a:p>
            <a:pPr algn="l" indent="0" marL="0">
              <a:buNone/>
            </a:pPr>
            <a:r>
              <a:rPr lang="en-US" sz="2200" i="1" dirty="0">
                <a:solidFill>
                  <a:srgbClr val="94A3B8"/>
                </a:solidFill>
                <a:latin typeface="Georgia" pitchFamily="34" charset="0"/>
                <a:ea typeface="Georgia" pitchFamily="34" charset="-122"/>
                <a:cs typeface="Georgia" pitchFamily="34" charset="-120"/>
              </a:rPr>
              <a:t>Before we start —</a:t>
            </a:r>
            <a:endParaRPr lang="en-US" sz="2200" dirty="0"/>
          </a:p>
        </p:txBody>
      </p:sp>
      <p:sp>
        <p:nvSpPr>
          <p:cNvPr id="3" name="Text 1"/>
          <p:cNvSpPr/>
          <p:nvPr/>
        </p:nvSpPr>
        <p:spPr>
          <a:xfrm>
            <a:off x="640080" y="1024128"/>
            <a:ext cx="7772400" cy="685800"/>
          </a:xfrm>
          <a:prstGeom prst="rect">
            <a:avLst/>
          </a:prstGeom>
          <a:noFill/>
          <a:ln/>
        </p:spPr>
        <p:txBody>
          <a:bodyPr wrap="square" lIns="0" tIns="0" rIns="0" bIns="0"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a transaction just came through.</a:t>
            </a:r>
            <a:endParaRPr lang="en-US" sz="3600" dirty="0"/>
          </a:p>
        </p:txBody>
      </p:sp>
      <p:sp>
        <p:nvSpPr>
          <p:cNvPr id="4" name="Shape 2"/>
          <p:cNvSpPr/>
          <p:nvPr/>
        </p:nvSpPr>
        <p:spPr>
          <a:xfrm>
            <a:off x="640080" y="1874520"/>
            <a:ext cx="7863840" cy="1691640"/>
          </a:xfrm>
          <a:prstGeom prst="rect">
            <a:avLst/>
          </a:prstGeom>
          <a:solidFill>
            <a:srgbClr val="243655"/>
          </a:solidFill>
          <a:ln w="12700">
            <a:solidFill>
              <a:srgbClr val="028090"/>
            </a:solidFill>
            <a:prstDash val="solid"/>
          </a:ln>
          <a:effectLst>
            <a:outerShdw sx="100000" sy="100000" kx="0" ky="0" algn="bl" rotWithShape="0" blurRad="127000" dist="50800" dir="8100000">
              <a:srgbClr val="000000">
                <a:alpha val="15000"/>
              </a:srgbClr>
            </a:outerShdw>
          </a:effectLst>
        </p:spPr>
      </p:sp>
      <p:sp>
        <p:nvSpPr>
          <p:cNvPr id="5" name="Text 3"/>
          <p:cNvSpPr/>
          <p:nvPr/>
        </p:nvSpPr>
        <p:spPr>
          <a:xfrm>
            <a:off x="914400" y="2057400"/>
            <a:ext cx="1188720" cy="402336"/>
          </a:xfrm>
          <a:prstGeom prst="rect">
            <a:avLst/>
          </a:prstGeom>
          <a:noFill/>
          <a:ln/>
        </p:spPr>
        <p:txBody>
          <a:bodyPr wrap="square" lIns="0" tIns="0" rIns="0" bIns="0" rtlCol="0" anchor="ctr"/>
          <a:lstStyle/>
          <a:p>
            <a:pPr indent="0" marL="0">
              <a:buNone/>
            </a:pPr>
            <a:r>
              <a:rPr lang="en-US" sz="1300" b="1" dirty="0">
                <a:solidFill>
                  <a:srgbClr val="94A3B8"/>
                </a:solidFill>
              </a:rPr>
              <a:t>Amount:</a:t>
            </a:r>
            <a:endParaRPr lang="en-US" sz="1300" dirty="0"/>
          </a:p>
        </p:txBody>
      </p:sp>
      <p:sp>
        <p:nvSpPr>
          <p:cNvPr id="6" name="Text 4"/>
          <p:cNvSpPr/>
          <p:nvPr/>
        </p:nvSpPr>
        <p:spPr>
          <a:xfrm>
            <a:off x="2103120" y="2057400"/>
            <a:ext cx="2560320" cy="402336"/>
          </a:xfrm>
          <a:prstGeom prst="rect">
            <a:avLst/>
          </a:prstGeom>
          <a:noFill/>
          <a:ln/>
        </p:spPr>
        <p:txBody>
          <a:bodyPr wrap="square" lIns="0" tIns="0" rIns="0" bIns="0" rtlCol="0" anchor="ctr"/>
          <a:lstStyle/>
          <a:p>
            <a:pPr indent="0" marL="0">
              <a:buNone/>
            </a:pPr>
            <a:r>
              <a:rPr lang="en-US" sz="1400" dirty="0">
                <a:solidFill>
                  <a:srgbClr val="FFFFFF"/>
                </a:solidFill>
              </a:rPr>
              <a:t>$4,800.00</a:t>
            </a:r>
            <a:endParaRPr lang="en-US" sz="1400" dirty="0"/>
          </a:p>
        </p:txBody>
      </p:sp>
      <p:sp>
        <p:nvSpPr>
          <p:cNvPr id="7" name="Text 5"/>
          <p:cNvSpPr/>
          <p:nvPr/>
        </p:nvSpPr>
        <p:spPr>
          <a:xfrm>
            <a:off x="914400" y="2532888"/>
            <a:ext cx="1188720" cy="402336"/>
          </a:xfrm>
          <a:prstGeom prst="rect">
            <a:avLst/>
          </a:prstGeom>
          <a:noFill/>
          <a:ln/>
        </p:spPr>
        <p:txBody>
          <a:bodyPr wrap="square" lIns="0" tIns="0" rIns="0" bIns="0" rtlCol="0" anchor="ctr"/>
          <a:lstStyle/>
          <a:p>
            <a:pPr indent="0" marL="0">
              <a:buNone/>
            </a:pPr>
            <a:r>
              <a:rPr lang="en-US" sz="1300" b="1" dirty="0">
                <a:solidFill>
                  <a:srgbClr val="94A3B8"/>
                </a:solidFill>
              </a:rPr>
              <a:t>Merchant:</a:t>
            </a:r>
            <a:endParaRPr lang="en-US" sz="1300" dirty="0"/>
          </a:p>
        </p:txBody>
      </p:sp>
      <p:sp>
        <p:nvSpPr>
          <p:cNvPr id="8" name="Text 6"/>
          <p:cNvSpPr/>
          <p:nvPr/>
        </p:nvSpPr>
        <p:spPr>
          <a:xfrm>
            <a:off x="2103120" y="2532888"/>
            <a:ext cx="2560320" cy="402336"/>
          </a:xfrm>
          <a:prstGeom prst="rect">
            <a:avLst/>
          </a:prstGeom>
          <a:noFill/>
          <a:ln/>
        </p:spPr>
        <p:txBody>
          <a:bodyPr wrap="square" lIns="0" tIns="0" rIns="0" bIns="0" rtlCol="0" anchor="ctr"/>
          <a:lstStyle/>
          <a:p>
            <a:pPr indent="0" marL="0">
              <a:buNone/>
            </a:pPr>
            <a:r>
              <a:rPr lang="en-US" sz="1400" dirty="0">
                <a:solidFill>
                  <a:srgbClr val="FFFFFF"/>
                </a:solidFill>
              </a:rPr>
              <a:t>Best Buy — Seattle</a:t>
            </a:r>
            <a:endParaRPr lang="en-US" sz="1400" dirty="0"/>
          </a:p>
        </p:txBody>
      </p:sp>
      <p:sp>
        <p:nvSpPr>
          <p:cNvPr id="9" name="Text 7"/>
          <p:cNvSpPr/>
          <p:nvPr/>
        </p:nvSpPr>
        <p:spPr>
          <a:xfrm>
            <a:off x="914400" y="3008376"/>
            <a:ext cx="1188720" cy="402336"/>
          </a:xfrm>
          <a:prstGeom prst="rect">
            <a:avLst/>
          </a:prstGeom>
          <a:noFill/>
          <a:ln/>
        </p:spPr>
        <p:txBody>
          <a:bodyPr wrap="square" lIns="0" tIns="0" rIns="0" bIns="0" rtlCol="0" anchor="ctr"/>
          <a:lstStyle/>
          <a:p>
            <a:pPr indent="0" marL="0">
              <a:buNone/>
            </a:pPr>
            <a:r>
              <a:rPr lang="en-US" sz="1300" b="1" dirty="0">
                <a:solidFill>
                  <a:srgbClr val="94A3B8"/>
                </a:solidFill>
              </a:rPr>
              <a:t>Time:</a:t>
            </a:r>
            <a:endParaRPr lang="en-US" sz="1300" dirty="0"/>
          </a:p>
        </p:txBody>
      </p:sp>
      <p:sp>
        <p:nvSpPr>
          <p:cNvPr id="10" name="Text 8"/>
          <p:cNvSpPr/>
          <p:nvPr/>
        </p:nvSpPr>
        <p:spPr>
          <a:xfrm>
            <a:off x="2103120" y="3008376"/>
            <a:ext cx="2560320" cy="402336"/>
          </a:xfrm>
          <a:prstGeom prst="rect">
            <a:avLst/>
          </a:prstGeom>
          <a:noFill/>
          <a:ln/>
        </p:spPr>
        <p:txBody>
          <a:bodyPr wrap="square" lIns="0" tIns="0" rIns="0" bIns="0" rtlCol="0" anchor="ctr"/>
          <a:lstStyle/>
          <a:p>
            <a:pPr indent="0" marL="0">
              <a:buNone/>
            </a:pPr>
            <a:r>
              <a:rPr lang="en-US" sz="1400" b="1" dirty="0">
                <a:solidFill>
                  <a:srgbClr val="BF5E00"/>
                </a:solidFill>
              </a:rPr>
              <a:t>2:17 AM</a:t>
            </a:r>
            <a:endParaRPr lang="en-US" sz="1400" dirty="0"/>
          </a:p>
        </p:txBody>
      </p:sp>
      <p:sp>
        <p:nvSpPr>
          <p:cNvPr id="11" name="Text 9"/>
          <p:cNvSpPr/>
          <p:nvPr/>
        </p:nvSpPr>
        <p:spPr>
          <a:xfrm>
            <a:off x="4846320" y="2057400"/>
            <a:ext cx="1188720" cy="402336"/>
          </a:xfrm>
          <a:prstGeom prst="rect">
            <a:avLst/>
          </a:prstGeom>
          <a:noFill/>
          <a:ln/>
        </p:spPr>
        <p:txBody>
          <a:bodyPr wrap="square" lIns="0" tIns="0" rIns="0" bIns="0" rtlCol="0" anchor="ctr"/>
          <a:lstStyle/>
          <a:p>
            <a:pPr indent="0" marL="0">
              <a:buNone/>
            </a:pPr>
            <a:r>
              <a:rPr lang="en-US" sz="1300" b="1" dirty="0">
                <a:solidFill>
                  <a:srgbClr val="94A3B8"/>
                </a:solidFill>
              </a:rPr>
              <a:t>Location:</a:t>
            </a:r>
            <a:endParaRPr lang="en-US" sz="1300" dirty="0"/>
          </a:p>
        </p:txBody>
      </p:sp>
      <p:sp>
        <p:nvSpPr>
          <p:cNvPr id="12" name="Text 10"/>
          <p:cNvSpPr/>
          <p:nvPr/>
        </p:nvSpPr>
        <p:spPr>
          <a:xfrm>
            <a:off x="6035040" y="2057400"/>
            <a:ext cx="2560320" cy="402336"/>
          </a:xfrm>
          <a:prstGeom prst="rect">
            <a:avLst/>
          </a:prstGeom>
          <a:noFill/>
          <a:ln/>
        </p:spPr>
        <p:txBody>
          <a:bodyPr wrap="square" lIns="0" tIns="0" rIns="0" bIns="0" rtlCol="0" anchor="ctr"/>
          <a:lstStyle/>
          <a:p>
            <a:pPr indent="0" marL="0">
              <a:buNone/>
            </a:pPr>
            <a:r>
              <a:rPr lang="en-US" sz="1400" b="1" dirty="0">
                <a:solidFill>
                  <a:srgbClr val="BF5E00"/>
                </a:solidFill>
              </a:rPr>
              <a:t>300 miles from home</a:t>
            </a:r>
            <a:endParaRPr lang="en-US" sz="1400" dirty="0"/>
          </a:p>
        </p:txBody>
      </p:sp>
      <p:sp>
        <p:nvSpPr>
          <p:cNvPr id="13" name="Text 11"/>
          <p:cNvSpPr/>
          <p:nvPr/>
        </p:nvSpPr>
        <p:spPr>
          <a:xfrm>
            <a:off x="4846320" y="2532888"/>
            <a:ext cx="1188720" cy="402336"/>
          </a:xfrm>
          <a:prstGeom prst="rect">
            <a:avLst/>
          </a:prstGeom>
          <a:noFill/>
          <a:ln/>
        </p:spPr>
        <p:txBody>
          <a:bodyPr wrap="square" lIns="0" tIns="0" rIns="0" bIns="0" rtlCol="0" anchor="ctr"/>
          <a:lstStyle/>
          <a:p>
            <a:pPr indent="0" marL="0">
              <a:buNone/>
            </a:pPr>
            <a:r>
              <a:rPr lang="en-US" sz="1300" b="1" dirty="0">
                <a:solidFill>
                  <a:srgbClr val="94A3B8"/>
                </a:solidFill>
              </a:rPr>
              <a:t>Acct Age:</a:t>
            </a:r>
            <a:endParaRPr lang="en-US" sz="1300" dirty="0"/>
          </a:p>
        </p:txBody>
      </p:sp>
      <p:sp>
        <p:nvSpPr>
          <p:cNvPr id="14" name="Text 12"/>
          <p:cNvSpPr/>
          <p:nvPr/>
        </p:nvSpPr>
        <p:spPr>
          <a:xfrm>
            <a:off x="6035040" y="2532888"/>
            <a:ext cx="2560320" cy="402336"/>
          </a:xfrm>
          <a:prstGeom prst="rect">
            <a:avLst/>
          </a:prstGeom>
          <a:noFill/>
          <a:ln/>
        </p:spPr>
        <p:txBody>
          <a:bodyPr wrap="square" lIns="0" tIns="0" rIns="0" bIns="0" rtlCol="0" anchor="ctr"/>
          <a:lstStyle/>
          <a:p>
            <a:pPr indent="0" marL="0">
              <a:buNone/>
            </a:pPr>
            <a:r>
              <a:rPr lang="en-US" sz="1400" dirty="0">
                <a:solidFill>
                  <a:srgbClr val="FFFFFF"/>
                </a:solidFill>
              </a:rPr>
              <a:t>5 years, first intl purchase</a:t>
            </a:r>
            <a:endParaRPr lang="en-US" sz="1400" dirty="0"/>
          </a:p>
        </p:txBody>
      </p:sp>
      <p:sp>
        <p:nvSpPr>
          <p:cNvPr id="15" name="Shape 13"/>
          <p:cNvSpPr/>
          <p:nvPr/>
        </p:nvSpPr>
        <p:spPr>
          <a:xfrm>
            <a:off x="640080" y="3730752"/>
            <a:ext cx="7863840" cy="530352"/>
          </a:xfrm>
          <a:prstGeom prst="rect">
            <a:avLst/>
          </a:prstGeom>
          <a:solidFill>
            <a:srgbClr val="1A1A1A"/>
          </a:solidFill>
          <a:ln w="12700">
            <a:solidFill>
              <a:srgbClr val="94A3B8"/>
            </a:solidFill>
            <a:prstDash val="solid"/>
          </a:ln>
        </p:spPr>
      </p:sp>
      <p:sp>
        <p:nvSpPr>
          <p:cNvPr id="16" name="Text 14"/>
          <p:cNvSpPr/>
          <p:nvPr/>
        </p:nvSpPr>
        <p:spPr>
          <a:xfrm>
            <a:off x="804672" y="3776472"/>
            <a:ext cx="7498080" cy="438912"/>
          </a:xfrm>
          <a:prstGeom prst="rect">
            <a:avLst/>
          </a:prstGeom>
          <a:noFill/>
          <a:ln/>
        </p:spPr>
        <p:txBody>
          <a:bodyPr wrap="square" lIns="0" tIns="0" rIns="0" bIns="0" rtlCol="0" anchor="ctr"/>
          <a:lstStyle/>
          <a:p>
            <a:pPr algn="ctr" indent="0" marL="0">
              <a:buNone/>
            </a:pPr>
            <a:r>
              <a:rPr lang="en-US" sz="2000" b="1" dirty="0">
                <a:solidFill>
                  <a:srgbClr val="02C39A"/>
                </a:solidFill>
              </a:rPr>
              <a:t>🙋  Approve or decline? You have 200ms.</a:t>
            </a:r>
            <a:endParaRPr lang="en-US" sz="2000" dirty="0"/>
          </a:p>
        </p:txBody>
      </p:sp>
      <p:sp>
        <p:nvSpPr>
          <p:cNvPr id="17" name="Text 15"/>
          <p:cNvSpPr/>
          <p:nvPr/>
        </p:nvSpPr>
        <p:spPr>
          <a:xfrm>
            <a:off x="640080" y="4407408"/>
            <a:ext cx="7863840" cy="329184"/>
          </a:xfrm>
          <a:prstGeom prst="rect">
            <a:avLst/>
          </a:prstGeom>
          <a:noFill/>
          <a:ln/>
        </p:spPr>
        <p:txBody>
          <a:bodyPr wrap="square" lIns="0" tIns="0" rIns="0" bIns="0" rtlCol="0" anchor="ctr"/>
          <a:lstStyle/>
          <a:p>
            <a:pPr algn="ctr" indent="0" marL="0">
              <a:buNone/>
            </a:pPr>
            <a:r>
              <a:rPr lang="en-US" sz="1300" i="1" dirty="0">
                <a:solidFill>
                  <a:srgbClr val="94A3B8"/>
                </a:solidFill>
              </a:rPr>
              <a:t>This is a decision problem under uncertainty. That's what data science solves.</a:t>
            </a:r>
            <a:endParaRPr lang="en-US" sz="1300" dirty="0"/>
          </a:p>
        </p:txBody>
      </p:sp>
      <p:sp>
        <p:nvSpPr>
          <p:cNvPr id="19" name="Text 16"/>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D4E"/>
          </a:solidFill>
          <a:ln w="12700">
            <a:solidFill>
              <a:srgbClr val="1E2D4E"/>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WHY THIS IS HARD — THE HUMAN CALIBRATION PROBLEM</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457200"/>
          </a:xfrm>
          <a:prstGeom prst="rect">
            <a:avLst/>
          </a:prstGeom>
          <a:noFill/>
          <a:ln/>
        </p:spPr>
        <p:txBody>
          <a:bodyPr wrap="square" lIns="0" tIns="0" rIns="0" bIns="0" rtlCol="0" anchor="ctr"/>
          <a:lstStyle/>
          <a:p>
            <a:pPr indent="0" marL="0">
              <a:buNone/>
            </a:pPr>
            <a:r>
              <a:rPr lang="en-US" sz="2400" b="1" dirty="0">
                <a:solidFill>
                  <a:srgbClr val="1E2D4E"/>
                </a:solidFill>
                <a:latin typeface="Georgia" pitchFamily="34" charset="0"/>
                <a:ea typeface="Georgia" pitchFamily="34" charset="-122"/>
                <a:cs typeface="Georgia" pitchFamily="34" charset="-120"/>
              </a:rPr>
              <a:t>We are excellent at seeing patterns.</a:t>
            </a:r>
            <a:endParaRPr lang="en-US" sz="2400" dirty="0"/>
          </a:p>
        </p:txBody>
      </p:sp>
      <p:sp>
        <p:nvSpPr>
          <p:cNvPr id="6" name="Text 4"/>
          <p:cNvSpPr/>
          <p:nvPr/>
        </p:nvSpPr>
        <p:spPr>
          <a:xfrm>
            <a:off x="411480" y="1115568"/>
            <a:ext cx="8321040" cy="457200"/>
          </a:xfrm>
          <a:prstGeom prst="rect">
            <a:avLst/>
          </a:prstGeom>
          <a:noFill/>
          <a:ln/>
        </p:spPr>
        <p:txBody>
          <a:bodyPr wrap="square" lIns="0" tIns="0" rIns="0" bIns="0" rtlCol="0" anchor="ctr"/>
          <a:lstStyle/>
          <a:p>
            <a:pPr indent="0" marL="0">
              <a:buNone/>
            </a:pPr>
            <a:r>
              <a:rPr lang="en-US" sz="2400" b="1" dirty="0">
                <a:solidFill>
                  <a:srgbClr val="C0392B"/>
                </a:solidFill>
                <a:latin typeface="Georgia" pitchFamily="34" charset="0"/>
                <a:ea typeface="Georgia" pitchFamily="34" charset="-122"/>
                <a:cs typeface="Georgia" pitchFamily="34" charset="-120"/>
              </a:rPr>
              <a:t>We are terrible at estimating probabilities.</a:t>
            </a:r>
            <a:endParaRPr lang="en-US" sz="2400" dirty="0"/>
          </a:p>
        </p:txBody>
      </p:sp>
      <p:sp>
        <p:nvSpPr>
          <p:cNvPr id="7" name="Shape 5"/>
          <p:cNvSpPr/>
          <p:nvPr/>
        </p:nvSpPr>
        <p:spPr>
          <a:xfrm>
            <a:off x="320040" y="1719072"/>
            <a:ext cx="2743200" cy="3200400"/>
          </a:xfrm>
          <a:prstGeom prst="rect">
            <a:avLst/>
          </a:prstGeom>
          <a:solidFill>
            <a:srgbClr val="FFF0F0"/>
          </a:solidFill>
          <a:ln w="12700">
            <a:solidFill>
              <a:srgbClr val="C0392B"/>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20040" y="1719072"/>
            <a:ext cx="2743200" cy="91440"/>
          </a:xfrm>
          <a:prstGeom prst="rect">
            <a:avLst/>
          </a:prstGeom>
          <a:solidFill>
            <a:srgbClr val="C0392B"/>
          </a:solidFill>
          <a:ln w="12700">
            <a:solidFill>
              <a:srgbClr val="C0392B"/>
            </a:solidFill>
            <a:prstDash val="solid"/>
          </a:ln>
        </p:spPr>
      </p:sp>
      <p:sp>
        <p:nvSpPr>
          <p:cNvPr id="9" name="Text 7"/>
          <p:cNvSpPr/>
          <p:nvPr/>
        </p:nvSpPr>
        <p:spPr>
          <a:xfrm>
            <a:off x="448056" y="1847088"/>
            <a:ext cx="2487168" cy="347472"/>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Base Rate Neglect</a:t>
            </a:r>
            <a:endParaRPr lang="en-US" sz="1400" dirty="0"/>
          </a:p>
        </p:txBody>
      </p:sp>
      <p:sp>
        <p:nvSpPr>
          <p:cNvPr id="10" name="Text 8"/>
          <p:cNvSpPr/>
          <p:nvPr/>
        </p:nvSpPr>
        <p:spPr>
          <a:xfrm>
            <a:off x="448056" y="2231136"/>
            <a:ext cx="2487168" cy="914400"/>
          </a:xfrm>
          <a:prstGeom prst="rect">
            <a:avLst/>
          </a:prstGeom>
          <a:noFill/>
          <a:ln/>
        </p:spPr>
        <p:txBody>
          <a:bodyPr wrap="square" lIns="0" tIns="0" rIns="0" bIns="0" rtlCol="0" anchor="ctr"/>
          <a:lstStyle/>
          <a:p>
            <a:pPr indent="0" marL="0">
              <a:buNone/>
            </a:pPr>
            <a:r>
              <a:rPr lang="en-US" sz="1050" i="1" dirty="0">
                <a:solidFill>
                  <a:srgbClr val="1A2535"/>
                </a:solidFill>
              </a:rPr>
              <a:t>Fraud rate: 0.01%. Your model flags a transaction. It's 95% accurate.</a:t>
            </a:r>
            <a:endParaRPr lang="en-US" sz="1050" dirty="0"/>
          </a:p>
          <a:p>
            <a:pPr indent="0" marL="0">
              <a:buNone/>
            </a:pPr>
            <a:r>
              <a:rPr lang="en-US" sz="1050" i="1" dirty="0">
                <a:solidFill>
                  <a:srgbClr val="1A2535"/>
                </a:solidFill>
              </a:rPr>
              <a:t>What's the probability it's actually fraud?</a:t>
            </a:r>
            <a:endParaRPr lang="en-US" sz="1050" dirty="0"/>
          </a:p>
        </p:txBody>
      </p:sp>
      <p:sp>
        <p:nvSpPr>
          <p:cNvPr id="11" name="Shape 9"/>
          <p:cNvSpPr/>
          <p:nvPr/>
        </p:nvSpPr>
        <p:spPr>
          <a:xfrm>
            <a:off x="448056" y="3200400"/>
            <a:ext cx="2487168" cy="36576"/>
          </a:xfrm>
          <a:prstGeom prst="rect">
            <a:avLst/>
          </a:prstGeom>
          <a:solidFill>
            <a:srgbClr val="C0392B"/>
          </a:solidFill>
          <a:ln w="12700">
            <a:solidFill>
              <a:srgbClr val="C0392B"/>
            </a:solidFill>
            <a:prstDash val="solid"/>
          </a:ln>
        </p:spPr>
      </p:sp>
      <p:sp>
        <p:nvSpPr>
          <p:cNvPr id="12" name="Text 10"/>
          <p:cNvSpPr/>
          <p:nvPr/>
        </p:nvSpPr>
        <p:spPr>
          <a:xfrm>
            <a:off x="448056" y="3273552"/>
            <a:ext cx="2487168" cy="347472"/>
          </a:xfrm>
          <a:prstGeom prst="rect">
            <a:avLst/>
          </a:prstGeom>
          <a:noFill/>
          <a:ln/>
        </p:spPr>
        <p:txBody>
          <a:bodyPr wrap="square" lIns="0" tIns="0" rIns="0" bIns="0" rtlCol="0" anchor="ctr"/>
          <a:lstStyle/>
          <a:p>
            <a:pPr indent="0" marL="0">
              <a:buNone/>
            </a:pPr>
            <a:r>
              <a:rPr lang="en-US" sz="1100" b="1" dirty="0">
                <a:solidFill>
                  <a:srgbClr val="C0392B"/>
                </a:solidFill>
              </a:rPr>
              <a:t>Answer: ~16%</a:t>
            </a:r>
            <a:endParaRPr lang="en-US" sz="1100" dirty="0"/>
          </a:p>
        </p:txBody>
      </p:sp>
      <p:sp>
        <p:nvSpPr>
          <p:cNvPr id="13" name="Text 11"/>
          <p:cNvSpPr/>
          <p:nvPr/>
        </p:nvSpPr>
        <p:spPr>
          <a:xfrm>
            <a:off x="448056" y="3639312"/>
            <a:ext cx="2487168" cy="1170432"/>
          </a:xfrm>
          <a:prstGeom prst="rect">
            <a:avLst/>
          </a:prstGeom>
          <a:noFill/>
          <a:ln/>
        </p:spPr>
        <p:txBody>
          <a:bodyPr wrap="square" lIns="0" tIns="0" rIns="0" bIns="0" rtlCol="0" anchor="ctr"/>
          <a:lstStyle/>
          <a:p>
            <a:pPr indent="0" marL="0">
              <a:buNone/>
            </a:pPr>
            <a:r>
              <a:rPr lang="en-US" sz="1000" dirty="0">
                <a:solidFill>
                  <a:srgbClr val="4A5568"/>
                </a:solidFill>
              </a:rPr>
              <a:t>Because 99.99% of transactions are legit, even a 5% false positive rate swamps the true positives.</a:t>
            </a:r>
            <a:endParaRPr lang="en-US" sz="1000" dirty="0"/>
          </a:p>
        </p:txBody>
      </p:sp>
      <p:sp>
        <p:nvSpPr>
          <p:cNvPr id="14" name="Shape 12"/>
          <p:cNvSpPr/>
          <p:nvPr/>
        </p:nvSpPr>
        <p:spPr>
          <a:xfrm>
            <a:off x="3227832" y="1719072"/>
            <a:ext cx="2743200" cy="3200400"/>
          </a:xfrm>
          <a:prstGeom prst="rect">
            <a:avLst/>
          </a:prstGeom>
          <a:solidFill>
            <a:srgbClr val="FFF4E6"/>
          </a:solidFill>
          <a:ln w="12700">
            <a:solidFill>
              <a:srgbClr val="E67E22"/>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3227832" y="1719072"/>
            <a:ext cx="2743200" cy="91440"/>
          </a:xfrm>
          <a:prstGeom prst="rect">
            <a:avLst/>
          </a:prstGeom>
          <a:solidFill>
            <a:srgbClr val="E67E22"/>
          </a:solidFill>
          <a:ln w="12700">
            <a:solidFill>
              <a:srgbClr val="E67E22"/>
            </a:solidFill>
            <a:prstDash val="solid"/>
          </a:ln>
        </p:spPr>
      </p:sp>
      <p:sp>
        <p:nvSpPr>
          <p:cNvPr id="16" name="Text 14"/>
          <p:cNvSpPr/>
          <p:nvPr/>
        </p:nvSpPr>
        <p:spPr>
          <a:xfrm>
            <a:off x="3355848" y="1847088"/>
            <a:ext cx="2487168" cy="347472"/>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Survivorship Bias</a:t>
            </a:r>
            <a:endParaRPr lang="en-US" sz="1400" dirty="0"/>
          </a:p>
        </p:txBody>
      </p:sp>
      <p:sp>
        <p:nvSpPr>
          <p:cNvPr id="17" name="Text 15"/>
          <p:cNvSpPr/>
          <p:nvPr/>
        </p:nvSpPr>
        <p:spPr>
          <a:xfrm>
            <a:off x="3355848" y="2231136"/>
            <a:ext cx="2487168" cy="914400"/>
          </a:xfrm>
          <a:prstGeom prst="rect">
            <a:avLst/>
          </a:prstGeom>
          <a:noFill/>
          <a:ln/>
        </p:spPr>
        <p:txBody>
          <a:bodyPr wrap="square" lIns="0" tIns="0" rIns="0" bIns="0" rtlCol="0" anchor="ctr"/>
          <a:lstStyle/>
          <a:p>
            <a:pPr indent="0" marL="0">
              <a:buNone/>
            </a:pPr>
            <a:r>
              <a:rPr lang="en-US" sz="1050" i="1" dirty="0">
                <a:solidFill>
                  <a:srgbClr val="1A2535"/>
                </a:solidFill>
              </a:rPr>
              <a:t>Your model trained on fraud cases that were caught. What about the sophisticated fraud that was never detected?</a:t>
            </a:r>
            <a:endParaRPr lang="en-US" sz="1050" dirty="0"/>
          </a:p>
        </p:txBody>
      </p:sp>
      <p:sp>
        <p:nvSpPr>
          <p:cNvPr id="18" name="Shape 16"/>
          <p:cNvSpPr/>
          <p:nvPr/>
        </p:nvSpPr>
        <p:spPr>
          <a:xfrm>
            <a:off x="3355848" y="3200400"/>
            <a:ext cx="2487168" cy="36576"/>
          </a:xfrm>
          <a:prstGeom prst="rect">
            <a:avLst/>
          </a:prstGeom>
          <a:solidFill>
            <a:srgbClr val="E67E22"/>
          </a:solidFill>
          <a:ln w="12700">
            <a:solidFill>
              <a:srgbClr val="E67E22"/>
            </a:solidFill>
            <a:prstDash val="solid"/>
          </a:ln>
        </p:spPr>
      </p:sp>
      <p:sp>
        <p:nvSpPr>
          <p:cNvPr id="19" name="Text 17"/>
          <p:cNvSpPr/>
          <p:nvPr/>
        </p:nvSpPr>
        <p:spPr>
          <a:xfrm>
            <a:off x="3355848" y="3273552"/>
            <a:ext cx="2487168" cy="347472"/>
          </a:xfrm>
          <a:prstGeom prst="rect">
            <a:avLst/>
          </a:prstGeom>
          <a:noFill/>
          <a:ln/>
        </p:spPr>
        <p:txBody>
          <a:bodyPr wrap="square" lIns="0" tIns="0" rIns="0" bIns="0" rtlCol="0" anchor="ctr"/>
          <a:lstStyle/>
          <a:p>
            <a:pPr indent="0" marL="0">
              <a:buNone/>
            </a:pPr>
            <a:r>
              <a:rPr lang="en-US" sz="1100" b="1" dirty="0">
                <a:solidFill>
                  <a:srgbClr val="E67E22"/>
                </a:solidFill>
              </a:rPr>
              <a:t>Answer: You're learning from the visible failures, not all failures.</a:t>
            </a:r>
            <a:endParaRPr lang="en-US" sz="1100" dirty="0"/>
          </a:p>
        </p:txBody>
      </p:sp>
      <p:sp>
        <p:nvSpPr>
          <p:cNvPr id="20" name="Text 18"/>
          <p:cNvSpPr/>
          <p:nvPr/>
        </p:nvSpPr>
        <p:spPr>
          <a:xfrm>
            <a:off x="3355848" y="3639312"/>
            <a:ext cx="2487168" cy="1170432"/>
          </a:xfrm>
          <a:prstGeom prst="rect">
            <a:avLst/>
          </a:prstGeom>
          <a:noFill/>
          <a:ln/>
        </p:spPr>
        <p:txBody>
          <a:bodyPr wrap="square" lIns="0" tIns="0" rIns="0" bIns="0" rtlCol="0" anchor="ctr"/>
          <a:lstStyle/>
          <a:p>
            <a:pPr indent="0" marL="0">
              <a:buNone/>
            </a:pPr>
            <a:r>
              <a:rPr lang="en-US" sz="1000" dirty="0">
                <a:solidFill>
                  <a:srgbClr val="4A5568"/>
                </a:solidFill>
              </a:rPr>
              <a:t>Your training data is a biased sample of reality — the system you're trying to defeat already shaped what you can see.</a:t>
            </a:r>
            <a:endParaRPr lang="en-US" sz="1000" dirty="0"/>
          </a:p>
        </p:txBody>
      </p:sp>
      <p:sp>
        <p:nvSpPr>
          <p:cNvPr id="21" name="Shape 19"/>
          <p:cNvSpPr/>
          <p:nvPr/>
        </p:nvSpPr>
        <p:spPr>
          <a:xfrm>
            <a:off x="6135624" y="1719072"/>
            <a:ext cx="2743200" cy="3200400"/>
          </a:xfrm>
          <a:prstGeom prst="rect">
            <a:avLst/>
          </a:prstGeom>
          <a:solidFill>
            <a:srgbClr val="F5F0FF"/>
          </a:solidFill>
          <a:ln w="12700">
            <a:solidFill>
              <a:srgbClr val="5B2C8D"/>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6135624" y="1719072"/>
            <a:ext cx="2743200" cy="91440"/>
          </a:xfrm>
          <a:prstGeom prst="rect">
            <a:avLst/>
          </a:prstGeom>
          <a:solidFill>
            <a:srgbClr val="5B2C8D"/>
          </a:solidFill>
          <a:ln w="12700">
            <a:solidFill>
              <a:srgbClr val="5B2C8D"/>
            </a:solidFill>
            <a:prstDash val="solid"/>
          </a:ln>
        </p:spPr>
      </p:sp>
      <p:sp>
        <p:nvSpPr>
          <p:cNvPr id="23" name="Text 21"/>
          <p:cNvSpPr/>
          <p:nvPr/>
        </p:nvSpPr>
        <p:spPr>
          <a:xfrm>
            <a:off x="6263640" y="1847088"/>
            <a:ext cx="2487168" cy="347472"/>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Narrative Fallacy</a:t>
            </a:r>
            <a:endParaRPr lang="en-US" sz="1400" dirty="0"/>
          </a:p>
        </p:txBody>
      </p:sp>
      <p:sp>
        <p:nvSpPr>
          <p:cNvPr id="24" name="Text 22"/>
          <p:cNvSpPr/>
          <p:nvPr/>
        </p:nvSpPr>
        <p:spPr>
          <a:xfrm>
            <a:off x="6263640" y="2231136"/>
            <a:ext cx="2487168" cy="914400"/>
          </a:xfrm>
          <a:prstGeom prst="rect">
            <a:avLst/>
          </a:prstGeom>
          <a:noFill/>
          <a:ln/>
        </p:spPr>
        <p:txBody>
          <a:bodyPr wrap="square" lIns="0" tIns="0" rIns="0" bIns="0" rtlCol="0" anchor="ctr"/>
          <a:lstStyle/>
          <a:p>
            <a:pPr indent="0" marL="0">
              <a:buNone/>
            </a:pPr>
            <a:r>
              <a:rPr lang="en-US" sz="1050" i="1" dirty="0">
                <a:solidFill>
                  <a:srgbClr val="1A2535"/>
                </a:solidFill>
              </a:rPr>
              <a:t>Your last 10 fraud cases involved international wires at odd hours. You weight those features heavily. Then the pattern shifts.</a:t>
            </a:r>
            <a:endParaRPr lang="en-US" sz="1050" dirty="0"/>
          </a:p>
        </p:txBody>
      </p:sp>
      <p:sp>
        <p:nvSpPr>
          <p:cNvPr id="25" name="Shape 23"/>
          <p:cNvSpPr/>
          <p:nvPr/>
        </p:nvSpPr>
        <p:spPr>
          <a:xfrm>
            <a:off x="6263640" y="3200400"/>
            <a:ext cx="2487168" cy="36576"/>
          </a:xfrm>
          <a:prstGeom prst="rect">
            <a:avLst/>
          </a:prstGeom>
          <a:solidFill>
            <a:srgbClr val="5B2C8D"/>
          </a:solidFill>
          <a:ln w="12700">
            <a:solidFill>
              <a:srgbClr val="5B2C8D"/>
            </a:solidFill>
            <a:prstDash val="solid"/>
          </a:ln>
        </p:spPr>
      </p:sp>
      <p:sp>
        <p:nvSpPr>
          <p:cNvPr id="26" name="Text 24"/>
          <p:cNvSpPr/>
          <p:nvPr/>
        </p:nvSpPr>
        <p:spPr>
          <a:xfrm>
            <a:off x="6263640" y="3273552"/>
            <a:ext cx="2487168" cy="347472"/>
          </a:xfrm>
          <a:prstGeom prst="rect">
            <a:avLst/>
          </a:prstGeom>
          <a:noFill/>
          <a:ln/>
        </p:spPr>
        <p:txBody>
          <a:bodyPr wrap="square" lIns="0" tIns="0" rIns="0" bIns="0" rtlCol="0" anchor="ctr"/>
          <a:lstStyle/>
          <a:p>
            <a:pPr indent="0" marL="0">
              <a:buNone/>
            </a:pPr>
            <a:r>
              <a:rPr lang="en-US" sz="1100" b="1" dirty="0">
                <a:solidFill>
                  <a:srgbClr val="5B2C8D"/>
                </a:solidFill>
              </a:rPr>
              <a:t>Answer: You built a model for 2022 fraud in 2024.</a:t>
            </a:r>
            <a:endParaRPr lang="en-US" sz="1100" dirty="0"/>
          </a:p>
        </p:txBody>
      </p:sp>
      <p:sp>
        <p:nvSpPr>
          <p:cNvPr id="27" name="Text 25"/>
          <p:cNvSpPr/>
          <p:nvPr/>
        </p:nvSpPr>
        <p:spPr>
          <a:xfrm>
            <a:off x="6263640" y="3639312"/>
            <a:ext cx="2487168" cy="1170432"/>
          </a:xfrm>
          <a:prstGeom prst="rect">
            <a:avLst/>
          </a:prstGeom>
          <a:noFill/>
          <a:ln/>
        </p:spPr>
        <p:txBody>
          <a:bodyPr wrap="square" lIns="0" tIns="0" rIns="0" bIns="0" rtlCol="0" anchor="ctr"/>
          <a:lstStyle/>
          <a:p>
            <a:pPr indent="0" marL="0">
              <a:buNone/>
            </a:pPr>
            <a:r>
              <a:rPr lang="en-US" sz="1000" dirty="0">
                <a:solidFill>
                  <a:srgbClr val="4A5568"/>
                </a:solidFill>
              </a:rPr>
              <a:t>Patterns are real until they're not. Models memorize. They don't generalize unless we force them to.</a:t>
            </a:r>
            <a:endParaRPr lang="en-US" sz="1000" dirty="0"/>
          </a:p>
        </p:txBody>
      </p:sp>
      <p:sp>
        <p:nvSpPr>
          <p:cNvPr id="28" name="Text 26"/>
          <p:cNvSpPr/>
          <p:nvPr/>
        </p:nvSpPr>
        <p:spPr>
          <a:xfrm>
            <a:off x="320040" y="4736592"/>
            <a:ext cx="8503920" cy="274320"/>
          </a:xfrm>
          <a:prstGeom prst="rect">
            <a:avLst/>
          </a:prstGeom>
          <a:noFill/>
          <a:ln/>
        </p:spPr>
        <p:txBody>
          <a:bodyPr wrap="square" lIns="0" tIns="0" rIns="0" bIns="0" rtlCol="0" anchor="ctr"/>
          <a:lstStyle/>
          <a:p>
            <a:pPr algn="ctr" indent="0" marL="0">
              <a:buNone/>
            </a:pPr>
            <a:r>
              <a:rPr lang="en-US" sz="1300" b="1" i="1" dirty="0">
                <a:solidFill>
                  <a:srgbClr val="1E2D4E"/>
                </a:solidFill>
              </a:rPr>
              <a:t>We're intuitive. We're not calibrated. That's what statistical models fix.</a:t>
            </a:r>
            <a:endParaRPr lang="en-US" sz="1300" dirty="0"/>
          </a:p>
        </p:txBody>
      </p:sp>
      <p:sp>
        <p:nvSpPr>
          <p:cNvPr id="30" name="Text 27"/>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438912"/>
          </a:xfrm>
          <a:prstGeom prst="rect">
            <a:avLst/>
          </a:prstGeom>
          <a:solidFill>
            <a:srgbClr val="1E2D4E"/>
          </a:solidFill>
          <a:ln w="12700">
            <a:solidFill>
              <a:srgbClr val="1E2D4E"/>
            </a:solidFill>
            <a:prstDash val="solid"/>
          </a:ln>
        </p:spPr>
      </p:sp>
      <p:sp>
        <p:nvSpPr>
          <p:cNvPr id="3" name="Text 1"/>
          <p:cNvSpPr/>
          <p:nvPr/>
        </p:nvSpPr>
        <p:spPr>
          <a:xfrm>
            <a:off x="365760" y="54864"/>
            <a:ext cx="8412480" cy="347472"/>
          </a:xfrm>
          <a:prstGeom prst="rect">
            <a:avLst/>
          </a:prstGeom>
          <a:noFill/>
          <a:ln/>
        </p:spPr>
        <p:txBody>
          <a:bodyPr wrap="square" lIns="0" tIns="0" rIns="0" bIns="0" rtlCol="0" anchor="ctr"/>
          <a:lstStyle/>
          <a:p>
            <a:pPr algn="l" indent="0" marL="0">
              <a:buNone/>
            </a:pPr>
            <a:r>
              <a:rPr lang="en-US" sz="1050" b="1" spc="400" kern="0" dirty="0">
                <a:solidFill>
                  <a:srgbClr val="02C39A"/>
                </a:solidFill>
              </a:rPr>
              <a:t>THE FRAMEWORK  —  DATA SCIENCE AS A DESIGNED SYSTEM</a:t>
            </a:r>
            <a:endParaRPr lang="en-US" sz="1050" dirty="0"/>
          </a:p>
        </p:txBody>
      </p:sp>
      <p:sp>
        <p:nvSpPr>
          <p:cNvPr id="4" name="Text 2"/>
          <p:cNvSpPr/>
          <p:nvPr/>
        </p:nvSpPr>
        <p:spPr>
          <a:xfrm>
            <a:off x="365760" y="475488"/>
            <a:ext cx="8412480" cy="384048"/>
          </a:xfrm>
          <a:prstGeom prst="rect">
            <a:avLst/>
          </a:prstGeom>
          <a:noFill/>
          <a:ln/>
        </p:spPr>
        <p:txBody>
          <a:bodyPr wrap="square" lIns="0" tIns="0" rIns="0" bIns="0" rtlCol="0" anchor="ctr"/>
          <a:lstStyle/>
          <a:p>
            <a:pPr algn="ctr" indent="0" marL="0">
              <a:buNone/>
            </a:pPr>
            <a:r>
              <a:rPr lang="en-US" sz="1500" dirty="0">
                <a:solidFill>
                  <a:srgbClr val="94A3B8"/>
                </a:solidFill>
                <a:latin typeface="Georgia" pitchFamily="34" charset="0"/>
                <a:ea typeface="Georgia" pitchFamily="34" charset="-122"/>
                <a:cs typeface="Georgia" pitchFamily="34" charset="-120"/>
              </a:rPr>
              <a:t>Outcome = f(</a:t>
            </a:r>
            <a:pPr algn="ctr" indent="0" marL="0">
              <a:buNone/>
            </a:pPr>
            <a:r>
              <a:rPr lang="en-US" sz="1500" b="1" dirty="0">
                <a:solidFill>
                  <a:srgbClr val="028090"/>
                </a:solidFill>
                <a:latin typeface="Georgia" pitchFamily="34" charset="0"/>
                <a:ea typeface="Georgia" pitchFamily="34" charset="-122"/>
                <a:cs typeface="Georgia" pitchFamily="34" charset="-120"/>
              </a:rPr>
              <a:t>Problem</a:t>
            </a:r>
            <a:pPr algn="ctr" indent="0" marL="0">
              <a:buNone/>
            </a:pPr>
            <a:r>
              <a:rPr lang="en-US" sz="1500" dirty="0">
                <a:solidFill>
                  <a:srgbClr val="94A3B8"/>
                </a:solidFill>
                <a:latin typeface="Georgia" pitchFamily="34" charset="0"/>
                <a:ea typeface="Georgia" pitchFamily="34" charset="-122"/>
                <a:cs typeface="Georgia" pitchFamily="34" charset="-120"/>
              </a:rPr>
              <a:t>, </a:t>
            </a:r>
            <a:pPr algn="ctr" indent="0" marL="0">
              <a:buNone/>
            </a:pPr>
            <a:r>
              <a:rPr lang="en-US" sz="1500" b="1" dirty="0">
                <a:solidFill>
                  <a:srgbClr val="E67E22"/>
                </a:solidFill>
                <a:latin typeface="Georgia" pitchFamily="34" charset="0"/>
                <a:ea typeface="Georgia" pitchFamily="34" charset="-122"/>
                <a:cs typeface="Georgia" pitchFamily="34" charset="-120"/>
              </a:rPr>
              <a:t>Data</a:t>
            </a:r>
            <a:pPr algn="ctr" indent="0" marL="0">
              <a:buNone/>
            </a:pPr>
            <a:r>
              <a:rPr lang="en-US" sz="1500" dirty="0">
                <a:solidFill>
                  <a:srgbClr val="94A3B8"/>
                </a:solidFill>
                <a:latin typeface="Georgia" pitchFamily="34" charset="0"/>
                <a:ea typeface="Georgia" pitchFamily="34" charset="-122"/>
                <a:cs typeface="Georgia" pitchFamily="34" charset="-120"/>
              </a:rPr>
              <a:t>, </a:t>
            </a:r>
            <a:pPr algn="ctr" indent="0" marL="0">
              <a:buNone/>
            </a:pPr>
            <a:r>
              <a:rPr lang="en-US" sz="1500" b="1" dirty="0">
                <a:solidFill>
                  <a:srgbClr val="2196F3"/>
                </a:solidFill>
                <a:latin typeface="Georgia" pitchFamily="34" charset="0"/>
                <a:ea typeface="Georgia" pitchFamily="34" charset="-122"/>
                <a:cs typeface="Georgia" pitchFamily="34" charset="-120"/>
              </a:rPr>
              <a:t>Model</a:t>
            </a:r>
            <a:pPr algn="ctr" indent="0" marL="0">
              <a:buNone/>
            </a:pPr>
            <a:r>
              <a:rPr lang="en-US" sz="1500" dirty="0">
                <a:solidFill>
                  <a:srgbClr val="94A3B8"/>
                </a:solidFill>
                <a:latin typeface="Georgia" pitchFamily="34" charset="0"/>
                <a:ea typeface="Georgia" pitchFamily="34" charset="-122"/>
                <a:cs typeface="Georgia" pitchFamily="34" charset="-120"/>
              </a:rPr>
              <a:t>, </a:t>
            </a:r>
            <a:pPr algn="ctr" indent="0" marL="0">
              <a:buNone/>
            </a:pPr>
            <a:r>
              <a:rPr lang="en-US" sz="1500" b="1" dirty="0">
                <a:solidFill>
                  <a:srgbClr val="02C39A"/>
                </a:solidFill>
                <a:latin typeface="Georgia" pitchFamily="34" charset="0"/>
                <a:ea typeface="Georgia" pitchFamily="34" charset="-122"/>
                <a:cs typeface="Georgia" pitchFamily="34" charset="-120"/>
              </a:rPr>
              <a:t>Evaluation</a:t>
            </a:r>
            <a:pPr algn="ctr" indent="0" marL="0">
              <a:buNone/>
            </a:pPr>
            <a:r>
              <a:rPr lang="en-US" sz="1500" dirty="0">
                <a:solidFill>
                  <a:srgbClr val="94A3B8"/>
                </a:solidFill>
                <a:latin typeface="Georgia" pitchFamily="34" charset="0"/>
                <a:ea typeface="Georgia" pitchFamily="34" charset="-122"/>
                <a:cs typeface="Georgia" pitchFamily="34" charset="-120"/>
              </a:rPr>
              <a:t>, </a:t>
            </a:r>
            <a:pPr algn="ctr" indent="0" marL="0">
              <a:buNone/>
            </a:pPr>
            <a:r>
              <a:rPr lang="en-US" sz="1500" b="1" dirty="0">
                <a:solidFill>
                  <a:srgbClr val="CE93D8"/>
                </a:solidFill>
                <a:latin typeface="Georgia" pitchFamily="34" charset="0"/>
                <a:ea typeface="Georgia" pitchFamily="34" charset="-122"/>
                <a:cs typeface="Georgia" pitchFamily="34" charset="-120"/>
              </a:rPr>
              <a:t>Explainability</a:t>
            </a:r>
            <a:pPr algn="ctr" indent="0" marL="0">
              <a:buNone/>
            </a:pPr>
            <a:r>
              <a:rPr lang="en-US" sz="1500" dirty="0">
                <a:solidFill>
                  <a:srgbClr val="94A3B8"/>
                </a:solidFill>
                <a:latin typeface="Georgia" pitchFamily="34" charset="0"/>
                <a:ea typeface="Georgia" pitchFamily="34" charset="-122"/>
                <a:cs typeface="Georgia" pitchFamily="34" charset="-120"/>
              </a:rPr>
              <a:t>)</a:t>
            </a:r>
            <a:endParaRPr lang="en-US" sz="1500" dirty="0"/>
          </a:p>
        </p:txBody>
      </p:sp>
      <p:sp>
        <p:nvSpPr>
          <p:cNvPr id="5" name="Shape 3"/>
          <p:cNvSpPr/>
          <p:nvPr/>
        </p:nvSpPr>
        <p:spPr>
          <a:xfrm>
            <a:off x="3493008" y="950976"/>
            <a:ext cx="2157984" cy="402336"/>
          </a:xfrm>
          <a:prstGeom prst="rect">
            <a:avLst/>
          </a:prstGeom>
          <a:solidFill>
            <a:srgbClr val="1A3A4A"/>
          </a:solidFill>
          <a:ln w="12700">
            <a:solidFill>
              <a:srgbClr val="028090"/>
            </a:solidFill>
            <a:prstDash val="solid"/>
          </a:ln>
        </p:spPr>
      </p:sp>
      <p:sp>
        <p:nvSpPr>
          <p:cNvPr id="6" name="Text 4"/>
          <p:cNvSpPr/>
          <p:nvPr/>
        </p:nvSpPr>
        <p:spPr>
          <a:xfrm>
            <a:off x="3493008" y="950976"/>
            <a:ext cx="2157984" cy="402336"/>
          </a:xfrm>
          <a:prstGeom prst="rect">
            <a:avLst/>
          </a:prstGeom>
          <a:noFill/>
          <a:ln/>
        </p:spPr>
        <p:txBody>
          <a:bodyPr wrap="square" lIns="0" tIns="0" rIns="0" bIns="0" rtlCol="0" anchor="ctr"/>
          <a:lstStyle/>
          <a:p>
            <a:pPr algn="ctr" indent="0" marL="0">
              <a:buNone/>
            </a:pPr>
            <a:r>
              <a:rPr lang="en-US" sz="1250" b="1" dirty="0">
                <a:solidFill>
                  <a:srgbClr val="028090"/>
                </a:solidFill>
              </a:rPr>
              <a:t>Business Question</a:t>
            </a:r>
            <a:endParaRPr lang="en-US" sz="1250" dirty="0"/>
          </a:p>
        </p:txBody>
      </p:sp>
      <p:sp>
        <p:nvSpPr>
          <p:cNvPr id="7" name="Text 5"/>
          <p:cNvSpPr/>
          <p:nvPr/>
        </p:nvSpPr>
        <p:spPr>
          <a:xfrm>
            <a:off x="4434840" y="1353312"/>
            <a:ext cx="274320" cy="182880"/>
          </a:xfrm>
          <a:prstGeom prst="rect">
            <a:avLst/>
          </a:prstGeom>
          <a:noFill/>
          <a:ln/>
        </p:spPr>
        <p:txBody>
          <a:bodyPr wrap="square" lIns="0" tIns="0" rIns="0" bIns="0" rtlCol="0" anchor="ctr"/>
          <a:lstStyle/>
          <a:p>
            <a:pPr algn="ctr" indent="0" marL="0">
              <a:buNone/>
            </a:pPr>
            <a:r>
              <a:rPr lang="en-US" sz="1400" b="1" dirty="0">
                <a:solidFill>
                  <a:srgbClr val="444444"/>
                </a:solidFill>
              </a:rPr>
              <a:t>↓</a:t>
            </a:r>
            <a:endParaRPr lang="en-US" sz="1400" dirty="0"/>
          </a:p>
        </p:txBody>
      </p:sp>
      <p:sp>
        <p:nvSpPr>
          <p:cNvPr id="8" name="Shape 6"/>
          <p:cNvSpPr/>
          <p:nvPr/>
        </p:nvSpPr>
        <p:spPr>
          <a:xfrm>
            <a:off x="3493008" y="1536192"/>
            <a:ext cx="2157984" cy="402336"/>
          </a:xfrm>
          <a:prstGeom prst="rect">
            <a:avLst/>
          </a:prstGeom>
          <a:solidFill>
            <a:srgbClr val="1A2D4A"/>
          </a:solidFill>
          <a:ln w="12700">
            <a:solidFill>
              <a:srgbClr val="2196F3"/>
            </a:solidFill>
            <a:prstDash val="solid"/>
          </a:ln>
        </p:spPr>
      </p:sp>
      <p:sp>
        <p:nvSpPr>
          <p:cNvPr id="9" name="Text 7"/>
          <p:cNvSpPr/>
          <p:nvPr/>
        </p:nvSpPr>
        <p:spPr>
          <a:xfrm>
            <a:off x="3493008" y="1536192"/>
            <a:ext cx="2157984" cy="402336"/>
          </a:xfrm>
          <a:prstGeom prst="rect">
            <a:avLst/>
          </a:prstGeom>
          <a:noFill/>
          <a:ln/>
        </p:spPr>
        <p:txBody>
          <a:bodyPr wrap="square" lIns="0" tIns="0" rIns="0" bIns="0" rtlCol="0" anchor="ctr"/>
          <a:lstStyle/>
          <a:p>
            <a:pPr algn="ctr" indent="0" marL="0">
              <a:buNone/>
            </a:pPr>
            <a:r>
              <a:rPr lang="en-US" sz="1250" b="1" dirty="0">
                <a:solidFill>
                  <a:srgbClr val="2196F3"/>
                </a:solidFill>
              </a:rPr>
              <a:t>Choose the Recipe</a:t>
            </a:r>
            <a:endParaRPr lang="en-US" sz="1250" dirty="0"/>
          </a:p>
        </p:txBody>
      </p:sp>
      <p:sp>
        <p:nvSpPr>
          <p:cNvPr id="10" name="Text 8"/>
          <p:cNvSpPr/>
          <p:nvPr/>
        </p:nvSpPr>
        <p:spPr>
          <a:xfrm>
            <a:off x="4434840" y="1938528"/>
            <a:ext cx="274320" cy="182880"/>
          </a:xfrm>
          <a:prstGeom prst="rect">
            <a:avLst/>
          </a:prstGeom>
          <a:noFill/>
          <a:ln/>
        </p:spPr>
        <p:txBody>
          <a:bodyPr wrap="square" lIns="0" tIns="0" rIns="0" bIns="0" rtlCol="0" anchor="ctr"/>
          <a:lstStyle/>
          <a:p>
            <a:pPr algn="ctr" indent="0" marL="0">
              <a:buNone/>
            </a:pPr>
            <a:r>
              <a:rPr lang="en-US" sz="1400" b="1" dirty="0">
                <a:solidFill>
                  <a:srgbClr val="444444"/>
                </a:solidFill>
              </a:rPr>
              <a:t>↓</a:t>
            </a:r>
            <a:endParaRPr lang="en-US" sz="1400" dirty="0"/>
          </a:p>
        </p:txBody>
      </p:sp>
      <p:sp>
        <p:nvSpPr>
          <p:cNvPr id="11" name="Shape 9"/>
          <p:cNvSpPr/>
          <p:nvPr/>
        </p:nvSpPr>
        <p:spPr>
          <a:xfrm>
            <a:off x="3493008" y="2121408"/>
            <a:ext cx="2157984" cy="402336"/>
          </a:xfrm>
          <a:prstGeom prst="rect">
            <a:avLst/>
          </a:prstGeom>
          <a:solidFill>
            <a:srgbClr val="3A2010"/>
          </a:solidFill>
          <a:ln w="12700">
            <a:solidFill>
              <a:srgbClr val="E67E22"/>
            </a:solidFill>
            <a:prstDash val="solid"/>
          </a:ln>
        </p:spPr>
      </p:sp>
      <p:sp>
        <p:nvSpPr>
          <p:cNvPr id="12" name="Text 10"/>
          <p:cNvSpPr/>
          <p:nvPr/>
        </p:nvSpPr>
        <p:spPr>
          <a:xfrm>
            <a:off x="3493008" y="2121408"/>
            <a:ext cx="2157984" cy="402336"/>
          </a:xfrm>
          <a:prstGeom prst="rect">
            <a:avLst/>
          </a:prstGeom>
          <a:noFill/>
          <a:ln/>
        </p:spPr>
        <p:txBody>
          <a:bodyPr wrap="square" lIns="0" tIns="0" rIns="0" bIns="0" rtlCol="0" anchor="ctr"/>
          <a:lstStyle/>
          <a:p>
            <a:pPr algn="ctr" indent="0" marL="0">
              <a:buNone/>
            </a:pPr>
            <a:r>
              <a:rPr lang="en-US" sz="1250" b="1" dirty="0">
                <a:solidFill>
                  <a:srgbClr val="E67E22"/>
                </a:solidFill>
              </a:rPr>
              <a:t>Sample the Data</a:t>
            </a:r>
            <a:endParaRPr lang="en-US" sz="1250" dirty="0"/>
          </a:p>
        </p:txBody>
      </p:sp>
      <p:sp>
        <p:nvSpPr>
          <p:cNvPr id="13" name="Text 11"/>
          <p:cNvSpPr/>
          <p:nvPr/>
        </p:nvSpPr>
        <p:spPr>
          <a:xfrm>
            <a:off x="4434840" y="2523744"/>
            <a:ext cx="274320" cy="182880"/>
          </a:xfrm>
          <a:prstGeom prst="rect">
            <a:avLst/>
          </a:prstGeom>
          <a:noFill/>
          <a:ln/>
        </p:spPr>
        <p:txBody>
          <a:bodyPr wrap="square" lIns="0" tIns="0" rIns="0" bIns="0" rtlCol="0" anchor="ctr"/>
          <a:lstStyle/>
          <a:p>
            <a:pPr algn="ctr" indent="0" marL="0">
              <a:buNone/>
            </a:pPr>
            <a:r>
              <a:rPr lang="en-US" sz="1400" b="1" dirty="0">
                <a:solidFill>
                  <a:srgbClr val="444444"/>
                </a:solidFill>
              </a:rPr>
              <a:t>↓</a:t>
            </a:r>
            <a:endParaRPr lang="en-US" sz="1400" dirty="0"/>
          </a:p>
        </p:txBody>
      </p:sp>
      <p:sp>
        <p:nvSpPr>
          <p:cNvPr id="14" name="Shape 12"/>
          <p:cNvSpPr/>
          <p:nvPr/>
        </p:nvSpPr>
        <p:spPr>
          <a:xfrm>
            <a:off x="3493008" y="2706624"/>
            <a:ext cx="2157984" cy="402336"/>
          </a:xfrm>
          <a:prstGeom prst="rect">
            <a:avLst/>
          </a:prstGeom>
          <a:solidFill>
            <a:srgbClr val="1A2040"/>
          </a:solidFill>
          <a:ln w="12700">
            <a:solidFill>
              <a:srgbClr val="2196F3"/>
            </a:solidFill>
            <a:prstDash val="solid"/>
          </a:ln>
        </p:spPr>
      </p:sp>
      <p:sp>
        <p:nvSpPr>
          <p:cNvPr id="15" name="Text 13"/>
          <p:cNvSpPr/>
          <p:nvPr/>
        </p:nvSpPr>
        <p:spPr>
          <a:xfrm>
            <a:off x="3493008" y="2706624"/>
            <a:ext cx="2157984" cy="402336"/>
          </a:xfrm>
          <a:prstGeom prst="rect">
            <a:avLst/>
          </a:prstGeom>
          <a:noFill/>
          <a:ln/>
        </p:spPr>
        <p:txBody>
          <a:bodyPr wrap="square" lIns="0" tIns="0" rIns="0" bIns="0" rtlCol="0" anchor="ctr"/>
          <a:lstStyle/>
          <a:p>
            <a:pPr algn="ctr" indent="0" marL="0">
              <a:buNone/>
            </a:pPr>
            <a:r>
              <a:rPr lang="en-US" sz="1250" b="1" dirty="0">
                <a:solidFill>
                  <a:srgbClr val="2196F3"/>
                </a:solidFill>
              </a:rPr>
              <a:t>Train the Model</a:t>
            </a:r>
            <a:endParaRPr lang="en-US" sz="1250" dirty="0"/>
          </a:p>
        </p:txBody>
      </p:sp>
      <p:sp>
        <p:nvSpPr>
          <p:cNvPr id="16" name="Text 14"/>
          <p:cNvSpPr/>
          <p:nvPr/>
        </p:nvSpPr>
        <p:spPr>
          <a:xfrm>
            <a:off x="4434840" y="3108960"/>
            <a:ext cx="274320" cy="182880"/>
          </a:xfrm>
          <a:prstGeom prst="rect">
            <a:avLst/>
          </a:prstGeom>
          <a:noFill/>
          <a:ln/>
        </p:spPr>
        <p:txBody>
          <a:bodyPr wrap="square" lIns="0" tIns="0" rIns="0" bIns="0" rtlCol="0" anchor="ctr"/>
          <a:lstStyle/>
          <a:p>
            <a:pPr algn="ctr" indent="0" marL="0">
              <a:buNone/>
            </a:pPr>
            <a:r>
              <a:rPr lang="en-US" sz="1400" b="1" dirty="0">
                <a:solidFill>
                  <a:srgbClr val="444444"/>
                </a:solidFill>
              </a:rPr>
              <a:t>↓</a:t>
            </a:r>
            <a:endParaRPr lang="en-US" sz="1400" dirty="0"/>
          </a:p>
        </p:txBody>
      </p:sp>
      <p:sp>
        <p:nvSpPr>
          <p:cNvPr id="17" name="Shape 15"/>
          <p:cNvSpPr/>
          <p:nvPr/>
        </p:nvSpPr>
        <p:spPr>
          <a:xfrm>
            <a:off x="3493008" y="3291840"/>
            <a:ext cx="2157984" cy="402336"/>
          </a:xfrm>
          <a:prstGeom prst="rect">
            <a:avLst/>
          </a:prstGeom>
          <a:solidFill>
            <a:srgbClr val="0A2520"/>
          </a:solidFill>
          <a:ln w="12700">
            <a:solidFill>
              <a:srgbClr val="02C39A"/>
            </a:solidFill>
            <a:prstDash val="solid"/>
          </a:ln>
        </p:spPr>
      </p:sp>
      <p:sp>
        <p:nvSpPr>
          <p:cNvPr id="18" name="Text 16"/>
          <p:cNvSpPr/>
          <p:nvPr/>
        </p:nvSpPr>
        <p:spPr>
          <a:xfrm>
            <a:off x="3493008" y="3291840"/>
            <a:ext cx="2157984" cy="402336"/>
          </a:xfrm>
          <a:prstGeom prst="rect">
            <a:avLst/>
          </a:prstGeom>
          <a:noFill/>
          <a:ln/>
        </p:spPr>
        <p:txBody>
          <a:bodyPr wrap="square" lIns="0" tIns="0" rIns="0" bIns="0" rtlCol="0" anchor="ctr"/>
          <a:lstStyle/>
          <a:p>
            <a:pPr algn="ctr" indent="0" marL="0">
              <a:buNone/>
            </a:pPr>
            <a:r>
              <a:rPr lang="en-US" sz="1250" b="1" dirty="0">
                <a:solidFill>
                  <a:srgbClr val="02C39A"/>
                </a:solidFill>
              </a:rPr>
              <a:t>Evaluate</a:t>
            </a:r>
            <a:endParaRPr lang="en-US" sz="1250" dirty="0"/>
          </a:p>
        </p:txBody>
      </p:sp>
      <p:sp>
        <p:nvSpPr>
          <p:cNvPr id="19" name="Text 17"/>
          <p:cNvSpPr/>
          <p:nvPr/>
        </p:nvSpPr>
        <p:spPr>
          <a:xfrm>
            <a:off x="4434840" y="3694176"/>
            <a:ext cx="274320" cy="182880"/>
          </a:xfrm>
          <a:prstGeom prst="rect">
            <a:avLst/>
          </a:prstGeom>
          <a:noFill/>
          <a:ln/>
        </p:spPr>
        <p:txBody>
          <a:bodyPr wrap="square" lIns="0" tIns="0" rIns="0" bIns="0" rtlCol="0" anchor="ctr"/>
          <a:lstStyle/>
          <a:p>
            <a:pPr algn="ctr" indent="0" marL="0">
              <a:buNone/>
            </a:pPr>
            <a:r>
              <a:rPr lang="en-US" sz="1400" b="1" dirty="0">
                <a:solidFill>
                  <a:srgbClr val="444444"/>
                </a:solidFill>
              </a:rPr>
              <a:t>↓</a:t>
            </a:r>
            <a:endParaRPr lang="en-US" sz="1400" dirty="0"/>
          </a:p>
        </p:txBody>
      </p:sp>
      <p:sp>
        <p:nvSpPr>
          <p:cNvPr id="20" name="Shape 18"/>
          <p:cNvSpPr/>
          <p:nvPr/>
        </p:nvSpPr>
        <p:spPr>
          <a:xfrm>
            <a:off x="3493008" y="3877056"/>
            <a:ext cx="2157984" cy="402336"/>
          </a:xfrm>
          <a:prstGeom prst="rect">
            <a:avLst/>
          </a:prstGeom>
          <a:solidFill>
            <a:srgbClr val="2A1A3A"/>
          </a:solidFill>
          <a:ln w="12700">
            <a:solidFill>
              <a:srgbClr val="CE93D8"/>
            </a:solidFill>
            <a:prstDash val="solid"/>
          </a:ln>
        </p:spPr>
      </p:sp>
      <p:sp>
        <p:nvSpPr>
          <p:cNvPr id="21" name="Text 19"/>
          <p:cNvSpPr/>
          <p:nvPr/>
        </p:nvSpPr>
        <p:spPr>
          <a:xfrm>
            <a:off x="3493008" y="3877056"/>
            <a:ext cx="2157984" cy="402336"/>
          </a:xfrm>
          <a:prstGeom prst="rect">
            <a:avLst/>
          </a:prstGeom>
          <a:noFill/>
          <a:ln/>
        </p:spPr>
        <p:txBody>
          <a:bodyPr wrap="square" lIns="0" tIns="0" rIns="0" bIns="0" rtlCol="0" anchor="ctr"/>
          <a:lstStyle/>
          <a:p>
            <a:pPr algn="ctr" indent="0" marL="0">
              <a:buNone/>
            </a:pPr>
            <a:r>
              <a:rPr lang="en-US" sz="1250" b="1" dirty="0">
                <a:solidFill>
                  <a:srgbClr val="CE93D8"/>
                </a:solidFill>
              </a:rPr>
              <a:t>Explain &amp; Trust</a:t>
            </a:r>
            <a:endParaRPr lang="en-US" sz="1250" dirty="0"/>
          </a:p>
        </p:txBody>
      </p:sp>
      <p:sp>
        <p:nvSpPr>
          <p:cNvPr id="22" name="Text 20"/>
          <p:cNvSpPr/>
          <p:nvPr/>
        </p:nvSpPr>
        <p:spPr>
          <a:xfrm>
            <a:off x="4434840" y="4279392"/>
            <a:ext cx="274320" cy="182880"/>
          </a:xfrm>
          <a:prstGeom prst="rect">
            <a:avLst/>
          </a:prstGeom>
          <a:noFill/>
          <a:ln/>
        </p:spPr>
        <p:txBody>
          <a:bodyPr wrap="square" lIns="0" tIns="0" rIns="0" bIns="0" rtlCol="0" anchor="ctr"/>
          <a:lstStyle/>
          <a:p>
            <a:pPr algn="ctr" indent="0" marL="0">
              <a:buNone/>
            </a:pPr>
            <a:r>
              <a:rPr lang="en-US" sz="1400" b="1" dirty="0">
                <a:solidFill>
                  <a:srgbClr val="444444"/>
                </a:solidFill>
              </a:rPr>
              <a:t>↓</a:t>
            </a:r>
            <a:endParaRPr lang="en-US" sz="1400" dirty="0"/>
          </a:p>
        </p:txBody>
      </p:sp>
      <p:sp>
        <p:nvSpPr>
          <p:cNvPr id="23" name="Shape 21"/>
          <p:cNvSpPr/>
          <p:nvPr/>
        </p:nvSpPr>
        <p:spPr>
          <a:xfrm>
            <a:off x="3493008" y="4462272"/>
            <a:ext cx="2157984" cy="402336"/>
          </a:xfrm>
          <a:prstGeom prst="rect">
            <a:avLst/>
          </a:prstGeom>
          <a:solidFill>
            <a:srgbClr val="2A2000"/>
          </a:solidFill>
          <a:ln w="12700">
            <a:solidFill>
              <a:srgbClr val="C9A227"/>
            </a:solidFill>
            <a:prstDash val="solid"/>
          </a:ln>
        </p:spPr>
      </p:sp>
      <p:sp>
        <p:nvSpPr>
          <p:cNvPr id="24" name="Text 22"/>
          <p:cNvSpPr/>
          <p:nvPr/>
        </p:nvSpPr>
        <p:spPr>
          <a:xfrm>
            <a:off x="3493008" y="4462272"/>
            <a:ext cx="2157984" cy="402336"/>
          </a:xfrm>
          <a:prstGeom prst="rect">
            <a:avLst/>
          </a:prstGeom>
          <a:noFill/>
          <a:ln/>
        </p:spPr>
        <p:txBody>
          <a:bodyPr wrap="square" lIns="0" tIns="0" rIns="0" bIns="0" rtlCol="0" anchor="ctr"/>
          <a:lstStyle/>
          <a:p>
            <a:pPr algn="ctr" indent="0" marL="0">
              <a:buNone/>
            </a:pPr>
            <a:r>
              <a:rPr lang="en-US" sz="1250" b="1" dirty="0">
                <a:solidFill>
                  <a:srgbClr val="C9A227"/>
                </a:solidFill>
              </a:rPr>
              <a:t>Make a Decision</a:t>
            </a:r>
            <a:endParaRPr lang="en-US" sz="1250" dirty="0"/>
          </a:p>
        </p:txBody>
      </p:sp>
      <p:sp>
        <p:nvSpPr>
          <p:cNvPr id="25" name="Text 23"/>
          <p:cNvSpPr/>
          <p:nvPr/>
        </p:nvSpPr>
        <p:spPr>
          <a:xfrm>
            <a:off x="256032" y="877824"/>
            <a:ext cx="3017520" cy="292608"/>
          </a:xfrm>
          <a:prstGeom prst="rect">
            <a:avLst/>
          </a:prstGeom>
          <a:noFill/>
          <a:ln/>
        </p:spPr>
        <p:txBody>
          <a:bodyPr wrap="square" lIns="0" tIns="0" rIns="0" bIns="0" rtlCol="0" anchor="ctr"/>
          <a:lstStyle/>
          <a:p>
            <a:pPr indent="0" marL="0">
              <a:buNone/>
            </a:pPr>
            <a:r>
              <a:rPr lang="en-US" sz="1000" b="1" spc="300" kern="0" dirty="0">
                <a:solidFill>
                  <a:srgbClr val="028090"/>
                </a:solidFill>
              </a:rPr>
              <a:t>5 RECIPES</a:t>
            </a:r>
            <a:endParaRPr lang="en-US" sz="1000" dirty="0"/>
          </a:p>
        </p:txBody>
      </p:sp>
      <p:sp>
        <p:nvSpPr>
          <p:cNvPr id="26" name="Shape 24"/>
          <p:cNvSpPr/>
          <p:nvPr/>
        </p:nvSpPr>
        <p:spPr>
          <a:xfrm>
            <a:off x="256032" y="1225296"/>
            <a:ext cx="2926080" cy="475488"/>
          </a:xfrm>
          <a:prstGeom prst="rect">
            <a:avLst/>
          </a:prstGeom>
          <a:solidFill>
            <a:srgbClr val="1A2B3A"/>
          </a:solidFill>
          <a:ln w="12700">
            <a:solidFill>
              <a:srgbClr val="2196F3"/>
            </a:solidFill>
            <a:prstDash val="solid"/>
          </a:ln>
        </p:spPr>
      </p:sp>
      <p:sp>
        <p:nvSpPr>
          <p:cNvPr id="27" name="Shape 25"/>
          <p:cNvSpPr/>
          <p:nvPr/>
        </p:nvSpPr>
        <p:spPr>
          <a:xfrm>
            <a:off x="256032" y="1225296"/>
            <a:ext cx="73152" cy="475488"/>
          </a:xfrm>
          <a:prstGeom prst="rect">
            <a:avLst/>
          </a:prstGeom>
          <a:solidFill>
            <a:srgbClr val="2196F3"/>
          </a:solidFill>
          <a:ln w="12700">
            <a:solidFill>
              <a:srgbClr val="2196F3"/>
            </a:solidFill>
            <a:prstDash val="solid"/>
          </a:ln>
        </p:spPr>
      </p:sp>
      <p:sp>
        <p:nvSpPr>
          <p:cNvPr id="28" name="Text 26"/>
          <p:cNvSpPr/>
          <p:nvPr/>
        </p:nvSpPr>
        <p:spPr>
          <a:xfrm>
            <a:off x="420624" y="1280160"/>
            <a:ext cx="1463040" cy="237744"/>
          </a:xfrm>
          <a:prstGeom prst="rect">
            <a:avLst/>
          </a:prstGeom>
          <a:noFill/>
          <a:ln/>
        </p:spPr>
        <p:txBody>
          <a:bodyPr wrap="square" lIns="0" tIns="0" rIns="0" bIns="0" rtlCol="0" anchor="ctr"/>
          <a:lstStyle/>
          <a:p>
            <a:pPr indent="0" marL="0">
              <a:buNone/>
            </a:pPr>
            <a:r>
              <a:rPr lang="en-US" sz="1200" b="1" dirty="0">
                <a:solidFill>
                  <a:srgbClr val="FFFFFF"/>
                </a:solidFill>
              </a:rPr>
              <a:t>Classify</a:t>
            </a:r>
            <a:endParaRPr lang="en-US" sz="1200" dirty="0"/>
          </a:p>
        </p:txBody>
      </p:sp>
      <p:sp>
        <p:nvSpPr>
          <p:cNvPr id="29" name="Text 27"/>
          <p:cNvSpPr/>
          <p:nvPr/>
        </p:nvSpPr>
        <p:spPr>
          <a:xfrm>
            <a:off x="420624" y="1481328"/>
            <a:ext cx="1463040" cy="182880"/>
          </a:xfrm>
          <a:prstGeom prst="rect">
            <a:avLst/>
          </a:prstGeom>
          <a:noFill/>
          <a:ln/>
        </p:spPr>
        <p:txBody>
          <a:bodyPr wrap="square" lIns="0" tIns="0" rIns="0" bIns="0" rtlCol="0" anchor="ctr"/>
          <a:lstStyle/>
          <a:p>
            <a:pPr indent="0" marL="0">
              <a:buNone/>
            </a:pPr>
            <a:r>
              <a:rPr lang="en-US" sz="1000" i="1" dirty="0">
                <a:solidFill>
                  <a:srgbClr val="888888"/>
                </a:solidFill>
              </a:rPr>
              <a:t>Which bucket?</a:t>
            </a:r>
            <a:endParaRPr lang="en-US" sz="1000" dirty="0"/>
          </a:p>
        </p:txBody>
      </p:sp>
      <p:sp>
        <p:nvSpPr>
          <p:cNvPr id="30" name="Shape 28"/>
          <p:cNvSpPr/>
          <p:nvPr/>
        </p:nvSpPr>
        <p:spPr>
          <a:xfrm>
            <a:off x="3182112" y="1426464"/>
            <a:ext cx="310896" cy="54864"/>
          </a:xfrm>
          <a:prstGeom prst="rect">
            <a:avLst/>
          </a:prstGeom>
          <a:solidFill>
            <a:srgbClr val="333333"/>
          </a:solidFill>
          <a:ln w="12700">
            <a:solidFill>
              <a:srgbClr val="333333"/>
            </a:solidFill>
            <a:prstDash val="solid"/>
          </a:ln>
        </p:spPr>
      </p:sp>
      <p:sp>
        <p:nvSpPr>
          <p:cNvPr id="31" name="Shape 29"/>
          <p:cNvSpPr/>
          <p:nvPr/>
        </p:nvSpPr>
        <p:spPr>
          <a:xfrm>
            <a:off x="256032" y="1792224"/>
            <a:ext cx="2926080" cy="475488"/>
          </a:xfrm>
          <a:prstGeom prst="rect">
            <a:avLst/>
          </a:prstGeom>
          <a:solidFill>
            <a:srgbClr val="1A2B3A"/>
          </a:solidFill>
          <a:ln w="12700">
            <a:solidFill>
              <a:srgbClr val="27AE60"/>
            </a:solidFill>
            <a:prstDash val="solid"/>
          </a:ln>
        </p:spPr>
      </p:sp>
      <p:sp>
        <p:nvSpPr>
          <p:cNvPr id="32" name="Shape 30"/>
          <p:cNvSpPr/>
          <p:nvPr/>
        </p:nvSpPr>
        <p:spPr>
          <a:xfrm>
            <a:off x="256032" y="1792224"/>
            <a:ext cx="73152" cy="475488"/>
          </a:xfrm>
          <a:prstGeom prst="rect">
            <a:avLst/>
          </a:prstGeom>
          <a:solidFill>
            <a:srgbClr val="27AE60"/>
          </a:solidFill>
          <a:ln w="12700">
            <a:solidFill>
              <a:srgbClr val="27AE60"/>
            </a:solidFill>
            <a:prstDash val="solid"/>
          </a:ln>
        </p:spPr>
      </p:sp>
      <p:sp>
        <p:nvSpPr>
          <p:cNvPr id="33" name="Text 31"/>
          <p:cNvSpPr/>
          <p:nvPr/>
        </p:nvSpPr>
        <p:spPr>
          <a:xfrm>
            <a:off x="420624" y="1847088"/>
            <a:ext cx="1463040" cy="237744"/>
          </a:xfrm>
          <a:prstGeom prst="rect">
            <a:avLst/>
          </a:prstGeom>
          <a:noFill/>
          <a:ln/>
        </p:spPr>
        <p:txBody>
          <a:bodyPr wrap="square" lIns="0" tIns="0" rIns="0" bIns="0" rtlCol="0" anchor="ctr"/>
          <a:lstStyle/>
          <a:p>
            <a:pPr indent="0" marL="0">
              <a:buNone/>
            </a:pPr>
            <a:r>
              <a:rPr lang="en-US" sz="1200" b="1" dirty="0">
                <a:solidFill>
                  <a:srgbClr val="FFFFFF"/>
                </a:solidFill>
              </a:rPr>
              <a:t>Predict</a:t>
            </a:r>
            <a:endParaRPr lang="en-US" sz="1200" dirty="0"/>
          </a:p>
        </p:txBody>
      </p:sp>
      <p:sp>
        <p:nvSpPr>
          <p:cNvPr id="34" name="Text 32"/>
          <p:cNvSpPr/>
          <p:nvPr/>
        </p:nvSpPr>
        <p:spPr>
          <a:xfrm>
            <a:off x="420624" y="2048256"/>
            <a:ext cx="1463040" cy="182880"/>
          </a:xfrm>
          <a:prstGeom prst="rect">
            <a:avLst/>
          </a:prstGeom>
          <a:noFill/>
          <a:ln/>
        </p:spPr>
        <p:txBody>
          <a:bodyPr wrap="square" lIns="0" tIns="0" rIns="0" bIns="0" rtlCol="0" anchor="ctr"/>
          <a:lstStyle/>
          <a:p>
            <a:pPr indent="0" marL="0">
              <a:buNone/>
            </a:pPr>
            <a:r>
              <a:rPr lang="en-US" sz="1000" i="1" dirty="0">
                <a:solidFill>
                  <a:srgbClr val="888888"/>
                </a:solidFill>
              </a:rPr>
              <a:t>How much / when?</a:t>
            </a:r>
            <a:endParaRPr lang="en-US" sz="1000" dirty="0"/>
          </a:p>
        </p:txBody>
      </p:sp>
      <p:sp>
        <p:nvSpPr>
          <p:cNvPr id="35" name="Shape 33"/>
          <p:cNvSpPr/>
          <p:nvPr/>
        </p:nvSpPr>
        <p:spPr>
          <a:xfrm>
            <a:off x="3182112" y="1993392"/>
            <a:ext cx="310896" cy="54864"/>
          </a:xfrm>
          <a:prstGeom prst="rect">
            <a:avLst/>
          </a:prstGeom>
          <a:solidFill>
            <a:srgbClr val="333333"/>
          </a:solidFill>
          <a:ln w="12700">
            <a:solidFill>
              <a:srgbClr val="333333"/>
            </a:solidFill>
            <a:prstDash val="solid"/>
          </a:ln>
        </p:spPr>
      </p:sp>
      <p:sp>
        <p:nvSpPr>
          <p:cNvPr id="36" name="Shape 34"/>
          <p:cNvSpPr/>
          <p:nvPr/>
        </p:nvSpPr>
        <p:spPr>
          <a:xfrm>
            <a:off x="256032" y="2359152"/>
            <a:ext cx="2926080" cy="475488"/>
          </a:xfrm>
          <a:prstGeom prst="rect">
            <a:avLst/>
          </a:prstGeom>
          <a:solidFill>
            <a:srgbClr val="1A2B3A"/>
          </a:solidFill>
          <a:ln w="12700">
            <a:solidFill>
              <a:srgbClr val="E67E22"/>
            </a:solidFill>
            <a:prstDash val="solid"/>
          </a:ln>
        </p:spPr>
      </p:sp>
      <p:sp>
        <p:nvSpPr>
          <p:cNvPr id="37" name="Shape 35"/>
          <p:cNvSpPr/>
          <p:nvPr/>
        </p:nvSpPr>
        <p:spPr>
          <a:xfrm>
            <a:off x="256032" y="2359152"/>
            <a:ext cx="73152" cy="475488"/>
          </a:xfrm>
          <a:prstGeom prst="rect">
            <a:avLst/>
          </a:prstGeom>
          <a:solidFill>
            <a:srgbClr val="E67E22"/>
          </a:solidFill>
          <a:ln w="12700">
            <a:solidFill>
              <a:srgbClr val="E67E22"/>
            </a:solidFill>
            <a:prstDash val="solid"/>
          </a:ln>
        </p:spPr>
      </p:sp>
      <p:sp>
        <p:nvSpPr>
          <p:cNvPr id="38" name="Text 36"/>
          <p:cNvSpPr/>
          <p:nvPr/>
        </p:nvSpPr>
        <p:spPr>
          <a:xfrm>
            <a:off x="420624" y="2414016"/>
            <a:ext cx="1463040" cy="237744"/>
          </a:xfrm>
          <a:prstGeom prst="rect">
            <a:avLst/>
          </a:prstGeom>
          <a:noFill/>
          <a:ln/>
        </p:spPr>
        <p:txBody>
          <a:bodyPr wrap="square" lIns="0" tIns="0" rIns="0" bIns="0" rtlCol="0" anchor="ctr"/>
          <a:lstStyle/>
          <a:p>
            <a:pPr indent="0" marL="0">
              <a:buNone/>
            </a:pPr>
            <a:r>
              <a:rPr lang="en-US" sz="1200" b="1" dirty="0">
                <a:solidFill>
                  <a:srgbClr val="FFFFFF"/>
                </a:solidFill>
              </a:rPr>
              <a:t>Cluster</a:t>
            </a:r>
            <a:endParaRPr lang="en-US" sz="1200" dirty="0"/>
          </a:p>
        </p:txBody>
      </p:sp>
      <p:sp>
        <p:nvSpPr>
          <p:cNvPr id="39" name="Text 37"/>
          <p:cNvSpPr/>
          <p:nvPr/>
        </p:nvSpPr>
        <p:spPr>
          <a:xfrm>
            <a:off x="420624" y="2615184"/>
            <a:ext cx="1463040" cy="182880"/>
          </a:xfrm>
          <a:prstGeom prst="rect">
            <a:avLst/>
          </a:prstGeom>
          <a:noFill/>
          <a:ln/>
        </p:spPr>
        <p:txBody>
          <a:bodyPr wrap="square" lIns="0" tIns="0" rIns="0" bIns="0" rtlCol="0" anchor="ctr"/>
          <a:lstStyle/>
          <a:p>
            <a:pPr indent="0" marL="0">
              <a:buNone/>
            </a:pPr>
            <a:r>
              <a:rPr lang="en-US" sz="1000" i="1" dirty="0">
                <a:solidFill>
                  <a:srgbClr val="888888"/>
                </a:solidFill>
              </a:rPr>
              <a:t>What groups?</a:t>
            </a:r>
            <a:endParaRPr lang="en-US" sz="1000" dirty="0"/>
          </a:p>
        </p:txBody>
      </p:sp>
      <p:sp>
        <p:nvSpPr>
          <p:cNvPr id="40" name="Shape 38"/>
          <p:cNvSpPr/>
          <p:nvPr/>
        </p:nvSpPr>
        <p:spPr>
          <a:xfrm>
            <a:off x="3182112" y="2560320"/>
            <a:ext cx="310896" cy="54864"/>
          </a:xfrm>
          <a:prstGeom prst="rect">
            <a:avLst/>
          </a:prstGeom>
          <a:solidFill>
            <a:srgbClr val="333333"/>
          </a:solidFill>
          <a:ln w="12700">
            <a:solidFill>
              <a:srgbClr val="333333"/>
            </a:solidFill>
            <a:prstDash val="solid"/>
          </a:ln>
        </p:spPr>
      </p:sp>
      <p:sp>
        <p:nvSpPr>
          <p:cNvPr id="41" name="Shape 39"/>
          <p:cNvSpPr/>
          <p:nvPr/>
        </p:nvSpPr>
        <p:spPr>
          <a:xfrm>
            <a:off x="256032" y="2926080"/>
            <a:ext cx="2926080" cy="475488"/>
          </a:xfrm>
          <a:prstGeom prst="rect">
            <a:avLst/>
          </a:prstGeom>
          <a:solidFill>
            <a:srgbClr val="1A2B3A"/>
          </a:solidFill>
          <a:ln w="12700">
            <a:solidFill>
              <a:srgbClr val="C0392B"/>
            </a:solidFill>
            <a:prstDash val="solid"/>
          </a:ln>
        </p:spPr>
      </p:sp>
      <p:sp>
        <p:nvSpPr>
          <p:cNvPr id="42" name="Shape 40"/>
          <p:cNvSpPr/>
          <p:nvPr/>
        </p:nvSpPr>
        <p:spPr>
          <a:xfrm>
            <a:off x="256032" y="2926080"/>
            <a:ext cx="73152" cy="475488"/>
          </a:xfrm>
          <a:prstGeom prst="rect">
            <a:avLst/>
          </a:prstGeom>
          <a:solidFill>
            <a:srgbClr val="C0392B"/>
          </a:solidFill>
          <a:ln w="12700">
            <a:solidFill>
              <a:srgbClr val="C0392B"/>
            </a:solidFill>
            <a:prstDash val="solid"/>
          </a:ln>
        </p:spPr>
      </p:sp>
      <p:sp>
        <p:nvSpPr>
          <p:cNvPr id="43" name="Text 41"/>
          <p:cNvSpPr/>
          <p:nvPr/>
        </p:nvSpPr>
        <p:spPr>
          <a:xfrm>
            <a:off x="420624" y="2980944"/>
            <a:ext cx="1463040" cy="237744"/>
          </a:xfrm>
          <a:prstGeom prst="rect">
            <a:avLst/>
          </a:prstGeom>
          <a:noFill/>
          <a:ln/>
        </p:spPr>
        <p:txBody>
          <a:bodyPr wrap="square" lIns="0" tIns="0" rIns="0" bIns="0" rtlCol="0" anchor="ctr"/>
          <a:lstStyle/>
          <a:p>
            <a:pPr indent="0" marL="0">
              <a:buNone/>
            </a:pPr>
            <a:r>
              <a:rPr lang="en-US" sz="1200" b="1" dirty="0">
                <a:solidFill>
                  <a:srgbClr val="FFFFFF"/>
                </a:solidFill>
              </a:rPr>
              <a:t>Anomaly</a:t>
            </a:r>
            <a:endParaRPr lang="en-US" sz="1200" dirty="0"/>
          </a:p>
        </p:txBody>
      </p:sp>
      <p:sp>
        <p:nvSpPr>
          <p:cNvPr id="44" name="Text 42"/>
          <p:cNvSpPr/>
          <p:nvPr/>
        </p:nvSpPr>
        <p:spPr>
          <a:xfrm>
            <a:off x="420624" y="3182112"/>
            <a:ext cx="1463040" cy="182880"/>
          </a:xfrm>
          <a:prstGeom prst="rect">
            <a:avLst/>
          </a:prstGeom>
          <a:noFill/>
          <a:ln/>
        </p:spPr>
        <p:txBody>
          <a:bodyPr wrap="square" lIns="0" tIns="0" rIns="0" bIns="0" rtlCol="0" anchor="ctr"/>
          <a:lstStyle/>
          <a:p>
            <a:pPr indent="0" marL="0">
              <a:buNone/>
            </a:pPr>
            <a:r>
              <a:rPr lang="en-US" sz="1000" i="1" dirty="0">
                <a:solidFill>
                  <a:srgbClr val="888888"/>
                </a:solidFill>
              </a:rPr>
              <a:t>What's unusual?</a:t>
            </a:r>
            <a:endParaRPr lang="en-US" sz="1000" dirty="0"/>
          </a:p>
        </p:txBody>
      </p:sp>
      <p:sp>
        <p:nvSpPr>
          <p:cNvPr id="45" name="Shape 43"/>
          <p:cNvSpPr/>
          <p:nvPr/>
        </p:nvSpPr>
        <p:spPr>
          <a:xfrm>
            <a:off x="3182112" y="3127248"/>
            <a:ext cx="310896" cy="54864"/>
          </a:xfrm>
          <a:prstGeom prst="rect">
            <a:avLst/>
          </a:prstGeom>
          <a:solidFill>
            <a:srgbClr val="333333"/>
          </a:solidFill>
          <a:ln w="12700">
            <a:solidFill>
              <a:srgbClr val="333333"/>
            </a:solidFill>
            <a:prstDash val="solid"/>
          </a:ln>
        </p:spPr>
      </p:sp>
      <p:sp>
        <p:nvSpPr>
          <p:cNvPr id="46" name="Shape 44"/>
          <p:cNvSpPr/>
          <p:nvPr/>
        </p:nvSpPr>
        <p:spPr>
          <a:xfrm>
            <a:off x="256032" y="3493008"/>
            <a:ext cx="2926080" cy="475488"/>
          </a:xfrm>
          <a:prstGeom prst="rect">
            <a:avLst/>
          </a:prstGeom>
          <a:solidFill>
            <a:srgbClr val="1A2B3A"/>
          </a:solidFill>
          <a:ln w="12700">
            <a:solidFill>
              <a:srgbClr val="9B59B6"/>
            </a:solidFill>
            <a:prstDash val="solid"/>
          </a:ln>
        </p:spPr>
      </p:sp>
      <p:sp>
        <p:nvSpPr>
          <p:cNvPr id="47" name="Shape 45"/>
          <p:cNvSpPr/>
          <p:nvPr/>
        </p:nvSpPr>
        <p:spPr>
          <a:xfrm>
            <a:off x="256032" y="3493008"/>
            <a:ext cx="73152" cy="475488"/>
          </a:xfrm>
          <a:prstGeom prst="rect">
            <a:avLst/>
          </a:prstGeom>
          <a:solidFill>
            <a:srgbClr val="9B59B6"/>
          </a:solidFill>
          <a:ln w="12700">
            <a:solidFill>
              <a:srgbClr val="9B59B6"/>
            </a:solidFill>
            <a:prstDash val="solid"/>
          </a:ln>
        </p:spPr>
      </p:sp>
      <p:sp>
        <p:nvSpPr>
          <p:cNvPr id="48" name="Text 46"/>
          <p:cNvSpPr/>
          <p:nvPr/>
        </p:nvSpPr>
        <p:spPr>
          <a:xfrm>
            <a:off x="420624" y="3547872"/>
            <a:ext cx="1463040" cy="237744"/>
          </a:xfrm>
          <a:prstGeom prst="rect">
            <a:avLst/>
          </a:prstGeom>
          <a:noFill/>
          <a:ln/>
        </p:spPr>
        <p:txBody>
          <a:bodyPr wrap="square" lIns="0" tIns="0" rIns="0" bIns="0" rtlCol="0" anchor="ctr"/>
          <a:lstStyle/>
          <a:p>
            <a:pPr indent="0" marL="0">
              <a:buNone/>
            </a:pPr>
            <a:r>
              <a:rPr lang="en-US" sz="1200" b="1" dirty="0">
                <a:solidFill>
                  <a:srgbClr val="FFFFFF"/>
                </a:solidFill>
              </a:rPr>
              <a:t>Rank</a:t>
            </a:r>
            <a:endParaRPr lang="en-US" sz="1200" dirty="0"/>
          </a:p>
        </p:txBody>
      </p:sp>
      <p:sp>
        <p:nvSpPr>
          <p:cNvPr id="49" name="Text 47"/>
          <p:cNvSpPr/>
          <p:nvPr/>
        </p:nvSpPr>
        <p:spPr>
          <a:xfrm>
            <a:off x="420624" y="3749040"/>
            <a:ext cx="1463040" cy="182880"/>
          </a:xfrm>
          <a:prstGeom prst="rect">
            <a:avLst/>
          </a:prstGeom>
          <a:noFill/>
          <a:ln/>
        </p:spPr>
        <p:txBody>
          <a:bodyPr wrap="square" lIns="0" tIns="0" rIns="0" bIns="0" rtlCol="0" anchor="ctr"/>
          <a:lstStyle/>
          <a:p>
            <a:pPr indent="0" marL="0">
              <a:buNone/>
            </a:pPr>
            <a:r>
              <a:rPr lang="en-US" sz="1000" i="1" dirty="0">
                <a:solidFill>
                  <a:srgbClr val="888888"/>
                </a:solidFill>
              </a:rPr>
              <a:t>What comes first?</a:t>
            </a:r>
            <a:endParaRPr lang="en-US" sz="1000" dirty="0"/>
          </a:p>
        </p:txBody>
      </p:sp>
      <p:sp>
        <p:nvSpPr>
          <p:cNvPr id="50" name="Shape 48"/>
          <p:cNvSpPr/>
          <p:nvPr/>
        </p:nvSpPr>
        <p:spPr>
          <a:xfrm>
            <a:off x="3182112" y="3694176"/>
            <a:ext cx="310896" cy="54864"/>
          </a:xfrm>
          <a:prstGeom prst="rect">
            <a:avLst/>
          </a:prstGeom>
          <a:solidFill>
            <a:srgbClr val="333333"/>
          </a:solidFill>
          <a:ln w="12700">
            <a:solidFill>
              <a:srgbClr val="333333"/>
            </a:solidFill>
            <a:prstDash val="solid"/>
          </a:ln>
        </p:spPr>
      </p:sp>
      <p:sp>
        <p:nvSpPr>
          <p:cNvPr id="51" name="Text 49"/>
          <p:cNvSpPr/>
          <p:nvPr/>
        </p:nvSpPr>
        <p:spPr>
          <a:xfrm>
            <a:off x="5870448" y="877824"/>
            <a:ext cx="3017520" cy="292608"/>
          </a:xfrm>
          <a:prstGeom prst="rect">
            <a:avLst/>
          </a:prstGeom>
          <a:noFill/>
          <a:ln/>
        </p:spPr>
        <p:txBody>
          <a:bodyPr wrap="square" lIns="0" tIns="0" rIns="0" bIns="0" rtlCol="0" anchor="ctr"/>
          <a:lstStyle/>
          <a:p>
            <a:pPr indent="0" marL="0">
              <a:buNone/>
            </a:pPr>
            <a:r>
              <a:rPr lang="en-US" sz="1000" b="1" spc="300" kern="0" dirty="0">
                <a:solidFill>
                  <a:srgbClr val="2196F3"/>
                </a:solidFill>
              </a:rPr>
              <a:t>ALGORITHMS</a:t>
            </a:r>
            <a:endParaRPr lang="en-US" sz="1000" dirty="0"/>
          </a:p>
        </p:txBody>
      </p:sp>
      <p:sp>
        <p:nvSpPr>
          <p:cNvPr id="52" name="Shape 50"/>
          <p:cNvSpPr/>
          <p:nvPr/>
        </p:nvSpPr>
        <p:spPr>
          <a:xfrm>
            <a:off x="5870448" y="1225296"/>
            <a:ext cx="2944368" cy="475488"/>
          </a:xfrm>
          <a:prstGeom prst="rect">
            <a:avLst/>
          </a:prstGeom>
          <a:solidFill>
            <a:srgbClr val="1A2040"/>
          </a:solidFill>
          <a:ln w="12700">
            <a:solidFill>
              <a:srgbClr val="2196F3"/>
            </a:solidFill>
            <a:prstDash val="solid"/>
          </a:ln>
        </p:spPr>
      </p:sp>
      <p:sp>
        <p:nvSpPr>
          <p:cNvPr id="53" name="Text 51"/>
          <p:cNvSpPr/>
          <p:nvPr/>
        </p:nvSpPr>
        <p:spPr>
          <a:xfrm>
            <a:off x="5998464" y="1280160"/>
            <a:ext cx="2651760" cy="237744"/>
          </a:xfrm>
          <a:prstGeom prst="rect">
            <a:avLst/>
          </a:prstGeom>
          <a:noFill/>
          <a:ln/>
        </p:spPr>
        <p:txBody>
          <a:bodyPr wrap="square" lIns="0" tIns="0" rIns="0" bIns="0" rtlCol="0" anchor="ctr"/>
          <a:lstStyle/>
          <a:p>
            <a:pPr indent="0" marL="0">
              <a:buNone/>
            </a:pPr>
            <a:r>
              <a:rPr lang="en-US" sz="1200" b="1" dirty="0">
                <a:solidFill>
                  <a:srgbClr val="FFFFFF"/>
                </a:solidFill>
              </a:rPr>
              <a:t>Linear Models</a:t>
            </a:r>
            <a:endParaRPr lang="en-US" sz="1200" dirty="0"/>
          </a:p>
        </p:txBody>
      </p:sp>
      <p:sp>
        <p:nvSpPr>
          <p:cNvPr id="54" name="Text 52"/>
          <p:cNvSpPr/>
          <p:nvPr/>
        </p:nvSpPr>
        <p:spPr>
          <a:xfrm>
            <a:off x="5998464" y="1481328"/>
            <a:ext cx="2651760" cy="182880"/>
          </a:xfrm>
          <a:prstGeom prst="rect">
            <a:avLst/>
          </a:prstGeom>
          <a:noFill/>
          <a:ln/>
        </p:spPr>
        <p:txBody>
          <a:bodyPr wrap="square" lIns="0" tIns="0" rIns="0" bIns="0" rtlCol="0" anchor="ctr"/>
          <a:lstStyle/>
          <a:p>
            <a:pPr indent="0" marL="0">
              <a:buNone/>
            </a:pPr>
            <a:r>
              <a:rPr lang="en-US" sz="1000" i="1" dirty="0">
                <a:solidFill>
                  <a:srgbClr val="888888"/>
                </a:solidFill>
              </a:rPr>
              <a:t>Transparent, fast</a:t>
            </a:r>
            <a:endParaRPr lang="en-US" sz="1000" dirty="0"/>
          </a:p>
        </p:txBody>
      </p:sp>
      <p:sp>
        <p:nvSpPr>
          <p:cNvPr id="55" name="Shape 53"/>
          <p:cNvSpPr/>
          <p:nvPr/>
        </p:nvSpPr>
        <p:spPr>
          <a:xfrm>
            <a:off x="5650992" y="1426464"/>
            <a:ext cx="219456" cy="54864"/>
          </a:xfrm>
          <a:prstGeom prst="rect">
            <a:avLst/>
          </a:prstGeom>
          <a:solidFill>
            <a:srgbClr val="333333"/>
          </a:solidFill>
          <a:ln w="12700">
            <a:solidFill>
              <a:srgbClr val="333333"/>
            </a:solidFill>
            <a:prstDash val="solid"/>
          </a:ln>
        </p:spPr>
      </p:sp>
      <p:sp>
        <p:nvSpPr>
          <p:cNvPr id="56" name="Shape 54"/>
          <p:cNvSpPr/>
          <p:nvPr/>
        </p:nvSpPr>
        <p:spPr>
          <a:xfrm>
            <a:off x="5870448" y="1792224"/>
            <a:ext cx="2944368" cy="475488"/>
          </a:xfrm>
          <a:prstGeom prst="rect">
            <a:avLst/>
          </a:prstGeom>
          <a:solidFill>
            <a:srgbClr val="1A2040"/>
          </a:solidFill>
          <a:ln w="12700">
            <a:solidFill>
              <a:srgbClr val="2196F3"/>
            </a:solidFill>
            <a:prstDash val="solid"/>
          </a:ln>
        </p:spPr>
      </p:sp>
      <p:sp>
        <p:nvSpPr>
          <p:cNvPr id="57" name="Text 55"/>
          <p:cNvSpPr/>
          <p:nvPr/>
        </p:nvSpPr>
        <p:spPr>
          <a:xfrm>
            <a:off x="5998464" y="1847088"/>
            <a:ext cx="2651760" cy="237744"/>
          </a:xfrm>
          <a:prstGeom prst="rect">
            <a:avLst/>
          </a:prstGeom>
          <a:noFill/>
          <a:ln/>
        </p:spPr>
        <p:txBody>
          <a:bodyPr wrap="square" lIns="0" tIns="0" rIns="0" bIns="0" rtlCol="0" anchor="ctr"/>
          <a:lstStyle/>
          <a:p>
            <a:pPr indent="0" marL="0">
              <a:buNone/>
            </a:pPr>
            <a:r>
              <a:rPr lang="en-US" sz="1200" b="1" dirty="0">
                <a:solidFill>
                  <a:srgbClr val="FFFFFF"/>
                </a:solidFill>
              </a:rPr>
              <a:t>Decision Trees</a:t>
            </a:r>
            <a:endParaRPr lang="en-US" sz="1200" dirty="0"/>
          </a:p>
        </p:txBody>
      </p:sp>
      <p:sp>
        <p:nvSpPr>
          <p:cNvPr id="58" name="Text 56"/>
          <p:cNvSpPr/>
          <p:nvPr/>
        </p:nvSpPr>
        <p:spPr>
          <a:xfrm>
            <a:off x="5998464" y="2048256"/>
            <a:ext cx="2651760" cy="182880"/>
          </a:xfrm>
          <a:prstGeom prst="rect">
            <a:avLst/>
          </a:prstGeom>
          <a:noFill/>
          <a:ln/>
        </p:spPr>
        <p:txBody>
          <a:bodyPr wrap="square" lIns="0" tIns="0" rIns="0" bIns="0" rtlCol="0" anchor="ctr"/>
          <a:lstStyle/>
          <a:p>
            <a:pPr indent="0" marL="0">
              <a:buNone/>
            </a:pPr>
            <a:r>
              <a:rPr lang="en-US" sz="1000" i="1" dirty="0">
                <a:solidFill>
                  <a:srgbClr val="888888"/>
                </a:solidFill>
              </a:rPr>
              <a:t>Interpretable</a:t>
            </a:r>
            <a:endParaRPr lang="en-US" sz="1000" dirty="0"/>
          </a:p>
        </p:txBody>
      </p:sp>
      <p:sp>
        <p:nvSpPr>
          <p:cNvPr id="59" name="Shape 57"/>
          <p:cNvSpPr/>
          <p:nvPr/>
        </p:nvSpPr>
        <p:spPr>
          <a:xfrm>
            <a:off x="5650992" y="1993392"/>
            <a:ext cx="219456" cy="54864"/>
          </a:xfrm>
          <a:prstGeom prst="rect">
            <a:avLst/>
          </a:prstGeom>
          <a:solidFill>
            <a:srgbClr val="333333"/>
          </a:solidFill>
          <a:ln w="12700">
            <a:solidFill>
              <a:srgbClr val="333333"/>
            </a:solidFill>
            <a:prstDash val="solid"/>
          </a:ln>
        </p:spPr>
      </p:sp>
      <p:sp>
        <p:nvSpPr>
          <p:cNvPr id="60" name="Shape 58"/>
          <p:cNvSpPr/>
          <p:nvPr/>
        </p:nvSpPr>
        <p:spPr>
          <a:xfrm>
            <a:off x="5870448" y="2359152"/>
            <a:ext cx="2944368" cy="475488"/>
          </a:xfrm>
          <a:prstGeom prst="rect">
            <a:avLst/>
          </a:prstGeom>
          <a:solidFill>
            <a:srgbClr val="1A2040"/>
          </a:solidFill>
          <a:ln w="12700">
            <a:solidFill>
              <a:srgbClr val="2196F3"/>
            </a:solidFill>
            <a:prstDash val="solid"/>
          </a:ln>
        </p:spPr>
      </p:sp>
      <p:sp>
        <p:nvSpPr>
          <p:cNvPr id="61" name="Text 59"/>
          <p:cNvSpPr/>
          <p:nvPr/>
        </p:nvSpPr>
        <p:spPr>
          <a:xfrm>
            <a:off x="5998464" y="2414016"/>
            <a:ext cx="2651760" cy="237744"/>
          </a:xfrm>
          <a:prstGeom prst="rect">
            <a:avLst/>
          </a:prstGeom>
          <a:noFill/>
          <a:ln/>
        </p:spPr>
        <p:txBody>
          <a:bodyPr wrap="square" lIns="0" tIns="0" rIns="0" bIns="0" rtlCol="0" anchor="ctr"/>
          <a:lstStyle/>
          <a:p>
            <a:pPr indent="0" marL="0">
              <a:buNone/>
            </a:pPr>
            <a:r>
              <a:rPr lang="en-US" sz="1200" b="1" dirty="0">
                <a:solidFill>
                  <a:srgbClr val="FFFFFF"/>
                </a:solidFill>
              </a:rPr>
              <a:t>Neural Networks</a:t>
            </a:r>
            <a:endParaRPr lang="en-US" sz="1200" dirty="0"/>
          </a:p>
        </p:txBody>
      </p:sp>
      <p:sp>
        <p:nvSpPr>
          <p:cNvPr id="62" name="Text 60"/>
          <p:cNvSpPr/>
          <p:nvPr/>
        </p:nvSpPr>
        <p:spPr>
          <a:xfrm>
            <a:off x="5998464" y="2615184"/>
            <a:ext cx="2651760" cy="182880"/>
          </a:xfrm>
          <a:prstGeom prst="rect">
            <a:avLst/>
          </a:prstGeom>
          <a:noFill/>
          <a:ln/>
        </p:spPr>
        <p:txBody>
          <a:bodyPr wrap="square" lIns="0" tIns="0" rIns="0" bIns="0" rtlCol="0" anchor="ctr"/>
          <a:lstStyle/>
          <a:p>
            <a:pPr indent="0" marL="0">
              <a:buNone/>
            </a:pPr>
            <a:r>
              <a:rPr lang="en-US" sz="1000" i="1" dirty="0">
                <a:solidFill>
                  <a:srgbClr val="888888"/>
                </a:solidFill>
              </a:rPr>
              <a:t>Complex patterns</a:t>
            </a:r>
            <a:endParaRPr lang="en-US" sz="1000" dirty="0"/>
          </a:p>
        </p:txBody>
      </p:sp>
      <p:sp>
        <p:nvSpPr>
          <p:cNvPr id="63" name="Shape 61"/>
          <p:cNvSpPr/>
          <p:nvPr/>
        </p:nvSpPr>
        <p:spPr>
          <a:xfrm>
            <a:off x="5650992" y="2560320"/>
            <a:ext cx="219456" cy="54864"/>
          </a:xfrm>
          <a:prstGeom prst="rect">
            <a:avLst/>
          </a:prstGeom>
          <a:solidFill>
            <a:srgbClr val="333333"/>
          </a:solidFill>
          <a:ln w="12700">
            <a:solidFill>
              <a:srgbClr val="333333"/>
            </a:solidFill>
            <a:prstDash val="solid"/>
          </a:ln>
        </p:spPr>
      </p:sp>
      <p:sp>
        <p:nvSpPr>
          <p:cNvPr id="64" name="Shape 62"/>
          <p:cNvSpPr/>
          <p:nvPr/>
        </p:nvSpPr>
        <p:spPr>
          <a:xfrm>
            <a:off x="5870448" y="2926080"/>
            <a:ext cx="2944368" cy="475488"/>
          </a:xfrm>
          <a:prstGeom prst="rect">
            <a:avLst/>
          </a:prstGeom>
          <a:solidFill>
            <a:srgbClr val="1A2040"/>
          </a:solidFill>
          <a:ln w="12700">
            <a:solidFill>
              <a:srgbClr val="2196F3"/>
            </a:solidFill>
            <a:prstDash val="solid"/>
          </a:ln>
        </p:spPr>
      </p:sp>
      <p:sp>
        <p:nvSpPr>
          <p:cNvPr id="65" name="Text 63"/>
          <p:cNvSpPr/>
          <p:nvPr/>
        </p:nvSpPr>
        <p:spPr>
          <a:xfrm>
            <a:off x="5998464" y="2980944"/>
            <a:ext cx="2651760" cy="237744"/>
          </a:xfrm>
          <a:prstGeom prst="rect">
            <a:avLst/>
          </a:prstGeom>
          <a:noFill/>
          <a:ln/>
        </p:spPr>
        <p:txBody>
          <a:bodyPr wrap="square" lIns="0" tIns="0" rIns="0" bIns="0" rtlCol="0" anchor="ctr"/>
          <a:lstStyle/>
          <a:p>
            <a:pPr indent="0" marL="0">
              <a:buNone/>
            </a:pPr>
            <a:r>
              <a:rPr lang="en-US" sz="1200" b="1" dirty="0">
                <a:solidFill>
                  <a:srgbClr val="FFFFFF"/>
                </a:solidFill>
              </a:rPr>
              <a:t>Gradient Boosting</a:t>
            </a:r>
            <a:endParaRPr lang="en-US" sz="1200" dirty="0"/>
          </a:p>
        </p:txBody>
      </p:sp>
      <p:sp>
        <p:nvSpPr>
          <p:cNvPr id="66" name="Text 64"/>
          <p:cNvSpPr/>
          <p:nvPr/>
        </p:nvSpPr>
        <p:spPr>
          <a:xfrm>
            <a:off x="5998464" y="3182112"/>
            <a:ext cx="2651760" cy="182880"/>
          </a:xfrm>
          <a:prstGeom prst="rect">
            <a:avLst/>
          </a:prstGeom>
          <a:noFill/>
          <a:ln/>
        </p:spPr>
        <p:txBody>
          <a:bodyPr wrap="square" lIns="0" tIns="0" rIns="0" bIns="0" rtlCol="0" anchor="ctr"/>
          <a:lstStyle/>
          <a:p>
            <a:pPr indent="0" marL="0">
              <a:buNone/>
            </a:pPr>
            <a:r>
              <a:rPr lang="en-US" sz="1000" i="1" dirty="0">
                <a:solidFill>
                  <a:srgbClr val="888888"/>
                </a:solidFill>
              </a:rPr>
              <a:t>XGBoost, CatBoost</a:t>
            </a:r>
            <a:endParaRPr lang="en-US" sz="1000" dirty="0"/>
          </a:p>
        </p:txBody>
      </p:sp>
      <p:sp>
        <p:nvSpPr>
          <p:cNvPr id="67" name="Shape 65"/>
          <p:cNvSpPr/>
          <p:nvPr/>
        </p:nvSpPr>
        <p:spPr>
          <a:xfrm>
            <a:off x="5650992" y="3127248"/>
            <a:ext cx="219456" cy="54864"/>
          </a:xfrm>
          <a:prstGeom prst="rect">
            <a:avLst/>
          </a:prstGeom>
          <a:solidFill>
            <a:srgbClr val="333333"/>
          </a:solidFill>
          <a:ln w="12700">
            <a:solidFill>
              <a:srgbClr val="333333"/>
            </a:solidFill>
            <a:prstDash val="solid"/>
          </a:ln>
        </p:spPr>
      </p:sp>
      <p:sp>
        <p:nvSpPr>
          <p:cNvPr id="68" name="Shape 66"/>
          <p:cNvSpPr/>
          <p:nvPr/>
        </p:nvSpPr>
        <p:spPr>
          <a:xfrm>
            <a:off x="5870448" y="3493008"/>
            <a:ext cx="2944368" cy="475488"/>
          </a:xfrm>
          <a:prstGeom prst="rect">
            <a:avLst/>
          </a:prstGeom>
          <a:solidFill>
            <a:srgbClr val="1A2040"/>
          </a:solidFill>
          <a:ln w="12700">
            <a:solidFill>
              <a:srgbClr val="2196F3"/>
            </a:solidFill>
            <a:prstDash val="solid"/>
          </a:ln>
        </p:spPr>
      </p:sp>
      <p:sp>
        <p:nvSpPr>
          <p:cNvPr id="69" name="Text 67"/>
          <p:cNvSpPr/>
          <p:nvPr/>
        </p:nvSpPr>
        <p:spPr>
          <a:xfrm>
            <a:off x="5998464" y="3547872"/>
            <a:ext cx="2651760" cy="237744"/>
          </a:xfrm>
          <a:prstGeom prst="rect">
            <a:avLst/>
          </a:prstGeom>
          <a:noFill/>
          <a:ln/>
        </p:spPr>
        <p:txBody>
          <a:bodyPr wrap="square" lIns="0" tIns="0" rIns="0" bIns="0" rtlCol="0" anchor="ctr"/>
          <a:lstStyle/>
          <a:p>
            <a:pPr indent="0" marL="0">
              <a:buNone/>
            </a:pPr>
            <a:r>
              <a:rPr lang="en-US" sz="1200" b="1" dirty="0">
                <a:solidFill>
                  <a:srgbClr val="FFFFFF"/>
                </a:solidFill>
              </a:rPr>
              <a:t>Graph / Sequence</a:t>
            </a:r>
            <a:endParaRPr lang="en-US" sz="1200" dirty="0"/>
          </a:p>
        </p:txBody>
      </p:sp>
      <p:sp>
        <p:nvSpPr>
          <p:cNvPr id="70" name="Text 68"/>
          <p:cNvSpPr/>
          <p:nvPr/>
        </p:nvSpPr>
        <p:spPr>
          <a:xfrm>
            <a:off x="5998464" y="3749040"/>
            <a:ext cx="2651760" cy="182880"/>
          </a:xfrm>
          <a:prstGeom prst="rect">
            <a:avLst/>
          </a:prstGeom>
          <a:noFill/>
          <a:ln/>
        </p:spPr>
        <p:txBody>
          <a:bodyPr wrap="square" lIns="0" tIns="0" rIns="0" bIns="0" rtlCol="0" anchor="ctr"/>
          <a:lstStyle/>
          <a:p>
            <a:pPr indent="0" marL="0">
              <a:buNone/>
            </a:pPr>
            <a:r>
              <a:rPr lang="en-US" sz="1000" i="1" dirty="0">
                <a:solidFill>
                  <a:srgbClr val="888888"/>
                </a:solidFill>
              </a:rPr>
              <a:t>Relationships, time</a:t>
            </a:r>
            <a:endParaRPr lang="en-US" sz="1000" dirty="0"/>
          </a:p>
        </p:txBody>
      </p:sp>
      <p:sp>
        <p:nvSpPr>
          <p:cNvPr id="71" name="Shape 69"/>
          <p:cNvSpPr/>
          <p:nvPr/>
        </p:nvSpPr>
        <p:spPr>
          <a:xfrm>
            <a:off x="5650992" y="3694176"/>
            <a:ext cx="219456" cy="54864"/>
          </a:xfrm>
          <a:prstGeom prst="rect">
            <a:avLst/>
          </a:prstGeom>
          <a:solidFill>
            <a:srgbClr val="333333"/>
          </a:solidFill>
          <a:ln w="12700">
            <a:solidFill>
              <a:srgbClr val="333333"/>
            </a:solidFill>
            <a:prstDash val="solid"/>
          </a:ln>
        </p:spPr>
      </p:sp>
      <p:sp>
        <p:nvSpPr>
          <p:cNvPr id="72" name="Shape 70"/>
          <p:cNvSpPr/>
          <p:nvPr/>
        </p:nvSpPr>
        <p:spPr>
          <a:xfrm>
            <a:off x="0" y="4663440"/>
            <a:ext cx="9144000" cy="480060"/>
          </a:xfrm>
          <a:prstGeom prst="rect">
            <a:avLst/>
          </a:prstGeom>
          <a:solidFill>
            <a:srgbClr val="080E18"/>
          </a:solidFill>
          <a:ln w="12700">
            <a:solidFill>
              <a:srgbClr val="080E18"/>
            </a:solidFill>
            <a:prstDash val="solid"/>
          </a:ln>
        </p:spPr>
      </p:sp>
      <p:sp>
        <p:nvSpPr>
          <p:cNvPr id="73" name="Text 71"/>
          <p:cNvSpPr/>
          <p:nvPr/>
        </p:nvSpPr>
        <p:spPr>
          <a:xfrm>
            <a:off x="274320" y="4681728"/>
            <a:ext cx="2834640" cy="201168"/>
          </a:xfrm>
          <a:prstGeom prst="rect">
            <a:avLst/>
          </a:prstGeom>
          <a:noFill/>
          <a:ln/>
        </p:spPr>
        <p:txBody>
          <a:bodyPr wrap="square" lIns="0" tIns="0" rIns="0" bIns="0" rtlCol="0" anchor="ctr"/>
          <a:lstStyle/>
          <a:p>
            <a:pPr algn="ctr" indent="0" marL="0">
              <a:buNone/>
            </a:pPr>
            <a:r>
              <a:rPr lang="en-US" sz="900" b="1" spc="100" kern="0" dirty="0">
                <a:solidFill>
                  <a:srgbClr val="E67E22"/>
                </a:solidFill>
              </a:rPr>
              <a:t>BAD SAMPLE → BAD MODEL</a:t>
            </a:r>
            <a:endParaRPr lang="en-US" sz="900" dirty="0"/>
          </a:p>
        </p:txBody>
      </p:sp>
      <p:sp>
        <p:nvSpPr>
          <p:cNvPr id="74" name="Text 72"/>
          <p:cNvSpPr/>
          <p:nvPr/>
        </p:nvSpPr>
        <p:spPr>
          <a:xfrm>
            <a:off x="274320" y="4882896"/>
            <a:ext cx="2834640" cy="164592"/>
          </a:xfrm>
          <a:prstGeom prst="rect">
            <a:avLst/>
          </a:prstGeom>
          <a:noFill/>
          <a:ln/>
        </p:spPr>
        <p:txBody>
          <a:bodyPr wrap="square" lIns="0" tIns="0" rIns="0" bIns="0" rtlCol="0" anchor="ctr"/>
          <a:lstStyle/>
          <a:p>
            <a:pPr algn="ctr" indent="0" marL="0">
              <a:buNone/>
            </a:pPr>
            <a:r>
              <a:rPr lang="en-US" sz="850" i="1" dirty="0">
                <a:solidFill>
                  <a:srgbClr val="666666"/>
                </a:solidFill>
              </a:rPr>
              <a:t>Bias  ·  Imbalance  ·  Leakage</a:t>
            </a:r>
            <a:endParaRPr lang="en-US" sz="850" dirty="0"/>
          </a:p>
        </p:txBody>
      </p:sp>
      <p:sp>
        <p:nvSpPr>
          <p:cNvPr id="75" name="Text 73"/>
          <p:cNvSpPr/>
          <p:nvPr/>
        </p:nvSpPr>
        <p:spPr>
          <a:xfrm>
            <a:off x="3319272" y="4681728"/>
            <a:ext cx="2834640" cy="201168"/>
          </a:xfrm>
          <a:prstGeom prst="rect">
            <a:avLst/>
          </a:prstGeom>
          <a:noFill/>
          <a:ln/>
        </p:spPr>
        <p:txBody>
          <a:bodyPr wrap="square" lIns="0" tIns="0" rIns="0" bIns="0" rtlCol="0" anchor="ctr"/>
          <a:lstStyle/>
          <a:p>
            <a:pPr algn="ctr" indent="0" marL="0">
              <a:buNone/>
            </a:pPr>
            <a:r>
              <a:rPr lang="en-US" sz="900" b="1" spc="100" kern="0" dirty="0">
                <a:solidFill>
                  <a:srgbClr val="02C39A"/>
                </a:solidFill>
              </a:rPr>
              <a:t>EVALUATION IS MULTI-DIM</a:t>
            </a:r>
            <a:endParaRPr lang="en-US" sz="900" dirty="0"/>
          </a:p>
        </p:txBody>
      </p:sp>
      <p:sp>
        <p:nvSpPr>
          <p:cNvPr id="76" name="Text 74"/>
          <p:cNvSpPr/>
          <p:nvPr/>
        </p:nvSpPr>
        <p:spPr>
          <a:xfrm>
            <a:off x="3319272" y="4882896"/>
            <a:ext cx="2834640" cy="164592"/>
          </a:xfrm>
          <a:prstGeom prst="rect">
            <a:avLst/>
          </a:prstGeom>
          <a:noFill/>
          <a:ln/>
        </p:spPr>
        <p:txBody>
          <a:bodyPr wrap="square" lIns="0" tIns="0" rIns="0" bIns="0" rtlCol="0" anchor="ctr"/>
          <a:lstStyle/>
          <a:p>
            <a:pPr algn="ctr" indent="0" marL="0">
              <a:buNone/>
            </a:pPr>
            <a:r>
              <a:rPr lang="en-US" sz="850" i="1" dirty="0">
                <a:solidFill>
                  <a:srgbClr val="666666"/>
                </a:solidFill>
              </a:rPr>
              <a:t>Metrics  ·  Tradeoffs  ·  Latency  ·  Scale</a:t>
            </a:r>
            <a:endParaRPr lang="en-US" sz="850" dirty="0"/>
          </a:p>
        </p:txBody>
      </p:sp>
      <p:sp>
        <p:nvSpPr>
          <p:cNvPr id="77" name="Text 75"/>
          <p:cNvSpPr/>
          <p:nvPr/>
        </p:nvSpPr>
        <p:spPr>
          <a:xfrm>
            <a:off x="6364224" y="4681728"/>
            <a:ext cx="2834640" cy="201168"/>
          </a:xfrm>
          <a:prstGeom prst="rect">
            <a:avLst/>
          </a:prstGeom>
          <a:noFill/>
          <a:ln/>
        </p:spPr>
        <p:txBody>
          <a:bodyPr wrap="square" lIns="0" tIns="0" rIns="0" bIns="0" rtlCol="0" anchor="ctr"/>
          <a:lstStyle/>
          <a:p>
            <a:pPr algn="ctr" indent="0" marL="0">
              <a:buNone/>
            </a:pPr>
            <a:r>
              <a:rPr lang="en-US" sz="900" b="1" spc="100" kern="0" dirty="0">
                <a:solidFill>
                  <a:srgbClr val="CE93D8"/>
                </a:solidFill>
              </a:rPr>
              <a:t>EXPLAINABILITY BUILDS TRUST</a:t>
            </a:r>
            <a:endParaRPr lang="en-US" sz="900" dirty="0"/>
          </a:p>
        </p:txBody>
      </p:sp>
      <p:sp>
        <p:nvSpPr>
          <p:cNvPr id="78" name="Text 76"/>
          <p:cNvSpPr/>
          <p:nvPr/>
        </p:nvSpPr>
        <p:spPr>
          <a:xfrm>
            <a:off x="6364224" y="4882896"/>
            <a:ext cx="2834640" cy="164592"/>
          </a:xfrm>
          <a:prstGeom prst="rect">
            <a:avLst/>
          </a:prstGeom>
          <a:noFill/>
          <a:ln/>
        </p:spPr>
        <p:txBody>
          <a:bodyPr wrap="square" lIns="0" tIns="0" rIns="0" bIns="0" rtlCol="0" anchor="ctr"/>
          <a:lstStyle/>
          <a:p>
            <a:pPr algn="ctr" indent="0" marL="0">
              <a:buNone/>
            </a:pPr>
            <a:r>
              <a:rPr lang="en-US" sz="850" i="1" dirty="0">
                <a:solidFill>
                  <a:srgbClr val="666666"/>
                </a:solidFill>
              </a:rPr>
              <a:t>Global  ·  Local  ·  Operational</a:t>
            </a:r>
            <a:endParaRPr lang="en-US" sz="850" dirty="0"/>
          </a:p>
        </p:txBody>
      </p:sp>
      <p:sp>
        <p:nvSpPr>
          <p:cNvPr id="80" name="Text 77"/>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D4E"/>
          </a:solidFill>
          <a:ln w="12700">
            <a:solidFill>
              <a:srgbClr val="1E2D4E"/>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STEP 1: CHOOSE THE RECIPE — YOU'RE CHOOSING A TYPE OF QUESTION</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438912"/>
          </a:xfrm>
          <a:prstGeom prst="rect">
            <a:avLst/>
          </a:prstGeom>
          <a:noFill/>
          <a:ln/>
        </p:spPr>
        <p:txBody>
          <a:bodyPr wrap="square" lIns="0" tIns="0" rIns="0" bIns="0" rtlCol="0" anchor="ctr"/>
          <a:lstStyle/>
          <a:p>
            <a:pPr indent="0" marL="0">
              <a:buNone/>
            </a:pPr>
            <a:r>
              <a:rPr lang="en-US" sz="1800" i="1" dirty="0">
                <a:solidFill>
                  <a:srgbClr val="1A2535"/>
                </a:solidFill>
                <a:latin typeface="Georgia" pitchFamily="34" charset="0"/>
                <a:ea typeface="Georgia" pitchFamily="34" charset="-122"/>
                <a:cs typeface="Georgia" pitchFamily="34" charset="-120"/>
              </a:rPr>
              <a:t>You're not choosing an algorithm. You're choosing a type of question.</a:t>
            </a:r>
            <a:endParaRPr lang="en-US" sz="1800" dirty="0"/>
          </a:p>
        </p:txBody>
      </p:sp>
      <p:sp>
        <p:nvSpPr>
          <p:cNvPr id="6" name="Shape 4"/>
          <p:cNvSpPr/>
          <p:nvPr/>
        </p:nvSpPr>
        <p:spPr>
          <a:xfrm>
            <a:off x="292608" y="1225296"/>
            <a:ext cx="8558784" cy="658368"/>
          </a:xfrm>
          <a:prstGeom prst="rect">
            <a:avLst/>
          </a:prstGeom>
          <a:solidFill>
            <a:srgbClr val="EBF5FF"/>
          </a:solidFill>
          <a:ln w="12700">
            <a:solidFill>
              <a:srgbClr val="2196F3"/>
            </a:solidFill>
            <a:prstDash val="solid"/>
          </a:ln>
        </p:spPr>
      </p:sp>
      <p:sp>
        <p:nvSpPr>
          <p:cNvPr id="7" name="Shape 5"/>
          <p:cNvSpPr/>
          <p:nvPr/>
        </p:nvSpPr>
        <p:spPr>
          <a:xfrm>
            <a:off x="292608" y="1225296"/>
            <a:ext cx="109728" cy="658368"/>
          </a:xfrm>
          <a:prstGeom prst="rect">
            <a:avLst/>
          </a:prstGeom>
          <a:solidFill>
            <a:srgbClr val="2196F3"/>
          </a:solidFill>
          <a:ln w="12700">
            <a:solidFill>
              <a:srgbClr val="2196F3"/>
            </a:solidFill>
            <a:prstDash val="solid"/>
          </a:ln>
        </p:spPr>
      </p:sp>
      <p:sp>
        <p:nvSpPr>
          <p:cNvPr id="8" name="Shape 6"/>
          <p:cNvSpPr/>
          <p:nvPr/>
        </p:nvSpPr>
        <p:spPr>
          <a:xfrm>
            <a:off x="457200" y="1344168"/>
            <a:ext cx="402336" cy="402336"/>
          </a:xfrm>
          <a:prstGeom prst="ellipse">
            <a:avLst/>
          </a:prstGeom>
          <a:solidFill>
            <a:srgbClr val="2196F3"/>
          </a:solidFill>
          <a:ln w="12700">
            <a:solidFill>
              <a:srgbClr val="2196F3"/>
            </a:solidFill>
            <a:prstDash val="solid"/>
          </a:ln>
        </p:spPr>
      </p:sp>
      <p:sp>
        <p:nvSpPr>
          <p:cNvPr id="9" name="Text 7"/>
          <p:cNvSpPr/>
          <p:nvPr/>
        </p:nvSpPr>
        <p:spPr>
          <a:xfrm>
            <a:off x="457200" y="13441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8"/>
          <p:cNvSpPr/>
          <p:nvPr/>
        </p:nvSpPr>
        <p:spPr>
          <a:xfrm>
            <a:off x="969264" y="1316736"/>
            <a:ext cx="1280160" cy="45720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Classify</a:t>
            </a:r>
            <a:endParaRPr lang="en-US" sz="1400" dirty="0"/>
          </a:p>
        </p:txBody>
      </p:sp>
      <p:sp>
        <p:nvSpPr>
          <p:cNvPr id="11" name="Text 9"/>
          <p:cNvSpPr/>
          <p:nvPr/>
        </p:nvSpPr>
        <p:spPr>
          <a:xfrm>
            <a:off x="2331720" y="1316736"/>
            <a:ext cx="1645920" cy="457200"/>
          </a:xfrm>
          <a:prstGeom prst="rect">
            <a:avLst/>
          </a:prstGeom>
          <a:noFill/>
          <a:ln/>
        </p:spPr>
        <p:txBody>
          <a:bodyPr wrap="square" lIns="0" tIns="0" rIns="0" bIns="0" rtlCol="0" anchor="ctr"/>
          <a:lstStyle/>
          <a:p>
            <a:pPr indent="0" marL="0">
              <a:buNone/>
            </a:pPr>
            <a:r>
              <a:rPr lang="en-US" sz="1200" i="1" dirty="0">
                <a:solidFill>
                  <a:srgbClr val="2196F3"/>
                </a:solidFill>
              </a:rPr>
              <a:t>Is this fraud?</a:t>
            </a:r>
            <a:endParaRPr lang="en-US" sz="1200" dirty="0"/>
          </a:p>
        </p:txBody>
      </p:sp>
      <p:sp>
        <p:nvSpPr>
          <p:cNvPr id="12" name="Text 10"/>
          <p:cNvSpPr/>
          <p:nvPr/>
        </p:nvSpPr>
        <p:spPr>
          <a:xfrm>
            <a:off x="4041648" y="1316736"/>
            <a:ext cx="2926080" cy="457200"/>
          </a:xfrm>
          <a:prstGeom prst="rect">
            <a:avLst/>
          </a:prstGeom>
          <a:noFill/>
          <a:ln/>
        </p:spPr>
        <p:txBody>
          <a:bodyPr wrap="square" lIns="0" tIns="0" rIns="0" bIns="0" rtlCol="0" anchor="ctr"/>
          <a:lstStyle/>
          <a:p>
            <a:pPr indent="0" marL="0">
              <a:buNone/>
            </a:pPr>
            <a:r>
              <a:rPr lang="en-US" sz="1100" dirty="0">
                <a:solidFill>
                  <a:srgbClr val="4A5568"/>
                </a:solidFill>
              </a:rPr>
              <a:t>ACH fraud detection, churn risk, loan default</a:t>
            </a:r>
            <a:endParaRPr lang="en-US" sz="1100" dirty="0"/>
          </a:p>
        </p:txBody>
      </p:sp>
      <p:sp>
        <p:nvSpPr>
          <p:cNvPr id="13" name="Text 11"/>
          <p:cNvSpPr/>
          <p:nvPr/>
        </p:nvSpPr>
        <p:spPr>
          <a:xfrm>
            <a:off x="7040880" y="1316736"/>
            <a:ext cx="1737360" cy="457200"/>
          </a:xfrm>
          <a:prstGeom prst="rect">
            <a:avLst/>
          </a:prstGeom>
          <a:noFill/>
          <a:ln/>
        </p:spPr>
        <p:txBody>
          <a:bodyPr wrap="square" lIns="0" tIns="0" rIns="0" bIns="0" rtlCol="0" anchor="ctr"/>
          <a:lstStyle/>
          <a:p>
            <a:pPr indent="0" marL="0">
              <a:buNone/>
            </a:pPr>
            <a:r>
              <a:rPr lang="en-US" sz="950" i="1" dirty="0">
                <a:solidFill>
                  <a:srgbClr val="888888"/>
                </a:solidFill>
              </a:rPr>
              <a:t>AUC-ROC · PR-AUC · Precision/Recall</a:t>
            </a:r>
            <a:endParaRPr lang="en-US" sz="950" dirty="0"/>
          </a:p>
        </p:txBody>
      </p:sp>
      <p:sp>
        <p:nvSpPr>
          <p:cNvPr id="14" name="Shape 12"/>
          <p:cNvSpPr/>
          <p:nvPr/>
        </p:nvSpPr>
        <p:spPr>
          <a:xfrm>
            <a:off x="292608" y="1975104"/>
            <a:ext cx="8558784" cy="658368"/>
          </a:xfrm>
          <a:prstGeom prst="rect">
            <a:avLst/>
          </a:prstGeom>
          <a:solidFill>
            <a:srgbClr val="EDFAF4"/>
          </a:solidFill>
          <a:ln w="12700">
            <a:solidFill>
              <a:srgbClr val="27AE60"/>
            </a:solidFill>
            <a:prstDash val="solid"/>
          </a:ln>
        </p:spPr>
      </p:sp>
      <p:sp>
        <p:nvSpPr>
          <p:cNvPr id="15" name="Shape 13"/>
          <p:cNvSpPr/>
          <p:nvPr/>
        </p:nvSpPr>
        <p:spPr>
          <a:xfrm>
            <a:off x="292608" y="1975104"/>
            <a:ext cx="109728" cy="658368"/>
          </a:xfrm>
          <a:prstGeom prst="rect">
            <a:avLst/>
          </a:prstGeom>
          <a:solidFill>
            <a:srgbClr val="27AE60"/>
          </a:solidFill>
          <a:ln w="12700">
            <a:solidFill>
              <a:srgbClr val="27AE60"/>
            </a:solidFill>
            <a:prstDash val="solid"/>
          </a:ln>
        </p:spPr>
      </p:sp>
      <p:sp>
        <p:nvSpPr>
          <p:cNvPr id="16" name="Shape 14"/>
          <p:cNvSpPr/>
          <p:nvPr/>
        </p:nvSpPr>
        <p:spPr>
          <a:xfrm>
            <a:off x="457200" y="2093976"/>
            <a:ext cx="402336" cy="402336"/>
          </a:xfrm>
          <a:prstGeom prst="ellipse">
            <a:avLst/>
          </a:prstGeom>
          <a:solidFill>
            <a:srgbClr val="27AE60"/>
          </a:solidFill>
          <a:ln w="12700">
            <a:solidFill>
              <a:srgbClr val="27AE60"/>
            </a:solidFill>
            <a:prstDash val="solid"/>
          </a:ln>
        </p:spPr>
      </p:sp>
      <p:sp>
        <p:nvSpPr>
          <p:cNvPr id="17" name="Text 15"/>
          <p:cNvSpPr/>
          <p:nvPr/>
        </p:nvSpPr>
        <p:spPr>
          <a:xfrm>
            <a:off x="457200" y="2093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p:nvPr/>
        </p:nvSpPr>
        <p:spPr>
          <a:xfrm>
            <a:off x="969264" y="2066544"/>
            <a:ext cx="1280160" cy="45720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Predict</a:t>
            </a:r>
            <a:endParaRPr lang="en-US" sz="1400" dirty="0"/>
          </a:p>
        </p:txBody>
      </p:sp>
      <p:sp>
        <p:nvSpPr>
          <p:cNvPr id="19" name="Text 17"/>
          <p:cNvSpPr/>
          <p:nvPr/>
        </p:nvSpPr>
        <p:spPr>
          <a:xfrm>
            <a:off x="2331720" y="2066544"/>
            <a:ext cx="1645920" cy="457200"/>
          </a:xfrm>
          <a:prstGeom prst="rect">
            <a:avLst/>
          </a:prstGeom>
          <a:noFill/>
          <a:ln/>
        </p:spPr>
        <p:txBody>
          <a:bodyPr wrap="square" lIns="0" tIns="0" rIns="0" bIns="0" rtlCol="0" anchor="ctr"/>
          <a:lstStyle/>
          <a:p>
            <a:pPr indent="0" marL="0">
              <a:buNone/>
            </a:pPr>
            <a:r>
              <a:rPr lang="en-US" sz="1200" i="1" dirty="0">
                <a:solidFill>
                  <a:srgbClr val="27AE60"/>
                </a:solidFill>
              </a:rPr>
              <a:t>How much? When?</a:t>
            </a:r>
            <a:endParaRPr lang="en-US" sz="1200" dirty="0"/>
          </a:p>
        </p:txBody>
      </p:sp>
      <p:sp>
        <p:nvSpPr>
          <p:cNvPr id="20" name="Text 18"/>
          <p:cNvSpPr/>
          <p:nvPr/>
        </p:nvSpPr>
        <p:spPr>
          <a:xfrm>
            <a:off x="4041648" y="2066544"/>
            <a:ext cx="2926080" cy="457200"/>
          </a:xfrm>
          <a:prstGeom prst="rect">
            <a:avLst/>
          </a:prstGeom>
          <a:noFill/>
          <a:ln/>
        </p:spPr>
        <p:txBody>
          <a:bodyPr wrap="square" lIns="0" tIns="0" rIns="0" bIns="0" rtlCol="0" anchor="ctr"/>
          <a:lstStyle/>
          <a:p>
            <a:pPr indent="0" marL="0">
              <a:buNone/>
            </a:pPr>
            <a:r>
              <a:rPr lang="en-US" sz="1100" dirty="0">
                <a:solidFill>
                  <a:srgbClr val="4A5568"/>
                </a:solidFill>
              </a:rPr>
              <a:t>Cash flow forecasting, revenue projection</a:t>
            </a:r>
            <a:endParaRPr lang="en-US" sz="1100" dirty="0"/>
          </a:p>
        </p:txBody>
      </p:sp>
      <p:sp>
        <p:nvSpPr>
          <p:cNvPr id="21" name="Text 19"/>
          <p:cNvSpPr/>
          <p:nvPr/>
        </p:nvSpPr>
        <p:spPr>
          <a:xfrm>
            <a:off x="7040880" y="2066544"/>
            <a:ext cx="1737360" cy="457200"/>
          </a:xfrm>
          <a:prstGeom prst="rect">
            <a:avLst/>
          </a:prstGeom>
          <a:noFill/>
          <a:ln/>
        </p:spPr>
        <p:txBody>
          <a:bodyPr wrap="square" lIns="0" tIns="0" rIns="0" bIns="0" rtlCol="0" anchor="ctr"/>
          <a:lstStyle/>
          <a:p>
            <a:pPr indent="0" marL="0">
              <a:buNone/>
            </a:pPr>
            <a:r>
              <a:rPr lang="en-US" sz="950" i="1" dirty="0">
                <a:solidFill>
                  <a:srgbClr val="888888"/>
                </a:solidFill>
              </a:rPr>
              <a:t>MAPE · RMSE · WAPE · Bias</a:t>
            </a:r>
            <a:endParaRPr lang="en-US" sz="950" dirty="0"/>
          </a:p>
        </p:txBody>
      </p:sp>
      <p:sp>
        <p:nvSpPr>
          <p:cNvPr id="22" name="Shape 20"/>
          <p:cNvSpPr/>
          <p:nvPr/>
        </p:nvSpPr>
        <p:spPr>
          <a:xfrm>
            <a:off x="292608" y="2724912"/>
            <a:ext cx="8558784" cy="658368"/>
          </a:xfrm>
          <a:prstGeom prst="rect">
            <a:avLst/>
          </a:prstGeom>
          <a:solidFill>
            <a:srgbClr val="FFF4EB"/>
          </a:solidFill>
          <a:ln w="12700">
            <a:solidFill>
              <a:srgbClr val="E67E22"/>
            </a:solidFill>
            <a:prstDash val="solid"/>
          </a:ln>
        </p:spPr>
      </p:sp>
      <p:sp>
        <p:nvSpPr>
          <p:cNvPr id="23" name="Shape 21"/>
          <p:cNvSpPr/>
          <p:nvPr/>
        </p:nvSpPr>
        <p:spPr>
          <a:xfrm>
            <a:off x="292608" y="2724912"/>
            <a:ext cx="109728" cy="658368"/>
          </a:xfrm>
          <a:prstGeom prst="rect">
            <a:avLst/>
          </a:prstGeom>
          <a:solidFill>
            <a:srgbClr val="E67E22"/>
          </a:solidFill>
          <a:ln w="12700">
            <a:solidFill>
              <a:srgbClr val="E67E22"/>
            </a:solidFill>
            <a:prstDash val="solid"/>
          </a:ln>
        </p:spPr>
      </p:sp>
      <p:sp>
        <p:nvSpPr>
          <p:cNvPr id="24" name="Shape 22"/>
          <p:cNvSpPr/>
          <p:nvPr/>
        </p:nvSpPr>
        <p:spPr>
          <a:xfrm>
            <a:off x="457200" y="2843784"/>
            <a:ext cx="402336" cy="402336"/>
          </a:xfrm>
          <a:prstGeom prst="ellipse">
            <a:avLst/>
          </a:prstGeom>
          <a:solidFill>
            <a:srgbClr val="E67E22"/>
          </a:solidFill>
          <a:ln w="12700">
            <a:solidFill>
              <a:srgbClr val="E67E22"/>
            </a:solidFill>
            <a:prstDash val="solid"/>
          </a:ln>
        </p:spPr>
      </p:sp>
      <p:sp>
        <p:nvSpPr>
          <p:cNvPr id="25" name="Text 23"/>
          <p:cNvSpPr/>
          <p:nvPr/>
        </p:nvSpPr>
        <p:spPr>
          <a:xfrm>
            <a:off x="457200" y="28437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6" name="Text 24"/>
          <p:cNvSpPr/>
          <p:nvPr/>
        </p:nvSpPr>
        <p:spPr>
          <a:xfrm>
            <a:off x="969264" y="2816352"/>
            <a:ext cx="1280160" cy="45720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Cluster</a:t>
            </a:r>
            <a:endParaRPr lang="en-US" sz="1400" dirty="0"/>
          </a:p>
        </p:txBody>
      </p:sp>
      <p:sp>
        <p:nvSpPr>
          <p:cNvPr id="27" name="Text 25"/>
          <p:cNvSpPr/>
          <p:nvPr/>
        </p:nvSpPr>
        <p:spPr>
          <a:xfrm>
            <a:off x="2331720" y="2816352"/>
            <a:ext cx="1645920" cy="457200"/>
          </a:xfrm>
          <a:prstGeom prst="rect">
            <a:avLst/>
          </a:prstGeom>
          <a:noFill/>
          <a:ln/>
        </p:spPr>
        <p:txBody>
          <a:bodyPr wrap="square" lIns="0" tIns="0" rIns="0" bIns="0" rtlCol="0" anchor="ctr"/>
          <a:lstStyle/>
          <a:p>
            <a:pPr indent="0" marL="0">
              <a:buNone/>
            </a:pPr>
            <a:r>
              <a:rPr lang="en-US" sz="1200" i="1" dirty="0">
                <a:solidFill>
                  <a:srgbClr val="E67E22"/>
                </a:solidFill>
              </a:rPr>
              <a:t>Who's similar?</a:t>
            </a:r>
            <a:endParaRPr lang="en-US" sz="1200" dirty="0"/>
          </a:p>
        </p:txBody>
      </p:sp>
      <p:sp>
        <p:nvSpPr>
          <p:cNvPr id="28" name="Text 26"/>
          <p:cNvSpPr/>
          <p:nvPr/>
        </p:nvSpPr>
        <p:spPr>
          <a:xfrm>
            <a:off x="4041648" y="2816352"/>
            <a:ext cx="2926080" cy="457200"/>
          </a:xfrm>
          <a:prstGeom prst="rect">
            <a:avLst/>
          </a:prstGeom>
          <a:noFill/>
          <a:ln/>
        </p:spPr>
        <p:txBody>
          <a:bodyPr wrap="square" lIns="0" tIns="0" rIns="0" bIns="0" rtlCol="0" anchor="ctr"/>
          <a:lstStyle/>
          <a:p>
            <a:pPr indent="0" marL="0">
              <a:buNone/>
            </a:pPr>
            <a:r>
              <a:rPr lang="en-US" sz="1100" dirty="0">
                <a:solidFill>
                  <a:srgbClr val="4A5568"/>
                </a:solidFill>
              </a:rPr>
              <a:t>Customer segmentation, risk cohorts</a:t>
            </a:r>
            <a:endParaRPr lang="en-US" sz="1100" dirty="0"/>
          </a:p>
        </p:txBody>
      </p:sp>
      <p:sp>
        <p:nvSpPr>
          <p:cNvPr id="29" name="Text 27"/>
          <p:cNvSpPr/>
          <p:nvPr/>
        </p:nvSpPr>
        <p:spPr>
          <a:xfrm>
            <a:off x="7040880" y="2816352"/>
            <a:ext cx="1737360" cy="457200"/>
          </a:xfrm>
          <a:prstGeom prst="rect">
            <a:avLst/>
          </a:prstGeom>
          <a:noFill/>
          <a:ln/>
        </p:spPr>
        <p:txBody>
          <a:bodyPr wrap="square" lIns="0" tIns="0" rIns="0" bIns="0" rtlCol="0" anchor="ctr"/>
          <a:lstStyle/>
          <a:p>
            <a:pPr indent="0" marL="0">
              <a:buNone/>
            </a:pPr>
            <a:r>
              <a:rPr lang="en-US" sz="950" i="1" dirty="0">
                <a:solidFill>
                  <a:srgbClr val="888888"/>
                </a:solidFill>
              </a:rPr>
              <a:t>Silhouette · business validation</a:t>
            </a:r>
            <a:endParaRPr lang="en-US" sz="950" dirty="0"/>
          </a:p>
        </p:txBody>
      </p:sp>
      <p:sp>
        <p:nvSpPr>
          <p:cNvPr id="30" name="Shape 28"/>
          <p:cNvSpPr/>
          <p:nvPr/>
        </p:nvSpPr>
        <p:spPr>
          <a:xfrm>
            <a:off x="292608" y="3474720"/>
            <a:ext cx="8558784" cy="658368"/>
          </a:xfrm>
          <a:prstGeom prst="rect">
            <a:avLst/>
          </a:prstGeom>
          <a:solidFill>
            <a:srgbClr val="FFF0F0"/>
          </a:solidFill>
          <a:ln w="12700">
            <a:solidFill>
              <a:srgbClr val="C0392B"/>
            </a:solidFill>
            <a:prstDash val="solid"/>
          </a:ln>
        </p:spPr>
      </p:sp>
      <p:sp>
        <p:nvSpPr>
          <p:cNvPr id="31" name="Shape 29"/>
          <p:cNvSpPr/>
          <p:nvPr/>
        </p:nvSpPr>
        <p:spPr>
          <a:xfrm>
            <a:off x="292608" y="3474720"/>
            <a:ext cx="109728" cy="658368"/>
          </a:xfrm>
          <a:prstGeom prst="rect">
            <a:avLst/>
          </a:prstGeom>
          <a:solidFill>
            <a:srgbClr val="C0392B"/>
          </a:solidFill>
          <a:ln w="12700">
            <a:solidFill>
              <a:srgbClr val="C0392B"/>
            </a:solidFill>
            <a:prstDash val="solid"/>
          </a:ln>
        </p:spPr>
      </p:sp>
      <p:sp>
        <p:nvSpPr>
          <p:cNvPr id="32" name="Shape 30"/>
          <p:cNvSpPr/>
          <p:nvPr/>
        </p:nvSpPr>
        <p:spPr>
          <a:xfrm>
            <a:off x="457200" y="3593592"/>
            <a:ext cx="402336" cy="402336"/>
          </a:xfrm>
          <a:prstGeom prst="ellipse">
            <a:avLst/>
          </a:prstGeom>
          <a:solidFill>
            <a:srgbClr val="C0392B"/>
          </a:solidFill>
          <a:ln w="12700">
            <a:solidFill>
              <a:srgbClr val="C0392B"/>
            </a:solidFill>
            <a:prstDash val="solid"/>
          </a:ln>
        </p:spPr>
      </p:sp>
      <p:sp>
        <p:nvSpPr>
          <p:cNvPr id="33" name="Text 31"/>
          <p:cNvSpPr/>
          <p:nvPr/>
        </p:nvSpPr>
        <p:spPr>
          <a:xfrm>
            <a:off x="457200" y="3593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4" name="Text 32"/>
          <p:cNvSpPr/>
          <p:nvPr/>
        </p:nvSpPr>
        <p:spPr>
          <a:xfrm>
            <a:off x="969264" y="3566160"/>
            <a:ext cx="1280160" cy="45720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Anomaly Detect</a:t>
            </a:r>
            <a:endParaRPr lang="en-US" sz="1400" dirty="0"/>
          </a:p>
        </p:txBody>
      </p:sp>
      <p:sp>
        <p:nvSpPr>
          <p:cNvPr id="35" name="Text 33"/>
          <p:cNvSpPr/>
          <p:nvPr/>
        </p:nvSpPr>
        <p:spPr>
          <a:xfrm>
            <a:off x="2331720" y="3566160"/>
            <a:ext cx="1645920" cy="457200"/>
          </a:xfrm>
          <a:prstGeom prst="rect">
            <a:avLst/>
          </a:prstGeom>
          <a:noFill/>
          <a:ln/>
        </p:spPr>
        <p:txBody>
          <a:bodyPr wrap="square" lIns="0" tIns="0" rIns="0" bIns="0" rtlCol="0" anchor="ctr"/>
          <a:lstStyle/>
          <a:p>
            <a:pPr indent="0" marL="0">
              <a:buNone/>
            </a:pPr>
            <a:r>
              <a:rPr lang="en-US" sz="1200" i="1" dirty="0">
                <a:solidFill>
                  <a:srgbClr val="C0392B"/>
                </a:solidFill>
              </a:rPr>
              <a:t>What's unusual?</a:t>
            </a:r>
            <a:endParaRPr lang="en-US" sz="1200" dirty="0"/>
          </a:p>
        </p:txBody>
      </p:sp>
      <p:sp>
        <p:nvSpPr>
          <p:cNvPr id="36" name="Text 34"/>
          <p:cNvSpPr/>
          <p:nvPr/>
        </p:nvSpPr>
        <p:spPr>
          <a:xfrm>
            <a:off x="4041648" y="3566160"/>
            <a:ext cx="2926080" cy="457200"/>
          </a:xfrm>
          <a:prstGeom prst="rect">
            <a:avLst/>
          </a:prstGeom>
          <a:noFill/>
          <a:ln/>
        </p:spPr>
        <p:txBody>
          <a:bodyPr wrap="square" lIns="0" tIns="0" rIns="0" bIns="0" rtlCol="0" anchor="ctr"/>
          <a:lstStyle/>
          <a:p>
            <a:pPr indent="0" marL="0">
              <a:buNone/>
            </a:pPr>
            <a:r>
              <a:rPr lang="en-US" sz="1100" dirty="0">
                <a:solidFill>
                  <a:srgbClr val="4A5568"/>
                </a:solidFill>
              </a:rPr>
              <a:t>BSA/AML, system health, behavioral drift</a:t>
            </a:r>
            <a:endParaRPr lang="en-US" sz="1100" dirty="0"/>
          </a:p>
        </p:txBody>
      </p:sp>
      <p:sp>
        <p:nvSpPr>
          <p:cNvPr id="37" name="Text 35"/>
          <p:cNvSpPr/>
          <p:nvPr/>
        </p:nvSpPr>
        <p:spPr>
          <a:xfrm>
            <a:off x="7040880" y="3566160"/>
            <a:ext cx="1737360" cy="457200"/>
          </a:xfrm>
          <a:prstGeom prst="rect">
            <a:avLst/>
          </a:prstGeom>
          <a:noFill/>
          <a:ln/>
        </p:spPr>
        <p:txBody>
          <a:bodyPr wrap="square" lIns="0" tIns="0" rIns="0" bIns="0" rtlCol="0" anchor="ctr"/>
          <a:lstStyle/>
          <a:p>
            <a:pPr indent="0" marL="0">
              <a:buNone/>
            </a:pPr>
            <a:r>
              <a:rPr lang="en-US" sz="950" i="1" dirty="0">
                <a:solidFill>
                  <a:srgbClr val="888888"/>
                </a:solidFill>
              </a:rPr>
              <a:t>Precision @ k · Alert rate</a:t>
            </a:r>
            <a:endParaRPr lang="en-US" sz="950" dirty="0"/>
          </a:p>
        </p:txBody>
      </p:sp>
      <p:sp>
        <p:nvSpPr>
          <p:cNvPr id="38" name="Shape 36"/>
          <p:cNvSpPr/>
          <p:nvPr/>
        </p:nvSpPr>
        <p:spPr>
          <a:xfrm>
            <a:off x="292608" y="4224528"/>
            <a:ext cx="8558784" cy="658368"/>
          </a:xfrm>
          <a:prstGeom prst="rect">
            <a:avLst/>
          </a:prstGeom>
          <a:solidFill>
            <a:srgbClr val="F5F0FF"/>
          </a:solidFill>
          <a:ln w="12700">
            <a:solidFill>
              <a:srgbClr val="9B59B6"/>
            </a:solidFill>
            <a:prstDash val="solid"/>
          </a:ln>
        </p:spPr>
      </p:sp>
      <p:sp>
        <p:nvSpPr>
          <p:cNvPr id="39" name="Shape 37"/>
          <p:cNvSpPr/>
          <p:nvPr/>
        </p:nvSpPr>
        <p:spPr>
          <a:xfrm>
            <a:off x="292608" y="4224528"/>
            <a:ext cx="109728" cy="658368"/>
          </a:xfrm>
          <a:prstGeom prst="rect">
            <a:avLst/>
          </a:prstGeom>
          <a:solidFill>
            <a:srgbClr val="9B59B6"/>
          </a:solidFill>
          <a:ln w="12700">
            <a:solidFill>
              <a:srgbClr val="9B59B6"/>
            </a:solidFill>
            <a:prstDash val="solid"/>
          </a:ln>
        </p:spPr>
      </p:sp>
      <p:sp>
        <p:nvSpPr>
          <p:cNvPr id="40" name="Shape 38"/>
          <p:cNvSpPr/>
          <p:nvPr/>
        </p:nvSpPr>
        <p:spPr>
          <a:xfrm>
            <a:off x="457200" y="4343400"/>
            <a:ext cx="402336" cy="402336"/>
          </a:xfrm>
          <a:prstGeom prst="ellipse">
            <a:avLst/>
          </a:prstGeom>
          <a:solidFill>
            <a:srgbClr val="9B59B6"/>
          </a:solidFill>
          <a:ln w="12700">
            <a:solidFill>
              <a:srgbClr val="9B59B6"/>
            </a:solidFill>
            <a:prstDash val="solid"/>
          </a:ln>
        </p:spPr>
      </p:sp>
      <p:sp>
        <p:nvSpPr>
          <p:cNvPr id="41" name="Text 39"/>
          <p:cNvSpPr/>
          <p:nvPr/>
        </p:nvSpPr>
        <p:spPr>
          <a:xfrm>
            <a:off x="457200" y="43434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42" name="Text 40"/>
          <p:cNvSpPr/>
          <p:nvPr/>
        </p:nvSpPr>
        <p:spPr>
          <a:xfrm>
            <a:off x="969264" y="4315968"/>
            <a:ext cx="1280160" cy="45720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Rank</a:t>
            </a:r>
            <a:endParaRPr lang="en-US" sz="1400" dirty="0"/>
          </a:p>
        </p:txBody>
      </p:sp>
      <p:sp>
        <p:nvSpPr>
          <p:cNvPr id="43" name="Text 41"/>
          <p:cNvSpPr/>
          <p:nvPr/>
        </p:nvSpPr>
        <p:spPr>
          <a:xfrm>
            <a:off x="2331720" y="4315968"/>
            <a:ext cx="1645920" cy="457200"/>
          </a:xfrm>
          <a:prstGeom prst="rect">
            <a:avLst/>
          </a:prstGeom>
          <a:noFill/>
          <a:ln/>
        </p:spPr>
        <p:txBody>
          <a:bodyPr wrap="square" lIns="0" tIns="0" rIns="0" bIns="0" rtlCol="0" anchor="ctr"/>
          <a:lstStyle/>
          <a:p>
            <a:pPr indent="0" marL="0">
              <a:buNone/>
            </a:pPr>
            <a:r>
              <a:rPr lang="en-US" sz="1200" i="1" dirty="0">
                <a:solidFill>
                  <a:srgbClr val="9B59B6"/>
                </a:solidFill>
              </a:rPr>
              <a:t>What matters most?</a:t>
            </a:r>
            <a:endParaRPr lang="en-US" sz="1200" dirty="0"/>
          </a:p>
        </p:txBody>
      </p:sp>
      <p:sp>
        <p:nvSpPr>
          <p:cNvPr id="44" name="Text 42"/>
          <p:cNvSpPr/>
          <p:nvPr/>
        </p:nvSpPr>
        <p:spPr>
          <a:xfrm>
            <a:off x="4041648" y="4315968"/>
            <a:ext cx="2926080" cy="457200"/>
          </a:xfrm>
          <a:prstGeom prst="rect">
            <a:avLst/>
          </a:prstGeom>
          <a:noFill/>
          <a:ln/>
        </p:spPr>
        <p:txBody>
          <a:bodyPr wrap="square" lIns="0" tIns="0" rIns="0" bIns="0" rtlCol="0" anchor="ctr"/>
          <a:lstStyle/>
          <a:p>
            <a:pPr indent="0" marL="0">
              <a:buNone/>
            </a:pPr>
            <a:r>
              <a:rPr lang="en-US" sz="1100" dirty="0">
                <a:solidFill>
                  <a:srgbClr val="4A5568"/>
                </a:solidFill>
              </a:rPr>
              <a:t>Product recommendations, offer prioritization</a:t>
            </a:r>
            <a:endParaRPr lang="en-US" sz="1100" dirty="0"/>
          </a:p>
        </p:txBody>
      </p:sp>
      <p:sp>
        <p:nvSpPr>
          <p:cNvPr id="45" name="Text 43"/>
          <p:cNvSpPr/>
          <p:nvPr/>
        </p:nvSpPr>
        <p:spPr>
          <a:xfrm>
            <a:off x="7040880" y="4315968"/>
            <a:ext cx="1737360" cy="457200"/>
          </a:xfrm>
          <a:prstGeom prst="rect">
            <a:avLst/>
          </a:prstGeom>
          <a:noFill/>
          <a:ln/>
        </p:spPr>
        <p:txBody>
          <a:bodyPr wrap="square" lIns="0" tIns="0" rIns="0" bIns="0" rtlCol="0" anchor="ctr"/>
          <a:lstStyle/>
          <a:p>
            <a:pPr indent="0" marL="0">
              <a:buNone/>
            </a:pPr>
            <a:r>
              <a:rPr lang="en-US" sz="950" i="1" dirty="0">
                <a:solidFill>
                  <a:srgbClr val="888888"/>
                </a:solidFill>
              </a:rPr>
              <a:t>NDCG · MRR · Click-through</a:t>
            </a:r>
            <a:endParaRPr lang="en-US" sz="950" dirty="0"/>
          </a:p>
        </p:txBody>
      </p:sp>
      <p:sp>
        <p:nvSpPr>
          <p:cNvPr id="47" name="Text 44"/>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D4E"/>
          </a:solidFill>
          <a:ln w="12700">
            <a:solidFill>
              <a:srgbClr val="1E2D4E"/>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THE ALGORITHMS — INTERCHANGEABLE INGREDIENTS, NOT THE RECIPE</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438912"/>
          </a:xfrm>
          <a:prstGeom prst="rect">
            <a:avLst/>
          </a:prstGeom>
          <a:noFill/>
          <a:ln/>
        </p:spPr>
        <p:txBody>
          <a:bodyPr wrap="square" lIns="0" tIns="0" rIns="0" bIns="0" rtlCol="0" anchor="ctr"/>
          <a:lstStyle/>
          <a:p>
            <a:pPr indent="0" marL="0">
              <a:buNone/>
            </a:pPr>
            <a:r>
              <a:rPr lang="en-US" sz="1700" i="1" dirty="0">
                <a:solidFill>
                  <a:srgbClr val="1A2535"/>
                </a:solidFill>
                <a:latin typeface="Georgia" pitchFamily="34" charset="0"/>
                <a:ea typeface="Georgia" pitchFamily="34" charset="-122"/>
                <a:cs typeface="Georgia" pitchFamily="34" charset="-120"/>
              </a:rPr>
              <a:t>Chefs don't argue about whether to use a knife or a cleaver. They argue about what to cook.</a:t>
            </a:r>
            <a:endParaRPr lang="en-US" sz="1700" dirty="0"/>
          </a:p>
        </p:txBody>
      </p:sp>
      <p:sp>
        <p:nvSpPr>
          <p:cNvPr id="6" name="Shape 4"/>
          <p:cNvSpPr/>
          <p:nvPr/>
        </p:nvSpPr>
        <p:spPr>
          <a:xfrm>
            <a:off x="320040" y="1207008"/>
            <a:ext cx="4114800" cy="1737360"/>
          </a:xfrm>
          <a:prstGeom prst="rect">
            <a:avLst/>
          </a:prstGeom>
          <a:solidFill>
            <a:srgbClr val="EAF4FD"/>
          </a:solidFill>
          <a:ln w="12700">
            <a:solidFill>
              <a:srgbClr val="028090"/>
            </a:solidFill>
            <a:prstDash val="solid"/>
          </a:ln>
          <a:effectLst>
            <a:outerShdw sx="100000" sy="100000" kx="0" ky="0" algn="bl" rotWithShape="0" blurRad="63500" dist="25400" dir="8100000">
              <a:srgbClr val="000000">
                <a:alpha val="8000"/>
              </a:srgbClr>
            </a:outerShdw>
          </a:effectLst>
        </p:spPr>
      </p:sp>
      <p:sp>
        <p:nvSpPr>
          <p:cNvPr id="7" name="Shape 5"/>
          <p:cNvSpPr/>
          <p:nvPr/>
        </p:nvSpPr>
        <p:spPr>
          <a:xfrm>
            <a:off x="320040" y="1207008"/>
            <a:ext cx="4114800" cy="91440"/>
          </a:xfrm>
          <a:prstGeom prst="rect">
            <a:avLst/>
          </a:prstGeom>
          <a:solidFill>
            <a:srgbClr val="028090"/>
          </a:solidFill>
          <a:ln w="12700">
            <a:solidFill>
              <a:srgbClr val="028090"/>
            </a:solidFill>
            <a:prstDash val="solid"/>
          </a:ln>
        </p:spPr>
      </p:sp>
      <p:sp>
        <p:nvSpPr>
          <p:cNvPr id="8" name="Text 6"/>
          <p:cNvSpPr/>
          <p:nvPr/>
        </p:nvSpPr>
        <p:spPr>
          <a:xfrm>
            <a:off x="457200" y="1344168"/>
            <a:ext cx="3840480" cy="50292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Linear &amp; Logistic</a:t>
            </a:r>
            <a:endParaRPr lang="en-US" sz="1400" dirty="0"/>
          </a:p>
          <a:p>
            <a:pPr indent="0" marL="0">
              <a:buNone/>
            </a:pPr>
            <a:r>
              <a:rPr lang="en-US" sz="1400" b="1" dirty="0">
                <a:solidFill>
                  <a:srgbClr val="1A2535"/>
                </a:solidFill>
                <a:latin typeface="Georgia" pitchFamily="34" charset="0"/>
                <a:ea typeface="Georgia" pitchFamily="34" charset="-122"/>
                <a:cs typeface="Georgia" pitchFamily="34" charset="-120"/>
              </a:rPr>
              <a:t>Regression</a:t>
            </a:r>
            <a:endParaRPr lang="en-US" sz="1400" dirty="0"/>
          </a:p>
        </p:txBody>
      </p:sp>
      <p:sp>
        <p:nvSpPr>
          <p:cNvPr id="9" name="Shape 7"/>
          <p:cNvSpPr/>
          <p:nvPr/>
        </p:nvSpPr>
        <p:spPr>
          <a:xfrm>
            <a:off x="457200" y="1865376"/>
            <a:ext cx="3840480" cy="27432"/>
          </a:xfrm>
          <a:prstGeom prst="rect">
            <a:avLst/>
          </a:prstGeom>
          <a:solidFill>
            <a:srgbClr val="CCCCCC"/>
          </a:solidFill>
          <a:ln w="12700">
            <a:solidFill>
              <a:srgbClr val="CCCCCC"/>
            </a:solidFill>
            <a:prstDash val="solid"/>
          </a:ln>
        </p:spPr>
      </p:sp>
      <p:sp>
        <p:nvSpPr>
          <p:cNvPr id="10" name="Text 8"/>
          <p:cNvSpPr/>
          <p:nvPr/>
        </p:nvSpPr>
        <p:spPr>
          <a:xfrm>
            <a:off x="457200" y="1920240"/>
            <a:ext cx="3840480" cy="256032"/>
          </a:xfrm>
          <a:prstGeom prst="rect">
            <a:avLst/>
          </a:prstGeom>
          <a:noFill/>
          <a:ln/>
        </p:spPr>
        <p:txBody>
          <a:bodyPr wrap="square" lIns="0" tIns="0" rIns="0" bIns="0" rtlCol="0" anchor="ctr"/>
          <a:lstStyle/>
          <a:p>
            <a:pPr indent="0" marL="0">
              <a:buNone/>
            </a:pPr>
            <a:r>
              <a:rPr lang="en-US" sz="1100" b="1" dirty="0">
                <a:solidFill>
                  <a:srgbClr val="028090"/>
                </a:solidFill>
              </a:rPr>
              <a:t>✓  </a:t>
            </a:r>
            <a:pPr indent="0" marL="0">
              <a:buNone/>
            </a:pPr>
            <a:r>
              <a:rPr lang="en-US" sz="1100" dirty="0">
                <a:solidFill>
                  <a:srgbClr val="1A2535"/>
                </a:solidFill>
              </a:rPr>
              <a:t>Transparent, fast, calibrated</a:t>
            </a:r>
            <a:endParaRPr lang="en-US" sz="1100" dirty="0"/>
          </a:p>
        </p:txBody>
      </p:sp>
      <p:sp>
        <p:nvSpPr>
          <p:cNvPr id="11" name="Text 9"/>
          <p:cNvSpPr/>
          <p:nvPr/>
        </p:nvSpPr>
        <p:spPr>
          <a:xfrm>
            <a:off x="457200" y="2176272"/>
            <a:ext cx="3840480" cy="256032"/>
          </a:xfrm>
          <a:prstGeom prst="rect">
            <a:avLst/>
          </a:prstGeom>
          <a:noFill/>
          <a:ln/>
        </p:spPr>
        <p:txBody>
          <a:bodyPr wrap="square" lIns="0" tIns="0" rIns="0" bIns="0" rtlCol="0" anchor="ctr"/>
          <a:lstStyle/>
          <a:p>
            <a:pPr indent="0" marL="0">
              <a:buNone/>
            </a:pPr>
            <a:r>
              <a:rPr lang="en-US" sz="1100" b="1" dirty="0">
                <a:solidFill>
                  <a:srgbClr val="C0392B"/>
                </a:solidFill>
              </a:rPr>
              <a:t>✗  </a:t>
            </a:r>
            <a:pPr indent="0" marL="0">
              <a:buNone/>
            </a:pPr>
            <a:r>
              <a:rPr lang="en-US" sz="1100" dirty="0">
                <a:solidFill>
                  <a:srgbClr val="4A5568"/>
                </a:solidFill>
              </a:rPr>
              <a:t>Misses non-linear relationships</a:t>
            </a:r>
            <a:endParaRPr lang="en-US" sz="1100" dirty="0"/>
          </a:p>
        </p:txBody>
      </p:sp>
      <p:sp>
        <p:nvSpPr>
          <p:cNvPr id="12" name="Text 10"/>
          <p:cNvSpPr/>
          <p:nvPr/>
        </p:nvSpPr>
        <p:spPr>
          <a:xfrm>
            <a:off x="457200" y="2432304"/>
            <a:ext cx="3840480" cy="402336"/>
          </a:xfrm>
          <a:prstGeom prst="rect">
            <a:avLst/>
          </a:prstGeom>
          <a:noFill/>
          <a:ln/>
        </p:spPr>
        <p:txBody>
          <a:bodyPr wrap="square" lIns="0" tIns="0" rIns="0" bIns="0" rtlCol="0" anchor="ctr"/>
          <a:lstStyle/>
          <a:p>
            <a:pPr indent="0" marL="0">
              <a:buNone/>
            </a:pPr>
            <a:r>
              <a:rPr lang="en-US" sz="1050" b="1" dirty="0">
                <a:solidFill>
                  <a:srgbClr val="028090"/>
                </a:solidFill>
              </a:rPr>
              <a:t>▶  </a:t>
            </a:r>
            <a:pPr indent="0" marL="0">
              <a:buNone/>
            </a:pPr>
            <a:r>
              <a:rPr lang="en-US" sz="1050" i="1" dirty="0">
                <a:solidFill>
                  <a:srgbClr val="4A5568"/>
                </a:solidFill>
              </a:rPr>
              <a:t>Baseline, regulated models, explainability required</a:t>
            </a:r>
            <a:endParaRPr lang="en-US" sz="1050" dirty="0"/>
          </a:p>
        </p:txBody>
      </p:sp>
      <p:sp>
        <p:nvSpPr>
          <p:cNvPr id="13" name="Shape 11"/>
          <p:cNvSpPr/>
          <p:nvPr/>
        </p:nvSpPr>
        <p:spPr>
          <a:xfrm>
            <a:off x="4709160" y="1207008"/>
            <a:ext cx="4114800" cy="1737360"/>
          </a:xfrm>
          <a:prstGeom prst="rect">
            <a:avLst/>
          </a:prstGeom>
          <a:solidFill>
            <a:srgbClr val="EDFAF4"/>
          </a:solidFill>
          <a:ln w="12700">
            <a:solidFill>
              <a:srgbClr val="27AE6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4709160" y="1207008"/>
            <a:ext cx="4114800" cy="91440"/>
          </a:xfrm>
          <a:prstGeom prst="rect">
            <a:avLst/>
          </a:prstGeom>
          <a:solidFill>
            <a:srgbClr val="27AE60"/>
          </a:solidFill>
          <a:ln w="12700">
            <a:solidFill>
              <a:srgbClr val="27AE60"/>
            </a:solidFill>
            <a:prstDash val="solid"/>
          </a:ln>
        </p:spPr>
      </p:sp>
      <p:sp>
        <p:nvSpPr>
          <p:cNvPr id="15" name="Text 13"/>
          <p:cNvSpPr/>
          <p:nvPr/>
        </p:nvSpPr>
        <p:spPr>
          <a:xfrm>
            <a:off x="4846320" y="1344168"/>
            <a:ext cx="3840480" cy="50292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Decision Trees</a:t>
            </a:r>
            <a:endParaRPr lang="en-US" sz="1400" dirty="0"/>
          </a:p>
          <a:p>
            <a:pPr indent="0" marL="0">
              <a:buNone/>
            </a:pPr>
            <a:r>
              <a:rPr lang="en-US" sz="1400" b="1" dirty="0">
                <a:solidFill>
                  <a:srgbClr val="1A2535"/>
                </a:solidFill>
                <a:latin typeface="Georgia" pitchFamily="34" charset="0"/>
                <a:ea typeface="Georgia" pitchFamily="34" charset="-122"/>
                <a:cs typeface="Georgia" pitchFamily="34" charset="-120"/>
              </a:rPr>
              <a:t>&amp; Random Forest</a:t>
            </a:r>
            <a:endParaRPr lang="en-US" sz="1400" dirty="0"/>
          </a:p>
        </p:txBody>
      </p:sp>
      <p:sp>
        <p:nvSpPr>
          <p:cNvPr id="16" name="Shape 14"/>
          <p:cNvSpPr/>
          <p:nvPr/>
        </p:nvSpPr>
        <p:spPr>
          <a:xfrm>
            <a:off x="4846320" y="1865376"/>
            <a:ext cx="3840480" cy="27432"/>
          </a:xfrm>
          <a:prstGeom prst="rect">
            <a:avLst/>
          </a:prstGeom>
          <a:solidFill>
            <a:srgbClr val="CCCCCC"/>
          </a:solidFill>
          <a:ln w="12700">
            <a:solidFill>
              <a:srgbClr val="CCCCCC"/>
            </a:solidFill>
            <a:prstDash val="solid"/>
          </a:ln>
        </p:spPr>
      </p:sp>
      <p:sp>
        <p:nvSpPr>
          <p:cNvPr id="17" name="Text 15"/>
          <p:cNvSpPr/>
          <p:nvPr/>
        </p:nvSpPr>
        <p:spPr>
          <a:xfrm>
            <a:off x="4846320" y="1920240"/>
            <a:ext cx="3840480" cy="256032"/>
          </a:xfrm>
          <a:prstGeom prst="rect">
            <a:avLst/>
          </a:prstGeom>
          <a:noFill/>
          <a:ln/>
        </p:spPr>
        <p:txBody>
          <a:bodyPr wrap="square" lIns="0" tIns="0" rIns="0" bIns="0" rtlCol="0" anchor="ctr"/>
          <a:lstStyle/>
          <a:p>
            <a:pPr indent="0" marL="0">
              <a:buNone/>
            </a:pPr>
            <a:r>
              <a:rPr lang="en-US" sz="1100" b="1" dirty="0">
                <a:solidFill>
                  <a:srgbClr val="27AE60"/>
                </a:solidFill>
              </a:rPr>
              <a:t>✓  </a:t>
            </a:r>
            <a:pPr indent="0" marL="0">
              <a:buNone/>
            </a:pPr>
            <a:r>
              <a:rPr lang="en-US" sz="1100" dirty="0">
                <a:solidFill>
                  <a:srgbClr val="1A2535"/>
                </a:solidFill>
              </a:rPr>
              <a:t>Interpretable, handles mixed data</a:t>
            </a:r>
            <a:endParaRPr lang="en-US" sz="1100" dirty="0"/>
          </a:p>
        </p:txBody>
      </p:sp>
      <p:sp>
        <p:nvSpPr>
          <p:cNvPr id="18" name="Text 16"/>
          <p:cNvSpPr/>
          <p:nvPr/>
        </p:nvSpPr>
        <p:spPr>
          <a:xfrm>
            <a:off x="4846320" y="2176272"/>
            <a:ext cx="3840480" cy="256032"/>
          </a:xfrm>
          <a:prstGeom prst="rect">
            <a:avLst/>
          </a:prstGeom>
          <a:noFill/>
          <a:ln/>
        </p:spPr>
        <p:txBody>
          <a:bodyPr wrap="square" lIns="0" tIns="0" rIns="0" bIns="0" rtlCol="0" anchor="ctr"/>
          <a:lstStyle/>
          <a:p>
            <a:pPr indent="0" marL="0">
              <a:buNone/>
            </a:pPr>
            <a:r>
              <a:rPr lang="en-US" sz="1100" b="1" dirty="0">
                <a:solidFill>
                  <a:srgbClr val="C0392B"/>
                </a:solidFill>
              </a:rPr>
              <a:t>✗  </a:t>
            </a:r>
            <a:pPr indent="0" marL="0">
              <a:buNone/>
            </a:pPr>
            <a:r>
              <a:rPr lang="en-US" sz="1100" dirty="0">
                <a:solidFill>
                  <a:srgbClr val="4A5568"/>
                </a:solidFill>
              </a:rPr>
              <a:t>Can overfit without tuning</a:t>
            </a:r>
            <a:endParaRPr lang="en-US" sz="1100" dirty="0"/>
          </a:p>
        </p:txBody>
      </p:sp>
      <p:sp>
        <p:nvSpPr>
          <p:cNvPr id="19" name="Text 17"/>
          <p:cNvSpPr/>
          <p:nvPr/>
        </p:nvSpPr>
        <p:spPr>
          <a:xfrm>
            <a:off x="4846320" y="2432304"/>
            <a:ext cx="3840480" cy="402336"/>
          </a:xfrm>
          <a:prstGeom prst="rect">
            <a:avLst/>
          </a:prstGeom>
          <a:noFill/>
          <a:ln/>
        </p:spPr>
        <p:txBody>
          <a:bodyPr wrap="square" lIns="0" tIns="0" rIns="0" bIns="0" rtlCol="0" anchor="ctr"/>
          <a:lstStyle/>
          <a:p>
            <a:pPr indent="0" marL="0">
              <a:buNone/>
            </a:pPr>
            <a:r>
              <a:rPr lang="en-US" sz="1050" b="1" dirty="0">
                <a:solidFill>
                  <a:srgbClr val="27AE60"/>
                </a:solidFill>
              </a:rPr>
              <a:t>▶  </a:t>
            </a:r>
            <a:pPr indent="0" marL="0">
              <a:buNone/>
            </a:pPr>
            <a:r>
              <a:rPr lang="en-US" sz="1050" i="1" dirty="0">
                <a:solidFill>
                  <a:srgbClr val="4A5568"/>
                </a:solidFill>
              </a:rPr>
              <a:t>Audit trails, feature discovery, mid-complexity problems</a:t>
            </a:r>
            <a:endParaRPr lang="en-US" sz="1050" dirty="0"/>
          </a:p>
        </p:txBody>
      </p:sp>
      <p:sp>
        <p:nvSpPr>
          <p:cNvPr id="20" name="Shape 18"/>
          <p:cNvSpPr/>
          <p:nvPr/>
        </p:nvSpPr>
        <p:spPr>
          <a:xfrm>
            <a:off x="320040" y="3127248"/>
            <a:ext cx="4114800" cy="1737360"/>
          </a:xfrm>
          <a:prstGeom prst="rect">
            <a:avLst/>
          </a:prstGeom>
          <a:solidFill>
            <a:srgbClr val="FFF4EB"/>
          </a:solidFill>
          <a:ln w="12700">
            <a:solidFill>
              <a:srgbClr val="E67E22"/>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320040" y="3127248"/>
            <a:ext cx="4114800" cy="91440"/>
          </a:xfrm>
          <a:prstGeom prst="rect">
            <a:avLst/>
          </a:prstGeom>
          <a:solidFill>
            <a:srgbClr val="E67E22"/>
          </a:solidFill>
          <a:ln w="12700">
            <a:solidFill>
              <a:srgbClr val="E67E22"/>
            </a:solidFill>
            <a:prstDash val="solid"/>
          </a:ln>
        </p:spPr>
      </p:sp>
      <p:sp>
        <p:nvSpPr>
          <p:cNvPr id="22" name="Text 20"/>
          <p:cNvSpPr/>
          <p:nvPr/>
        </p:nvSpPr>
        <p:spPr>
          <a:xfrm>
            <a:off x="457200" y="3264408"/>
            <a:ext cx="3840480" cy="50292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Gradient Boosting</a:t>
            </a:r>
            <a:endParaRPr lang="en-US" sz="1400" dirty="0"/>
          </a:p>
          <a:p>
            <a:pPr indent="0" marL="0">
              <a:buNone/>
            </a:pPr>
            <a:r>
              <a:rPr lang="en-US" sz="1400" b="1" dirty="0">
                <a:solidFill>
                  <a:srgbClr val="1A2535"/>
                </a:solidFill>
                <a:latin typeface="Georgia" pitchFamily="34" charset="0"/>
                <a:ea typeface="Georgia" pitchFamily="34" charset="-122"/>
                <a:cs typeface="Georgia" pitchFamily="34" charset="-120"/>
              </a:rPr>
              <a:t>XGBoost · CatBoost</a:t>
            </a:r>
            <a:endParaRPr lang="en-US" sz="1400" dirty="0"/>
          </a:p>
        </p:txBody>
      </p:sp>
      <p:sp>
        <p:nvSpPr>
          <p:cNvPr id="23" name="Shape 21"/>
          <p:cNvSpPr/>
          <p:nvPr/>
        </p:nvSpPr>
        <p:spPr>
          <a:xfrm>
            <a:off x="457200" y="3785616"/>
            <a:ext cx="3840480" cy="27432"/>
          </a:xfrm>
          <a:prstGeom prst="rect">
            <a:avLst/>
          </a:prstGeom>
          <a:solidFill>
            <a:srgbClr val="CCCCCC"/>
          </a:solidFill>
          <a:ln w="12700">
            <a:solidFill>
              <a:srgbClr val="CCCCCC"/>
            </a:solidFill>
            <a:prstDash val="solid"/>
          </a:ln>
        </p:spPr>
      </p:sp>
      <p:sp>
        <p:nvSpPr>
          <p:cNvPr id="24" name="Text 22"/>
          <p:cNvSpPr/>
          <p:nvPr/>
        </p:nvSpPr>
        <p:spPr>
          <a:xfrm>
            <a:off x="457200" y="3840480"/>
            <a:ext cx="3840480" cy="256032"/>
          </a:xfrm>
          <a:prstGeom prst="rect">
            <a:avLst/>
          </a:prstGeom>
          <a:noFill/>
          <a:ln/>
        </p:spPr>
        <p:txBody>
          <a:bodyPr wrap="square" lIns="0" tIns="0" rIns="0" bIns="0" rtlCol="0" anchor="ctr"/>
          <a:lstStyle/>
          <a:p>
            <a:pPr indent="0" marL="0">
              <a:buNone/>
            </a:pPr>
            <a:r>
              <a:rPr lang="en-US" sz="1100" b="1" dirty="0">
                <a:solidFill>
                  <a:srgbClr val="E67E22"/>
                </a:solidFill>
              </a:rPr>
              <a:t>✓  </a:t>
            </a:r>
            <a:pPr indent="0" marL="0">
              <a:buNone/>
            </a:pPr>
            <a:r>
              <a:rPr lang="en-US" sz="1100" dirty="0">
                <a:solidFill>
                  <a:srgbClr val="1A2535"/>
                </a:solidFill>
              </a:rPr>
              <a:t>Best-in-class accuracy on tabular</a:t>
            </a:r>
            <a:endParaRPr lang="en-US" sz="1100" dirty="0"/>
          </a:p>
        </p:txBody>
      </p:sp>
      <p:sp>
        <p:nvSpPr>
          <p:cNvPr id="25" name="Text 23"/>
          <p:cNvSpPr/>
          <p:nvPr/>
        </p:nvSpPr>
        <p:spPr>
          <a:xfrm>
            <a:off x="457200" y="4096512"/>
            <a:ext cx="3840480" cy="256032"/>
          </a:xfrm>
          <a:prstGeom prst="rect">
            <a:avLst/>
          </a:prstGeom>
          <a:noFill/>
          <a:ln/>
        </p:spPr>
        <p:txBody>
          <a:bodyPr wrap="square" lIns="0" tIns="0" rIns="0" bIns="0" rtlCol="0" anchor="ctr"/>
          <a:lstStyle/>
          <a:p>
            <a:pPr indent="0" marL="0">
              <a:buNone/>
            </a:pPr>
            <a:r>
              <a:rPr lang="en-US" sz="1100" b="1" dirty="0">
                <a:solidFill>
                  <a:srgbClr val="C0392B"/>
                </a:solidFill>
              </a:rPr>
              <a:t>✗  </a:t>
            </a:r>
            <a:pPr indent="0" marL="0">
              <a:buNone/>
            </a:pPr>
            <a:r>
              <a:rPr lang="en-US" sz="1100" dirty="0">
                <a:solidFill>
                  <a:srgbClr val="4A5568"/>
                </a:solidFill>
              </a:rPr>
              <a:t>Needs careful evaluation / tuning</a:t>
            </a:r>
            <a:endParaRPr lang="en-US" sz="1100" dirty="0"/>
          </a:p>
        </p:txBody>
      </p:sp>
      <p:sp>
        <p:nvSpPr>
          <p:cNvPr id="26" name="Text 24"/>
          <p:cNvSpPr/>
          <p:nvPr/>
        </p:nvSpPr>
        <p:spPr>
          <a:xfrm>
            <a:off x="457200" y="4352544"/>
            <a:ext cx="3840480" cy="402336"/>
          </a:xfrm>
          <a:prstGeom prst="rect">
            <a:avLst/>
          </a:prstGeom>
          <a:noFill/>
          <a:ln/>
        </p:spPr>
        <p:txBody>
          <a:bodyPr wrap="square" lIns="0" tIns="0" rIns="0" bIns="0" rtlCol="0" anchor="ctr"/>
          <a:lstStyle/>
          <a:p>
            <a:pPr indent="0" marL="0">
              <a:buNone/>
            </a:pPr>
            <a:r>
              <a:rPr lang="en-US" sz="1050" b="1" dirty="0">
                <a:solidFill>
                  <a:srgbClr val="E67E22"/>
                </a:solidFill>
              </a:rPr>
              <a:t>▶  </a:t>
            </a:r>
            <a:pPr indent="0" marL="0">
              <a:buNone/>
            </a:pPr>
            <a:r>
              <a:rPr lang="en-US" sz="1050" i="1" dirty="0">
                <a:solidFill>
                  <a:srgbClr val="4A5568"/>
                </a:solidFill>
              </a:rPr>
              <a:t>Fraud, churn, credit risk — most production DS</a:t>
            </a:r>
            <a:endParaRPr lang="en-US" sz="1050" dirty="0"/>
          </a:p>
        </p:txBody>
      </p:sp>
      <p:sp>
        <p:nvSpPr>
          <p:cNvPr id="27" name="Shape 25"/>
          <p:cNvSpPr/>
          <p:nvPr/>
        </p:nvSpPr>
        <p:spPr>
          <a:xfrm>
            <a:off x="4709160" y="3127248"/>
            <a:ext cx="4114800" cy="1737360"/>
          </a:xfrm>
          <a:prstGeom prst="rect">
            <a:avLst/>
          </a:prstGeom>
          <a:solidFill>
            <a:srgbClr val="F5F0FF"/>
          </a:solidFill>
          <a:ln w="12700">
            <a:solidFill>
              <a:srgbClr val="9B59B6"/>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4709160" y="3127248"/>
            <a:ext cx="4114800" cy="91440"/>
          </a:xfrm>
          <a:prstGeom prst="rect">
            <a:avLst/>
          </a:prstGeom>
          <a:solidFill>
            <a:srgbClr val="9B59B6"/>
          </a:solidFill>
          <a:ln w="12700">
            <a:solidFill>
              <a:srgbClr val="9B59B6"/>
            </a:solidFill>
            <a:prstDash val="solid"/>
          </a:ln>
        </p:spPr>
      </p:sp>
      <p:sp>
        <p:nvSpPr>
          <p:cNvPr id="29" name="Text 27"/>
          <p:cNvSpPr/>
          <p:nvPr/>
        </p:nvSpPr>
        <p:spPr>
          <a:xfrm>
            <a:off x="4846320" y="3264408"/>
            <a:ext cx="3840480" cy="502920"/>
          </a:xfrm>
          <a:prstGeom prst="rect">
            <a:avLst/>
          </a:prstGeom>
          <a:noFill/>
          <a:ln/>
        </p:spPr>
        <p:txBody>
          <a:bodyPr wrap="square" lIns="0" tIns="0" rIns="0" bIns="0" rtlCol="0" anchor="ctr"/>
          <a:lstStyle/>
          <a:p>
            <a:pPr indent="0" marL="0">
              <a:buNone/>
            </a:pPr>
            <a:r>
              <a:rPr lang="en-US" sz="1400" b="1" dirty="0">
                <a:solidFill>
                  <a:srgbClr val="1A2535"/>
                </a:solidFill>
                <a:latin typeface="Georgia" pitchFamily="34" charset="0"/>
                <a:ea typeface="Georgia" pitchFamily="34" charset="-122"/>
                <a:cs typeface="Georgia" pitchFamily="34" charset="-120"/>
              </a:rPr>
              <a:t>Neural Networks</a:t>
            </a:r>
            <a:endParaRPr lang="en-US" sz="1400" dirty="0"/>
          </a:p>
          <a:p>
            <a:pPr indent="0" marL="0">
              <a:buNone/>
            </a:pPr>
            <a:r>
              <a:rPr lang="en-US" sz="1400" b="1" dirty="0">
                <a:solidFill>
                  <a:srgbClr val="1A2535"/>
                </a:solidFill>
                <a:latin typeface="Georgia" pitchFamily="34" charset="0"/>
                <a:ea typeface="Georgia" pitchFamily="34" charset="-122"/>
                <a:cs typeface="Georgia" pitchFamily="34" charset="-120"/>
              </a:rPr>
              <a:t>&amp; Transformers</a:t>
            </a:r>
            <a:endParaRPr lang="en-US" sz="1400" dirty="0"/>
          </a:p>
        </p:txBody>
      </p:sp>
      <p:sp>
        <p:nvSpPr>
          <p:cNvPr id="30" name="Shape 28"/>
          <p:cNvSpPr/>
          <p:nvPr/>
        </p:nvSpPr>
        <p:spPr>
          <a:xfrm>
            <a:off x="4846320" y="3785616"/>
            <a:ext cx="3840480" cy="27432"/>
          </a:xfrm>
          <a:prstGeom prst="rect">
            <a:avLst/>
          </a:prstGeom>
          <a:solidFill>
            <a:srgbClr val="CCCCCC"/>
          </a:solidFill>
          <a:ln w="12700">
            <a:solidFill>
              <a:srgbClr val="CCCCCC"/>
            </a:solidFill>
            <a:prstDash val="solid"/>
          </a:ln>
        </p:spPr>
      </p:sp>
      <p:sp>
        <p:nvSpPr>
          <p:cNvPr id="31" name="Text 29"/>
          <p:cNvSpPr/>
          <p:nvPr/>
        </p:nvSpPr>
        <p:spPr>
          <a:xfrm>
            <a:off x="4846320" y="3840480"/>
            <a:ext cx="3840480" cy="256032"/>
          </a:xfrm>
          <a:prstGeom prst="rect">
            <a:avLst/>
          </a:prstGeom>
          <a:noFill/>
          <a:ln/>
        </p:spPr>
        <p:txBody>
          <a:bodyPr wrap="square" lIns="0" tIns="0" rIns="0" bIns="0" rtlCol="0" anchor="ctr"/>
          <a:lstStyle/>
          <a:p>
            <a:pPr indent="0" marL="0">
              <a:buNone/>
            </a:pPr>
            <a:r>
              <a:rPr lang="en-US" sz="1100" b="1" dirty="0">
                <a:solidFill>
                  <a:srgbClr val="9B59B6"/>
                </a:solidFill>
              </a:rPr>
              <a:t>✓  </a:t>
            </a:r>
            <a:pPr indent="0" marL="0">
              <a:buNone/>
            </a:pPr>
            <a:r>
              <a:rPr lang="en-US" sz="1100" dirty="0">
                <a:solidFill>
                  <a:srgbClr val="1A2535"/>
                </a:solidFill>
              </a:rPr>
              <a:t>Handles images, text, sequences</a:t>
            </a:r>
            <a:endParaRPr lang="en-US" sz="1100" dirty="0"/>
          </a:p>
        </p:txBody>
      </p:sp>
      <p:sp>
        <p:nvSpPr>
          <p:cNvPr id="32" name="Text 30"/>
          <p:cNvSpPr/>
          <p:nvPr/>
        </p:nvSpPr>
        <p:spPr>
          <a:xfrm>
            <a:off x="4846320" y="4096512"/>
            <a:ext cx="3840480" cy="256032"/>
          </a:xfrm>
          <a:prstGeom prst="rect">
            <a:avLst/>
          </a:prstGeom>
          <a:noFill/>
          <a:ln/>
        </p:spPr>
        <p:txBody>
          <a:bodyPr wrap="square" lIns="0" tIns="0" rIns="0" bIns="0" rtlCol="0" anchor="ctr"/>
          <a:lstStyle/>
          <a:p>
            <a:pPr indent="0" marL="0">
              <a:buNone/>
            </a:pPr>
            <a:r>
              <a:rPr lang="en-US" sz="1100" b="1" dirty="0">
                <a:solidFill>
                  <a:srgbClr val="C0392B"/>
                </a:solidFill>
              </a:rPr>
              <a:t>✗  </a:t>
            </a:r>
            <a:pPr indent="0" marL="0">
              <a:buNone/>
            </a:pPr>
            <a:r>
              <a:rPr lang="en-US" sz="1100" dirty="0">
                <a:solidFill>
                  <a:srgbClr val="4A5568"/>
                </a:solidFill>
              </a:rPr>
              <a:t>Black box, requires massive data</a:t>
            </a:r>
            <a:endParaRPr lang="en-US" sz="1100" dirty="0"/>
          </a:p>
        </p:txBody>
      </p:sp>
      <p:sp>
        <p:nvSpPr>
          <p:cNvPr id="33" name="Text 31"/>
          <p:cNvSpPr/>
          <p:nvPr/>
        </p:nvSpPr>
        <p:spPr>
          <a:xfrm>
            <a:off x="4846320" y="4352544"/>
            <a:ext cx="3840480" cy="402336"/>
          </a:xfrm>
          <a:prstGeom prst="rect">
            <a:avLst/>
          </a:prstGeom>
          <a:noFill/>
          <a:ln/>
        </p:spPr>
        <p:txBody>
          <a:bodyPr wrap="square" lIns="0" tIns="0" rIns="0" bIns="0" rtlCol="0" anchor="ctr"/>
          <a:lstStyle/>
          <a:p>
            <a:pPr indent="0" marL="0">
              <a:buNone/>
            </a:pPr>
            <a:r>
              <a:rPr lang="en-US" sz="1050" b="1" dirty="0">
                <a:solidFill>
                  <a:srgbClr val="9B59B6"/>
                </a:solidFill>
              </a:rPr>
              <a:t>▶  </a:t>
            </a:r>
            <a:pPr indent="0" marL="0">
              <a:buNone/>
            </a:pPr>
            <a:r>
              <a:rPr lang="en-US" sz="1050" i="1" dirty="0">
                <a:solidFill>
                  <a:srgbClr val="4A5568"/>
                </a:solidFill>
              </a:rPr>
              <a:t>LLM applications, document processing, embeddings</a:t>
            </a:r>
            <a:endParaRPr lang="en-US" sz="1050" dirty="0"/>
          </a:p>
        </p:txBody>
      </p:sp>
      <p:sp>
        <p:nvSpPr>
          <p:cNvPr id="34" name="Shape 32"/>
          <p:cNvSpPr/>
          <p:nvPr/>
        </p:nvSpPr>
        <p:spPr>
          <a:xfrm>
            <a:off x="0" y="4663440"/>
            <a:ext cx="9144000" cy="480060"/>
          </a:xfrm>
          <a:prstGeom prst="rect">
            <a:avLst/>
          </a:prstGeom>
          <a:solidFill>
            <a:srgbClr val="1E2D4E"/>
          </a:solidFill>
          <a:ln w="12700">
            <a:solidFill>
              <a:srgbClr val="1E2D4E"/>
            </a:solidFill>
            <a:prstDash val="solid"/>
          </a:ln>
        </p:spPr>
      </p:sp>
      <p:sp>
        <p:nvSpPr>
          <p:cNvPr id="35" name="Text 33"/>
          <p:cNvSpPr/>
          <p:nvPr/>
        </p:nvSpPr>
        <p:spPr>
          <a:xfrm>
            <a:off x="365760" y="4700016"/>
            <a:ext cx="8412480" cy="347472"/>
          </a:xfrm>
          <a:prstGeom prst="rect">
            <a:avLst/>
          </a:prstGeom>
          <a:noFill/>
          <a:ln/>
        </p:spPr>
        <p:txBody>
          <a:bodyPr wrap="square" lIns="0" tIns="0" rIns="0" bIns="0" rtlCol="0" anchor="ctr"/>
          <a:lstStyle/>
          <a:p>
            <a:pPr algn="ctr" indent="0" marL="0">
              <a:buNone/>
            </a:pPr>
            <a:r>
              <a:rPr lang="en-US" sz="1200" i="1" dirty="0">
                <a:solidFill>
                  <a:srgbClr val="02C39A"/>
                </a:solidFill>
              </a:rPr>
              <a:t>The algorithm is step 4 of 7. Getting steps 1–3 and 5–7 right matters more.</a:t>
            </a:r>
            <a:endParaRPr lang="en-US" sz="1200" dirty="0"/>
          </a:p>
        </p:txBody>
      </p:sp>
      <p:sp>
        <p:nvSpPr>
          <p:cNvPr id="37" name="Text 34"/>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8B4000"/>
          </a:solidFill>
          <a:ln w="12700">
            <a:solidFill>
              <a:srgbClr val="8B4000"/>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STEP 3: SAMPLING — WHAT YOU CHOOSE TO LEARN FROM</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40080"/>
            <a:ext cx="8321040" cy="658368"/>
          </a:xfrm>
          <a:prstGeom prst="rect">
            <a:avLst/>
          </a:prstGeom>
          <a:noFill/>
          <a:ln/>
        </p:spPr>
        <p:txBody>
          <a:bodyPr wrap="square" lIns="0" tIns="0" rIns="0" bIns="0" rtlCol="0" anchor="ctr"/>
          <a:lstStyle/>
          <a:p>
            <a:pPr indent="0" marL="0">
              <a:buNone/>
            </a:pPr>
            <a:r>
              <a:rPr lang="en-US" sz="1900" i="1" dirty="0">
                <a:solidFill>
                  <a:srgbClr val="1A2535"/>
                </a:solidFill>
                <a:latin typeface="Georgia" pitchFamily="34" charset="0"/>
                <a:ea typeface="Georgia" pitchFamily="34" charset="-122"/>
                <a:cs typeface="Georgia" pitchFamily="34" charset="-120"/>
              </a:rPr>
              <a:t>Before models. Before metrics. Before anything else —</a:t>
            </a:r>
            <a:endParaRPr lang="en-US" sz="1900" dirty="0"/>
          </a:p>
          <a:p>
            <a:pPr indent="0" marL="0">
              <a:buNone/>
            </a:pPr>
            <a:r>
              <a:rPr lang="en-US" sz="1900" i="1" dirty="0">
                <a:solidFill>
                  <a:srgbClr val="1A2535"/>
                </a:solidFill>
                <a:latin typeface="Georgia" pitchFamily="34" charset="0"/>
                <a:ea typeface="Georgia" pitchFamily="34" charset="-122"/>
                <a:cs typeface="Georgia" pitchFamily="34" charset="-120"/>
              </a:rPr>
              <a:t>what slice of reality did you show the algorithm?</a:t>
            </a:r>
            <a:endParaRPr lang="en-US" sz="1900" dirty="0"/>
          </a:p>
        </p:txBody>
      </p:sp>
      <p:sp>
        <p:nvSpPr>
          <p:cNvPr id="6" name="Shape 4"/>
          <p:cNvSpPr/>
          <p:nvPr/>
        </p:nvSpPr>
        <p:spPr>
          <a:xfrm>
            <a:off x="365760" y="1426464"/>
            <a:ext cx="3657600" cy="2926080"/>
          </a:xfrm>
          <a:prstGeom prst="rect">
            <a:avLst/>
          </a:prstGeom>
          <a:solidFill>
            <a:srgbClr val="F0F4F8"/>
          </a:solidFill>
          <a:ln w="12700">
            <a:solidFill>
              <a:srgbClr val="CCCCCC"/>
            </a:solidFill>
            <a:prstDash val="solid"/>
          </a:ln>
        </p:spPr>
      </p:sp>
      <p:sp>
        <p:nvSpPr>
          <p:cNvPr id="7" name="Shape 5"/>
          <p:cNvSpPr/>
          <p:nvPr/>
        </p:nvSpPr>
        <p:spPr>
          <a:xfrm>
            <a:off x="4663440" y="1426464"/>
            <a:ext cx="3657600" cy="2926080"/>
          </a:xfrm>
          <a:prstGeom prst="rect">
            <a:avLst/>
          </a:prstGeom>
          <a:solidFill>
            <a:srgbClr val="F0F4F8"/>
          </a:solidFill>
          <a:ln w="12700">
            <a:solidFill>
              <a:srgbClr val="02C39A"/>
            </a:solidFill>
            <a:prstDash val="solid"/>
          </a:ln>
        </p:spPr>
      </p:sp>
      <p:sp>
        <p:nvSpPr>
          <p:cNvPr id="8" name="Text 6"/>
          <p:cNvSpPr/>
          <p:nvPr/>
        </p:nvSpPr>
        <p:spPr>
          <a:xfrm>
            <a:off x="365760" y="1170432"/>
            <a:ext cx="3657600" cy="237744"/>
          </a:xfrm>
          <a:prstGeom prst="rect">
            <a:avLst/>
          </a:prstGeom>
          <a:noFill/>
          <a:ln/>
        </p:spPr>
        <p:txBody>
          <a:bodyPr wrap="square" lIns="0" tIns="0" rIns="0" bIns="0" rtlCol="0" anchor="ctr"/>
          <a:lstStyle/>
          <a:p>
            <a:pPr algn="ctr" indent="0" marL="0">
              <a:buNone/>
            </a:pPr>
            <a:r>
              <a:rPr lang="en-US" sz="1100" b="1" spc="200" kern="0" dirty="0">
                <a:solidFill>
                  <a:srgbClr val="4A5568"/>
                </a:solidFill>
              </a:rPr>
              <a:t>RAW DATA</a:t>
            </a:r>
            <a:endParaRPr lang="en-US" sz="1100" dirty="0"/>
          </a:p>
        </p:txBody>
      </p:sp>
      <p:sp>
        <p:nvSpPr>
          <p:cNvPr id="9" name="Text 7"/>
          <p:cNvSpPr/>
          <p:nvPr/>
        </p:nvSpPr>
        <p:spPr>
          <a:xfrm>
            <a:off x="365760" y="4389120"/>
            <a:ext cx="3657600" cy="237744"/>
          </a:xfrm>
          <a:prstGeom prst="rect">
            <a:avLst/>
          </a:prstGeom>
          <a:noFill/>
          <a:ln/>
        </p:spPr>
        <p:txBody>
          <a:bodyPr wrap="square" lIns="0" tIns="0" rIns="0" bIns="0" rtlCol="0" anchor="ctr"/>
          <a:lstStyle/>
          <a:p>
            <a:pPr algn="ctr" indent="0" marL="0">
              <a:buNone/>
            </a:pPr>
            <a:r>
              <a:rPr lang="en-US" sz="1100" i="1" dirty="0">
                <a:solidFill>
                  <a:srgbClr val="C0392B"/>
                </a:solidFill>
              </a:rPr>
              <a:t>Your model sees 0.01% fraud</a:t>
            </a:r>
            <a:endParaRPr lang="en-US" sz="1100" dirty="0"/>
          </a:p>
        </p:txBody>
      </p:sp>
      <p:sp>
        <p:nvSpPr>
          <p:cNvPr id="10" name="Text 8"/>
          <p:cNvSpPr/>
          <p:nvPr/>
        </p:nvSpPr>
        <p:spPr>
          <a:xfrm>
            <a:off x="4663440" y="1170432"/>
            <a:ext cx="3657600" cy="237744"/>
          </a:xfrm>
          <a:prstGeom prst="rect">
            <a:avLst/>
          </a:prstGeom>
          <a:noFill/>
          <a:ln/>
        </p:spPr>
        <p:txBody>
          <a:bodyPr wrap="square" lIns="0" tIns="0" rIns="0" bIns="0" rtlCol="0" anchor="ctr"/>
          <a:lstStyle/>
          <a:p>
            <a:pPr algn="ctr" indent="0" marL="0">
              <a:buNone/>
            </a:pPr>
            <a:r>
              <a:rPr lang="en-US" sz="1100" b="1" spc="200" kern="0" dirty="0">
                <a:solidFill>
                  <a:srgbClr val="02C39A"/>
                </a:solidFill>
              </a:rPr>
              <a:t>AFTER SMART SAMPLING</a:t>
            </a:r>
            <a:endParaRPr lang="en-US" sz="1100" dirty="0"/>
          </a:p>
        </p:txBody>
      </p:sp>
      <p:sp>
        <p:nvSpPr>
          <p:cNvPr id="11" name="Text 9"/>
          <p:cNvSpPr/>
          <p:nvPr/>
        </p:nvSpPr>
        <p:spPr>
          <a:xfrm>
            <a:off x="4663440" y="4389120"/>
            <a:ext cx="3657600" cy="237744"/>
          </a:xfrm>
          <a:prstGeom prst="rect">
            <a:avLst/>
          </a:prstGeom>
          <a:noFill/>
          <a:ln/>
        </p:spPr>
        <p:txBody>
          <a:bodyPr wrap="square" lIns="0" tIns="0" rIns="0" bIns="0" rtlCol="0" anchor="ctr"/>
          <a:lstStyle/>
          <a:p>
            <a:pPr algn="ctr" indent="0" marL="0">
              <a:buNone/>
            </a:pPr>
            <a:r>
              <a:rPr lang="en-US" sz="1100" i="1" dirty="0">
                <a:solidFill>
                  <a:srgbClr val="02C39A"/>
                </a:solidFill>
              </a:rPr>
              <a:t>Balanced for learning, corrected for deployment</a:t>
            </a:r>
            <a:endParaRPr lang="en-US" sz="1100" dirty="0"/>
          </a:p>
        </p:txBody>
      </p:sp>
      <p:sp>
        <p:nvSpPr>
          <p:cNvPr id="12" name="Shape 10"/>
          <p:cNvSpPr/>
          <p:nvPr/>
        </p:nvSpPr>
        <p:spPr>
          <a:xfrm>
            <a:off x="2452209" y="2915524"/>
            <a:ext cx="56693" cy="56693"/>
          </a:xfrm>
          <a:prstGeom prst="ellipse">
            <a:avLst/>
          </a:prstGeom>
          <a:solidFill>
            <a:srgbClr val="C0392B"/>
          </a:solidFill>
          <a:ln w="12700">
            <a:solidFill>
              <a:srgbClr val="C0392B"/>
            </a:solidFill>
            <a:prstDash val="solid"/>
          </a:ln>
        </p:spPr>
      </p:sp>
      <p:sp>
        <p:nvSpPr>
          <p:cNvPr id="13" name="Shape 11"/>
          <p:cNvSpPr/>
          <p:nvPr/>
        </p:nvSpPr>
        <p:spPr>
          <a:xfrm>
            <a:off x="3608013" y="3406274"/>
            <a:ext cx="56693" cy="56693"/>
          </a:xfrm>
          <a:prstGeom prst="ellipse">
            <a:avLst/>
          </a:prstGeom>
          <a:solidFill>
            <a:srgbClr val="C0392B"/>
          </a:solidFill>
          <a:ln w="12700">
            <a:solidFill>
              <a:srgbClr val="C0392B"/>
            </a:solidFill>
            <a:prstDash val="solid"/>
          </a:ln>
        </p:spPr>
      </p:sp>
      <p:sp>
        <p:nvSpPr>
          <p:cNvPr id="14" name="Shape 12"/>
          <p:cNvSpPr/>
          <p:nvPr/>
        </p:nvSpPr>
        <p:spPr>
          <a:xfrm>
            <a:off x="3045600" y="3380811"/>
            <a:ext cx="56693" cy="56693"/>
          </a:xfrm>
          <a:prstGeom prst="ellipse">
            <a:avLst/>
          </a:prstGeom>
          <a:solidFill>
            <a:srgbClr val="4A90D9"/>
          </a:solidFill>
          <a:ln w="12700">
            <a:solidFill>
              <a:srgbClr val="4A90D9"/>
            </a:solidFill>
            <a:prstDash val="solid"/>
          </a:ln>
        </p:spPr>
      </p:sp>
      <p:sp>
        <p:nvSpPr>
          <p:cNvPr id="15" name="Shape 13"/>
          <p:cNvSpPr/>
          <p:nvPr/>
        </p:nvSpPr>
        <p:spPr>
          <a:xfrm>
            <a:off x="2239586" y="1906040"/>
            <a:ext cx="56693" cy="56693"/>
          </a:xfrm>
          <a:prstGeom prst="ellipse">
            <a:avLst/>
          </a:prstGeom>
          <a:solidFill>
            <a:srgbClr val="4A90D9"/>
          </a:solidFill>
          <a:ln w="12700">
            <a:solidFill>
              <a:srgbClr val="4A90D9"/>
            </a:solidFill>
            <a:prstDash val="solid"/>
          </a:ln>
        </p:spPr>
      </p:sp>
      <p:sp>
        <p:nvSpPr>
          <p:cNvPr id="16" name="Shape 14"/>
          <p:cNvSpPr/>
          <p:nvPr/>
        </p:nvSpPr>
        <p:spPr>
          <a:xfrm>
            <a:off x="599329" y="2110386"/>
            <a:ext cx="56693" cy="56693"/>
          </a:xfrm>
          <a:prstGeom prst="ellipse">
            <a:avLst/>
          </a:prstGeom>
          <a:solidFill>
            <a:srgbClr val="4A90D9"/>
          </a:solidFill>
          <a:ln w="12700">
            <a:solidFill>
              <a:srgbClr val="4A90D9"/>
            </a:solidFill>
            <a:prstDash val="solid"/>
          </a:ln>
        </p:spPr>
      </p:sp>
      <p:sp>
        <p:nvSpPr>
          <p:cNvPr id="17" name="Shape 15"/>
          <p:cNvSpPr/>
          <p:nvPr/>
        </p:nvSpPr>
        <p:spPr>
          <a:xfrm>
            <a:off x="1427362" y="4224618"/>
            <a:ext cx="56693" cy="56693"/>
          </a:xfrm>
          <a:prstGeom prst="ellipse">
            <a:avLst/>
          </a:prstGeom>
          <a:solidFill>
            <a:srgbClr val="4A90D9"/>
          </a:solidFill>
          <a:ln w="12700">
            <a:solidFill>
              <a:srgbClr val="4A90D9"/>
            </a:solidFill>
            <a:prstDash val="solid"/>
          </a:ln>
        </p:spPr>
      </p:sp>
      <p:sp>
        <p:nvSpPr>
          <p:cNvPr id="18" name="Shape 16"/>
          <p:cNvSpPr/>
          <p:nvPr/>
        </p:nvSpPr>
        <p:spPr>
          <a:xfrm>
            <a:off x="2897306" y="3331292"/>
            <a:ext cx="56693" cy="56693"/>
          </a:xfrm>
          <a:prstGeom prst="ellipse">
            <a:avLst/>
          </a:prstGeom>
          <a:solidFill>
            <a:srgbClr val="4A90D9"/>
          </a:solidFill>
          <a:ln w="12700">
            <a:solidFill>
              <a:srgbClr val="4A90D9"/>
            </a:solidFill>
            <a:prstDash val="solid"/>
          </a:ln>
        </p:spPr>
      </p:sp>
      <p:sp>
        <p:nvSpPr>
          <p:cNvPr id="19" name="Shape 17"/>
          <p:cNvSpPr/>
          <p:nvPr/>
        </p:nvSpPr>
        <p:spPr>
          <a:xfrm>
            <a:off x="1686309" y="2192720"/>
            <a:ext cx="56693" cy="56693"/>
          </a:xfrm>
          <a:prstGeom prst="ellipse">
            <a:avLst/>
          </a:prstGeom>
          <a:solidFill>
            <a:srgbClr val="4A90D9"/>
          </a:solidFill>
          <a:ln w="12700">
            <a:solidFill>
              <a:srgbClr val="4A90D9"/>
            </a:solidFill>
            <a:prstDash val="solid"/>
          </a:ln>
        </p:spPr>
      </p:sp>
      <p:sp>
        <p:nvSpPr>
          <p:cNvPr id="20" name="Shape 18"/>
          <p:cNvSpPr/>
          <p:nvPr/>
        </p:nvSpPr>
        <p:spPr>
          <a:xfrm>
            <a:off x="792212" y="3956953"/>
            <a:ext cx="56693" cy="56693"/>
          </a:xfrm>
          <a:prstGeom prst="ellipse">
            <a:avLst/>
          </a:prstGeom>
          <a:solidFill>
            <a:srgbClr val="4A90D9"/>
          </a:solidFill>
          <a:ln w="12700">
            <a:solidFill>
              <a:srgbClr val="4A90D9"/>
            </a:solidFill>
            <a:prstDash val="solid"/>
          </a:ln>
        </p:spPr>
      </p:sp>
      <p:sp>
        <p:nvSpPr>
          <p:cNvPr id="21" name="Shape 19"/>
          <p:cNvSpPr/>
          <p:nvPr/>
        </p:nvSpPr>
        <p:spPr>
          <a:xfrm>
            <a:off x="3381754" y="3793167"/>
            <a:ext cx="56693" cy="56693"/>
          </a:xfrm>
          <a:prstGeom prst="ellipse">
            <a:avLst/>
          </a:prstGeom>
          <a:solidFill>
            <a:srgbClr val="4A90D9"/>
          </a:solidFill>
          <a:ln w="12700">
            <a:solidFill>
              <a:srgbClr val="4A90D9"/>
            </a:solidFill>
            <a:prstDash val="solid"/>
          </a:ln>
        </p:spPr>
      </p:sp>
      <p:sp>
        <p:nvSpPr>
          <p:cNvPr id="22" name="Shape 20"/>
          <p:cNvSpPr/>
          <p:nvPr/>
        </p:nvSpPr>
        <p:spPr>
          <a:xfrm>
            <a:off x="1996689" y="2260888"/>
            <a:ext cx="56693" cy="56693"/>
          </a:xfrm>
          <a:prstGeom prst="ellipse">
            <a:avLst/>
          </a:prstGeom>
          <a:solidFill>
            <a:srgbClr val="4A90D9"/>
          </a:solidFill>
          <a:ln w="12700">
            <a:solidFill>
              <a:srgbClr val="4A90D9"/>
            </a:solidFill>
            <a:prstDash val="solid"/>
          </a:ln>
        </p:spPr>
      </p:sp>
      <p:sp>
        <p:nvSpPr>
          <p:cNvPr id="23" name="Shape 21"/>
          <p:cNvSpPr/>
          <p:nvPr/>
        </p:nvSpPr>
        <p:spPr>
          <a:xfrm>
            <a:off x="3353104" y="1614343"/>
            <a:ext cx="56693" cy="56693"/>
          </a:xfrm>
          <a:prstGeom prst="ellipse">
            <a:avLst/>
          </a:prstGeom>
          <a:solidFill>
            <a:srgbClr val="4A90D9"/>
          </a:solidFill>
          <a:ln w="12700">
            <a:solidFill>
              <a:srgbClr val="4A90D9"/>
            </a:solidFill>
            <a:prstDash val="solid"/>
          </a:ln>
        </p:spPr>
      </p:sp>
      <p:sp>
        <p:nvSpPr>
          <p:cNvPr id="24" name="Shape 22"/>
          <p:cNvSpPr/>
          <p:nvPr/>
        </p:nvSpPr>
        <p:spPr>
          <a:xfrm>
            <a:off x="3090843" y="4131741"/>
            <a:ext cx="56693" cy="56693"/>
          </a:xfrm>
          <a:prstGeom prst="ellipse">
            <a:avLst/>
          </a:prstGeom>
          <a:solidFill>
            <a:srgbClr val="4A90D9"/>
          </a:solidFill>
          <a:ln w="12700">
            <a:solidFill>
              <a:srgbClr val="4A90D9"/>
            </a:solidFill>
            <a:prstDash val="solid"/>
          </a:ln>
        </p:spPr>
      </p:sp>
      <p:sp>
        <p:nvSpPr>
          <p:cNvPr id="25" name="Shape 23"/>
          <p:cNvSpPr/>
          <p:nvPr/>
        </p:nvSpPr>
        <p:spPr>
          <a:xfrm>
            <a:off x="3226047" y="1805143"/>
            <a:ext cx="56693" cy="56693"/>
          </a:xfrm>
          <a:prstGeom prst="ellipse">
            <a:avLst/>
          </a:prstGeom>
          <a:solidFill>
            <a:srgbClr val="4A90D9"/>
          </a:solidFill>
          <a:ln w="12700">
            <a:solidFill>
              <a:srgbClr val="4A90D9"/>
            </a:solidFill>
            <a:prstDash val="solid"/>
          </a:ln>
        </p:spPr>
      </p:sp>
      <p:sp>
        <p:nvSpPr>
          <p:cNvPr id="26" name="Shape 24"/>
          <p:cNvSpPr/>
          <p:nvPr/>
        </p:nvSpPr>
        <p:spPr>
          <a:xfrm>
            <a:off x="1599910" y="3271424"/>
            <a:ext cx="56693" cy="56693"/>
          </a:xfrm>
          <a:prstGeom prst="ellipse">
            <a:avLst/>
          </a:prstGeom>
          <a:solidFill>
            <a:srgbClr val="4A90D9"/>
          </a:solidFill>
          <a:ln w="12700">
            <a:solidFill>
              <a:srgbClr val="4A90D9"/>
            </a:solidFill>
            <a:prstDash val="solid"/>
          </a:ln>
        </p:spPr>
      </p:sp>
      <p:sp>
        <p:nvSpPr>
          <p:cNvPr id="27" name="Shape 25"/>
          <p:cNvSpPr/>
          <p:nvPr/>
        </p:nvSpPr>
        <p:spPr>
          <a:xfrm>
            <a:off x="623374" y="2227600"/>
            <a:ext cx="56693" cy="56693"/>
          </a:xfrm>
          <a:prstGeom prst="ellipse">
            <a:avLst/>
          </a:prstGeom>
          <a:solidFill>
            <a:srgbClr val="4A90D9"/>
          </a:solidFill>
          <a:ln w="12700">
            <a:solidFill>
              <a:srgbClr val="4A90D9"/>
            </a:solidFill>
            <a:prstDash val="solid"/>
          </a:ln>
        </p:spPr>
      </p:sp>
      <p:sp>
        <p:nvSpPr>
          <p:cNvPr id="28" name="Shape 26"/>
          <p:cNvSpPr/>
          <p:nvPr/>
        </p:nvSpPr>
        <p:spPr>
          <a:xfrm>
            <a:off x="2183443" y="3597366"/>
            <a:ext cx="56693" cy="56693"/>
          </a:xfrm>
          <a:prstGeom prst="ellipse">
            <a:avLst/>
          </a:prstGeom>
          <a:solidFill>
            <a:srgbClr val="4A90D9"/>
          </a:solidFill>
          <a:ln w="12700">
            <a:solidFill>
              <a:srgbClr val="4A90D9"/>
            </a:solidFill>
            <a:prstDash val="solid"/>
          </a:ln>
        </p:spPr>
      </p:sp>
      <p:sp>
        <p:nvSpPr>
          <p:cNvPr id="29" name="Shape 27"/>
          <p:cNvSpPr/>
          <p:nvPr/>
        </p:nvSpPr>
        <p:spPr>
          <a:xfrm>
            <a:off x="1371832" y="2906747"/>
            <a:ext cx="56693" cy="56693"/>
          </a:xfrm>
          <a:prstGeom prst="ellipse">
            <a:avLst/>
          </a:prstGeom>
          <a:solidFill>
            <a:srgbClr val="4A90D9"/>
          </a:solidFill>
          <a:ln w="12700">
            <a:solidFill>
              <a:srgbClr val="4A90D9"/>
            </a:solidFill>
            <a:prstDash val="solid"/>
          </a:ln>
        </p:spPr>
      </p:sp>
      <p:sp>
        <p:nvSpPr>
          <p:cNvPr id="30" name="Shape 28"/>
          <p:cNvSpPr/>
          <p:nvPr/>
        </p:nvSpPr>
        <p:spPr>
          <a:xfrm>
            <a:off x="438434" y="3073169"/>
            <a:ext cx="56693" cy="56693"/>
          </a:xfrm>
          <a:prstGeom prst="ellipse">
            <a:avLst/>
          </a:prstGeom>
          <a:solidFill>
            <a:srgbClr val="4A90D9"/>
          </a:solidFill>
          <a:ln w="12700">
            <a:solidFill>
              <a:srgbClr val="4A90D9"/>
            </a:solidFill>
            <a:prstDash val="solid"/>
          </a:ln>
        </p:spPr>
      </p:sp>
      <p:sp>
        <p:nvSpPr>
          <p:cNvPr id="31" name="Shape 29"/>
          <p:cNvSpPr/>
          <p:nvPr/>
        </p:nvSpPr>
        <p:spPr>
          <a:xfrm>
            <a:off x="2357828" y="3276655"/>
            <a:ext cx="56693" cy="56693"/>
          </a:xfrm>
          <a:prstGeom prst="ellipse">
            <a:avLst/>
          </a:prstGeom>
          <a:solidFill>
            <a:srgbClr val="4A90D9"/>
          </a:solidFill>
          <a:ln w="12700">
            <a:solidFill>
              <a:srgbClr val="4A90D9"/>
            </a:solidFill>
            <a:prstDash val="solid"/>
          </a:ln>
        </p:spPr>
      </p:sp>
      <p:sp>
        <p:nvSpPr>
          <p:cNvPr id="32" name="Shape 30"/>
          <p:cNvSpPr/>
          <p:nvPr/>
        </p:nvSpPr>
        <p:spPr>
          <a:xfrm>
            <a:off x="2868159" y="3831199"/>
            <a:ext cx="56693" cy="56693"/>
          </a:xfrm>
          <a:prstGeom prst="ellipse">
            <a:avLst/>
          </a:prstGeom>
          <a:solidFill>
            <a:srgbClr val="4A90D9"/>
          </a:solidFill>
          <a:ln w="12700">
            <a:solidFill>
              <a:srgbClr val="4A90D9"/>
            </a:solidFill>
            <a:prstDash val="solid"/>
          </a:ln>
        </p:spPr>
      </p:sp>
      <p:sp>
        <p:nvSpPr>
          <p:cNvPr id="33" name="Shape 31"/>
          <p:cNvSpPr/>
          <p:nvPr/>
        </p:nvSpPr>
        <p:spPr>
          <a:xfrm>
            <a:off x="3253044" y="2120477"/>
            <a:ext cx="56693" cy="56693"/>
          </a:xfrm>
          <a:prstGeom prst="ellipse">
            <a:avLst/>
          </a:prstGeom>
          <a:solidFill>
            <a:srgbClr val="4A90D9"/>
          </a:solidFill>
          <a:ln w="12700">
            <a:solidFill>
              <a:srgbClr val="4A90D9"/>
            </a:solidFill>
            <a:prstDash val="solid"/>
          </a:ln>
        </p:spPr>
      </p:sp>
      <p:sp>
        <p:nvSpPr>
          <p:cNvPr id="34" name="Shape 32"/>
          <p:cNvSpPr/>
          <p:nvPr/>
        </p:nvSpPr>
        <p:spPr>
          <a:xfrm>
            <a:off x="3333489" y="2663435"/>
            <a:ext cx="56693" cy="56693"/>
          </a:xfrm>
          <a:prstGeom prst="ellipse">
            <a:avLst/>
          </a:prstGeom>
          <a:solidFill>
            <a:srgbClr val="4A90D9"/>
          </a:solidFill>
          <a:ln w="12700">
            <a:solidFill>
              <a:srgbClr val="4A90D9"/>
            </a:solidFill>
            <a:prstDash val="solid"/>
          </a:ln>
        </p:spPr>
      </p:sp>
      <p:sp>
        <p:nvSpPr>
          <p:cNvPr id="35" name="Shape 33"/>
          <p:cNvSpPr/>
          <p:nvPr/>
        </p:nvSpPr>
        <p:spPr>
          <a:xfrm>
            <a:off x="3617954" y="1872161"/>
            <a:ext cx="56693" cy="56693"/>
          </a:xfrm>
          <a:prstGeom prst="ellipse">
            <a:avLst/>
          </a:prstGeom>
          <a:solidFill>
            <a:srgbClr val="4A90D9"/>
          </a:solidFill>
          <a:ln w="12700">
            <a:solidFill>
              <a:srgbClr val="4A90D9"/>
            </a:solidFill>
            <a:prstDash val="solid"/>
          </a:ln>
        </p:spPr>
      </p:sp>
      <p:sp>
        <p:nvSpPr>
          <p:cNvPr id="36" name="Shape 34"/>
          <p:cNvSpPr/>
          <p:nvPr/>
        </p:nvSpPr>
        <p:spPr>
          <a:xfrm>
            <a:off x="3370056" y="2284834"/>
            <a:ext cx="56693" cy="56693"/>
          </a:xfrm>
          <a:prstGeom prst="ellipse">
            <a:avLst/>
          </a:prstGeom>
          <a:solidFill>
            <a:srgbClr val="4A90D9"/>
          </a:solidFill>
          <a:ln w="12700">
            <a:solidFill>
              <a:srgbClr val="4A90D9"/>
            </a:solidFill>
            <a:prstDash val="solid"/>
          </a:ln>
        </p:spPr>
      </p:sp>
      <p:sp>
        <p:nvSpPr>
          <p:cNvPr id="37" name="Shape 35"/>
          <p:cNvSpPr/>
          <p:nvPr/>
        </p:nvSpPr>
        <p:spPr>
          <a:xfrm>
            <a:off x="490005" y="2830206"/>
            <a:ext cx="56693" cy="56693"/>
          </a:xfrm>
          <a:prstGeom prst="ellipse">
            <a:avLst/>
          </a:prstGeom>
          <a:solidFill>
            <a:srgbClr val="4A90D9"/>
          </a:solidFill>
          <a:ln w="12700">
            <a:solidFill>
              <a:srgbClr val="4A90D9"/>
            </a:solidFill>
            <a:prstDash val="solid"/>
          </a:ln>
        </p:spPr>
      </p:sp>
      <p:sp>
        <p:nvSpPr>
          <p:cNvPr id="38" name="Shape 36"/>
          <p:cNvSpPr/>
          <p:nvPr/>
        </p:nvSpPr>
        <p:spPr>
          <a:xfrm>
            <a:off x="518049" y="1912270"/>
            <a:ext cx="56693" cy="56693"/>
          </a:xfrm>
          <a:prstGeom prst="ellipse">
            <a:avLst/>
          </a:prstGeom>
          <a:solidFill>
            <a:srgbClr val="4A90D9"/>
          </a:solidFill>
          <a:ln w="12700">
            <a:solidFill>
              <a:srgbClr val="4A90D9"/>
            </a:solidFill>
            <a:prstDash val="solid"/>
          </a:ln>
        </p:spPr>
      </p:sp>
      <p:sp>
        <p:nvSpPr>
          <p:cNvPr id="39" name="Shape 37"/>
          <p:cNvSpPr/>
          <p:nvPr/>
        </p:nvSpPr>
        <p:spPr>
          <a:xfrm>
            <a:off x="3684958" y="2150428"/>
            <a:ext cx="56693" cy="56693"/>
          </a:xfrm>
          <a:prstGeom prst="ellipse">
            <a:avLst/>
          </a:prstGeom>
          <a:solidFill>
            <a:srgbClr val="4A90D9"/>
          </a:solidFill>
          <a:ln w="12700">
            <a:solidFill>
              <a:srgbClr val="4A90D9"/>
            </a:solidFill>
            <a:prstDash val="solid"/>
          </a:ln>
        </p:spPr>
      </p:sp>
      <p:sp>
        <p:nvSpPr>
          <p:cNvPr id="40" name="Shape 38"/>
          <p:cNvSpPr/>
          <p:nvPr/>
        </p:nvSpPr>
        <p:spPr>
          <a:xfrm>
            <a:off x="1559790" y="3174621"/>
            <a:ext cx="56693" cy="56693"/>
          </a:xfrm>
          <a:prstGeom prst="ellipse">
            <a:avLst/>
          </a:prstGeom>
          <a:solidFill>
            <a:srgbClr val="4A90D9"/>
          </a:solidFill>
          <a:ln w="12700">
            <a:solidFill>
              <a:srgbClr val="4A90D9"/>
            </a:solidFill>
            <a:prstDash val="solid"/>
          </a:ln>
        </p:spPr>
      </p:sp>
      <p:sp>
        <p:nvSpPr>
          <p:cNvPr id="41" name="Shape 39"/>
          <p:cNvSpPr/>
          <p:nvPr/>
        </p:nvSpPr>
        <p:spPr>
          <a:xfrm>
            <a:off x="2976305" y="3093420"/>
            <a:ext cx="56693" cy="56693"/>
          </a:xfrm>
          <a:prstGeom prst="ellipse">
            <a:avLst/>
          </a:prstGeom>
          <a:solidFill>
            <a:srgbClr val="4A90D9"/>
          </a:solidFill>
          <a:ln w="12700">
            <a:solidFill>
              <a:srgbClr val="4A90D9"/>
            </a:solidFill>
            <a:prstDash val="solid"/>
          </a:ln>
        </p:spPr>
      </p:sp>
      <p:sp>
        <p:nvSpPr>
          <p:cNvPr id="42" name="Shape 40"/>
          <p:cNvSpPr/>
          <p:nvPr/>
        </p:nvSpPr>
        <p:spPr>
          <a:xfrm>
            <a:off x="3232647" y="3157151"/>
            <a:ext cx="56693" cy="56693"/>
          </a:xfrm>
          <a:prstGeom prst="ellipse">
            <a:avLst/>
          </a:prstGeom>
          <a:solidFill>
            <a:srgbClr val="4A90D9"/>
          </a:solidFill>
          <a:ln w="12700">
            <a:solidFill>
              <a:srgbClr val="4A90D9"/>
            </a:solidFill>
            <a:prstDash val="solid"/>
          </a:ln>
        </p:spPr>
      </p:sp>
      <p:sp>
        <p:nvSpPr>
          <p:cNvPr id="43" name="Shape 41"/>
          <p:cNvSpPr/>
          <p:nvPr/>
        </p:nvSpPr>
        <p:spPr>
          <a:xfrm>
            <a:off x="2583221" y="1733189"/>
            <a:ext cx="56693" cy="56693"/>
          </a:xfrm>
          <a:prstGeom prst="ellipse">
            <a:avLst/>
          </a:prstGeom>
          <a:solidFill>
            <a:srgbClr val="4A90D9"/>
          </a:solidFill>
          <a:ln w="12700">
            <a:solidFill>
              <a:srgbClr val="4A90D9"/>
            </a:solidFill>
            <a:prstDash val="solid"/>
          </a:ln>
        </p:spPr>
      </p:sp>
      <p:sp>
        <p:nvSpPr>
          <p:cNvPr id="44" name="Shape 42"/>
          <p:cNvSpPr/>
          <p:nvPr/>
        </p:nvSpPr>
        <p:spPr>
          <a:xfrm>
            <a:off x="1365024" y="1708525"/>
            <a:ext cx="56693" cy="56693"/>
          </a:xfrm>
          <a:prstGeom prst="ellipse">
            <a:avLst/>
          </a:prstGeom>
          <a:solidFill>
            <a:srgbClr val="4A90D9"/>
          </a:solidFill>
          <a:ln w="12700">
            <a:solidFill>
              <a:srgbClr val="4A90D9"/>
            </a:solidFill>
            <a:prstDash val="solid"/>
          </a:ln>
        </p:spPr>
      </p:sp>
      <p:sp>
        <p:nvSpPr>
          <p:cNvPr id="45" name="Shape 43"/>
          <p:cNvSpPr/>
          <p:nvPr/>
        </p:nvSpPr>
        <p:spPr>
          <a:xfrm>
            <a:off x="3556357" y="4167059"/>
            <a:ext cx="56693" cy="56693"/>
          </a:xfrm>
          <a:prstGeom prst="ellipse">
            <a:avLst/>
          </a:prstGeom>
          <a:solidFill>
            <a:srgbClr val="4A90D9"/>
          </a:solidFill>
          <a:ln w="12700">
            <a:solidFill>
              <a:srgbClr val="4A90D9"/>
            </a:solidFill>
            <a:prstDash val="solid"/>
          </a:ln>
        </p:spPr>
      </p:sp>
      <p:sp>
        <p:nvSpPr>
          <p:cNvPr id="46" name="Shape 44"/>
          <p:cNvSpPr/>
          <p:nvPr/>
        </p:nvSpPr>
        <p:spPr>
          <a:xfrm>
            <a:off x="1259848" y="3722979"/>
            <a:ext cx="56693" cy="56693"/>
          </a:xfrm>
          <a:prstGeom prst="ellipse">
            <a:avLst/>
          </a:prstGeom>
          <a:solidFill>
            <a:srgbClr val="4A90D9"/>
          </a:solidFill>
          <a:ln w="12700">
            <a:solidFill>
              <a:srgbClr val="4A90D9"/>
            </a:solidFill>
            <a:prstDash val="solid"/>
          </a:ln>
        </p:spPr>
      </p:sp>
      <p:sp>
        <p:nvSpPr>
          <p:cNvPr id="47" name="Shape 45"/>
          <p:cNvSpPr/>
          <p:nvPr/>
        </p:nvSpPr>
        <p:spPr>
          <a:xfrm>
            <a:off x="1198727" y="2647314"/>
            <a:ext cx="56693" cy="56693"/>
          </a:xfrm>
          <a:prstGeom prst="ellipse">
            <a:avLst/>
          </a:prstGeom>
          <a:solidFill>
            <a:srgbClr val="4A90D9"/>
          </a:solidFill>
          <a:ln w="12700">
            <a:solidFill>
              <a:srgbClr val="4A90D9"/>
            </a:solidFill>
            <a:prstDash val="solid"/>
          </a:ln>
        </p:spPr>
      </p:sp>
      <p:sp>
        <p:nvSpPr>
          <p:cNvPr id="48" name="Shape 46"/>
          <p:cNvSpPr/>
          <p:nvPr/>
        </p:nvSpPr>
        <p:spPr>
          <a:xfrm>
            <a:off x="678343" y="1560732"/>
            <a:ext cx="56693" cy="56693"/>
          </a:xfrm>
          <a:prstGeom prst="ellipse">
            <a:avLst/>
          </a:prstGeom>
          <a:solidFill>
            <a:srgbClr val="4A90D9"/>
          </a:solidFill>
          <a:ln w="12700">
            <a:solidFill>
              <a:srgbClr val="4A90D9"/>
            </a:solidFill>
            <a:prstDash val="solid"/>
          </a:ln>
        </p:spPr>
      </p:sp>
      <p:sp>
        <p:nvSpPr>
          <p:cNvPr id="49" name="Shape 47"/>
          <p:cNvSpPr/>
          <p:nvPr/>
        </p:nvSpPr>
        <p:spPr>
          <a:xfrm>
            <a:off x="939445" y="2465256"/>
            <a:ext cx="56693" cy="56693"/>
          </a:xfrm>
          <a:prstGeom prst="ellipse">
            <a:avLst/>
          </a:prstGeom>
          <a:solidFill>
            <a:srgbClr val="4A90D9"/>
          </a:solidFill>
          <a:ln w="12700">
            <a:solidFill>
              <a:srgbClr val="4A90D9"/>
            </a:solidFill>
            <a:prstDash val="solid"/>
          </a:ln>
        </p:spPr>
      </p:sp>
      <p:sp>
        <p:nvSpPr>
          <p:cNvPr id="50" name="Shape 48"/>
          <p:cNvSpPr/>
          <p:nvPr/>
        </p:nvSpPr>
        <p:spPr>
          <a:xfrm>
            <a:off x="2314974" y="4216947"/>
            <a:ext cx="56693" cy="56693"/>
          </a:xfrm>
          <a:prstGeom prst="ellipse">
            <a:avLst/>
          </a:prstGeom>
          <a:solidFill>
            <a:srgbClr val="4A90D9"/>
          </a:solidFill>
          <a:ln w="12700">
            <a:solidFill>
              <a:srgbClr val="4A90D9"/>
            </a:solidFill>
            <a:prstDash val="solid"/>
          </a:ln>
        </p:spPr>
      </p:sp>
      <p:sp>
        <p:nvSpPr>
          <p:cNvPr id="51" name="Shape 49"/>
          <p:cNvSpPr/>
          <p:nvPr/>
        </p:nvSpPr>
        <p:spPr>
          <a:xfrm>
            <a:off x="1901548" y="2531184"/>
            <a:ext cx="56693" cy="56693"/>
          </a:xfrm>
          <a:prstGeom prst="ellipse">
            <a:avLst/>
          </a:prstGeom>
          <a:solidFill>
            <a:srgbClr val="4A90D9"/>
          </a:solidFill>
          <a:ln w="12700">
            <a:solidFill>
              <a:srgbClr val="4A90D9"/>
            </a:solidFill>
            <a:prstDash val="solid"/>
          </a:ln>
        </p:spPr>
      </p:sp>
      <p:sp>
        <p:nvSpPr>
          <p:cNvPr id="52" name="Shape 50"/>
          <p:cNvSpPr/>
          <p:nvPr/>
        </p:nvSpPr>
        <p:spPr>
          <a:xfrm>
            <a:off x="1662149" y="3216890"/>
            <a:ext cx="56693" cy="56693"/>
          </a:xfrm>
          <a:prstGeom prst="ellipse">
            <a:avLst/>
          </a:prstGeom>
          <a:solidFill>
            <a:srgbClr val="4A90D9"/>
          </a:solidFill>
          <a:ln w="12700">
            <a:solidFill>
              <a:srgbClr val="4A90D9"/>
            </a:solidFill>
            <a:prstDash val="solid"/>
          </a:ln>
        </p:spPr>
      </p:sp>
      <p:sp>
        <p:nvSpPr>
          <p:cNvPr id="53" name="Shape 51"/>
          <p:cNvSpPr/>
          <p:nvPr/>
        </p:nvSpPr>
        <p:spPr>
          <a:xfrm>
            <a:off x="1873102" y="1551437"/>
            <a:ext cx="56693" cy="56693"/>
          </a:xfrm>
          <a:prstGeom prst="ellipse">
            <a:avLst/>
          </a:prstGeom>
          <a:solidFill>
            <a:srgbClr val="4A90D9"/>
          </a:solidFill>
          <a:ln w="12700">
            <a:solidFill>
              <a:srgbClr val="4A90D9"/>
            </a:solidFill>
            <a:prstDash val="solid"/>
          </a:ln>
        </p:spPr>
      </p:sp>
      <p:sp>
        <p:nvSpPr>
          <p:cNvPr id="54" name="Shape 52"/>
          <p:cNvSpPr/>
          <p:nvPr/>
        </p:nvSpPr>
        <p:spPr>
          <a:xfrm>
            <a:off x="3059518" y="2675073"/>
            <a:ext cx="56693" cy="56693"/>
          </a:xfrm>
          <a:prstGeom prst="ellipse">
            <a:avLst/>
          </a:prstGeom>
          <a:solidFill>
            <a:srgbClr val="4A90D9"/>
          </a:solidFill>
          <a:ln w="12700">
            <a:solidFill>
              <a:srgbClr val="4A90D9"/>
            </a:solidFill>
            <a:prstDash val="solid"/>
          </a:ln>
        </p:spPr>
      </p:sp>
      <p:sp>
        <p:nvSpPr>
          <p:cNvPr id="55" name="Shape 53"/>
          <p:cNvSpPr/>
          <p:nvPr/>
        </p:nvSpPr>
        <p:spPr>
          <a:xfrm>
            <a:off x="3311618" y="1958476"/>
            <a:ext cx="56693" cy="56693"/>
          </a:xfrm>
          <a:prstGeom prst="ellipse">
            <a:avLst/>
          </a:prstGeom>
          <a:solidFill>
            <a:srgbClr val="4A90D9"/>
          </a:solidFill>
          <a:ln w="12700">
            <a:solidFill>
              <a:srgbClr val="4A90D9"/>
            </a:solidFill>
            <a:prstDash val="solid"/>
          </a:ln>
        </p:spPr>
      </p:sp>
      <p:sp>
        <p:nvSpPr>
          <p:cNvPr id="56" name="Shape 54"/>
          <p:cNvSpPr/>
          <p:nvPr/>
        </p:nvSpPr>
        <p:spPr>
          <a:xfrm>
            <a:off x="2798981" y="2943035"/>
            <a:ext cx="56693" cy="56693"/>
          </a:xfrm>
          <a:prstGeom prst="ellipse">
            <a:avLst/>
          </a:prstGeom>
          <a:solidFill>
            <a:srgbClr val="4A90D9"/>
          </a:solidFill>
          <a:ln w="12700">
            <a:solidFill>
              <a:srgbClr val="4A90D9"/>
            </a:solidFill>
            <a:prstDash val="solid"/>
          </a:ln>
        </p:spPr>
      </p:sp>
      <p:sp>
        <p:nvSpPr>
          <p:cNvPr id="57" name="Shape 55"/>
          <p:cNvSpPr/>
          <p:nvPr/>
        </p:nvSpPr>
        <p:spPr>
          <a:xfrm>
            <a:off x="3083340" y="3214199"/>
            <a:ext cx="56693" cy="56693"/>
          </a:xfrm>
          <a:prstGeom prst="ellipse">
            <a:avLst/>
          </a:prstGeom>
          <a:solidFill>
            <a:srgbClr val="4A90D9"/>
          </a:solidFill>
          <a:ln w="12700">
            <a:solidFill>
              <a:srgbClr val="4A90D9"/>
            </a:solidFill>
            <a:prstDash val="solid"/>
          </a:ln>
        </p:spPr>
      </p:sp>
      <p:sp>
        <p:nvSpPr>
          <p:cNvPr id="58" name="Shape 56"/>
          <p:cNvSpPr/>
          <p:nvPr/>
        </p:nvSpPr>
        <p:spPr>
          <a:xfrm>
            <a:off x="2118505" y="2634956"/>
            <a:ext cx="56693" cy="56693"/>
          </a:xfrm>
          <a:prstGeom prst="ellipse">
            <a:avLst/>
          </a:prstGeom>
          <a:solidFill>
            <a:srgbClr val="4A90D9"/>
          </a:solidFill>
          <a:ln w="12700">
            <a:solidFill>
              <a:srgbClr val="4A90D9"/>
            </a:solidFill>
            <a:prstDash val="solid"/>
          </a:ln>
        </p:spPr>
      </p:sp>
      <p:sp>
        <p:nvSpPr>
          <p:cNvPr id="59" name="Shape 57"/>
          <p:cNvSpPr/>
          <p:nvPr/>
        </p:nvSpPr>
        <p:spPr>
          <a:xfrm>
            <a:off x="1243459" y="1520581"/>
            <a:ext cx="56693" cy="56693"/>
          </a:xfrm>
          <a:prstGeom prst="ellipse">
            <a:avLst/>
          </a:prstGeom>
          <a:solidFill>
            <a:srgbClr val="4A90D9"/>
          </a:solidFill>
          <a:ln w="12700">
            <a:solidFill>
              <a:srgbClr val="4A90D9"/>
            </a:solidFill>
            <a:prstDash val="solid"/>
          </a:ln>
        </p:spPr>
      </p:sp>
      <p:sp>
        <p:nvSpPr>
          <p:cNvPr id="60" name="Shape 58"/>
          <p:cNvSpPr/>
          <p:nvPr/>
        </p:nvSpPr>
        <p:spPr>
          <a:xfrm>
            <a:off x="1573066" y="2971719"/>
            <a:ext cx="56693" cy="56693"/>
          </a:xfrm>
          <a:prstGeom prst="ellipse">
            <a:avLst/>
          </a:prstGeom>
          <a:solidFill>
            <a:srgbClr val="4A90D9"/>
          </a:solidFill>
          <a:ln w="12700">
            <a:solidFill>
              <a:srgbClr val="4A90D9"/>
            </a:solidFill>
            <a:prstDash val="solid"/>
          </a:ln>
        </p:spPr>
      </p:sp>
      <p:sp>
        <p:nvSpPr>
          <p:cNvPr id="61" name="Shape 59"/>
          <p:cNvSpPr/>
          <p:nvPr/>
        </p:nvSpPr>
        <p:spPr>
          <a:xfrm>
            <a:off x="1434097" y="4199739"/>
            <a:ext cx="56693" cy="56693"/>
          </a:xfrm>
          <a:prstGeom prst="ellipse">
            <a:avLst/>
          </a:prstGeom>
          <a:solidFill>
            <a:srgbClr val="4A90D9"/>
          </a:solidFill>
          <a:ln w="12700">
            <a:solidFill>
              <a:srgbClr val="4A90D9"/>
            </a:solidFill>
            <a:prstDash val="solid"/>
          </a:ln>
        </p:spPr>
      </p:sp>
      <p:sp>
        <p:nvSpPr>
          <p:cNvPr id="62" name="Shape 60"/>
          <p:cNvSpPr/>
          <p:nvPr/>
        </p:nvSpPr>
        <p:spPr>
          <a:xfrm>
            <a:off x="3291789" y="3123884"/>
            <a:ext cx="56693" cy="56693"/>
          </a:xfrm>
          <a:prstGeom prst="ellipse">
            <a:avLst/>
          </a:prstGeom>
          <a:solidFill>
            <a:srgbClr val="4A90D9"/>
          </a:solidFill>
          <a:ln w="12700">
            <a:solidFill>
              <a:srgbClr val="4A90D9"/>
            </a:solidFill>
            <a:prstDash val="solid"/>
          </a:ln>
        </p:spPr>
      </p:sp>
      <p:sp>
        <p:nvSpPr>
          <p:cNvPr id="63" name="Shape 61"/>
          <p:cNvSpPr/>
          <p:nvPr/>
        </p:nvSpPr>
        <p:spPr>
          <a:xfrm>
            <a:off x="771177" y="4104793"/>
            <a:ext cx="56693" cy="56693"/>
          </a:xfrm>
          <a:prstGeom prst="ellipse">
            <a:avLst/>
          </a:prstGeom>
          <a:solidFill>
            <a:srgbClr val="4A90D9"/>
          </a:solidFill>
          <a:ln w="12700">
            <a:solidFill>
              <a:srgbClr val="4A90D9"/>
            </a:solidFill>
            <a:prstDash val="solid"/>
          </a:ln>
        </p:spPr>
      </p:sp>
      <p:sp>
        <p:nvSpPr>
          <p:cNvPr id="64" name="Shape 62"/>
          <p:cNvSpPr/>
          <p:nvPr/>
        </p:nvSpPr>
        <p:spPr>
          <a:xfrm>
            <a:off x="2461268" y="3122733"/>
            <a:ext cx="56693" cy="56693"/>
          </a:xfrm>
          <a:prstGeom prst="ellipse">
            <a:avLst/>
          </a:prstGeom>
          <a:solidFill>
            <a:srgbClr val="4A90D9"/>
          </a:solidFill>
          <a:ln w="12700">
            <a:solidFill>
              <a:srgbClr val="4A90D9"/>
            </a:solidFill>
            <a:prstDash val="solid"/>
          </a:ln>
        </p:spPr>
      </p:sp>
      <p:sp>
        <p:nvSpPr>
          <p:cNvPr id="65" name="Shape 63"/>
          <p:cNvSpPr/>
          <p:nvPr/>
        </p:nvSpPr>
        <p:spPr>
          <a:xfrm>
            <a:off x="861823" y="1752867"/>
            <a:ext cx="56693" cy="56693"/>
          </a:xfrm>
          <a:prstGeom prst="ellipse">
            <a:avLst/>
          </a:prstGeom>
          <a:solidFill>
            <a:srgbClr val="4A90D9"/>
          </a:solidFill>
          <a:ln w="12700">
            <a:solidFill>
              <a:srgbClr val="4A90D9"/>
            </a:solidFill>
            <a:prstDash val="solid"/>
          </a:ln>
        </p:spPr>
      </p:sp>
      <p:sp>
        <p:nvSpPr>
          <p:cNvPr id="66" name="Shape 64"/>
          <p:cNvSpPr/>
          <p:nvPr/>
        </p:nvSpPr>
        <p:spPr>
          <a:xfrm>
            <a:off x="3317493" y="3326195"/>
            <a:ext cx="56693" cy="56693"/>
          </a:xfrm>
          <a:prstGeom prst="ellipse">
            <a:avLst/>
          </a:prstGeom>
          <a:solidFill>
            <a:srgbClr val="4A90D9"/>
          </a:solidFill>
          <a:ln w="12700">
            <a:solidFill>
              <a:srgbClr val="4A90D9"/>
            </a:solidFill>
            <a:prstDash val="solid"/>
          </a:ln>
        </p:spPr>
      </p:sp>
      <p:sp>
        <p:nvSpPr>
          <p:cNvPr id="67" name="Shape 65"/>
          <p:cNvSpPr/>
          <p:nvPr/>
        </p:nvSpPr>
        <p:spPr>
          <a:xfrm>
            <a:off x="2045124" y="3630230"/>
            <a:ext cx="56693" cy="56693"/>
          </a:xfrm>
          <a:prstGeom prst="ellipse">
            <a:avLst/>
          </a:prstGeom>
          <a:solidFill>
            <a:srgbClr val="4A90D9"/>
          </a:solidFill>
          <a:ln w="12700">
            <a:solidFill>
              <a:srgbClr val="4A90D9"/>
            </a:solidFill>
            <a:prstDash val="solid"/>
          </a:ln>
        </p:spPr>
      </p:sp>
      <p:sp>
        <p:nvSpPr>
          <p:cNvPr id="68" name="Shape 66"/>
          <p:cNvSpPr/>
          <p:nvPr/>
        </p:nvSpPr>
        <p:spPr>
          <a:xfrm>
            <a:off x="2664902" y="3867795"/>
            <a:ext cx="56693" cy="56693"/>
          </a:xfrm>
          <a:prstGeom prst="ellipse">
            <a:avLst/>
          </a:prstGeom>
          <a:solidFill>
            <a:srgbClr val="4A90D9"/>
          </a:solidFill>
          <a:ln w="12700">
            <a:solidFill>
              <a:srgbClr val="4A90D9"/>
            </a:solidFill>
            <a:prstDash val="solid"/>
          </a:ln>
        </p:spPr>
      </p:sp>
      <p:sp>
        <p:nvSpPr>
          <p:cNvPr id="69" name="Shape 67"/>
          <p:cNvSpPr/>
          <p:nvPr/>
        </p:nvSpPr>
        <p:spPr>
          <a:xfrm>
            <a:off x="1599703" y="1840846"/>
            <a:ext cx="56693" cy="56693"/>
          </a:xfrm>
          <a:prstGeom prst="ellipse">
            <a:avLst/>
          </a:prstGeom>
          <a:solidFill>
            <a:srgbClr val="4A90D9"/>
          </a:solidFill>
          <a:ln w="12700">
            <a:solidFill>
              <a:srgbClr val="4A90D9"/>
            </a:solidFill>
            <a:prstDash val="solid"/>
          </a:ln>
        </p:spPr>
      </p:sp>
      <p:sp>
        <p:nvSpPr>
          <p:cNvPr id="70" name="Shape 68"/>
          <p:cNvSpPr/>
          <p:nvPr/>
        </p:nvSpPr>
        <p:spPr>
          <a:xfrm>
            <a:off x="2017156" y="1675202"/>
            <a:ext cx="56693" cy="56693"/>
          </a:xfrm>
          <a:prstGeom prst="ellipse">
            <a:avLst/>
          </a:prstGeom>
          <a:solidFill>
            <a:srgbClr val="4A90D9"/>
          </a:solidFill>
          <a:ln w="12700">
            <a:solidFill>
              <a:srgbClr val="4A90D9"/>
            </a:solidFill>
            <a:prstDash val="solid"/>
          </a:ln>
        </p:spPr>
      </p:sp>
      <p:sp>
        <p:nvSpPr>
          <p:cNvPr id="71" name="Shape 69"/>
          <p:cNvSpPr/>
          <p:nvPr/>
        </p:nvSpPr>
        <p:spPr>
          <a:xfrm>
            <a:off x="3571464" y="2429342"/>
            <a:ext cx="56693" cy="56693"/>
          </a:xfrm>
          <a:prstGeom prst="ellipse">
            <a:avLst/>
          </a:prstGeom>
          <a:solidFill>
            <a:srgbClr val="4A90D9"/>
          </a:solidFill>
          <a:ln w="12700">
            <a:solidFill>
              <a:srgbClr val="4A90D9"/>
            </a:solidFill>
            <a:prstDash val="solid"/>
          </a:ln>
        </p:spPr>
      </p:sp>
      <p:sp>
        <p:nvSpPr>
          <p:cNvPr id="72" name="Shape 70"/>
          <p:cNvSpPr/>
          <p:nvPr/>
        </p:nvSpPr>
        <p:spPr>
          <a:xfrm>
            <a:off x="2889132" y="2883118"/>
            <a:ext cx="56693" cy="56693"/>
          </a:xfrm>
          <a:prstGeom prst="ellipse">
            <a:avLst/>
          </a:prstGeom>
          <a:solidFill>
            <a:srgbClr val="4A90D9"/>
          </a:solidFill>
          <a:ln w="12700">
            <a:solidFill>
              <a:srgbClr val="4A90D9"/>
            </a:solidFill>
            <a:prstDash val="solid"/>
          </a:ln>
        </p:spPr>
      </p:sp>
      <p:sp>
        <p:nvSpPr>
          <p:cNvPr id="73" name="Shape 71"/>
          <p:cNvSpPr/>
          <p:nvPr/>
        </p:nvSpPr>
        <p:spPr>
          <a:xfrm>
            <a:off x="664379" y="1738718"/>
            <a:ext cx="56693" cy="56693"/>
          </a:xfrm>
          <a:prstGeom prst="ellipse">
            <a:avLst/>
          </a:prstGeom>
          <a:solidFill>
            <a:srgbClr val="4A90D9"/>
          </a:solidFill>
          <a:ln w="12700">
            <a:solidFill>
              <a:srgbClr val="4A90D9"/>
            </a:solidFill>
            <a:prstDash val="solid"/>
          </a:ln>
        </p:spPr>
      </p:sp>
      <p:sp>
        <p:nvSpPr>
          <p:cNvPr id="74" name="Shape 72"/>
          <p:cNvSpPr/>
          <p:nvPr/>
        </p:nvSpPr>
        <p:spPr>
          <a:xfrm>
            <a:off x="2299813" y="2719000"/>
            <a:ext cx="56693" cy="56693"/>
          </a:xfrm>
          <a:prstGeom prst="ellipse">
            <a:avLst/>
          </a:prstGeom>
          <a:solidFill>
            <a:srgbClr val="4A90D9"/>
          </a:solidFill>
          <a:ln w="12700">
            <a:solidFill>
              <a:srgbClr val="4A90D9"/>
            </a:solidFill>
            <a:prstDash val="solid"/>
          </a:ln>
        </p:spPr>
      </p:sp>
      <p:sp>
        <p:nvSpPr>
          <p:cNvPr id="75" name="Shape 73"/>
          <p:cNvSpPr/>
          <p:nvPr/>
        </p:nvSpPr>
        <p:spPr>
          <a:xfrm>
            <a:off x="3731785" y="1570660"/>
            <a:ext cx="56693" cy="56693"/>
          </a:xfrm>
          <a:prstGeom prst="ellipse">
            <a:avLst/>
          </a:prstGeom>
          <a:solidFill>
            <a:srgbClr val="4A90D9"/>
          </a:solidFill>
          <a:ln w="12700">
            <a:solidFill>
              <a:srgbClr val="4A90D9"/>
            </a:solidFill>
            <a:prstDash val="solid"/>
          </a:ln>
        </p:spPr>
      </p:sp>
      <p:sp>
        <p:nvSpPr>
          <p:cNvPr id="76" name="Shape 74"/>
          <p:cNvSpPr/>
          <p:nvPr/>
        </p:nvSpPr>
        <p:spPr>
          <a:xfrm>
            <a:off x="3725145" y="4055934"/>
            <a:ext cx="56693" cy="56693"/>
          </a:xfrm>
          <a:prstGeom prst="ellipse">
            <a:avLst/>
          </a:prstGeom>
          <a:solidFill>
            <a:srgbClr val="4A90D9"/>
          </a:solidFill>
          <a:ln w="12700">
            <a:solidFill>
              <a:srgbClr val="4A90D9"/>
            </a:solidFill>
            <a:prstDash val="solid"/>
          </a:ln>
        </p:spPr>
      </p:sp>
      <p:sp>
        <p:nvSpPr>
          <p:cNvPr id="77" name="Shape 75"/>
          <p:cNvSpPr/>
          <p:nvPr/>
        </p:nvSpPr>
        <p:spPr>
          <a:xfrm>
            <a:off x="2547507" y="3193420"/>
            <a:ext cx="56693" cy="56693"/>
          </a:xfrm>
          <a:prstGeom prst="ellipse">
            <a:avLst/>
          </a:prstGeom>
          <a:solidFill>
            <a:srgbClr val="4A90D9"/>
          </a:solidFill>
          <a:ln w="12700">
            <a:solidFill>
              <a:srgbClr val="4A90D9"/>
            </a:solidFill>
            <a:prstDash val="solid"/>
          </a:ln>
        </p:spPr>
      </p:sp>
      <p:sp>
        <p:nvSpPr>
          <p:cNvPr id="78" name="Shape 76"/>
          <p:cNvSpPr/>
          <p:nvPr/>
        </p:nvSpPr>
        <p:spPr>
          <a:xfrm>
            <a:off x="2248328" y="2753253"/>
            <a:ext cx="56693" cy="56693"/>
          </a:xfrm>
          <a:prstGeom prst="ellipse">
            <a:avLst/>
          </a:prstGeom>
          <a:solidFill>
            <a:srgbClr val="4A90D9"/>
          </a:solidFill>
          <a:ln w="12700">
            <a:solidFill>
              <a:srgbClr val="4A90D9"/>
            </a:solidFill>
            <a:prstDash val="solid"/>
          </a:ln>
        </p:spPr>
      </p:sp>
      <p:sp>
        <p:nvSpPr>
          <p:cNvPr id="79" name="Shape 77"/>
          <p:cNvSpPr/>
          <p:nvPr/>
        </p:nvSpPr>
        <p:spPr>
          <a:xfrm>
            <a:off x="2222415" y="2125311"/>
            <a:ext cx="56693" cy="56693"/>
          </a:xfrm>
          <a:prstGeom prst="ellipse">
            <a:avLst/>
          </a:prstGeom>
          <a:solidFill>
            <a:srgbClr val="4A90D9"/>
          </a:solidFill>
          <a:ln w="12700">
            <a:solidFill>
              <a:srgbClr val="4A90D9"/>
            </a:solidFill>
            <a:prstDash val="solid"/>
          </a:ln>
        </p:spPr>
      </p:sp>
      <p:sp>
        <p:nvSpPr>
          <p:cNvPr id="80" name="Shape 78"/>
          <p:cNvSpPr/>
          <p:nvPr/>
        </p:nvSpPr>
        <p:spPr>
          <a:xfrm>
            <a:off x="1191348" y="1745889"/>
            <a:ext cx="56693" cy="56693"/>
          </a:xfrm>
          <a:prstGeom prst="ellipse">
            <a:avLst/>
          </a:prstGeom>
          <a:solidFill>
            <a:srgbClr val="4A90D9"/>
          </a:solidFill>
          <a:ln w="12700">
            <a:solidFill>
              <a:srgbClr val="4A90D9"/>
            </a:solidFill>
            <a:prstDash val="solid"/>
          </a:ln>
        </p:spPr>
      </p:sp>
      <p:sp>
        <p:nvSpPr>
          <p:cNvPr id="81" name="Shape 79"/>
          <p:cNvSpPr/>
          <p:nvPr/>
        </p:nvSpPr>
        <p:spPr>
          <a:xfrm>
            <a:off x="1581558" y="4207377"/>
            <a:ext cx="56693" cy="56693"/>
          </a:xfrm>
          <a:prstGeom prst="ellipse">
            <a:avLst/>
          </a:prstGeom>
          <a:solidFill>
            <a:srgbClr val="4A90D9"/>
          </a:solidFill>
          <a:ln w="12700">
            <a:solidFill>
              <a:srgbClr val="4A90D9"/>
            </a:solidFill>
            <a:prstDash val="solid"/>
          </a:ln>
        </p:spPr>
      </p:sp>
      <p:sp>
        <p:nvSpPr>
          <p:cNvPr id="82" name="Shape 80"/>
          <p:cNvSpPr/>
          <p:nvPr/>
        </p:nvSpPr>
        <p:spPr>
          <a:xfrm>
            <a:off x="2633217" y="2123755"/>
            <a:ext cx="56693" cy="56693"/>
          </a:xfrm>
          <a:prstGeom prst="ellipse">
            <a:avLst/>
          </a:prstGeom>
          <a:solidFill>
            <a:srgbClr val="4A90D9"/>
          </a:solidFill>
          <a:ln w="12700">
            <a:solidFill>
              <a:srgbClr val="4A90D9"/>
            </a:solidFill>
            <a:prstDash val="solid"/>
          </a:ln>
        </p:spPr>
      </p:sp>
      <p:sp>
        <p:nvSpPr>
          <p:cNvPr id="83" name="Shape 81"/>
          <p:cNvSpPr/>
          <p:nvPr/>
        </p:nvSpPr>
        <p:spPr>
          <a:xfrm>
            <a:off x="2868189" y="2280302"/>
            <a:ext cx="56693" cy="56693"/>
          </a:xfrm>
          <a:prstGeom prst="ellipse">
            <a:avLst/>
          </a:prstGeom>
          <a:solidFill>
            <a:srgbClr val="4A90D9"/>
          </a:solidFill>
          <a:ln w="12700">
            <a:solidFill>
              <a:srgbClr val="4A90D9"/>
            </a:solidFill>
            <a:prstDash val="solid"/>
          </a:ln>
        </p:spPr>
      </p:sp>
      <p:sp>
        <p:nvSpPr>
          <p:cNvPr id="84" name="Shape 82"/>
          <p:cNvSpPr/>
          <p:nvPr/>
        </p:nvSpPr>
        <p:spPr>
          <a:xfrm>
            <a:off x="2886626" y="3917644"/>
            <a:ext cx="56693" cy="56693"/>
          </a:xfrm>
          <a:prstGeom prst="ellipse">
            <a:avLst/>
          </a:prstGeom>
          <a:solidFill>
            <a:srgbClr val="4A90D9"/>
          </a:solidFill>
          <a:ln w="12700">
            <a:solidFill>
              <a:srgbClr val="4A90D9"/>
            </a:solidFill>
            <a:prstDash val="solid"/>
          </a:ln>
        </p:spPr>
      </p:sp>
      <p:sp>
        <p:nvSpPr>
          <p:cNvPr id="85" name="Shape 83"/>
          <p:cNvSpPr/>
          <p:nvPr/>
        </p:nvSpPr>
        <p:spPr>
          <a:xfrm>
            <a:off x="1322691" y="1665529"/>
            <a:ext cx="56693" cy="56693"/>
          </a:xfrm>
          <a:prstGeom prst="ellipse">
            <a:avLst/>
          </a:prstGeom>
          <a:solidFill>
            <a:srgbClr val="4A90D9"/>
          </a:solidFill>
          <a:ln w="12700">
            <a:solidFill>
              <a:srgbClr val="4A90D9"/>
            </a:solidFill>
            <a:prstDash val="solid"/>
          </a:ln>
        </p:spPr>
      </p:sp>
      <p:sp>
        <p:nvSpPr>
          <p:cNvPr id="86" name="Shape 84"/>
          <p:cNvSpPr/>
          <p:nvPr/>
        </p:nvSpPr>
        <p:spPr>
          <a:xfrm>
            <a:off x="2326702" y="3594965"/>
            <a:ext cx="56693" cy="56693"/>
          </a:xfrm>
          <a:prstGeom prst="ellipse">
            <a:avLst/>
          </a:prstGeom>
          <a:solidFill>
            <a:srgbClr val="4A90D9"/>
          </a:solidFill>
          <a:ln w="12700">
            <a:solidFill>
              <a:srgbClr val="4A90D9"/>
            </a:solidFill>
            <a:prstDash val="solid"/>
          </a:ln>
        </p:spPr>
      </p:sp>
      <p:sp>
        <p:nvSpPr>
          <p:cNvPr id="87" name="Shape 85"/>
          <p:cNvSpPr/>
          <p:nvPr/>
        </p:nvSpPr>
        <p:spPr>
          <a:xfrm>
            <a:off x="2658179" y="2151752"/>
            <a:ext cx="56693" cy="56693"/>
          </a:xfrm>
          <a:prstGeom prst="ellipse">
            <a:avLst/>
          </a:prstGeom>
          <a:solidFill>
            <a:srgbClr val="4A90D9"/>
          </a:solidFill>
          <a:ln w="12700">
            <a:solidFill>
              <a:srgbClr val="4A90D9"/>
            </a:solidFill>
            <a:prstDash val="solid"/>
          </a:ln>
        </p:spPr>
      </p:sp>
      <p:sp>
        <p:nvSpPr>
          <p:cNvPr id="88" name="Shape 86"/>
          <p:cNvSpPr/>
          <p:nvPr/>
        </p:nvSpPr>
        <p:spPr>
          <a:xfrm>
            <a:off x="3082903" y="4066388"/>
            <a:ext cx="56693" cy="56693"/>
          </a:xfrm>
          <a:prstGeom prst="ellipse">
            <a:avLst/>
          </a:prstGeom>
          <a:solidFill>
            <a:srgbClr val="4A90D9"/>
          </a:solidFill>
          <a:ln w="12700">
            <a:solidFill>
              <a:srgbClr val="4A90D9"/>
            </a:solidFill>
            <a:prstDash val="solid"/>
          </a:ln>
        </p:spPr>
      </p:sp>
      <p:sp>
        <p:nvSpPr>
          <p:cNvPr id="89" name="Shape 87"/>
          <p:cNvSpPr/>
          <p:nvPr/>
        </p:nvSpPr>
        <p:spPr>
          <a:xfrm>
            <a:off x="1019873" y="1576892"/>
            <a:ext cx="56693" cy="56693"/>
          </a:xfrm>
          <a:prstGeom prst="ellipse">
            <a:avLst/>
          </a:prstGeom>
          <a:solidFill>
            <a:srgbClr val="4A90D9"/>
          </a:solidFill>
          <a:ln w="12700">
            <a:solidFill>
              <a:srgbClr val="4A90D9"/>
            </a:solidFill>
            <a:prstDash val="solid"/>
          </a:ln>
        </p:spPr>
      </p:sp>
      <p:sp>
        <p:nvSpPr>
          <p:cNvPr id="90" name="Shape 88"/>
          <p:cNvSpPr/>
          <p:nvPr/>
        </p:nvSpPr>
        <p:spPr>
          <a:xfrm>
            <a:off x="1273894" y="1984755"/>
            <a:ext cx="56693" cy="56693"/>
          </a:xfrm>
          <a:prstGeom prst="ellipse">
            <a:avLst/>
          </a:prstGeom>
          <a:solidFill>
            <a:srgbClr val="4A90D9"/>
          </a:solidFill>
          <a:ln w="12700">
            <a:solidFill>
              <a:srgbClr val="4A90D9"/>
            </a:solidFill>
            <a:prstDash val="solid"/>
          </a:ln>
        </p:spPr>
      </p:sp>
      <p:sp>
        <p:nvSpPr>
          <p:cNvPr id="91" name="Shape 89"/>
          <p:cNvSpPr/>
          <p:nvPr/>
        </p:nvSpPr>
        <p:spPr>
          <a:xfrm>
            <a:off x="1997080" y="2151347"/>
            <a:ext cx="56693" cy="56693"/>
          </a:xfrm>
          <a:prstGeom prst="ellipse">
            <a:avLst/>
          </a:prstGeom>
          <a:solidFill>
            <a:srgbClr val="4A90D9"/>
          </a:solidFill>
          <a:ln w="12700">
            <a:solidFill>
              <a:srgbClr val="4A90D9"/>
            </a:solidFill>
            <a:prstDash val="solid"/>
          </a:ln>
        </p:spPr>
      </p:sp>
      <p:sp>
        <p:nvSpPr>
          <p:cNvPr id="92" name="Shape 90"/>
          <p:cNvSpPr/>
          <p:nvPr/>
        </p:nvSpPr>
        <p:spPr>
          <a:xfrm>
            <a:off x="3102932" y="2207916"/>
            <a:ext cx="56693" cy="56693"/>
          </a:xfrm>
          <a:prstGeom prst="ellipse">
            <a:avLst/>
          </a:prstGeom>
          <a:solidFill>
            <a:srgbClr val="4A90D9"/>
          </a:solidFill>
          <a:ln w="12700">
            <a:solidFill>
              <a:srgbClr val="4A90D9"/>
            </a:solidFill>
            <a:prstDash val="solid"/>
          </a:ln>
        </p:spPr>
      </p:sp>
      <p:sp>
        <p:nvSpPr>
          <p:cNvPr id="93" name="Shape 91"/>
          <p:cNvSpPr/>
          <p:nvPr/>
        </p:nvSpPr>
        <p:spPr>
          <a:xfrm>
            <a:off x="624205" y="2037981"/>
            <a:ext cx="56693" cy="56693"/>
          </a:xfrm>
          <a:prstGeom prst="ellipse">
            <a:avLst/>
          </a:prstGeom>
          <a:solidFill>
            <a:srgbClr val="4A90D9"/>
          </a:solidFill>
          <a:ln w="12700">
            <a:solidFill>
              <a:srgbClr val="4A90D9"/>
            </a:solidFill>
            <a:prstDash val="solid"/>
          </a:ln>
        </p:spPr>
      </p:sp>
      <p:sp>
        <p:nvSpPr>
          <p:cNvPr id="94" name="Shape 92"/>
          <p:cNvSpPr/>
          <p:nvPr/>
        </p:nvSpPr>
        <p:spPr>
          <a:xfrm>
            <a:off x="1617570" y="1611202"/>
            <a:ext cx="56693" cy="56693"/>
          </a:xfrm>
          <a:prstGeom prst="ellipse">
            <a:avLst/>
          </a:prstGeom>
          <a:solidFill>
            <a:srgbClr val="4A90D9"/>
          </a:solidFill>
          <a:ln w="12700">
            <a:solidFill>
              <a:srgbClr val="4A90D9"/>
            </a:solidFill>
            <a:prstDash val="solid"/>
          </a:ln>
        </p:spPr>
      </p:sp>
      <p:sp>
        <p:nvSpPr>
          <p:cNvPr id="95" name="Shape 93"/>
          <p:cNvSpPr/>
          <p:nvPr/>
        </p:nvSpPr>
        <p:spPr>
          <a:xfrm>
            <a:off x="3271492" y="1515091"/>
            <a:ext cx="56693" cy="56693"/>
          </a:xfrm>
          <a:prstGeom prst="ellipse">
            <a:avLst/>
          </a:prstGeom>
          <a:solidFill>
            <a:srgbClr val="4A90D9"/>
          </a:solidFill>
          <a:ln w="12700">
            <a:solidFill>
              <a:srgbClr val="4A90D9"/>
            </a:solidFill>
            <a:prstDash val="solid"/>
          </a:ln>
        </p:spPr>
      </p:sp>
      <p:sp>
        <p:nvSpPr>
          <p:cNvPr id="96" name="Shape 94"/>
          <p:cNvSpPr/>
          <p:nvPr/>
        </p:nvSpPr>
        <p:spPr>
          <a:xfrm>
            <a:off x="3465542" y="1686355"/>
            <a:ext cx="56693" cy="56693"/>
          </a:xfrm>
          <a:prstGeom prst="ellipse">
            <a:avLst/>
          </a:prstGeom>
          <a:solidFill>
            <a:srgbClr val="4A90D9"/>
          </a:solidFill>
          <a:ln w="12700">
            <a:solidFill>
              <a:srgbClr val="4A90D9"/>
            </a:solidFill>
            <a:prstDash val="solid"/>
          </a:ln>
        </p:spPr>
      </p:sp>
      <p:sp>
        <p:nvSpPr>
          <p:cNvPr id="97" name="Shape 95"/>
          <p:cNvSpPr/>
          <p:nvPr/>
        </p:nvSpPr>
        <p:spPr>
          <a:xfrm>
            <a:off x="2868129" y="2020673"/>
            <a:ext cx="56693" cy="56693"/>
          </a:xfrm>
          <a:prstGeom prst="ellipse">
            <a:avLst/>
          </a:prstGeom>
          <a:solidFill>
            <a:srgbClr val="4A90D9"/>
          </a:solidFill>
          <a:ln w="12700">
            <a:solidFill>
              <a:srgbClr val="4A90D9"/>
            </a:solidFill>
            <a:prstDash val="solid"/>
          </a:ln>
        </p:spPr>
      </p:sp>
      <p:sp>
        <p:nvSpPr>
          <p:cNvPr id="98" name="Shape 96"/>
          <p:cNvSpPr/>
          <p:nvPr/>
        </p:nvSpPr>
        <p:spPr>
          <a:xfrm>
            <a:off x="3134859" y="2362355"/>
            <a:ext cx="56693" cy="56693"/>
          </a:xfrm>
          <a:prstGeom prst="ellipse">
            <a:avLst/>
          </a:prstGeom>
          <a:solidFill>
            <a:srgbClr val="4A90D9"/>
          </a:solidFill>
          <a:ln w="12700">
            <a:solidFill>
              <a:srgbClr val="4A90D9"/>
            </a:solidFill>
            <a:prstDash val="solid"/>
          </a:ln>
        </p:spPr>
      </p:sp>
      <p:sp>
        <p:nvSpPr>
          <p:cNvPr id="99" name="Shape 97"/>
          <p:cNvSpPr/>
          <p:nvPr/>
        </p:nvSpPr>
        <p:spPr>
          <a:xfrm>
            <a:off x="1746155" y="2997470"/>
            <a:ext cx="56693" cy="56693"/>
          </a:xfrm>
          <a:prstGeom prst="ellipse">
            <a:avLst/>
          </a:prstGeom>
          <a:solidFill>
            <a:srgbClr val="4A90D9"/>
          </a:solidFill>
          <a:ln w="12700">
            <a:solidFill>
              <a:srgbClr val="4A90D9"/>
            </a:solidFill>
            <a:prstDash val="solid"/>
          </a:ln>
        </p:spPr>
      </p:sp>
      <p:sp>
        <p:nvSpPr>
          <p:cNvPr id="100" name="Shape 98"/>
          <p:cNvSpPr/>
          <p:nvPr/>
        </p:nvSpPr>
        <p:spPr>
          <a:xfrm>
            <a:off x="1911505" y="3389684"/>
            <a:ext cx="56693" cy="56693"/>
          </a:xfrm>
          <a:prstGeom prst="ellipse">
            <a:avLst/>
          </a:prstGeom>
          <a:solidFill>
            <a:srgbClr val="4A90D9"/>
          </a:solidFill>
          <a:ln w="12700">
            <a:solidFill>
              <a:srgbClr val="4A90D9"/>
            </a:solidFill>
            <a:prstDash val="solid"/>
          </a:ln>
        </p:spPr>
      </p:sp>
      <p:sp>
        <p:nvSpPr>
          <p:cNvPr id="101" name="Shape 99"/>
          <p:cNvSpPr/>
          <p:nvPr/>
        </p:nvSpPr>
        <p:spPr>
          <a:xfrm>
            <a:off x="2934559" y="3330376"/>
            <a:ext cx="56693" cy="56693"/>
          </a:xfrm>
          <a:prstGeom prst="ellipse">
            <a:avLst/>
          </a:prstGeom>
          <a:solidFill>
            <a:srgbClr val="4A90D9"/>
          </a:solidFill>
          <a:ln w="12700">
            <a:solidFill>
              <a:srgbClr val="4A90D9"/>
            </a:solidFill>
            <a:prstDash val="solid"/>
          </a:ln>
        </p:spPr>
      </p:sp>
      <p:sp>
        <p:nvSpPr>
          <p:cNvPr id="102" name="Shape 100"/>
          <p:cNvSpPr/>
          <p:nvPr/>
        </p:nvSpPr>
        <p:spPr>
          <a:xfrm>
            <a:off x="1855105" y="2345716"/>
            <a:ext cx="56693" cy="56693"/>
          </a:xfrm>
          <a:prstGeom prst="ellipse">
            <a:avLst/>
          </a:prstGeom>
          <a:solidFill>
            <a:srgbClr val="4A90D9"/>
          </a:solidFill>
          <a:ln w="12700">
            <a:solidFill>
              <a:srgbClr val="4A90D9"/>
            </a:solidFill>
            <a:prstDash val="solid"/>
          </a:ln>
        </p:spPr>
      </p:sp>
      <p:sp>
        <p:nvSpPr>
          <p:cNvPr id="103" name="Shape 101"/>
          <p:cNvSpPr/>
          <p:nvPr/>
        </p:nvSpPr>
        <p:spPr>
          <a:xfrm>
            <a:off x="2530030" y="3661441"/>
            <a:ext cx="56693" cy="56693"/>
          </a:xfrm>
          <a:prstGeom prst="ellipse">
            <a:avLst/>
          </a:prstGeom>
          <a:solidFill>
            <a:srgbClr val="4A90D9"/>
          </a:solidFill>
          <a:ln w="12700">
            <a:solidFill>
              <a:srgbClr val="4A90D9"/>
            </a:solidFill>
            <a:prstDash val="solid"/>
          </a:ln>
        </p:spPr>
      </p:sp>
      <p:sp>
        <p:nvSpPr>
          <p:cNvPr id="104" name="Shape 102"/>
          <p:cNvSpPr/>
          <p:nvPr/>
        </p:nvSpPr>
        <p:spPr>
          <a:xfrm>
            <a:off x="3607535" y="2565690"/>
            <a:ext cx="56693" cy="56693"/>
          </a:xfrm>
          <a:prstGeom prst="ellipse">
            <a:avLst/>
          </a:prstGeom>
          <a:solidFill>
            <a:srgbClr val="4A90D9"/>
          </a:solidFill>
          <a:ln w="12700">
            <a:solidFill>
              <a:srgbClr val="4A90D9"/>
            </a:solidFill>
            <a:prstDash val="solid"/>
          </a:ln>
        </p:spPr>
      </p:sp>
      <p:sp>
        <p:nvSpPr>
          <p:cNvPr id="105" name="Shape 103"/>
          <p:cNvSpPr/>
          <p:nvPr/>
        </p:nvSpPr>
        <p:spPr>
          <a:xfrm>
            <a:off x="617399" y="1689483"/>
            <a:ext cx="56693" cy="56693"/>
          </a:xfrm>
          <a:prstGeom prst="ellipse">
            <a:avLst/>
          </a:prstGeom>
          <a:solidFill>
            <a:srgbClr val="4A90D9"/>
          </a:solidFill>
          <a:ln w="12700">
            <a:solidFill>
              <a:srgbClr val="4A90D9"/>
            </a:solidFill>
            <a:prstDash val="solid"/>
          </a:ln>
        </p:spPr>
      </p:sp>
      <p:sp>
        <p:nvSpPr>
          <p:cNvPr id="106" name="Shape 104"/>
          <p:cNvSpPr/>
          <p:nvPr/>
        </p:nvSpPr>
        <p:spPr>
          <a:xfrm>
            <a:off x="3523099" y="3017742"/>
            <a:ext cx="56693" cy="56693"/>
          </a:xfrm>
          <a:prstGeom prst="ellipse">
            <a:avLst/>
          </a:prstGeom>
          <a:solidFill>
            <a:srgbClr val="4A90D9"/>
          </a:solidFill>
          <a:ln w="12700">
            <a:solidFill>
              <a:srgbClr val="4A90D9"/>
            </a:solidFill>
            <a:prstDash val="solid"/>
          </a:ln>
        </p:spPr>
      </p:sp>
      <p:sp>
        <p:nvSpPr>
          <p:cNvPr id="107" name="Shape 105"/>
          <p:cNvSpPr/>
          <p:nvPr/>
        </p:nvSpPr>
        <p:spPr>
          <a:xfrm>
            <a:off x="2418607" y="3950712"/>
            <a:ext cx="56693" cy="56693"/>
          </a:xfrm>
          <a:prstGeom prst="ellipse">
            <a:avLst/>
          </a:prstGeom>
          <a:solidFill>
            <a:srgbClr val="4A90D9"/>
          </a:solidFill>
          <a:ln w="12700">
            <a:solidFill>
              <a:srgbClr val="4A90D9"/>
            </a:solidFill>
            <a:prstDash val="solid"/>
          </a:ln>
        </p:spPr>
      </p:sp>
      <p:sp>
        <p:nvSpPr>
          <p:cNvPr id="108" name="Shape 106"/>
          <p:cNvSpPr/>
          <p:nvPr/>
        </p:nvSpPr>
        <p:spPr>
          <a:xfrm>
            <a:off x="3290521" y="3778969"/>
            <a:ext cx="56693" cy="56693"/>
          </a:xfrm>
          <a:prstGeom prst="ellipse">
            <a:avLst/>
          </a:prstGeom>
          <a:solidFill>
            <a:srgbClr val="4A90D9"/>
          </a:solidFill>
          <a:ln w="12700">
            <a:solidFill>
              <a:srgbClr val="4A90D9"/>
            </a:solidFill>
            <a:prstDash val="solid"/>
          </a:ln>
        </p:spPr>
      </p:sp>
      <p:sp>
        <p:nvSpPr>
          <p:cNvPr id="109" name="Shape 107"/>
          <p:cNvSpPr/>
          <p:nvPr/>
        </p:nvSpPr>
        <p:spPr>
          <a:xfrm>
            <a:off x="3440091" y="1626510"/>
            <a:ext cx="56693" cy="56693"/>
          </a:xfrm>
          <a:prstGeom prst="ellipse">
            <a:avLst/>
          </a:prstGeom>
          <a:solidFill>
            <a:srgbClr val="4A90D9"/>
          </a:solidFill>
          <a:ln w="12700">
            <a:solidFill>
              <a:srgbClr val="4A90D9"/>
            </a:solidFill>
            <a:prstDash val="solid"/>
          </a:ln>
        </p:spPr>
      </p:sp>
      <p:sp>
        <p:nvSpPr>
          <p:cNvPr id="110" name="Shape 108"/>
          <p:cNvSpPr/>
          <p:nvPr/>
        </p:nvSpPr>
        <p:spPr>
          <a:xfrm>
            <a:off x="1798432" y="2587577"/>
            <a:ext cx="56693" cy="56693"/>
          </a:xfrm>
          <a:prstGeom prst="ellipse">
            <a:avLst/>
          </a:prstGeom>
          <a:solidFill>
            <a:srgbClr val="4A90D9"/>
          </a:solidFill>
          <a:ln w="12700">
            <a:solidFill>
              <a:srgbClr val="4A90D9"/>
            </a:solidFill>
            <a:prstDash val="solid"/>
          </a:ln>
        </p:spPr>
      </p:sp>
      <p:sp>
        <p:nvSpPr>
          <p:cNvPr id="111" name="Shape 109"/>
          <p:cNvSpPr/>
          <p:nvPr/>
        </p:nvSpPr>
        <p:spPr>
          <a:xfrm>
            <a:off x="556225" y="2786943"/>
            <a:ext cx="56693" cy="56693"/>
          </a:xfrm>
          <a:prstGeom prst="ellipse">
            <a:avLst/>
          </a:prstGeom>
          <a:solidFill>
            <a:srgbClr val="4A90D9"/>
          </a:solidFill>
          <a:ln w="12700">
            <a:solidFill>
              <a:srgbClr val="4A90D9"/>
            </a:solidFill>
            <a:prstDash val="solid"/>
          </a:ln>
        </p:spPr>
      </p:sp>
      <p:sp>
        <p:nvSpPr>
          <p:cNvPr id="112" name="Shape 110"/>
          <p:cNvSpPr/>
          <p:nvPr/>
        </p:nvSpPr>
        <p:spPr>
          <a:xfrm>
            <a:off x="2785579" y="3173477"/>
            <a:ext cx="56693" cy="56693"/>
          </a:xfrm>
          <a:prstGeom prst="ellipse">
            <a:avLst/>
          </a:prstGeom>
          <a:solidFill>
            <a:srgbClr val="4A90D9"/>
          </a:solidFill>
          <a:ln w="12700">
            <a:solidFill>
              <a:srgbClr val="4A90D9"/>
            </a:solidFill>
            <a:prstDash val="solid"/>
          </a:ln>
        </p:spPr>
      </p:sp>
      <p:sp>
        <p:nvSpPr>
          <p:cNvPr id="113" name="Shape 111"/>
          <p:cNvSpPr/>
          <p:nvPr/>
        </p:nvSpPr>
        <p:spPr>
          <a:xfrm>
            <a:off x="3358494" y="3340454"/>
            <a:ext cx="56693" cy="56693"/>
          </a:xfrm>
          <a:prstGeom prst="ellipse">
            <a:avLst/>
          </a:prstGeom>
          <a:solidFill>
            <a:srgbClr val="4A90D9"/>
          </a:solidFill>
          <a:ln w="12700">
            <a:solidFill>
              <a:srgbClr val="4A90D9"/>
            </a:solidFill>
            <a:prstDash val="solid"/>
          </a:ln>
        </p:spPr>
      </p:sp>
      <p:sp>
        <p:nvSpPr>
          <p:cNvPr id="114" name="Shape 112"/>
          <p:cNvSpPr/>
          <p:nvPr/>
        </p:nvSpPr>
        <p:spPr>
          <a:xfrm>
            <a:off x="2737450" y="1555386"/>
            <a:ext cx="56693" cy="56693"/>
          </a:xfrm>
          <a:prstGeom prst="ellipse">
            <a:avLst/>
          </a:prstGeom>
          <a:solidFill>
            <a:srgbClr val="4A90D9"/>
          </a:solidFill>
          <a:ln w="12700">
            <a:solidFill>
              <a:srgbClr val="4A90D9"/>
            </a:solidFill>
            <a:prstDash val="solid"/>
          </a:ln>
        </p:spPr>
      </p:sp>
      <p:sp>
        <p:nvSpPr>
          <p:cNvPr id="115" name="Shape 113"/>
          <p:cNvSpPr/>
          <p:nvPr/>
        </p:nvSpPr>
        <p:spPr>
          <a:xfrm>
            <a:off x="3279507" y="3039895"/>
            <a:ext cx="56693" cy="56693"/>
          </a:xfrm>
          <a:prstGeom prst="ellipse">
            <a:avLst/>
          </a:prstGeom>
          <a:solidFill>
            <a:srgbClr val="4A90D9"/>
          </a:solidFill>
          <a:ln w="12700">
            <a:solidFill>
              <a:srgbClr val="4A90D9"/>
            </a:solidFill>
            <a:prstDash val="solid"/>
          </a:ln>
        </p:spPr>
      </p:sp>
      <p:sp>
        <p:nvSpPr>
          <p:cNvPr id="116" name="Shape 114"/>
          <p:cNvSpPr/>
          <p:nvPr/>
        </p:nvSpPr>
        <p:spPr>
          <a:xfrm>
            <a:off x="1496586" y="1936045"/>
            <a:ext cx="56693" cy="56693"/>
          </a:xfrm>
          <a:prstGeom prst="ellipse">
            <a:avLst/>
          </a:prstGeom>
          <a:solidFill>
            <a:srgbClr val="4A90D9"/>
          </a:solidFill>
          <a:ln w="12700">
            <a:solidFill>
              <a:srgbClr val="4A90D9"/>
            </a:solidFill>
            <a:prstDash val="solid"/>
          </a:ln>
        </p:spPr>
      </p:sp>
      <p:sp>
        <p:nvSpPr>
          <p:cNvPr id="117" name="Shape 115"/>
          <p:cNvSpPr/>
          <p:nvPr/>
        </p:nvSpPr>
        <p:spPr>
          <a:xfrm>
            <a:off x="1012202" y="1539769"/>
            <a:ext cx="56693" cy="56693"/>
          </a:xfrm>
          <a:prstGeom prst="ellipse">
            <a:avLst/>
          </a:prstGeom>
          <a:solidFill>
            <a:srgbClr val="4A90D9"/>
          </a:solidFill>
          <a:ln w="12700">
            <a:solidFill>
              <a:srgbClr val="4A90D9"/>
            </a:solidFill>
            <a:prstDash val="solid"/>
          </a:ln>
        </p:spPr>
      </p:sp>
      <p:sp>
        <p:nvSpPr>
          <p:cNvPr id="118" name="Shape 116"/>
          <p:cNvSpPr/>
          <p:nvPr/>
        </p:nvSpPr>
        <p:spPr>
          <a:xfrm>
            <a:off x="1074212" y="3424936"/>
            <a:ext cx="56693" cy="56693"/>
          </a:xfrm>
          <a:prstGeom prst="ellipse">
            <a:avLst/>
          </a:prstGeom>
          <a:solidFill>
            <a:srgbClr val="4A90D9"/>
          </a:solidFill>
          <a:ln w="12700">
            <a:solidFill>
              <a:srgbClr val="4A90D9"/>
            </a:solidFill>
            <a:prstDash val="solid"/>
          </a:ln>
        </p:spPr>
      </p:sp>
      <p:sp>
        <p:nvSpPr>
          <p:cNvPr id="119" name="Shape 117"/>
          <p:cNvSpPr/>
          <p:nvPr/>
        </p:nvSpPr>
        <p:spPr>
          <a:xfrm>
            <a:off x="693722" y="1937416"/>
            <a:ext cx="56693" cy="56693"/>
          </a:xfrm>
          <a:prstGeom prst="ellipse">
            <a:avLst/>
          </a:prstGeom>
          <a:solidFill>
            <a:srgbClr val="4A90D9"/>
          </a:solidFill>
          <a:ln w="12700">
            <a:solidFill>
              <a:srgbClr val="4A90D9"/>
            </a:solidFill>
            <a:prstDash val="solid"/>
          </a:ln>
        </p:spPr>
      </p:sp>
      <p:sp>
        <p:nvSpPr>
          <p:cNvPr id="120" name="Shape 118"/>
          <p:cNvSpPr/>
          <p:nvPr/>
        </p:nvSpPr>
        <p:spPr>
          <a:xfrm>
            <a:off x="2815024" y="1846738"/>
            <a:ext cx="56693" cy="56693"/>
          </a:xfrm>
          <a:prstGeom prst="ellipse">
            <a:avLst/>
          </a:prstGeom>
          <a:solidFill>
            <a:srgbClr val="4A90D9"/>
          </a:solidFill>
          <a:ln w="12700">
            <a:solidFill>
              <a:srgbClr val="4A90D9"/>
            </a:solidFill>
            <a:prstDash val="solid"/>
          </a:ln>
        </p:spPr>
      </p:sp>
      <p:sp>
        <p:nvSpPr>
          <p:cNvPr id="121" name="Shape 119"/>
          <p:cNvSpPr/>
          <p:nvPr/>
        </p:nvSpPr>
        <p:spPr>
          <a:xfrm>
            <a:off x="1035196" y="1499918"/>
            <a:ext cx="56693" cy="56693"/>
          </a:xfrm>
          <a:prstGeom prst="ellipse">
            <a:avLst/>
          </a:prstGeom>
          <a:solidFill>
            <a:srgbClr val="4A90D9"/>
          </a:solidFill>
          <a:ln w="12700">
            <a:solidFill>
              <a:srgbClr val="4A90D9"/>
            </a:solidFill>
            <a:prstDash val="solid"/>
          </a:ln>
        </p:spPr>
      </p:sp>
      <p:sp>
        <p:nvSpPr>
          <p:cNvPr id="122" name="Shape 120"/>
          <p:cNvSpPr/>
          <p:nvPr/>
        </p:nvSpPr>
        <p:spPr>
          <a:xfrm>
            <a:off x="935150" y="3804589"/>
            <a:ext cx="56693" cy="56693"/>
          </a:xfrm>
          <a:prstGeom prst="ellipse">
            <a:avLst/>
          </a:prstGeom>
          <a:solidFill>
            <a:srgbClr val="4A90D9"/>
          </a:solidFill>
          <a:ln w="12700">
            <a:solidFill>
              <a:srgbClr val="4A90D9"/>
            </a:solidFill>
            <a:prstDash val="solid"/>
          </a:ln>
        </p:spPr>
      </p:sp>
      <p:sp>
        <p:nvSpPr>
          <p:cNvPr id="123" name="Shape 121"/>
          <p:cNvSpPr/>
          <p:nvPr/>
        </p:nvSpPr>
        <p:spPr>
          <a:xfrm>
            <a:off x="3025835" y="2448037"/>
            <a:ext cx="56693" cy="56693"/>
          </a:xfrm>
          <a:prstGeom prst="ellipse">
            <a:avLst/>
          </a:prstGeom>
          <a:solidFill>
            <a:srgbClr val="4A90D9"/>
          </a:solidFill>
          <a:ln w="12700">
            <a:solidFill>
              <a:srgbClr val="4A90D9"/>
            </a:solidFill>
            <a:prstDash val="solid"/>
          </a:ln>
        </p:spPr>
      </p:sp>
      <p:sp>
        <p:nvSpPr>
          <p:cNvPr id="124" name="Shape 122"/>
          <p:cNvSpPr/>
          <p:nvPr/>
        </p:nvSpPr>
        <p:spPr>
          <a:xfrm>
            <a:off x="7755651" y="2016962"/>
            <a:ext cx="62362" cy="62362"/>
          </a:xfrm>
          <a:prstGeom prst="ellipse">
            <a:avLst/>
          </a:prstGeom>
          <a:solidFill>
            <a:srgbClr val="C0392B"/>
          </a:solidFill>
          <a:ln w="12700">
            <a:solidFill>
              <a:srgbClr val="C0392B"/>
            </a:solidFill>
            <a:prstDash val="solid"/>
          </a:ln>
        </p:spPr>
      </p:sp>
      <p:sp>
        <p:nvSpPr>
          <p:cNvPr id="125" name="Shape 123"/>
          <p:cNvSpPr/>
          <p:nvPr/>
        </p:nvSpPr>
        <p:spPr>
          <a:xfrm>
            <a:off x="7635821" y="2460783"/>
            <a:ext cx="62362" cy="62362"/>
          </a:xfrm>
          <a:prstGeom prst="ellipse">
            <a:avLst/>
          </a:prstGeom>
          <a:solidFill>
            <a:srgbClr val="C0392B"/>
          </a:solidFill>
          <a:ln w="12700">
            <a:solidFill>
              <a:srgbClr val="C0392B"/>
            </a:solidFill>
            <a:prstDash val="solid"/>
          </a:ln>
        </p:spPr>
      </p:sp>
      <p:sp>
        <p:nvSpPr>
          <p:cNvPr id="126" name="Shape 124"/>
          <p:cNvSpPr/>
          <p:nvPr/>
        </p:nvSpPr>
        <p:spPr>
          <a:xfrm>
            <a:off x="7234011" y="3225370"/>
            <a:ext cx="62362" cy="62362"/>
          </a:xfrm>
          <a:prstGeom prst="ellipse">
            <a:avLst/>
          </a:prstGeom>
          <a:solidFill>
            <a:srgbClr val="C0392B"/>
          </a:solidFill>
          <a:ln w="12700">
            <a:solidFill>
              <a:srgbClr val="C0392B"/>
            </a:solidFill>
            <a:prstDash val="solid"/>
          </a:ln>
        </p:spPr>
      </p:sp>
      <p:sp>
        <p:nvSpPr>
          <p:cNvPr id="127" name="Shape 125"/>
          <p:cNvSpPr/>
          <p:nvPr/>
        </p:nvSpPr>
        <p:spPr>
          <a:xfrm>
            <a:off x="5074890" y="3380924"/>
            <a:ext cx="62362" cy="62362"/>
          </a:xfrm>
          <a:prstGeom prst="ellipse">
            <a:avLst/>
          </a:prstGeom>
          <a:solidFill>
            <a:srgbClr val="C0392B"/>
          </a:solidFill>
          <a:ln w="12700">
            <a:solidFill>
              <a:srgbClr val="C0392B"/>
            </a:solidFill>
            <a:prstDash val="solid"/>
          </a:ln>
        </p:spPr>
      </p:sp>
      <p:sp>
        <p:nvSpPr>
          <p:cNvPr id="128" name="Shape 126"/>
          <p:cNvSpPr/>
          <p:nvPr/>
        </p:nvSpPr>
        <p:spPr>
          <a:xfrm>
            <a:off x="8074045" y="1847428"/>
            <a:ext cx="62362" cy="62362"/>
          </a:xfrm>
          <a:prstGeom prst="ellipse">
            <a:avLst/>
          </a:prstGeom>
          <a:solidFill>
            <a:srgbClr val="C0392B"/>
          </a:solidFill>
          <a:ln w="12700">
            <a:solidFill>
              <a:srgbClr val="C0392B"/>
            </a:solidFill>
            <a:prstDash val="solid"/>
          </a:ln>
        </p:spPr>
      </p:sp>
      <p:sp>
        <p:nvSpPr>
          <p:cNvPr id="129" name="Shape 127"/>
          <p:cNvSpPr/>
          <p:nvPr/>
        </p:nvSpPr>
        <p:spPr>
          <a:xfrm>
            <a:off x="6946372" y="2660922"/>
            <a:ext cx="62362" cy="62362"/>
          </a:xfrm>
          <a:prstGeom prst="ellipse">
            <a:avLst/>
          </a:prstGeom>
          <a:solidFill>
            <a:srgbClr val="C0392B"/>
          </a:solidFill>
          <a:ln w="12700">
            <a:solidFill>
              <a:srgbClr val="C0392B"/>
            </a:solidFill>
            <a:prstDash val="solid"/>
          </a:ln>
        </p:spPr>
      </p:sp>
      <p:sp>
        <p:nvSpPr>
          <p:cNvPr id="130" name="Shape 128"/>
          <p:cNvSpPr/>
          <p:nvPr/>
        </p:nvSpPr>
        <p:spPr>
          <a:xfrm>
            <a:off x="7672358" y="3903385"/>
            <a:ext cx="62362" cy="62362"/>
          </a:xfrm>
          <a:prstGeom prst="ellipse">
            <a:avLst/>
          </a:prstGeom>
          <a:solidFill>
            <a:srgbClr val="C0392B"/>
          </a:solidFill>
          <a:ln w="12700">
            <a:solidFill>
              <a:srgbClr val="C0392B"/>
            </a:solidFill>
            <a:prstDash val="solid"/>
          </a:ln>
        </p:spPr>
      </p:sp>
      <p:sp>
        <p:nvSpPr>
          <p:cNvPr id="131" name="Shape 129"/>
          <p:cNvSpPr/>
          <p:nvPr/>
        </p:nvSpPr>
        <p:spPr>
          <a:xfrm>
            <a:off x="6351172" y="2289255"/>
            <a:ext cx="62362" cy="62362"/>
          </a:xfrm>
          <a:prstGeom prst="ellipse">
            <a:avLst/>
          </a:prstGeom>
          <a:solidFill>
            <a:srgbClr val="C0392B"/>
          </a:solidFill>
          <a:ln w="12700">
            <a:solidFill>
              <a:srgbClr val="C0392B"/>
            </a:solidFill>
            <a:prstDash val="solid"/>
          </a:ln>
        </p:spPr>
      </p:sp>
      <p:sp>
        <p:nvSpPr>
          <p:cNvPr id="132" name="Shape 130"/>
          <p:cNvSpPr/>
          <p:nvPr/>
        </p:nvSpPr>
        <p:spPr>
          <a:xfrm>
            <a:off x="5363323" y="3492120"/>
            <a:ext cx="62362" cy="62362"/>
          </a:xfrm>
          <a:prstGeom prst="ellipse">
            <a:avLst/>
          </a:prstGeom>
          <a:solidFill>
            <a:srgbClr val="C0392B"/>
          </a:solidFill>
          <a:ln w="12700">
            <a:solidFill>
              <a:srgbClr val="C0392B"/>
            </a:solidFill>
            <a:prstDash val="solid"/>
          </a:ln>
        </p:spPr>
      </p:sp>
      <p:sp>
        <p:nvSpPr>
          <p:cNvPr id="133" name="Shape 131"/>
          <p:cNvSpPr/>
          <p:nvPr/>
        </p:nvSpPr>
        <p:spPr>
          <a:xfrm>
            <a:off x="7793262" y="4172641"/>
            <a:ext cx="62362" cy="62362"/>
          </a:xfrm>
          <a:prstGeom prst="ellipse">
            <a:avLst/>
          </a:prstGeom>
          <a:solidFill>
            <a:srgbClr val="C0392B"/>
          </a:solidFill>
          <a:ln w="12700">
            <a:solidFill>
              <a:srgbClr val="C0392B"/>
            </a:solidFill>
            <a:prstDash val="solid"/>
          </a:ln>
        </p:spPr>
      </p:sp>
      <p:sp>
        <p:nvSpPr>
          <p:cNvPr id="134" name="Shape 132"/>
          <p:cNvSpPr/>
          <p:nvPr/>
        </p:nvSpPr>
        <p:spPr>
          <a:xfrm>
            <a:off x="5795060" y="3283797"/>
            <a:ext cx="62362" cy="62362"/>
          </a:xfrm>
          <a:prstGeom prst="ellipse">
            <a:avLst/>
          </a:prstGeom>
          <a:solidFill>
            <a:srgbClr val="C0392B"/>
          </a:solidFill>
          <a:ln w="12700">
            <a:solidFill>
              <a:srgbClr val="C0392B"/>
            </a:solidFill>
            <a:prstDash val="solid"/>
          </a:ln>
        </p:spPr>
      </p:sp>
      <p:sp>
        <p:nvSpPr>
          <p:cNvPr id="135" name="Shape 133"/>
          <p:cNvSpPr/>
          <p:nvPr/>
        </p:nvSpPr>
        <p:spPr>
          <a:xfrm>
            <a:off x="7438468" y="2314200"/>
            <a:ext cx="62362" cy="62362"/>
          </a:xfrm>
          <a:prstGeom prst="ellipse">
            <a:avLst/>
          </a:prstGeom>
          <a:solidFill>
            <a:srgbClr val="C0392B"/>
          </a:solidFill>
          <a:ln w="12700">
            <a:solidFill>
              <a:srgbClr val="C0392B"/>
            </a:solidFill>
            <a:prstDash val="solid"/>
          </a:ln>
        </p:spPr>
      </p:sp>
      <p:sp>
        <p:nvSpPr>
          <p:cNvPr id="136" name="Shape 134"/>
          <p:cNvSpPr/>
          <p:nvPr/>
        </p:nvSpPr>
        <p:spPr>
          <a:xfrm>
            <a:off x="6368948" y="3119379"/>
            <a:ext cx="62362" cy="62362"/>
          </a:xfrm>
          <a:prstGeom prst="ellipse">
            <a:avLst/>
          </a:prstGeom>
          <a:solidFill>
            <a:srgbClr val="C0392B"/>
          </a:solidFill>
          <a:ln w="12700">
            <a:solidFill>
              <a:srgbClr val="C0392B"/>
            </a:solidFill>
            <a:prstDash val="solid"/>
          </a:ln>
        </p:spPr>
      </p:sp>
      <p:sp>
        <p:nvSpPr>
          <p:cNvPr id="137" name="Shape 135"/>
          <p:cNvSpPr/>
          <p:nvPr/>
        </p:nvSpPr>
        <p:spPr>
          <a:xfrm>
            <a:off x="6237671" y="1680974"/>
            <a:ext cx="62362" cy="62362"/>
          </a:xfrm>
          <a:prstGeom prst="ellipse">
            <a:avLst/>
          </a:prstGeom>
          <a:solidFill>
            <a:srgbClr val="C0392B"/>
          </a:solidFill>
          <a:ln w="12700">
            <a:solidFill>
              <a:srgbClr val="C0392B"/>
            </a:solidFill>
            <a:prstDash val="solid"/>
          </a:ln>
        </p:spPr>
      </p:sp>
      <p:sp>
        <p:nvSpPr>
          <p:cNvPr id="138" name="Shape 136"/>
          <p:cNvSpPr/>
          <p:nvPr/>
        </p:nvSpPr>
        <p:spPr>
          <a:xfrm>
            <a:off x="8198351" y="3701339"/>
            <a:ext cx="62362" cy="62362"/>
          </a:xfrm>
          <a:prstGeom prst="ellipse">
            <a:avLst/>
          </a:prstGeom>
          <a:solidFill>
            <a:srgbClr val="C0392B"/>
          </a:solidFill>
          <a:ln w="12700">
            <a:solidFill>
              <a:srgbClr val="C0392B"/>
            </a:solidFill>
            <a:prstDash val="solid"/>
          </a:ln>
        </p:spPr>
      </p:sp>
      <p:sp>
        <p:nvSpPr>
          <p:cNvPr id="139" name="Shape 137"/>
          <p:cNvSpPr/>
          <p:nvPr/>
        </p:nvSpPr>
        <p:spPr>
          <a:xfrm>
            <a:off x="4755382" y="2690167"/>
            <a:ext cx="62362" cy="62362"/>
          </a:xfrm>
          <a:prstGeom prst="ellipse">
            <a:avLst/>
          </a:prstGeom>
          <a:solidFill>
            <a:srgbClr val="C0392B"/>
          </a:solidFill>
          <a:ln w="12700">
            <a:solidFill>
              <a:srgbClr val="C0392B"/>
            </a:solidFill>
            <a:prstDash val="solid"/>
          </a:ln>
        </p:spPr>
      </p:sp>
      <p:sp>
        <p:nvSpPr>
          <p:cNvPr id="140" name="Shape 138"/>
          <p:cNvSpPr/>
          <p:nvPr/>
        </p:nvSpPr>
        <p:spPr>
          <a:xfrm>
            <a:off x="7138211" y="3808477"/>
            <a:ext cx="62362" cy="62362"/>
          </a:xfrm>
          <a:prstGeom prst="ellipse">
            <a:avLst/>
          </a:prstGeom>
          <a:solidFill>
            <a:srgbClr val="C0392B"/>
          </a:solidFill>
          <a:ln w="12700">
            <a:solidFill>
              <a:srgbClr val="C0392B"/>
            </a:solidFill>
            <a:prstDash val="solid"/>
          </a:ln>
        </p:spPr>
      </p:sp>
      <p:sp>
        <p:nvSpPr>
          <p:cNvPr id="141" name="Shape 139"/>
          <p:cNvSpPr/>
          <p:nvPr/>
        </p:nvSpPr>
        <p:spPr>
          <a:xfrm>
            <a:off x="6488517" y="2587785"/>
            <a:ext cx="62362" cy="62362"/>
          </a:xfrm>
          <a:prstGeom prst="ellipse">
            <a:avLst/>
          </a:prstGeom>
          <a:solidFill>
            <a:srgbClr val="C0392B"/>
          </a:solidFill>
          <a:ln w="12700">
            <a:solidFill>
              <a:srgbClr val="C0392B"/>
            </a:solidFill>
            <a:prstDash val="solid"/>
          </a:ln>
        </p:spPr>
      </p:sp>
      <p:sp>
        <p:nvSpPr>
          <p:cNvPr id="142" name="Shape 140"/>
          <p:cNvSpPr/>
          <p:nvPr/>
        </p:nvSpPr>
        <p:spPr>
          <a:xfrm>
            <a:off x="8124728" y="4122432"/>
            <a:ext cx="62362" cy="62362"/>
          </a:xfrm>
          <a:prstGeom prst="ellipse">
            <a:avLst/>
          </a:prstGeom>
          <a:solidFill>
            <a:srgbClr val="C0392B"/>
          </a:solidFill>
          <a:ln w="12700">
            <a:solidFill>
              <a:srgbClr val="C0392B"/>
            </a:solidFill>
            <a:prstDash val="solid"/>
          </a:ln>
        </p:spPr>
      </p:sp>
      <p:sp>
        <p:nvSpPr>
          <p:cNvPr id="143" name="Shape 141"/>
          <p:cNvSpPr/>
          <p:nvPr/>
        </p:nvSpPr>
        <p:spPr>
          <a:xfrm>
            <a:off x="5736189" y="2688265"/>
            <a:ext cx="62362" cy="62362"/>
          </a:xfrm>
          <a:prstGeom prst="ellipse">
            <a:avLst/>
          </a:prstGeom>
          <a:solidFill>
            <a:srgbClr val="C0392B"/>
          </a:solidFill>
          <a:ln w="12700">
            <a:solidFill>
              <a:srgbClr val="C0392B"/>
            </a:solidFill>
            <a:prstDash val="solid"/>
          </a:ln>
        </p:spPr>
      </p:sp>
      <p:sp>
        <p:nvSpPr>
          <p:cNvPr id="144" name="Shape 142"/>
          <p:cNvSpPr/>
          <p:nvPr/>
        </p:nvSpPr>
        <p:spPr>
          <a:xfrm>
            <a:off x="6022086" y="3839326"/>
            <a:ext cx="62362" cy="62362"/>
          </a:xfrm>
          <a:prstGeom prst="ellipse">
            <a:avLst/>
          </a:prstGeom>
          <a:solidFill>
            <a:srgbClr val="C0392B"/>
          </a:solidFill>
          <a:ln w="12700">
            <a:solidFill>
              <a:srgbClr val="C0392B"/>
            </a:solidFill>
            <a:prstDash val="solid"/>
          </a:ln>
        </p:spPr>
      </p:sp>
      <p:sp>
        <p:nvSpPr>
          <p:cNvPr id="145" name="Shape 143"/>
          <p:cNvSpPr/>
          <p:nvPr/>
        </p:nvSpPr>
        <p:spPr>
          <a:xfrm>
            <a:off x="5725718" y="4048165"/>
            <a:ext cx="62362" cy="62362"/>
          </a:xfrm>
          <a:prstGeom prst="ellipse">
            <a:avLst/>
          </a:prstGeom>
          <a:solidFill>
            <a:srgbClr val="C0392B"/>
          </a:solidFill>
          <a:ln w="12700">
            <a:solidFill>
              <a:srgbClr val="C0392B"/>
            </a:solidFill>
            <a:prstDash val="solid"/>
          </a:ln>
        </p:spPr>
      </p:sp>
      <p:sp>
        <p:nvSpPr>
          <p:cNvPr id="146" name="Shape 144"/>
          <p:cNvSpPr/>
          <p:nvPr/>
        </p:nvSpPr>
        <p:spPr>
          <a:xfrm>
            <a:off x="5587667" y="3607454"/>
            <a:ext cx="62362" cy="62362"/>
          </a:xfrm>
          <a:prstGeom prst="ellipse">
            <a:avLst/>
          </a:prstGeom>
          <a:solidFill>
            <a:srgbClr val="C0392B"/>
          </a:solidFill>
          <a:ln w="12700">
            <a:solidFill>
              <a:srgbClr val="C0392B"/>
            </a:solidFill>
            <a:prstDash val="solid"/>
          </a:ln>
        </p:spPr>
      </p:sp>
      <p:sp>
        <p:nvSpPr>
          <p:cNvPr id="147" name="Shape 145"/>
          <p:cNvSpPr/>
          <p:nvPr/>
        </p:nvSpPr>
        <p:spPr>
          <a:xfrm>
            <a:off x="5622355" y="3415295"/>
            <a:ext cx="62362" cy="62362"/>
          </a:xfrm>
          <a:prstGeom prst="ellipse">
            <a:avLst/>
          </a:prstGeom>
          <a:solidFill>
            <a:srgbClr val="C0392B"/>
          </a:solidFill>
          <a:ln w="12700">
            <a:solidFill>
              <a:srgbClr val="C0392B"/>
            </a:solidFill>
            <a:prstDash val="solid"/>
          </a:ln>
        </p:spPr>
      </p:sp>
      <p:sp>
        <p:nvSpPr>
          <p:cNvPr id="148" name="Shape 146"/>
          <p:cNvSpPr/>
          <p:nvPr/>
        </p:nvSpPr>
        <p:spPr>
          <a:xfrm>
            <a:off x="6041014" y="2103436"/>
            <a:ext cx="62362" cy="62362"/>
          </a:xfrm>
          <a:prstGeom prst="ellipse">
            <a:avLst/>
          </a:prstGeom>
          <a:solidFill>
            <a:srgbClr val="C0392B"/>
          </a:solidFill>
          <a:ln w="12700">
            <a:solidFill>
              <a:srgbClr val="C0392B"/>
            </a:solidFill>
            <a:prstDash val="solid"/>
          </a:ln>
        </p:spPr>
      </p:sp>
      <p:sp>
        <p:nvSpPr>
          <p:cNvPr id="149" name="Shape 147"/>
          <p:cNvSpPr/>
          <p:nvPr/>
        </p:nvSpPr>
        <p:spPr>
          <a:xfrm>
            <a:off x="6871639" y="4172074"/>
            <a:ext cx="62362" cy="62362"/>
          </a:xfrm>
          <a:prstGeom prst="ellipse">
            <a:avLst/>
          </a:prstGeom>
          <a:solidFill>
            <a:srgbClr val="C0392B"/>
          </a:solidFill>
          <a:ln w="12700">
            <a:solidFill>
              <a:srgbClr val="C0392B"/>
            </a:solidFill>
            <a:prstDash val="solid"/>
          </a:ln>
        </p:spPr>
      </p:sp>
      <p:sp>
        <p:nvSpPr>
          <p:cNvPr id="150" name="Shape 148"/>
          <p:cNvSpPr/>
          <p:nvPr/>
        </p:nvSpPr>
        <p:spPr>
          <a:xfrm>
            <a:off x="7770978" y="4199450"/>
            <a:ext cx="62362" cy="62362"/>
          </a:xfrm>
          <a:prstGeom prst="ellipse">
            <a:avLst/>
          </a:prstGeom>
          <a:solidFill>
            <a:srgbClr val="C0392B"/>
          </a:solidFill>
          <a:ln w="12700">
            <a:solidFill>
              <a:srgbClr val="C0392B"/>
            </a:solidFill>
            <a:prstDash val="solid"/>
          </a:ln>
        </p:spPr>
      </p:sp>
      <p:sp>
        <p:nvSpPr>
          <p:cNvPr id="151" name="Shape 149"/>
          <p:cNvSpPr/>
          <p:nvPr/>
        </p:nvSpPr>
        <p:spPr>
          <a:xfrm>
            <a:off x="8117424" y="2202713"/>
            <a:ext cx="62362" cy="62362"/>
          </a:xfrm>
          <a:prstGeom prst="ellipse">
            <a:avLst/>
          </a:prstGeom>
          <a:solidFill>
            <a:srgbClr val="C0392B"/>
          </a:solidFill>
          <a:ln w="12700">
            <a:solidFill>
              <a:srgbClr val="C0392B"/>
            </a:solidFill>
            <a:prstDash val="solid"/>
          </a:ln>
        </p:spPr>
      </p:sp>
      <p:sp>
        <p:nvSpPr>
          <p:cNvPr id="152" name="Shape 150"/>
          <p:cNvSpPr/>
          <p:nvPr/>
        </p:nvSpPr>
        <p:spPr>
          <a:xfrm>
            <a:off x="7174954" y="1891091"/>
            <a:ext cx="62362" cy="62362"/>
          </a:xfrm>
          <a:prstGeom prst="ellipse">
            <a:avLst/>
          </a:prstGeom>
          <a:solidFill>
            <a:srgbClr val="C0392B"/>
          </a:solidFill>
          <a:ln w="12700">
            <a:solidFill>
              <a:srgbClr val="C0392B"/>
            </a:solidFill>
            <a:prstDash val="solid"/>
          </a:ln>
        </p:spPr>
      </p:sp>
      <p:sp>
        <p:nvSpPr>
          <p:cNvPr id="153" name="Shape 151"/>
          <p:cNvSpPr/>
          <p:nvPr/>
        </p:nvSpPr>
        <p:spPr>
          <a:xfrm>
            <a:off x="6464605" y="1828324"/>
            <a:ext cx="62362" cy="62362"/>
          </a:xfrm>
          <a:prstGeom prst="ellipse">
            <a:avLst/>
          </a:prstGeom>
          <a:solidFill>
            <a:srgbClr val="C0392B"/>
          </a:solidFill>
          <a:ln w="12700">
            <a:solidFill>
              <a:srgbClr val="C0392B"/>
            </a:solidFill>
            <a:prstDash val="solid"/>
          </a:ln>
        </p:spPr>
      </p:sp>
      <p:sp>
        <p:nvSpPr>
          <p:cNvPr id="154" name="Shape 152"/>
          <p:cNvSpPr/>
          <p:nvPr/>
        </p:nvSpPr>
        <p:spPr>
          <a:xfrm>
            <a:off x="6050319" y="2384883"/>
            <a:ext cx="62362" cy="62362"/>
          </a:xfrm>
          <a:prstGeom prst="ellipse">
            <a:avLst/>
          </a:prstGeom>
          <a:solidFill>
            <a:srgbClr val="C0392B"/>
          </a:solidFill>
          <a:ln w="12700">
            <a:solidFill>
              <a:srgbClr val="C0392B"/>
            </a:solidFill>
            <a:prstDash val="solid"/>
          </a:ln>
        </p:spPr>
      </p:sp>
      <p:sp>
        <p:nvSpPr>
          <p:cNvPr id="155" name="Shape 153"/>
          <p:cNvSpPr/>
          <p:nvPr/>
        </p:nvSpPr>
        <p:spPr>
          <a:xfrm>
            <a:off x="6924907" y="3968729"/>
            <a:ext cx="62362" cy="62362"/>
          </a:xfrm>
          <a:prstGeom prst="ellipse">
            <a:avLst/>
          </a:prstGeom>
          <a:solidFill>
            <a:srgbClr val="C0392B"/>
          </a:solidFill>
          <a:ln w="12700">
            <a:solidFill>
              <a:srgbClr val="C0392B"/>
            </a:solidFill>
            <a:prstDash val="solid"/>
          </a:ln>
        </p:spPr>
      </p:sp>
      <p:sp>
        <p:nvSpPr>
          <p:cNvPr id="156" name="Shape 154"/>
          <p:cNvSpPr/>
          <p:nvPr/>
        </p:nvSpPr>
        <p:spPr>
          <a:xfrm>
            <a:off x="5672475" y="1697001"/>
            <a:ext cx="62362" cy="62362"/>
          </a:xfrm>
          <a:prstGeom prst="ellipse">
            <a:avLst/>
          </a:prstGeom>
          <a:solidFill>
            <a:srgbClr val="C0392B"/>
          </a:solidFill>
          <a:ln w="12700">
            <a:solidFill>
              <a:srgbClr val="C0392B"/>
            </a:solidFill>
            <a:prstDash val="solid"/>
          </a:ln>
        </p:spPr>
      </p:sp>
      <p:sp>
        <p:nvSpPr>
          <p:cNvPr id="157" name="Shape 155"/>
          <p:cNvSpPr/>
          <p:nvPr/>
        </p:nvSpPr>
        <p:spPr>
          <a:xfrm>
            <a:off x="6956361" y="1581801"/>
            <a:ext cx="62362" cy="62362"/>
          </a:xfrm>
          <a:prstGeom prst="ellipse">
            <a:avLst/>
          </a:prstGeom>
          <a:solidFill>
            <a:srgbClr val="C0392B"/>
          </a:solidFill>
          <a:ln w="12700">
            <a:solidFill>
              <a:srgbClr val="C0392B"/>
            </a:solidFill>
            <a:prstDash val="solid"/>
          </a:ln>
        </p:spPr>
      </p:sp>
      <p:sp>
        <p:nvSpPr>
          <p:cNvPr id="158" name="Shape 156"/>
          <p:cNvSpPr/>
          <p:nvPr/>
        </p:nvSpPr>
        <p:spPr>
          <a:xfrm>
            <a:off x="4830583" y="2716769"/>
            <a:ext cx="62362" cy="62362"/>
          </a:xfrm>
          <a:prstGeom prst="ellipse">
            <a:avLst/>
          </a:prstGeom>
          <a:solidFill>
            <a:srgbClr val="C0392B"/>
          </a:solidFill>
          <a:ln w="12700">
            <a:solidFill>
              <a:srgbClr val="C0392B"/>
            </a:solidFill>
            <a:prstDash val="solid"/>
          </a:ln>
        </p:spPr>
      </p:sp>
      <p:sp>
        <p:nvSpPr>
          <p:cNvPr id="159" name="Shape 157"/>
          <p:cNvSpPr/>
          <p:nvPr/>
        </p:nvSpPr>
        <p:spPr>
          <a:xfrm>
            <a:off x="6725345" y="1943670"/>
            <a:ext cx="62362" cy="62362"/>
          </a:xfrm>
          <a:prstGeom prst="ellipse">
            <a:avLst/>
          </a:prstGeom>
          <a:solidFill>
            <a:srgbClr val="C0392B"/>
          </a:solidFill>
          <a:ln w="12700">
            <a:solidFill>
              <a:srgbClr val="C0392B"/>
            </a:solidFill>
            <a:prstDash val="solid"/>
          </a:ln>
        </p:spPr>
      </p:sp>
      <p:sp>
        <p:nvSpPr>
          <p:cNvPr id="160" name="Shape 158"/>
          <p:cNvSpPr/>
          <p:nvPr/>
        </p:nvSpPr>
        <p:spPr>
          <a:xfrm>
            <a:off x="4952348" y="1554620"/>
            <a:ext cx="62362" cy="62362"/>
          </a:xfrm>
          <a:prstGeom prst="ellipse">
            <a:avLst/>
          </a:prstGeom>
          <a:solidFill>
            <a:srgbClr val="C0392B"/>
          </a:solidFill>
          <a:ln w="12700">
            <a:solidFill>
              <a:srgbClr val="C0392B"/>
            </a:solidFill>
            <a:prstDash val="solid"/>
          </a:ln>
        </p:spPr>
      </p:sp>
      <p:sp>
        <p:nvSpPr>
          <p:cNvPr id="161" name="Shape 159"/>
          <p:cNvSpPr/>
          <p:nvPr/>
        </p:nvSpPr>
        <p:spPr>
          <a:xfrm>
            <a:off x="7216603" y="1715141"/>
            <a:ext cx="62362" cy="62362"/>
          </a:xfrm>
          <a:prstGeom prst="ellipse">
            <a:avLst/>
          </a:prstGeom>
          <a:solidFill>
            <a:srgbClr val="C0392B"/>
          </a:solidFill>
          <a:ln w="12700">
            <a:solidFill>
              <a:srgbClr val="C0392B"/>
            </a:solidFill>
            <a:prstDash val="solid"/>
          </a:ln>
        </p:spPr>
      </p:sp>
      <p:sp>
        <p:nvSpPr>
          <p:cNvPr id="162" name="Shape 160"/>
          <p:cNvSpPr/>
          <p:nvPr/>
        </p:nvSpPr>
        <p:spPr>
          <a:xfrm>
            <a:off x="5441406" y="2725242"/>
            <a:ext cx="62362" cy="62362"/>
          </a:xfrm>
          <a:prstGeom prst="ellipse">
            <a:avLst/>
          </a:prstGeom>
          <a:solidFill>
            <a:srgbClr val="C0392B"/>
          </a:solidFill>
          <a:ln w="12700">
            <a:solidFill>
              <a:srgbClr val="C0392B"/>
            </a:solidFill>
            <a:prstDash val="solid"/>
          </a:ln>
        </p:spPr>
      </p:sp>
      <p:sp>
        <p:nvSpPr>
          <p:cNvPr id="163" name="Shape 161"/>
          <p:cNvSpPr/>
          <p:nvPr/>
        </p:nvSpPr>
        <p:spPr>
          <a:xfrm>
            <a:off x="5138561" y="3143749"/>
            <a:ext cx="62362" cy="62362"/>
          </a:xfrm>
          <a:prstGeom prst="ellipse">
            <a:avLst/>
          </a:prstGeom>
          <a:solidFill>
            <a:srgbClr val="C0392B"/>
          </a:solidFill>
          <a:ln w="12700">
            <a:solidFill>
              <a:srgbClr val="C0392B"/>
            </a:solidFill>
            <a:prstDash val="solid"/>
          </a:ln>
        </p:spPr>
      </p:sp>
      <p:sp>
        <p:nvSpPr>
          <p:cNvPr id="164" name="Shape 162"/>
          <p:cNvSpPr/>
          <p:nvPr/>
        </p:nvSpPr>
        <p:spPr>
          <a:xfrm>
            <a:off x="7068271" y="4179144"/>
            <a:ext cx="62362" cy="62362"/>
          </a:xfrm>
          <a:prstGeom prst="ellipse">
            <a:avLst/>
          </a:prstGeom>
          <a:solidFill>
            <a:srgbClr val="C0392B"/>
          </a:solidFill>
          <a:ln w="12700">
            <a:solidFill>
              <a:srgbClr val="C0392B"/>
            </a:solidFill>
            <a:prstDash val="solid"/>
          </a:ln>
        </p:spPr>
      </p:sp>
      <p:sp>
        <p:nvSpPr>
          <p:cNvPr id="165" name="Shape 163"/>
          <p:cNvSpPr/>
          <p:nvPr/>
        </p:nvSpPr>
        <p:spPr>
          <a:xfrm>
            <a:off x="6837382" y="2586042"/>
            <a:ext cx="62362" cy="62362"/>
          </a:xfrm>
          <a:prstGeom prst="ellipse">
            <a:avLst/>
          </a:prstGeom>
          <a:solidFill>
            <a:srgbClr val="C0392B"/>
          </a:solidFill>
          <a:ln w="12700">
            <a:solidFill>
              <a:srgbClr val="C0392B"/>
            </a:solidFill>
            <a:prstDash val="solid"/>
          </a:ln>
        </p:spPr>
      </p:sp>
      <p:sp>
        <p:nvSpPr>
          <p:cNvPr id="166" name="Shape 164"/>
          <p:cNvSpPr/>
          <p:nvPr/>
        </p:nvSpPr>
        <p:spPr>
          <a:xfrm>
            <a:off x="6383780" y="3146686"/>
            <a:ext cx="56693" cy="56693"/>
          </a:xfrm>
          <a:prstGeom prst="ellipse">
            <a:avLst/>
          </a:prstGeom>
          <a:solidFill>
            <a:srgbClr val="4A90D9"/>
          </a:solidFill>
          <a:ln w="12700">
            <a:solidFill>
              <a:srgbClr val="4A90D9"/>
            </a:solidFill>
            <a:prstDash val="solid"/>
          </a:ln>
        </p:spPr>
      </p:sp>
      <p:sp>
        <p:nvSpPr>
          <p:cNvPr id="167" name="Shape 165"/>
          <p:cNvSpPr/>
          <p:nvPr/>
        </p:nvSpPr>
        <p:spPr>
          <a:xfrm>
            <a:off x="6405055" y="1564468"/>
            <a:ext cx="56693" cy="56693"/>
          </a:xfrm>
          <a:prstGeom prst="ellipse">
            <a:avLst/>
          </a:prstGeom>
          <a:solidFill>
            <a:srgbClr val="4A90D9"/>
          </a:solidFill>
          <a:ln w="12700">
            <a:solidFill>
              <a:srgbClr val="4A90D9"/>
            </a:solidFill>
            <a:prstDash val="solid"/>
          </a:ln>
        </p:spPr>
      </p:sp>
      <p:sp>
        <p:nvSpPr>
          <p:cNvPr id="168" name="Shape 166"/>
          <p:cNvSpPr/>
          <p:nvPr/>
        </p:nvSpPr>
        <p:spPr>
          <a:xfrm>
            <a:off x="4736581" y="3766050"/>
            <a:ext cx="56693" cy="56693"/>
          </a:xfrm>
          <a:prstGeom prst="ellipse">
            <a:avLst/>
          </a:prstGeom>
          <a:solidFill>
            <a:srgbClr val="4A90D9"/>
          </a:solidFill>
          <a:ln w="12700">
            <a:solidFill>
              <a:srgbClr val="4A90D9"/>
            </a:solidFill>
            <a:prstDash val="solid"/>
          </a:ln>
        </p:spPr>
      </p:sp>
      <p:sp>
        <p:nvSpPr>
          <p:cNvPr id="169" name="Shape 167"/>
          <p:cNvSpPr/>
          <p:nvPr/>
        </p:nvSpPr>
        <p:spPr>
          <a:xfrm>
            <a:off x="5100920" y="1684702"/>
            <a:ext cx="56693" cy="56693"/>
          </a:xfrm>
          <a:prstGeom prst="ellipse">
            <a:avLst/>
          </a:prstGeom>
          <a:solidFill>
            <a:srgbClr val="4A90D9"/>
          </a:solidFill>
          <a:ln w="12700">
            <a:solidFill>
              <a:srgbClr val="4A90D9"/>
            </a:solidFill>
            <a:prstDash val="solid"/>
          </a:ln>
        </p:spPr>
      </p:sp>
      <p:sp>
        <p:nvSpPr>
          <p:cNvPr id="170" name="Shape 168"/>
          <p:cNvSpPr/>
          <p:nvPr/>
        </p:nvSpPr>
        <p:spPr>
          <a:xfrm>
            <a:off x="4857666" y="4113507"/>
            <a:ext cx="56693" cy="56693"/>
          </a:xfrm>
          <a:prstGeom prst="ellipse">
            <a:avLst/>
          </a:prstGeom>
          <a:solidFill>
            <a:srgbClr val="4A90D9"/>
          </a:solidFill>
          <a:ln w="12700">
            <a:solidFill>
              <a:srgbClr val="4A90D9"/>
            </a:solidFill>
            <a:prstDash val="solid"/>
          </a:ln>
        </p:spPr>
      </p:sp>
      <p:sp>
        <p:nvSpPr>
          <p:cNvPr id="171" name="Shape 169"/>
          <p:cNvSpPr/>
          <p:nvPr/>
        </p:nvSpPr>
        <p:spPr>
          <a:xfrm>
            <a:off x="5297778" y="2616540"/>
            <a:ext cx="56693" cy="56693"/>
          </a:xfrm>
          <a:prstGeom prst="ellipse">
            <a:avLst/>
          </a:prstGeom>
          <a:solidFill>
            <a:srgbClr val="4A90D9"/>
          </a:solidFill>
          <a:ln w="12700">
            <a:solidFill>
              <a:srgbClr val="4A90D9"/>
            </a:solidFill>
            <a:prstDash val="solid"/>
          </a:ln>
        </p:spPr>
      </p:sp>
      <p:sp>
        <p:nvSpPr>
          <p:cNvPr id="172" name="Shape 170"/>
          <p:cNvSpPr/>
          <p:nvPr/>
        </p:nvSpPr>
        <p:spPr>
          <a:xfrm>
            <a:off x="4982916" y="2589050"/>
            <a:ext cx="56693" cy="56693"/>
          </a:xfrm>
          <a:prstGeom prst="ellipse">
            <a:avLst/>
          </a:prstGeom>
          <a:solidFill>
            <a:srgbClr val="4A90D9"/>
          </a:solidFill>
          <a:ln w="12700">
            <a:solidFill>
              <a:srgbClr val="4A90D9"/>
            </a:solidFill>
            <a:prstDash val="solid"/>
          </a:ln>
        </p:spPr>
      </p:sp>
      <p:sp>
        <p:nvSpPr>
          <p:cNvPr id="173" name="Shape 171"/>
          <p:cNvSpPr/>
          <p:nvPr/>
        </p:nvSpPr>
        <p:spPr>
          <a:xfrm>
            <a:off x="7605997" y="2866837"/>
            <a:ext cx="56693" cy="56693"/>
          </a:xfrm>
          <a:prstGeom prst="ellipse">
            <a:avLst/>
          </a:prstGeom>
          <a:solidFill>
            <a:srgbClr val="4A90D9"/>
          </a:solidFill>
          <a:ln w="12700">
            <a:solidFill>
              <a:srgbClr val="4A90D9"/>
            </a:solidFill>
            <a:prstDash val="solid"/>
          </a:ln>
        </p:spPr>
      </p:sp>
      <p:sp>
        <p:nvSpPr>
          <p:cNvPr id="174" name="Shape 172"/>
          <p:cNvSpPr/>
          <p:nvPr/>
        </p:nvSpPr>
        <p:spPr>
          <a:xfrm>
            <a:off x="5054654" y="2973956"/>
            <a:ext cx="56693" cy="56693"/>
          </a:xfrm>
          <a:prstGeom prst="ellipse">
            <a:avLst/>
          </a:prstGeom>
          <a:solidFill>
            <a:srgbClr val="4A90D9"/>
          </a:solidFill>
          <a:ln w="12700">
            <a:solidFill>
              <a:srgbClr val="4A90D9"/>
            </a:solidFill>
            <a:prstDash val="solid"/>
          </a:ln>
        </p:spPr>
      </p:sp>
      <p:sp>
        <p:nvSpPr>
          <p:cNvPr id="175" name="Shape 173"/>
          <p:cNvSpPr/>
          <p:nvPr/>
        </p:nvSpPr>
        <p:spPr>
          <a:xfrm>
            <a:off x="7233556" y="3670895"/>
            <a:ext cx="56693" cy="56693"/>
          </a:xfrm>
          <a:prstGeom prst="ellipse">
            <a:avLst/>
          </a:prstGeom>
          <a:solidFill>
            <a:srgbClr val="4A90D9"/>
          </a:solidFill>
          <a:ln w="12700">
            <a:solidFill>
              <a:srgbClr val="4A90D9"/>
            </a:solidFill>
            <a:prstDash val="solid"/>
          </a:ln>
        </p:spPr>
      </p:sp>
      <p:sp>
        <p:nvSpPr>
          <p:cNvPr id="176" name="Shape 174"/>
          <p:cNvSpPr/>
          <p:nvPr/>
        </p:nvSpPr>
        <p:spPr>
          <a:xfrm>
            <a:off x="7549744" y="1796176"/>
            <a:ext cx="56693" cy="56693"/>
          </a:xfrm>
          <a:prstGeom prst="ellipse">
            <a:avLst/>
          </a:prstGeom>
          <a:solidFill>
            <a:srgbClr val="4A90D9"/>
          </a:solidFill>
          <a:ln w="12700">
            <a:solidFill>
              <a:srgbClr val="4A90D9"/>
            </a:solidFill>
            <a:prstDash val="solid"/>
          </a:ln>
        </p:spPr>
      </p:sp>
      <p:sp>
        <p:nvSpPr>
          <p:cNvPr id="177" name="Shape 175"/>
          <p:cNvSpPr/>
          <p:nvPr/>
        </p:nvSpPr>
        <p:spPr>
          <a:xfrm>
            <a:off x="8019611" y="2239034"/>
            <a:ext cx="56693" cy="56693"/>
          </a:xfrm>
          <a:prstGeom prst="ellipse">
            <a:avLst/>
          </a:prstGeom>
          <a:solidFill>
            <a:srgbClr val="4A90D9"/>
          </a:solidFill>
          <a:ln w="12700">
            <a:solidFill>
              <a:srgbClr val="4A90D9"/>
            </a:solidFill>
            <a:prstDash val="solid"/>
          </a:ln>
        </p:spPr>
      </p:sp>
      <p:sp>
        <p:nvSpPr>
          <p:cNvPr id="178" name="Shape 176"/>
          <p:cNvSpPr/>
          <p:nvPr/>
        </p:nvSpPr>
        <p:spPr>
          <a:xfrm>
            <a:off x="7457734" y="3352590"/>
            <a:ext cx="56693" cy="56693"/>
          </a:xfrm>
          <a:prstGeom prst="ellipse">
            <a:avLst/>
          </a:prstGeom>
          <a:solidFill>
            <a:srgbClr val="4A90D9"/>
          </a:solidFill>
          <a:ln w="12700">
            <a:solidFill>
              <a:srgbClr val="4A90D9"/>
            </a:solidFill>
            <a:prstDash val="solid"/>
          </a:ln>
        </p:spPr>
      </p:sp>
      <p:sp>
        <p:nvSpPr>
          <p:cNvPr id="179" name="Shape 177"/>
          <p:cNvSpPr/>
          <p:nvPr/>
        </p:nvSpPr>
        <p:spPr>
          <a:xfrm>
            <a:off x="5457938" y="2366638"/>
            <a:ext cx="56693" cy="56693"/>
          </a:xfrm>
          <a:prstGeom prst="ellipse">
            <a:avLst/>
          </a:prstGeom>
          <a:solidFill>
            <a:srgbClr val="4A90D9"/>
          </a:solidFill>
          <a:ln w="12700">
            <a:solidFill>
              <a:srgbClr val="4A90D9"/>
            </a:solidFill>
            <a:prstDash val="solid"/>
          </a:ln>
        </p:spPr>
      </p:sp>
      <p:sp>
        <p:nvSpPr>
          <p:cNvPr id="180" name="Shape 178"/>
          <p:cNvSpPr/>
          <p:nvPr/>
        </p:nvSpPr>
        <p:spPr>
          <a:xfrm>
            <a:off x="6753931" y="3840256"/>
            <a:ext cx="56693" cy="56693"/>
          </a:xfrm>
          <a:prstGeom prst="ellipse">
            <a:avLst/>
          </a:prstGeom>
          <a:solidFill>
            <a:srgbClr val="4A90D9"/>
          </a:solidFill>
          <a:ln w="12700">
            <a:solidFill>
              <a:srgbClr val="4A90D9"/>
            </a:solidFill>
            <a:prstDash val="solid"/>
          </a:ln>
        </p:spPr>
      </p:sp>
      <p:sp>
        <p:nvSpPr>
          <p:cNvPr id="181" name="Shape 179"/>
          <p:cNvSpPr/>
          <p:nvPr/>
        </p:nvSpPr>
        <p:spPr>
          <a:xfrm>
            <a:off x="7506825" y="2091450"/>
            <a:ext cx="56693" cy="56693"/>
          </a:xfrm>
          <a:prstGeom prst="ellipse">
            <a:avLst/>
          </a:prstGeom>
          <a:solidFill>
            <a:srgbClr val="4A90D9"/>
          </a:solidFill>
          <a:ln w="12700">
            <a:solidFill>
              <a:srgbClr val="4A90D9"/>
            </a:solidFill>
            <a:prstDash val="solid"/>
          </a:ln>
        </p:spPr>
      </p:sp>
      <p:sp>
        <p:nvSpPr>
          <p:cNvPr id="182" name="Shape 180"/>
          <p:cNvSpPr/>
          <p:nvPr/>
        </p:nvSpPr>
        <p:spPr>
          <a:xfrm>
            <a:off x="5513892" y="1559736"/>
            <a:ext cx="56693" cy="56693"/>
          </a:xfrm>
          <a:prstGeom prst="ellipse">
            <a:avLst/>
          </a:prstGeom>
          <a:solidFill>
            <a:srgbClr val="4A90D9"/>
          </a:solidFill>
          <a:ln w="12700">
            <a:solidFill>
              <a:srgbClr val="4A90D9"/>
            </a:solidFill>
            <a:prstDash val="solid"/>
          </a:ln>
        </p:spPr>
      </p:sp>
      <p:sp>
        <p:nvSpPr>
          <p:cNvPr id="183" name="Shape 181"/>
          <p:cNvSpPr/>
          <p:nvPr/>
        </p:nvSpPr>
        <p:spPr>
          <a:xfrm>
            <a:off x="7729684" y="3369759"/>
            <a:ext cx="56693" cy="56693"/>
          </a:xfrm>
          <a:prstGeom prst="ellipse">
            <a:avLst/>
          </a:prstGeom>
          <a:solidFill>
            <a:srgbClr val="4A90D9"/>
          </a:solidFill>
          <a:ln w="12700">
            <a:solidFill>
              <a:srgbClr val="4A90D9"/>
            </a:solidFill>
            <a:prstDash val="solid"/>
          </a:ln>
        </p:spPr>
      </p:sp>
      <p:sp>
        <p:nvSpPr>
          <p:cNvPr id="184" name="Shape 182"/>
          <p:cNvSpPr/>
          <p:nvPr/>
        </p:nvSpPr>
        <p:spPr>
          <a:xfrm>
            <a:off x="7847483" y="3038543"/>
            <a:ext cx="56693" cy="56693"/>
          </a:xfrm>
          <a:prstGeom prst="ellipse">
            <a:avLst/>
          </a:prstGeom>
          <a:solidFill>
            <a:srgbClr val="4A90D9"/>
          </a:solidFill>
          <a:ln w="12700">
            <a:solidFill>
              <a:srgbClr val="4A90D9"/>
            </a:solidFill>
            <a:prstDash val="solid"/>
          </a:ln>
        </p:spPr>
      </p:sp>
      <p:sp>
        <p:nvSpPr>
          <p:cNvPr id="185" name="Shape 183"/>
          <p:cNvSpPr/>
          <p:nvPr/>
        </p:nvSpPr>
        <p:spPr>
          <a:xfrm>
            <a:off x="6579702" y="1621239"/>
            <a:ext cx="56693" cy="56693"/>
          </a:xfrm>
          <a:prstGeom prst="ellipse">
            <a:avLst/>
          </a:prstGeom>
          <a:solidFill>
            <a:srgbClr val="4A90D9"/>
          </a:solidFill>
          <a:ln w="12700">
            <a:solidFill>
              <a:srgbClr val="4A90D9"/>
            </a:solidFill>
            <a:prstDash val="solid"/>
          </a:ln>
        </p:spPr>
      </p:sp>
      <p:sp>
        <p:nvSpPr>
          <p:cNvPr id="186" name="Shape 184"/>
          <p:cNvSpPr/>
          <p:nvPr/>
        </p:nvSpPr>
        <p:spPr>
          <a:xfrm>
            <a:off x="5722560" y="1777300"/>
            <a:ext cx="56693" cy="56693"/>
          </a:xfrm>
          <a:prstGeom prst="ellipse">
            <a:avLst/>
          </a:prstGeom>
          <a:solidFill>
            <a:srgbClr val="4A90D9"/>
          </a:solidFill>
          <a:ln w="12700">
            <a:solidFill>
              <a:srgbClr val="4A90D9"/>
            </a:solidFill>
            <a:prstDash val="solid"/>
          </a:ln>
        </p:spPr>
      </p:sp>
      <p:sp>
        <p:nvSpPr>
          <p:cNvPr id="187" name="Shape 185"/>
          <p:cNvSpPr/>
          <p:nvPr/>
        </p:nvSpPr>
        <p:spPr>
          <a:xfrm>
            <a:off x="8133944" y="2387390"/>
            <a:ext cx="56693" cy="56693"/>
          </a:xfrm>
          <a:prstGeom prst="ellipse">
            <a:avLst/>
          </a:prstGeom>
          <a:solidFill>
            <a:srgbClr val="4A90D9"/>
          </a:solidFill>
          <a:ln w="12700">
            <a:solidFill>
              <a:srgbClr val="4A90D9"/>
            </a:solidFill>
            <a:prstDash val="solid"/>
          </a:ln>
        </p:spPr>
      </p:sp>
      <p:sp>
        <p:nvSpPr>
          <p:cNvPr id="188" name="Shape 186"/>
          <p:cNvSpPr/>
          <p:nvPr/>
        </p:nvSpPr>
        <p:spPr>
          <a:xfrm>
            <a:off x="5652861" y="1563313"/>
            <a:ext cx="56693" cy="56693"/>
          </a:xfrm>
          <a:prstGeom prst="ellipse">
            <a:avLst/>
          </a:prstGeom>
          <a:solidFill>
            <a:srgbClr val="4A90D9"/>
          </a:solidFill>
          <a:ln w="12700">
            <a:solidFill>
              <a:srgbClr val="4A90D9"/>
            </a:solidFill>
            <a:prstDash val="solid"/>
          </a:ln>
        </p:spPr>
      </p:sp>
      <p:sp>
        <p:nvSpPr>
          <p:cNvPr id="189" name="Shape 187"/>
          <p:cNvSpPr/>
          <p:nvPr/>
        </p:nvSpPr>
        <p:spPr>
          <a:xfrm>
            <a:off x="8156175" y="4229444"/>
            <a:ext cx="56693" cy="56693"/>
          </a:xfrm>
          <a:prstGeom prst="ellipse">
            <a:avLst/>
          </a:prstGeom>
          <a:solidFill>
            <a:srgbClr val="4A90D9"/>
          </a:solidFill>
          <a:ln w="12700">
            <a:solidFill>
              <a:srgbClr val="4A90D9"/>
            </a:solidFill>
            <a:prstDash val="solid"/>
          </a:ln>
        </p:spPr>
      </p:sp>
      <p:sp>
        <p:nvSpPr>
          <p:cNvPr id="190" name="Shape 188"/>
          <p:cNvSpPr/>
          <p:nvPr/>
        </p:nvSpPr>
        <p:spPr>
          <a:xfrm>
            <a:off x="7551246" y="2334830"/>
            <a:ext cx="56693" cy="56693"/>
          </a:xfrm>
          <a:prstGeom prst="ellipse">
            <a:avLst/>
          </a:prstGeom>
          <a:solidFill>
            <a:srgbClr val="4A90D9"/>
          </a:solidFill>
          <a:ln w="12700">
            <a:solidFill>
              <a:srgbClr val="4A90D9"/>
            </a:solidFill>
            <a:prstDash val="solid"/>
          </a:ln>
        </p:spPr>
      </p:sp>
      <p:sp>
        <p:nvSpPr>
          <p:cNvPr id="191" name="Shape 189"/>
          <p:cNvSpPr/>
          <p:nvPr/>
        </p:nvSpPr>
        <p:spPr>
          <a:xfrm>
            <a:off x="6327809" y="2218004"/>
            <a:ext cx="56693" cy="56693"/>
          </a:xfrm>
          <a:prstGeom prst="ellipse">
            <a:avLst/>
          </a:prstGeom>
          <a:solidFill>
            <a:srgbClr val="4A90D9"/>
          </a:solidFill>
          <a:ln w="12700">
            <a:solidFill>
              <a:srgbClr val="4A90D9"/>
            </a:solidFill>
            <a:prstDash val="solid"/>
          </a:ln>
        </p:spPr>
      </p:sp>
      <p:sp>
        <p:nvSpPr>
          <p:cNvPr id="192" name="Shape 190"/>
          <p:cNvSpPr/>
          <p:nvPr/>
        </p:nvSpPr>
        <p:spPr>
          <a:xfrm>
            <a:off x="6241546" y="3774491"/>
            <a:ext cx="56693" cy="56693"/>
          </a:xfrm>
          <a:prstGeom prst="ellipse">
            <a:avLst/>
          </a:prstGeom>
          <a:solidFill>
            <a:srgbClr val="4A90D9"/>
          </a:solidFill>
          <a:ln w="12700">
            <a:solidFill>
              <a:srgbClr val="4A90D9"/>
            </a:solidFill>
            <a:prstDash val="solid"/>
          </a:ln>
        </p:spPr>
      </p:sp>
      <p:sp>
        <p:nvSpPr>
          <p:cNvPr id="193" name="Shape 191"/>
          <p:cNvSpPr/>
          <p:nvPr/>
        </p:nvSpPr>
        <p:spPr>
          <a:xfrm>
            <a:off x="5029137" y="2892168"/>
            <a:ext cx="56693" cy="56693"/>
          </a:xfrm>
          <a:prstGeom prst="ellipse">
            <a:avLst/>
          </a:prstGeom>
          <a:solidFill>
            <a:srgbClr val="4A90D9"/>
          </a:solidFill>
          <a:ln w="12700">
            <a:solidFill>
              <a:srgbClr val="4A90D9"/>
            </a:solidFill>
            <a:prstDash val="solid"/>
          </a:ln>
        </p:spPr>
      </p:sp>
      <p:sp>
        <p:nvSpPr>
          <p:cNvPr id="194" name="Shape 192"/>
          <p:cNvSpPr/>
          <p:nvPr/>
        </p:nvSpPr>
        <p:spPr>
          <a:xfrm>
            <a:off x="6143629" y="3775830"/>
            <a:ext cx="56693" cy="56693"/>
          </a:xfrm>
          <a:prstGeom prst="ellipse">
            <a:avLst/>
          </a:prstGeom>
          <a:solidFill>
            <a:srgbClr val="4A90D9"/>
          </a:solidFill>
          <a:ln w="12700">
            <a:solidFill>
              <a:srgbClr val="4A90D9"/>
            </a:solidFill>
            <a:prstDash val="solid"/>
          </a:ln>
        </p:spPr>
      </p:sp>
      <p:sp>
        <p:nvSpPr>
          <p:cNvPr id="195" name="Shape 193"/>
          <p:cNvSpPr/>
          <p:nvPr/>
        </p:nvSpPr>
        <p:spPr>
          <a:xfrm>
            <a:off x="5911557" y="2977021"/>
            <a:ext cx="56693" cy="56693"/>
          </a:xfrm>
          <a:prstGeom prst="ellipse">
            <a:avLst/>
          </a:prstGeom>
          <a:solidFill>
            <a:srgbClr val="4A90D9"/>
          </a:solidFill>
          <a:ln w="12700">
            <a:solidFill>
              <a:srgbClr val="4A90D9"/>
            </a:solidFill>
            <a:prstDash val="solid"/>
          </a:ln>
        </p:spPr>
      </p:sp>
      <p:sp>
        <p:nvSpPr>
          <p:cNvPr id="196" name="Shape 194"/>
          <p:cNvSpPr/>
          <p:nvPr/>
        </p:nvSpPr>
        <p:spPr>
          <a:xfrm>
            <a:off x="5166331" y="2136167"/>
            <a:ext cx="56693" cy="56693"/>
          </a:xfrm>
          <a:prstGeom prst="ellipse">
            <a:avLst/>
          </a:prstGeom>
          <a:solidFill>
            <a:srgbClr val="4A90D9"/>
          </a:solidFill>
          <a:ln w="12700">
            <a:solidFill>
              <a:srgbClr val="4A90D9"/>
            </a:solidFill>
            <a:prstDash val="solid"/>
          </a:ln>
        </p:spPr>
      </p:sp>
      <p:sp>
        <p:nvSpPr>
          <p:cNvPr id="197" name="Shape 195"/>
          <p:cNvSpPr/>
          <p:nvPr/>
        </p:nvSpPr>
        <p:spPr>
          <a:xfrm>
            <a:off x="4970218" y="2189561"/>
            <a:ext cx="56693" cy="56693"/>
          </a:xfrm>
          <a:prstGeom prst="ellipse">
            <a:avLst/>
          </a:prstGeom>
          <a:solidFill>
            <a:srgbClr val="4A90D9"/>
          </a:solidFill>
          <a:ln w="12700">
            <a:solidFill>
              <a:srgbClr val="4A90D9"/>
            </a:solidFill>
            <a:prstDash val="solid"/>
          </a:ln>
        </p:spPr>
      </p:sp>
      <p:sp>
        <p:nvSpPr>
          <p:cNvPr id="198" name="Shape 196"/>
          <p:cNvSpPr/>
          <p:nvPr/>
        </p:nvSpPr>
        <p:spPr>
          <a:xfrm>
            <a:off x="7282474" y="3523010"/>
            <a:ext cx="56693" cy="56693"/>
          </a:xfrm>
          <a:prstGeom prst="ellipse">
            <a:avLst/>
          </a:prstGeom>
          <a:solidFill>
            <a:srgbClr val="4A90D9"/>
          </a:solidFill>
          <a:ln w="12700">
            <a:solidFill>
              <a:srgbClr val="4A90D9"/>
            </a:solidFill>
            <a:prstDash val="solid"/>
          </a:ln>
        </p:spPr>
      </p:sp>
      <p:sp>
        <p:nvSpPr>
          <p:cNvPr id="199" name="Shape 197"/>
          <p:cNvSpPr/>
          <p:nvPr/>
        </p:nvSpPr>
        <p:spPr>
          <a:xfrm>
            <a:off x="7602363" y="2367308"/>
            <a:ext cx="56693" cy="56693"/>
          </a:xfrm>
          <a:prstGeom prst="ellipse">
            <a:avLst/>
          </a:prstGeom>
          <a:solidFill>
            <a:srgbClr val="4A90D9"/>
          </a:solidFill>
          <a:ln w="12700">
            <a:solidFill>
              <a:srgbClr val="4A90D9"/>
            </a:solidFill>
            <a:prstDash val="solid"/>
          </a:ln>
        </p:spPr>
      </p:sp>
      <p:sp>
        <p:nvSpPr>
          <p:cNvPr id="200" name="Shape 198"/>
          <p:cNvSpPr/>
          <p:nvPr/>
        </p:nvSpPr>
        <p:spPr>
          <a:xfrm>
            <a:off x="7145987" y="3184746"/>
            <a:ext cx="56693" cy="56693"/>
          </a:xfrm>
          <a:prstGeom prst="ellipse">
            <a:avLst/>
          </a:prstGeom>
          <a:solidFill>
            <a:srgbClr val="4A90D9"/>
          </a:solidFill>
          <a:ln w="12700">
            <a:solidFill>
              <a:srgbClr val="4A90D9"/>
            </a:solidFill>
            <a:prstDash val="solid"/>
          </a:ln>
        </p:spPr>
      </p:sp>
      <p:sp>
        <p:nvSpPr>
          <p:cNvPr id="201" name="Shape 199"/>
          <p:cNvSpPr/>
          <p:nvPr/>
        </p:nvSpPr>
        <p:spPr>
          <a:xfrm>
            <a:off x="6919028" y="2848706"/>
            <a:ext cx="56693" cy="56693"/>
          </a:xfrm>
          <a:prstGeom prst="ellipse">
            <a:avLst/>
          </a:prstGeom>
          <a:solidFill>
            <a:srgbClr val="4A90D9"/>
          </a:solidFill>
          <a:ln w="12700">
            <a:solidFill>
              <a:srgbClr val="4A90D9"/>
            </a:solidFill>
            <a:prstDash val="solid"/>
          </a:ln>
        </p:spPr>
      </p:sp>
      <p:sp>
        <p:nvSpPr>
          <p:cNvPr id="202" name="Shape 200"/>
          <p:cNvSpPr/>
          <p:nvPr/>
        </p:nvSpPr>
        <p:spPr>
          <a:xfrm>
            <a:off x="6322149" y="4134199"/>
            <a:ext cx="56693" cy="56693"/>
          </a:xfrm>
          <a:prstGeom prst="ellipse">
            <a:avLst/>
          </a:prstGeom>
          <a:solidFill>
            <a:srgbClr val="4A90D9"/>
          </a:solidFill>
          <a:ln w="12700">
            <a:solidFill>
              <a:srgbClr val="4A90D9"/>
            </a:solidFill>
            <a:prstDash val="solid"/>
          </a:ln>
        </p:spPr>
      </p:sp>
      <p:sp>
        <p:nvSpPr>
          <p:cNvPr id="203" name="Shape 201"/>
          <p:cNvSpPr/>
          <p:nvPr/>
        </p:nvSpPr>
        <p:spPr>
          <a:xfrm>
            <a:off x="4752617" y="2666237"/>
            <a:ext cx="56693" cy="56693"/>
          </a:xfrm>
          <a:prstGeom prst="ellipse">
            <a:avLst/>
          </a:prstGeom>
          <a:solidFill>
            <a:srgbClr val="4A90D9"/>
          </a:solidFill>
          <a:ln w="12700">
            <a:solidFill>
              <a:srgbClr val="4A90D9"/>
            </a:solidFill>
            <a:prstDash val="solid"/>
          </a:ln>
        </p:spPr>
      </p:sp>
      <p:sp>
        <p:nvSpPr>
          <p:cNvPr id="204" name="Shape 202"/>
          <p:cNvSpPr/>
          <p:nvPr/>
        </p:nvSpPr>
        <p:spPr>
          <a:xfrm>
            <a:off x="5686548" y="3755251"/>
            <a:ext cx="56693" cy="56693"/>
          </a:xfrm>
          <a:prstGeom prst="ellipse">
            <a:avLst/>
          </a:prstGeom>
          <a:solidFill>
            <a:srgbClr val="4A90D9"/>
          </a:solidFill>
          <a:ln w="12700">
            <a:solidFill>
              <a:srgbClr val="4A90D9"/>
            </a:solidFill>
            <a:prstDash val="solid"/>
          </a:ln>
        </p:spPr>
      </p:sp>
      <p:sp>
        <p:nvSpPr>
          <p:cNvPr id="205" name="Shape 203"/>
          <p:cNvSpPr/>
          <p:nvPr/>
        </p:nvSpPr>
        <p:spPr>
          <a:xfrm>
            <a:off x="6227982" y="2836653"/>
            <a:ext cx="56693" cy="56693"/>
          </a:xfrm>
          <a:prstGeom prst="ellipse">
            <a:avLst/>
          </a:prstGeom>
          <a:solidFill>
            <a:srgbClr val="4A90D9"/>
          </a:solidFill>
          <a:ln w="12700">
            <a:solidFill>
              <a:srgbClr val="4A90D9"/>
            </a:solidFill>
            <a:prstDash val="solid"/>
          </a:ln>
        </p:spPr>
      </p:sp>
      <p:sp>
        <p:nvSpPr>
          <p:cNvPr id="206" name="Shape 204"/>
          <p:cNvSpPr/>
          <p:nvPr/>
        </p:nvSpPr>
        <p:spPr>
          <a:xfrm>
            <a:off x="6895974" y="2628928"/>
            <a:ext cx="56693" cy="56693"/>
          </a:xfrm>
          <a:prstGeom prst="ellipse">
            <a:avLst/>
          </a:prstGeom>
          <a:solidFill>
            <a:srgbClr val="4A90D9"/>
          </a:solidFill>
          <a:ln w="12700">
            <a:solidFill>
              <a:srgbClr val="4A90D9"/>
            </a:solidFill>
            <a:prstDash val="solid"/>
          </a:ln>
        </p:spPr>
      </p:sp>
      <p:sp>
        <p:nvSpPr>
          <p:cNvPr id="207" name="Shape 205"/>
          <p:cNvSpPr/>
          <p:nvPr/>
        </p:nvSpPr>
        <p:spPr>
          <a:xfrm>
            <a:off x="6709443" y="3918000"/>
            <a:ext cx="56693" cy="56693"/>
          </a:xfrm>
          <a:prstGeom prst="ellipse">
            <a:avLst/>
          </a:prstGeom>
          <a:solidFill>
            <a:srgbClr val="4A90D9"/>
          </a:solidFill>
          <a:ln w="12700">
            <a:solidFill>
              <a:srgbClr val="4A90D9"/>
            </a:solidFill>
            <a:prstDash val="solid"/>
          </a:ln>
        </p:spPr>
      </p:sp>
      <p:sp>
        <p:nvSpPr>
          <p:cNvPr id="208" name="Shape 206"/>
          <p:cNvSpPr/>
          <p:nvPr/>
        </p:nvSpPr>
        <p:spPr>
          <a:xfrm>
            <a:off x="5810482" y="4015251"/>
            <a:ext cx="56693" cy="56693"/>
          </a:xfrm>
          <a:prstGeom prst="ellipse">
            <a:avLst/>
          </a:prstGeom>
          <a:solidFill>
            <a:srgbClr val="4A90D9"/>
          </a:solidFill>
          <a:ln w="12700">
            <a:solidFill>
              <a:srgbClr val="4A90D9"/>
            </a:solidFill>
            <a:prstDash val="solid"/>
          </a:ln>
        </p:spPr>
      </p:sp>
      <p:sp>
        <p:nvSpPr>
          <p:cNvPr id="209" name="Shape 207"/>
          <p:cNvSpPr/>
          <p:nvPr/>
        </p:nvSpPr>
        <p:spPr>
          <a:xfrm>
            <a:off x="5871555" y="1622418"/>
            <a:ext cx="56693" cy="56693"/>
          </a:xfrm>
          <a:prstGeom prst="ellipse">
            <a:avLst/>
          </a:prstGeom>
          <a:solidFill>
            <a:srgbClr val="4A90D9"/>
          </a:solidFill>
          <a:ln w="12700">
            <a:solidFill>
              <a:srgbClr val="4A90D9"/>
            </a:solidFill>
            <a:prstDash val="solid"/>
          </a:ln>
        </p:spPr>
      </p:sp>
      <p:sp>
        <p:nvSpPr>
          <p:cNvPr id="210" name="Shape 208"/>
          <p:cNvSpPr/>
          <p:nvPr/>
        </p:nvSpPr>
        <p:spPr>
          <a:xfrm>
            <a:off x="7679478" y="2587518"/>
            <a:ext cx="56693" cy="56693"/>
          </a:xfrm>
          <a:prstGeom prst="ellipse">
            <a:avLst/>
          </a:prstGeom>
          <a:solidFill>
            <a:srgbClr val="4A90D9"/>
          </a:solidFill>
          <a:ln w="12700">
            <a:solidFill>
              <a:srgbClr val="4A90D9"/>
            </a:solidFill>
            <a:prstDash val="solid"/>
          </a:ln>
        </p:spPr>
      </p:sp>
      <p:sp>
        <p:nvSpPr>
          <p:cNvPr id="211" name="Shape 209"/>
          <p:cNvSpPr/>
          <p:nvPr/>
        </p:nvSpPr>
        <p:spPr>
          <a:xfrm>
            <a:off x="5653894" y="2457688"/>
            <a:ext cx="56693" cy="56693"/>
          </a:xfrm>
          <a:prstGeom prst="ellipse">
            <a:avLst/>
          </a:prstGeom>
          <a:solidFill>
            <a:srgbClr val="4A90D9"/>
          </a:solidFill>
          <a:ln w="12700">
            <a:solidFill>
              <a:srgbClr val="4A90D9"/>
            </a:solidFill>
            <a:prstDash val="solid"/>
          </a:ln>
        </p:spPr>
      </p:sp>
      <p:sp>
        <p:nvSpPr>
          <p:cNvPr id="212" name="Shape 210"/>
          <p:cNvSpPr/>
          <p:nvPr/>
        </p:nvSpPr>
        <p:spPr>
          <a:xfrm>
            <a:off x="7984869" y="1899924"/>
            <a:ext cx="56693" cy="56693"/>
          </a:xfrm>
          <a:prstGeom prst="ellipse">
            <a:avLst/>
          </a:prstGeom>
          <a:solidFill>
            <a:srgbClr val="4A90D9"/>
          </a:solidFill>
          <a:ln w="12700">
            <a:solidFill>
              <a:srgbClr val="4A90D9"/>
            </a:solidFill>
            <a:prstDash val="solid"/>
          </a:ln>
        </p:spPr>
      </p:sp>
      <p:sp>
        <p:nvSpPr>
          <p:cNvPr id="213" name="Shape 211"/>
          <p:cNvSpPr/>
          <p:nvPr/>
        </p:nvSpPr>
        <p:spPr>
          <a:xfrm>
            <a:off x="6922908" y="2530744"/>
            <a:ext cx="56693" cy="56693"/>
          </a:xfrm>
          <a:prstGeom prst="ellipse">
            <a:avLst/>
          </a:prstGeom>
          <a:solidFill>
            <a:srgbClr val="4A90D9"/>
          </a:solidFill>
          <a:ln w="12700">
            <a:solidFill>
              <a:srgbClr val="4A90D9"/>
            </a:solidFill>
            <a:prstDash val="solid"/>
          </a:ln>
        </p:spPr>
      </p:sp>
      <p:sp>
        <p:nvSpPr>
          <p:cNvPr id="214" name="Shape 212"/>
          <p:cNvSpPr/>
          <p:nvPr/>
        </p:nvSpPr>
        <p:spPr>
          <a:xfrm>
            <a:off x="5206918" y="2302776"/>
            <a:ext cx="56693" cy="56693"/>
          </a:xfrm>
          <a:prstGeom prst="ellipse">
            <a:avLst/>
          </a:prstGeom>
          <a:solidFill>
            <a:srgbClr val="4A90D9"/>
          </a:solidFill>
          <a:ln w="12700">
            <a:solidFill>
              <a:srgbClr val="4A90D9"/>
            </a:solidFill>
            <a:prstDash val="solid"/>
          </a:ln>
        </p:spPr>
      </p:sp>
      <p:sp>
        <p:nvSpPr>
          <p:cNvPr id="215" name="Shape 213"/>
          <p:cNvSpPr/>
          <p:nvPr/>
        </p:nvSpPr>
        <p:spPr>
          <a:xfrm>
            <a:off x="4945527" y="2150988"/>
            <a:ext cx="56693" cy="56693"/>
          </a:xfrm>
          <a:prstGeom prst="ellipse">
            <a:avLst/>
          </a:prstGeom>
          <a:solidFill>
            <a:srgbClr val="4A90D9"/>
          </a:solidFill>
          <a:ln w="12700">
            <a:solidFill>
              <a:srgbClr val="4A90D9"/>
            </a:solidFill>
            <a:prstDash val="solid"/>
          </a:ln>
        </p:spPr>
      </p:sp>
      <p:sp>
        <p:nvSpPr>
          <p:cNvPr id="216" name="Shape 214"/>
          <p:cNvSpPr/>
          <p:nvPr/>
        </p:nvSpPr>
        <p:spPr>
          <a:xfrm>
            <a:off x="5107021" y="1543101"/>
            <a:ext cx="56693" cy="56693"/>
          </a:xfrm>
          <a:prstGeom prst="ellipse">
            <a:avLst/>
          </a:prstGeom>
          <a:solidFill>
            <a:srgbClr val="4A90D9"/>
          </a:solidFill>
          <a:ln w="12700">
            <a:solidFill>
              <a:srgbClr val="4A90D9"/>
            </a:solidFill>
            <a:prstDash val="solid"/>
          </a:ln>
        </p:spPr>
      </p:sp>
      <p:sp>
        <p:nvSpPr>
          <p:cNvPr id="217" name="Shape 215"/>
          <p:cNvSpPr/>
          <p:nvPr/>
        </p:nvSpPr>
        <p:spPr>
          <a:xfrm>
            <a:off x="6359235" y="4091219"/>
            <a:ext cx="56693" cy="56693"/>
          </a:xfrm>
          <a:prstGeom prst="ellipse">
            <a:avLst/>
          </a:prstGeom>
          <a:solidFill>
            <a:srgbClr val="4A90D9"/>
          </a:solidFill>
          <a:ln w="12700">
            <a:solidFill>
              <a:srgbClr val="4A90D9"/>
            </a:solidFill>
            <a:prstDash val="solid"/>
          </a:ln>
        </p:spPr>
      </p:sp>
      <p:sp>
        <p:nvSpPr>
          <p:cNvPr id="218" name="Shape 216"/>
          <p:cNvSpPr/>
          <p:nvPr/>
        </p:nvSpPr>
        <p:spPr>
          <a:xfrm>
            <a:off x="5916293" y="2387826"/>
            <a:ext cx="56693" cy="56693"/>
          </a:xfrm>
          <a:prstGeom prst="ellipse">
            <a:avLst/>
          </a:prstGeom>
          <a:solidFill>
            <a:srgbClr val="4A90D9"/>
          </a:solidFill>
          <a:ln w="12700">
            <a:solidFill>
              <a:srgbClr val="4A90D9"/>
            </a:solidFill>
            <a:prstDash val="solid"/>
          </a:ln>
        </p:spPr>
      </p:sp>
      <p:sp>
        <p:nvSpPr>
          <p:cNvPr id="219" name="Shape 217"/>
          <p:cNvSpPr/>
          <p:nvPr/>
        </p:nvSpPr>
        <p:spPr>
          <a:xfrm>
            <a:off x="7826167" y="1807958"/>
            <a:ext cx="56693" cy="56693"/>
          </a:xfrm>
          <a:prstGeom prst="ellipse">
            <a:avLst/>
          </a:prstGeom>
          <a:solidFill>
            <a:srgbClr val="4A90D9"/>
          </a:solidFill>
          <a:ln w="12700">
            <a:solidFill>
              <a:srgbClr val="4A90D9"/>
            </a:solidFill>
            <a:prstDash val="solid"/>
          </a:ln>
        </p:spPr>
      </p:sp>
      <p:sp>
        <p:nvSpPr>
          <p:cNvPr id="220" name="Shape 218"/>
          <p:cNvSpPr/>
          <p:nvPr/>
        </p:nvSpPr>
        <p:spPr>
          <a:xfrm>
            <a:off x="6252307" y="3443763"/>
            <a:ext cx="56693" cy="56693"/>
          </a:xfrm>
          <a:prstGeom prst="ellipse">
            <a:avLst/>
          </a:prstGeom>
          <a:solidFill>
            <a:srgbClr val="4A90D9"/>
          </a:solidFill>
          <a:ln w="12700">
            <a:solidFill>
              <a:srgbClr val="4A90D9"/>
            </a:solidFill>
            <a:prstDash val="solid"/>
          </a:ln>
        </p:spPr>
      </p:sp>
      <p:sp>
        <p:nvSpPr>
          <p:cNvPr id="221" name="Shape 219"/>
          <p:cNvSpPr/>
          <p:nvPr/>
        </p:nvSpPr>
        <p:spPr>
          <a:xfrm>
            <a:off x="502920" y="4672584"/>
            <a:ext cx="164592" cy="164592"/>
          </a:xfrm>
          <a:prstGeom prst="ellipse">
            <a:avLst/>
          </a:prstGeom>
          <a:solidFill>
            <a:srgbClr val="4A90D9"/>
          </a:solidFill>
          <a:ln w="12700">
            <a:solidFill>
              <a:srgbClr val="4A90D9"/>
            </a:solidFill>
            <a:prstDash val="solid"/>
          </a:ln>
        </p:spPr>
      </p:sp>
      <p:sp>
        <p:nvSpPr>
          <p:cNvPr id="222" name="Text 220"/>
          <p:cNvSpPr/>
          <p:nvPr/>
        </p:nvSpPr>
        <p:spPr>
          <a:xfrm>
            <a:off x="713232" y="4645152"/>
            <a:ext cx="1097280" cy="219456"/>
          </a:xfrm>
          <a:prstGeom prst="rect">
            <a:avLst/>
          </a:prstGeom>
          <a:noFill/>
          <a:ln/>
        </p:spPr>
        <p:txBody>
          <a:bodyPr wrap="square" lIns="0" tIns="0" rIns="0" bIns="0" rtlCol="0" anchor="ctr"/>
          <a:lstStyle/>
          <a:p>
            <a:pPr indent="0" marL="0">
              <a:buNone/>
            </a:pPr>
            <a:r>
              <a:rPr lang="en-US" sz="1100" dirty="0">
                <a:solidFill>
                  <a:srgbClr val="4A5568"/>
                </a:solidFill>
              </a:rPr>
              <a:t>Legitimate</a:t>
            </a:r>
            <a:endParaRPr lang="en-US" sz="1100" dirty="0"/>
          </a:p>
        </p:txBody>
      </p:sp>
      <p:sp>
        <p:nvSpPr>
          <p:cNvPr id="223" name="Shape 221"/>
          <p:cNvSpPr/>
          <p:nvPr/>
        </p:nvSpPr>
        <p:spPr>
          <a:xfrm>
            <a:off x="1828800" y="4672584"/>
            <a:ext cx="164592" cy="164592"/>
          </a:xfrm>
          <a:prstGeom prst="ellipse">
            <a:avLst/>
          </a:prstGeom>
          <a:solidFill>
            <a:srgbClr val="C0392B"/>
          </a:solidFill>
          <a:ln w="12700">
            <a:solidFill>
              <a:srgbClr val="C0392B"/>
            </a:solidFill>
            <a:prstDash val="solid"/>
          </a:ln>
        </p:spPr>
      </p:sp>
      <p:sp>
        <p:nvSpPr>
          <p:cNvPr id="224" name="Text 222"/>
          <p:cNvSpPr/>
          <p:nvPr/>
        </p:nvSpPr>
        <p:spPr>
          <a:xfrm>
            <a:off x="2039112" y="4645152"/>
            <a:ext cx="731520" cy="219456"/>
          </a:xfrm>
          <a:prstGeom prst="rect">
            <a:avLst/>
          </a:prstGeom>
          <a:noFill/>
          <a:ln/>
        </p:spPr>
        <p:txBody>
          <a:bodyPr wrap="square" lIns="0" tIns="0" rIns="0" bIns="0" rtlCol="0" anchor="ctr"/>
          <a:lstStyle/>
          <a:p>
            <a:pPr indent="0" marL="0">
              <a:buNone/>
            </a:pPr>
            <a:r>
              <a:rPr lang="en-US" sz="1100" dirty="0">
                <a:solidFill>
                  <a:srgbClr val="4A5568"/>
                </a:solidFill>
              </a:rPr>
              <a:t>Fraud</a:t>
            </a:r>
            <a:endParaRPr lang="en-US" sz="1100" dirty="0"/>
          </a:p>
        </p:txBody>
      </p:sp>
      <p:sp>
        <p:nvSpPr>
          <p:cNvPr id="225" name="Text 223"/>
          <p:cNvSpPr/>
          <p:nvPr/>
        </p:nvSpPr>
        <p:spPr>
          <a:xfrm>
            <a:off x="4114800" y="2651760"/>
            <a:ext cx="502920" cy="502920"/>
          </a:xfrm>
          <a:prstGeom prst="rect">
            <a:avLst/>
          </a:prstGeom>
          <a:noFill/>
          <a:ln/>
        </p:spPr>
        <p:txBody>
          <a:bodyPr wrap="square" lIns="0" tIns="0" rIns="0" bIns="0" rtlCol="0" anchor="ctr"/>
          <a:lstStyle/>
          <a:p>
            <a:pPr algn="ctr" indent="0" marL="0">
              <a:buNone/>
            </a:pPr>
            <a:r>
              <a:rPr lang="en-US" sz="2800" b="1" dirty="0">
                <a:solidFill>
                  <a:srgbClr val="028090"/>
                </a:solidFill>
              </a:rPr>
              <a:t>→</a:t>
            </a:r>
            <a:endParaRPr lang="en-US" sz="2800" dirty="0"/>
          </a:p>
        </p:txBody>
      </p:sp>
      <p:sp>
        <p:nvSpPr>
          <p:cNvPr id="226" name="Text 224"/>
          <p:cNvSpPr/>
          <p:nvPr/>
        </p:nvSpPr>
        <p:spPr>
          <a:xfrm>
            <a:off x="4041648" y="3200400"/>
            <a:ext cx="658368" cy="365760"/>
          </a:xfrm>
          <a:prstGeom prst="rect">
            <a:avLst/>
          </a:prstGeom>
          <a:noFill/>
          <a:ln/>
        </p:spPr>
        <p:txBody>
          <a:bodyPr wrap="square" lIns="0" tIns="0" rIns="0" bIns="0" rtlCol="0" anchor="ctr"/>
          <a:lstStyle/>
          <a:p>
            <a:pPr algn="ctr" indent="0" marL="0">
              <a:buNone/>
            </a:pPr>
            <a:r>
              <a:rPr lang="en-US" sz="900" dirty="0">
                <a:solidFill>
                  <a:srgbClr val="94A3B8"/>
                </a:solidFill>
              </a:rPr>
              <a:t>SMOTE /</a:t>
            </a:r>
            <a:endParaRPr lang="en-US" sz="900" dirty="0"/>
          </a:p>
          <a:p>
            <a:pPr algn="ctr" indent="0" marL="0">
              <a:buNone/>
            </a:pPr>
            <a:r>
              <a:rPr lang="en-US" sz="900" dirty="0">
                <a:solidFill>
                  <a:srgbClr val="94A3B8"/>
                </a:solidFill>
              </a:rPr>
              <a:t>oversample</a:t>
            </a:r>
            <a:endParaRPr lang="en-US" sz="900" dirty="0"/>
          </a:p>
        </p:txBody>
      </p:sp>
      <p:sp>
        <p:nvSpPr>
          <p:cNvPr id="228" name="Text 225"/>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A5E3F"/>
          </a:solidFill>
          <a:ln w="12700">
            <a:solidFill>
              <a:srgbClr val="0A5E3F"/>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STEP 5: EVALUATION — NOT A NUMBER, A SYSTEM OF TRADEOFFS</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420624"/>
          </a:xfrm>
          <a:prstGeom prst="rect">
            <a:avLst/>
          </a:prstGeom>
          <a:noFill/>
          <a:ln/>
        </p:spPr>
        <p:txBody>
          <a:bodyPr wrap="square" lIns="0" tIns="0" rIns="0" bIns="0" rtlCol="0" anchor="ctr"/>
          <a:lstStyle/>
          <a:p>
            <a:pPr indent="0" marL="0">
              <a:buNone/>
            </a:pPr>
            <a:r>
              <a:rPr lang="en-US" sz="2000" b="1" dirty="0">
                <a:solidFill>
                  <a:srgbClr val="02C39A"/>
                </a:solidFill>
                <a:latin typeface="Georgia" pitchFamily="34" charset="0"/>
                <a:ea typeface="Georgia" pitchFamily="34" charset="-122"/>
                <a:cs typeface="Georgia" pitchFamily="34" charset="-120"/>
              </a:rPr>
              <a:t>Evaluation is not a number — it's a system of tradeoffs.</a:t>
            </a:r>
            <a:endParaRPr lang="en-US" sz="2000" dirty="0"/>
          </a:p>
        </p:txBody>
      </p:sp>
      <p:sp>
        <p:nvSpPr>
          <p:cNvPr id="6" name="Shape 4"/>
          <p:cNvSpPr/>
          <p:nvPr/>
        </p:nvSpPr>
        <p:spPr>
          <a:xfrm>
            <a:off x="320040" y="1225296"/>
            <a:ext cx="2761488" cy="1700784"/>
          </a:xfrm>
          <a:prstGeom prst="rect">
            <a:avLst/>
          </a:prstGeom>
          <a:solidFill>
            <a:srgbClr val="0D2B30"/>
          </a:solidFill>
          <a:ln w="12700">
            <a:solidFill>
              <a:srgbClr val="028090"/>
            </a:solidFill>
            <a:prstDash val="solid"/>
          </a:ln>
          <a:effectLst>
            <a:outerShdw sx="100000" sy="100000" kx="0" ky="0" algn="bl" rotWithShape="0" blurRad="63500" dist="25400" dir="8100000">
              <a:srgbClr val="000000">
                <a:alpha val="8000"/>
              </a:srgbClr>
            </a:outerShdw>
          </a:effectLst>
        </p:spPr>
      </p:sp>
      <p:sp>
        <p:nvSpPr>
          <p:cNvPr id="7" name="Shape 5"/>
          <p:cNvSpPr/>
          <p:nvPr/>
        </p:nvSpPr>
        <p:spPr>
          <a:xfrm>
            <a:off x="320040" y="1225296"/>
            <a:ext cx="2761488" cy="91440"/>
          </a:xfrm>
          <a:prstGeom prst="rect">
            <a:avLst/>
          </a:prstGeom>
          <a:solidFill>
            <a:srgbClr val="028090"/>
          </a:solidFill>
          <a:ln w="12700">
            <a:solidFill>
              <a:srgbClr val="028090"/>
            </a:solidFill>
            <a:prstDash val="solid"/>
          </a:ln>
        </p:spPr>
      </p:sp>
      <p:sp>
        <p:nvSpPr>
          <p:cNvPr id="8" name="Shape 6"/>
          <p:cNvSpPr/>
          <p:nvPr/>
        </p:nvSpPr>
        <p:spPr>
          <a:xfrm>
            <a:off x="448056" y="1389888"/>
            <a:ext cx="402336" cy="402336"/>
          </a:xfrm>
          <a:prstGeom prst="ellipse">
            <a:avLst/>
          </a:prstGeom>
          <a:solidFill>
            <a:srgbClr val="028090"/>
          </a:solidFill>
          <a:ln w="12700">
            <a:solidFill>
              <a:srgbClr val="028090"/>
            </a:solidFill>
            <a:prstDash val="solid"/>
          </a:ln>
        </p:spPr>
      </p:sp>
      <p:sp>
        <p:nvSpPr>
          <p:cNvPr id="9" name="Text 7"/>
          <p:cNvSpPr/>
          <p:nvPr/>
        </p:nvSpPr>
        <p:spPr>
          <a:xfrm>
            <a:off x="448056" y="1389888"/>
            <a:ext cx="402336" cy="402336"/>
          </a:xfrm>
          <a:prstGeom prst="rect">
            <a:avLst/>
          </a:prstGeom>
          <a:noFill/>
          <a:ln/>
        </p:spPr>
        <p:txBody>
          <a:bodyPr wrap="square" lIns="0" tIns="0" rIns="0" bIns="0" rtlCol="0" anchor="ctr"/>
          <a:lstStyle/>
          <a:p>
            <a:pPr algn="ctr" indent="0" marL="0">
              <a:buNone/>
            </a:pPr>
            <a:r>
              <a:rPr lang="en-US" sz="1400" b="1" dirty="0">
                <a:solidFill>
                  <a:srgbClr val="141D30"/>
                </a:solidFill>
              </a:rPr>
              <a:t>1</a:t>
            </a:r>
            <a:endParaRPr lang="en-US" sz="1400" dirty="0"/>
          </a:p>
        </p:txBody>
      </p:sp>
      <p:sp>
        <p:nvSpPr>
          <p:cNvPr id="10" name="Text 8"/>
          <p:cNvSpPr/>
          <p:nvPr/>
        </p:nvSpPr>
        <p:spPr>
          <a:xfrm>
            <a:off x="941832" y="1408176"/>
            <a:ext cx="2011680" cy="365760"/>
          </a:xfrm>
          <a:prstGeom prst="rect">
            <a:avLst/>
          </a:prstGeom>
          <a:noFill/>
          <a:ln/>
        </p:spPr>
        <p:txBody>
          <a:bodyPr wrap="square" lIns="0" tIns="0" rIns="0" bIns="0" rtlCol="0" anchor="ctr"/>
          <a:lstStyle/>
          <a:p>
            <a:pPr indent="0" marL="0">
              <a:buNone/>
            </a:pPr>
            <a:r>
              <a:rPr lang="en-US" sz="1300" b="1" dirty="0">
                <a:solidFill>
                  <a:srgbClr val="028090"/>
                </a:solidFill>
                <a:latin typeface="Georgia" pitchFamily="34" charset="0"/>
                <a:ea typeface="Georgia" pitchFamily="34" charset="-122"/>
                <a:cs typeface="Georgia" pitchFamily="34" charset="-120"/>
              </a:rPr>
              <a:t>Metrics (plural)</a:t>
            </a:r>
            <a:endParaRPr lang="en-US" sz="1300" dirty="0"/>
          </a:p>
        </p:txBody>
      </p:sp>
      <p:sp>
        <p:nvSpPr>
          <p:cNvPr id="11" name="Shape 9"/>
          <p:cNvSpPr/>
          <p:nvPr/>
        </p:nvSpPr>
        <p:spPr>
          <a:xfrm>
            <a:off x="448056" y="1847088"/>
            <a:ext cx="2505456" cy="27432"/>
          </a:xfrm>
          <a:prstGeom prst="rect">
            <a:avLst/>
          </a:prstGeom>
          <a:solidFill>
            <a:srgbClr val="333333"/>
          </a:solidFill>
          <a:ln w="12700">
            <a:solidFill>
              <a:srgbClr val="333333"/>
            </a:solidFill>
            <a:prstDash val="solid"/>
          </a:ln>
        </p:spPr>
      </p:sp>
      <p:sp>
        <p:nvSpPr>
          <p:cNvPr id="12" name="Text 10"/>
          <p:cNvSpPr/>
          <p:nvPr/>
        </p:nvSpPr>
        <p:spPr>
          <a:xfrm>
            <a:off x="448056" y="1920240"/>
            <a:ext cx="2505456" cy="932688"/>
          </a:xfrm>
          <a:prstGeom prst="rect">
            <a:avLst/>
          </a:prstGeom>
          <a:noFill/>
          <a:ln/>
        </p:spPr>
        <p:txBody>
          <a:bodyPr wrap="square" lIns="0" tIns="0" rIns="0" bIns="0" rtlCol="0" anchor="ctr"/>
          <a:lstStyle/>
          <a:p>
            <a:pPr indent="0" marL="0">
              <a:buNone/>
            </a:pPr>
            <a:r>
              <a:rPr lang="en-US" sz="1050" dirty="0">
                <a:solidFill>
                  <a:srgbClr val="BBBBBB"/>
                </a:solidFill>
              </a:rPr>
              <a:t>No single metric tells the story. Classification needs AUC-ROC + PR-AUC + logloss + precision/recall @ threshold. Forecasting needs MAPE + RMSE + bias. Always a family.</a:t>
            </a:r>
            <a:endParaRPr lang="en-US" sz="1050" dirty="0"/>
          </a:p>
        </p:txBody>
      </p:sp>
      <p:sp>
        <p:nvSpPr>
          <p:cNvPr id="13" name="Shape 11"/>
          <p:cNvSpPr/>
          <p:nvPr/>
        </p:nvSpPr>
        <p:spPr>
          <a:xfrm>
            <a:off x="3227832" y="1225296"/>
            <a:ext cx="2761488" cy="1700784"/>
          </a:xfrm>
          <a:prstGeom prst="rect">
            <a:avLst/>
          </a:prstGeom>
          <a:solidFill>
            <a:srgbClr val="2A1A00"/>
          </a:solidFill>
          <a:ln w="12700">
            <a:solidFill>
              <a:srgbClr val="E67E22"/>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3227832" y="1225296"/>
            <a:ext cx="2761488" cy="91440"/>
          </a:xfrm>
          <a:prstGeom prst="rect">
            <a:avLst/>
          </a:prstGeom>
          <a:solidFill>
            <a:srgbClr val="E67E22"/>
          </a:solidFill>
          <a:ln w="12700">
            <a:solidFill>
              <a:srgbClr val="E67E22"/>
            </a:solidFill>
            <a:prstDash val="solid"/>
          </a:ln>
        </p:spPr>
      </p:sp>
      <p:sp>
        <p:nvSpPr>
          <p:cNvPr id="15" name="Shape 13"/>
          <p:cNvSpPr/>
          <p:nvPr/>
        </p:nvSpPr>
        <p:spPr>
          <a:xfrm>
            <a:off x="3355848" y="1389888"/>
            <a:ext cx="402336" cy="402336"/>
          </a:xfrm>
          <a:prstGeom prst="ellipse">
            <a:avLst/>
          </a:prstGeom>
          <a:solidFill>
            <a:srgbClr val="E67E22"/>
          </a:solidFill>
          <a:ln w="12700">
            <a:solidFill>
              <a:srgbClr val="E67E22"/>
            </a:solidFill>
            <a:prstDash val="solid"/>
          </a:ln>
        </p:spPr>
      </p:sp>
      <p:sp>
        <p:nvSpPr>
          <p:cNvPr id="16" name="Text 14"/>
          <p:cNvSpPr/>
          <p:nvPr/>
        </p:nvSpPr>
        <p:spPr>
          <a:xfrm>
            <a:off x="3355848" y="1389888"/>
            <a:ext cx="402336" cy="402336"/>
          </a:xfrm>
          <a:prstGeom prst="rect">
            <a:avLst/>
          </a:prstGeom>
          <a:noFill/>
          <a:ln/>
        </p:spPr>
        <p:txBody>
          <a:bodyPr wrap="square" lIns="0" tIns="0" rIns="0" bIns="0" rtlCol="0" anchor="ctr"/>
          <a:lstStyle/>
          <a:p>
            <a:pPr algn="ctr" indent="0" marL="0">
              <a:buNone/>
            </a:pPr>
            <a:r>
              <a:rPr lang="en-US" sz="1400" b="1" dirty="0">
                <a:solidFill>
                  <a:srgbClr val="141D30"/>
                </a:solidFill>
              </a:rPr>
              <a:t>2</a:t>
            </a:r>
            <a:endParaRPr lang="en-US" sz="1400" dirty="0"/>
          </a:p>
        </p:txBody>
      </p:sp>
      <p:sp>
        <p:nvSpPr>
          <p:cNvPr id="17" name="Text 15"/>
          <p:cNvSpPr/>
          <p:nvPr/>
        </p:nvSpPr>
        <p:spPr>
          <a:xfrm>
            <a:off x="3849624" y="1408176"/>
            <a:ext cx="2011680" cy="365760"/>
          </a:xfrm>
          <a:prstGeom prst="rect">
            <a:avLst/>
          </a:prstGeom>
          <a:noFill/>
          <a:ln/>
        </p:spPr>
        <p:txBody>
          <a:bodyPr wrap="square" lIns="0" tIns="0" rIns="0" bIns="0" rtlCol="0" anchor="ctr"/>
          <a:lstStyle/>
          <a:p>
            <a:pPr indent="0" marL="0">
              <a:buNone/>
            </a:pPr>
            <a:r>
              <a:rPr lang="en-US" sz="1300" b="1" dirty="0">
                <a:solidFill>
                  <a:srgbClr val="E67E22"/>
                </a:solidFill>
                <a:latin typeface="Georgia" pitchFamily="34" charset="0"/>
                <a:ea typeface="Georgia" pitchFamily="34" charset="-122"/>
                <a:cs typeface="Georgia" pitchFamily="34" charset="-120"/>
              </a:rPr>
              <a:t>Business Tradeoffs</a:t>
            </a:r>
            <a:endParaRPr lang="en-US" sz="1300" dirty="0"/>
          </a:p>
        </p:txBody>
      </p:sp>
      <p:sp>
        <p:nvSpPr>
          <p:cNvPr id="18" name="Shape 16"/>
          <p:cNvSpPr/>
          <p:nvPr/>
        </p:nvSpPr>
        <p:spPr>
          <a:xfrm>
            <a:off x="3355848" y="1847088"/>
            <a:ext cx="2505456" cy="27432"/>
          </a:xfrm>
          <a:prstGeom prst="rect">
            <a:avLst/>
          </a:prstGeom>
          <a:solidFill>
            <a:srgbClr val="333333"/>
          </a:solidFill>
          <a:ln w="12700">
            <a:solidFill>
              <a:srgbClr val="333333"/>
            </a:solidFill>
            <a:prstDash val="solid"/>
          </a:ln>
        </p:spPr>
      </p:sp>
      <p:sp>
        <p:nvSpPr>
          <p:cNvPr id="19" name="Text 17"/>
          <p:cNvSpPr/>
          <p:nvPr/>
        </p:nvSpPr>
        <p:spPr>
          <a:xfrm>
            <a:off x="3355848" y="1920240"/>
            <a:ext cx="2505456" cy="932688"/>
          </a:xfrm>
          <a:prstGeom prst="rect">
            <a:avLst/>
          </a:prstGeom>
          <a:noFill/>
          <a:ln/>
        </p:spPr>
        <p:txBody>
          <a:bodyPr wrap="square" lIns="0" tIns="0" rIns="0" bIns="0" rtlCol="0" anchor="ctr"/>
          <a:lstStyle/>
          <a:p>
            <a:pPr indent="0" marL="0">
              <a:buNone/>
            </a:pPr>
            <a:r>
              <a:rPr lang="en-US" sz="1050" dirty="0">
                <a:solidFill>
                  <a:srgbClr val="BBBBBB"/>
                </a:solidFill>
              </a:rPr>
              <a:t>False positive cost vs. false negative cost. A fraud false positive annoys a customer. A false negative costs the bank money. Which is worse? That's a business decision, not a math decision.</a:t>
            </a:r>
            <a:endParaRPr lang="en-US" sz="1050" dirty="0"/>
          </a:p>
        </p:txBody>
      </p:sp>
      <p:sp>
        <p:nvSpPr>
          <p:cNvPr id="20" name="Shape 18"/>
          <p:cNvSpPr/>
          <p:nvPr/>
        </p:nvSpPr>
        <p:spPr>
          <a:xfrm>
            <a:off x="6135624" y="1225296"/>
            <a:ext cx="2761488" cy="1700784"/>
          </a:xfrm>
          <a:prstGeom prst="rect">
            <a:avLst/>
          </a:prstGeom>
          <a:solidFill>
            <a:srgbClr val="0A1A30"/>
          </a:solidFill>
          <a:ln w="12700">
            <a:solidFill>
              <a:srgbClr val="2196F3"/>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6135624" y="1225296"/>
            <a:ext cx="2761488" cy="91440"/>
          </a:xfrm>
          <a:prstGeom prst="rect">
            <a:avLst/>
          </a:prstGeom>
          <a:solidFill>
            <a:srgbClr val="2196F3"/>
          </a:solidFill>
          <a:ln w="12700">
            <a:solidFill>
              <a:srgbClr val="2196F3"/>
            </a:solidFill>
            <a:prstDash val="solid"/>
          </a:ln>
        </p:spPr>
      </p:sp>
      <p:sp>
        <p:nvSpPr>
          <p:cNvPr id="22" name="Shape 20"/>
          <p:cNvSpPr/>
          <p:nvPr/>
        </p:nvSpPr>
        <p:spPr>
          <a:xfrm>
            <a:off x="6263640" y="1389888"/>
            <a:ext cx="402336" cy="402336"/>
          </a:xfrm>
          <a:prstGeom prst="ellipse">
            <a:avLst/>
          </a:prstGeom>
          <a:solidFill>
            <a:srgbClr val="2196F3"/>
          </a:solidFill>
          <a:ln w="12700">
            <a:solidFill>
              <a:srgbClr val="2196F3"/>
            </a:solidFill>
            <a:prstDash val="solid"/>
          </a:ln>
        </p:spPr>
      </p:sp>
      <p:sp>
        <p:nvSpPr>
          <p:cNvPr id="23" name="Text 21"/>
          <p:cNvSpPr/>
          <p:nvPr/>
        </p:nvSpPr>
        <p:spPr>
          <a:xfrm>
            <a:off x="6263640" y="1389888"/>
            <a:ext cx="402336" cy="402336"/>
          </a:xfrm>
          <a:prstGeom prst="rect">
            <a:avLst/>
          </a:prstGeom>
          <a:noFill/>
          <a:ln/>
        </p:spPr>
        <p:txBody>
          <a:bodyPr wrap="square" lIns="0" tIns="0" rIns="0" bIns="0" rtlCol="0" anchor="ctr"/>
          <a:lstStyle/>
          <a:p>
            <a:pPr algn="ctr" indent="0" marL="0">
              <a:buNone/>
            </a:pPr>
            <a:r>
              <a:rPr lang="en-US" sz="1400" b="1" dirty="0">
                <a:solidFill>
                  <a:srgbClr val="141D30"/>
                </a:solidFill>
              </a:rPr>
              <a:t>3</a:t>
            </a:r>
            <a:endParaRPr lang="en-US" sz="1400" dirty="0"/>
          </a:p>
        </p:txBody>
      </p:sp>
      <p:sp>
        <p:nvSpPr>
          <p:cNvPr id="24" name="Text 22"/>
          <p:cNvSpPr/>
          <p:nvPr/>
        </p:nvSpPr>
        <p:spPr>
          <a:xfrm>
            <a:off x="6757416" y="1408176"/>
            <a:ext cx="2011680" cy="365760"/>
          </a:xfrm>
          <a:prstGeom prst="rect">
            <a:avLst/>
          </a:prstGeom>
          <a:noFill/>
          <a:ln/>
        </p:spPr>
        <p:txBody>
          <a:bodyPr wrap="square" lIns="0" tIns="0" rIns="0" bIns="0" rtlCol="0" anchor="ctr"/>
          <a:lstStyle/>
          <a:p>
            <a:pPr indent="0" marL="0">
              <a:buNone/>
            </a:pPr>
            <a:r>
              <a:rPr lang="en-US" sz="1300" b="1" dirty="0">
                <a:solidFill>
                  <a:srgbClr val="2196F3"/>
                </a:solidFill>
                <a:latin typeface="Georgia" pitchFamily="34" charset="0"/>
                <a:ea typeface="Georgia" pitchFamily="34" charset="-122"/>
                <a:cs typeface="Georgia" pitchFamily="34" charset="-120"/>
              </a:rPr>
              <a:t>Latency</a:t>
            </a:r>
            <a:endParaRPr lang="en-US" sz="1300" dirty="0"/>
          </a:p>
        </p:txBody>
      </p:sp>
      <p:sp>
        <p:nvSpPr>
          <p:cNvPr id="25" name="Shape 23"/>
          <p:cNvSpPr/>
          <p:nvPr/>
        </p:nvSpPr>
        <p:spPr>
          <a:xfrm>
            <a:off x="6263640" y="1847088"/>
            <a:ext cx="2505456" cy="27432"/>
          </a:xfrm>
          <a:prstGeom prst="rect">
            <a:avLst/>
          </a:prstGeom>
          <a:solidFill>
            <a:srgbClr val="333333"/>
          </a:solidFill>
          <a:ln w="12700">
            <a:solidFill>
              <a:srgbClr val="333333"/>
            </a:solidFill>
            <a:prstDash val="solid"/>
          </a:ln>
        </p:spPr>
      </p:sp>
      <p:sp>
        <p:nvSpPr>
          <p:cNvPr id="26" name="Text 24"/>
          <p:cNvSpPr/>
          <p:nvPr/>
        </p:nvSpPr>
        <p:spPr>
          <a:xfrm>
            <a:off x="6263640" y="1920240"/>
            <a:ext cx="2505456" cy="932688"/>
          </a:xfrm>
          <a:prstGeom prst="rect">
            <a:avLst/>
          </a:prstGeom>
          <a:noFill/>
          <a:ln/>
        </p:spPr>
        <p:txBody>
          <a:bodyPr wrap="square" lIns="0" tIns="0" rIns="0" bIns="0" rtlCol="0" anchor="ctr"/>
          <a:lstStyle/>
          <a:p>
            <a:pPr indent="0" marL="0">
              <a:buNone/>
            </a:pPr>
            <a:r>
              <a:rPr lang="en-US" sz="1050" dirty="0">
                <a:solidFill>
                  <a:srgbClr val="BBBBBB"/>
                </a:solidFill>
              </a:rPr>
              <a:t>5ms vs. 5 seconds is not a performance detail — it's an architectural constraint. Real-time fraud scoring at card swipe requires a fundamentally different system than overnight batch risk scoring.</a:t>
            </a:r>
            <a:endParaRPr lang="en-US" sz="1050" dirty="0"/>
          </a:p>
        </p:txBody>
      </p:sp>
      <p:sp>
        <p:nvSpPr>
          <p:cNvPr id="27" name="Shape 25"/>
          <p:cNvSpPr/>
          <p:nvPr/>
        </p:nvSpPr>
        <p:spPr>
          <a:xfrm>
            <a:off x="320040" y="3182112"/>
            <a:ext cx="4114800" cy="1700784"/>
          </a:xfrm>
          <a:prstGeom prst="rect">
            <a:avLst/>
          </a:prstGeom>
          <a:solidFill>
            <a:srgbClr val="200A30"/>
          </a:solidFill>
          <a:ln w="12700">
            <a:solidFill>
              <a:srgbClr val="9B59B6"/>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320040" y="3182112"/>
            <a:ext cx="4114800" cy="91440"/>
          </a:xfrm>
          <a:prstGeom prst="rect">
            <a:avLst/>
          </a:prstGeom>
          <a:solidFill>
            <a:srgbClr val="9B59B6"/>
          </a:solidFill>
          <a:ln w="12700">
            <a:solidFill>
              <a:srgbClr val="9B59B6"/>
            </a:solidFill>
            <a:prstDash val="solid"/>
          </a:ln>
        </p:spPr>
      </p:sp>
      <p:sp>
        <p:nvSpPr>
          <p:cNvPr id="29" name="Shape 27"/>
          <p:cNvSpPr/>
          <p:nvPr/>
        </p:nvSpPr>
        <p:spPr>
          <a:xfrm>
            <a:off x="448056" y="3346704"/>
            <a:ext cx="402336" cy="402336"/>
          </a:xfrm>
          <a:prstGeom prst="ellipse">
            <a:avLst/>
          </a:prstGeom>
          <a:solidFill>
            <a:srgbClr val="9B59B6"/>
          </a:solidFill>
          <a:ln w="12700">
            <a:solidFill>
              <a:srgbClr val="9B59B6"/>
            </a:solidFill>
            <a:prstDash val="solid"/>
          </a:ln>
        </p:spPr>
      </p:sp>
      <p:sp>
        <p:nvSpPr>
          <p:cNvPr id="30" name="Text 28"/>
          <p:cNvSpPr/>
          <p:nvPr/>
        </p:nvSpPr>
        <p:spPr>
          <a:xfrm>
            <a:off x="448056" y="3346704"/>
            <a:ext cx="402336" cy="402336"/>
          </a:xfrm>
          <a:prstGeom prst="rect">
            <a:avLst/>
          </a:prstGeom>
          <a:noFill/>
          <a:ln/>
        </p:spPr>
        <p:txBody>
          <a:bodyPr wrap="square" lIns="0" tIns="0" rIns="0" bIns="0" rtlCol="0" anchor="ctr"/>
          <a:lstStyle/>
          <a:p>
            <a:pPr algn="ctr" indent="0" marL="0">
              <a:buNone/>
            </a:pPr>
            <a:r>
              <a:rPr lang="en-US" sz="1400" b="1" dirty="0">
                <a:solidFill>
                  <a:srgbClr val="141D30"/>
                </a:solidFill>
              </a:rPr>
              <a:t>4</a:t>
            </a:r>
            <a:endParaRPr lang="en-US" sz="1400" dirty="0"/>
          </a:p>
        </p:txBody>
      </p:sp>
      <p:sp>
        <p:nvSpPr>
          <p:cNvPr id="31" name="Text 29"/>
          <p:cNvSpPr/>
          <p:nvPr/>
        </p:nvSpPr>
        <p:spPr>
          <a:xfrm>
            <a:off x="941832" y="3364992"/>
            <a:ext cx="3364992" cy="365760"/>
          </a:xfrm>
          <a:prstGeom prst="rect">
            <a:avLst/>
          </a:prstGeom>
          <a:noFill/>
          <a:ln/>
        </p:spPr>
        <p:txBody>
          <a:bodyPr wrap="square" lIns="0" tIns="0" rIns="0" bIns="0" rtlCol="0" anchor="ctr"/>
          <a:lstStyle/>
          <a:p>
            <a:pPr indent="0" marL="0">
              <a:buNone/>
            </a:pPr>
            <a:r>
              <a:rPr lang="en-US" sz="1300" b="1" dirty="0">
                <a:solidFill>
                  <a:srgbClr val="9B59B6"/>
                </a:solidFill>
                <a:latin typeface="Georgia" pitchFamily="34" charset="0"/>
                <a:ea typeface="Georgia" pitchFamily="34" charset="-122"/>
                <a:cs typeface="Georgia" pitchFamily="34" charset="-120"/>
              </a:rPr>
              <a:t>Scale</a:t>
            </a:r>
            <a:endParaRPr lang="en-US" sz="1300" dirty="0"/>
          </a:p>
        </p:txBody>
      </p:sp>
      <p:sp>
        <p:nvSpPr>
          <p:cNvPr id="32" name="Shape 30"/>
          <p:cNvSpPr/>
          <p:nvPr/>
        </p:nvSpPr>
        <p:spPr>
          <a:xfrm>
            <a:off x="448056" y="3803904"/>
            <a:ext cx="3858768" cy="27432"/>
          </a:xfrm>
          <a:prstGeom prst="rect">
            <a:avLst/>
          </a:prstGeom>
          <a:solidFill>
            <a:srgbClr val="333333"/>
          </a:solidFill>
          <a:ln w="12700">
            <a:solidFill>
              <a:srgbClr val="333333"/>
            </a:solidFill>
            <a:prstDash val="solid"/>
          </a:ln>
        </p:spPr>
      </p:sp>
      <p:sp>
        <p:nvSpPr>
          <p:cNvPr id="33" name="Text 31"/>
          <p:cNvSpPr/>
          <p:nvPr/>
        </p:nvSpPr>
        <p:spPr>
          <a:xfrm>
            <a:off x="448056" y="3877056"/>
            <a:ext cx="3858768" cy="932688"/>
          </a:xfrm>
          <a:prstGeom prst="rect">
            <a:avLst/>
          </a:prstGeom>
          <a:noFill/>
          <a:ln/>
        </p:spPr>
        <p:txBody>
          <a:bodyPr wrap="square" lIns="0" tIns="0" rIns="0" bIns="0" rtlCol="0" anchor="ctr"/>
          <a:lstStyle/>
          <a:p>
            <a:pPr indent="0" marL="0">
              <a:buNone/>
            </a:pPr>
            <a:r>
              <a:rPr lang="en-US" sz="1050" dirty="0">
                <a:solidFill>
                  <a:srgbClr val="BBBBBB"/>
                </a:solidFill>
              </a:rPr>
              <a:t>A model that works for 1,000 predictions/day may fail for 10 million. Memory, throughput, infrastructure cost, and monitoring complexity all change non-linearly with scale.</a:t>
            </a:r>
            <a:endParaRPr lang="en-US" sz="1050" dirty="0"/>
          </a:p>
        </p:txBody>
      </p:sp>
      <p:sp>
        <p:nvSpPr>
          <p:cNvPr id="34" name="Shape 32"/>
          <p:cNvSpPr/>
          <p:nvPr/>
        </p:nvSpPr>
        <p:spPr>
          <a:xfrm>
            <a:off x="4709160" y="3182112"/>
            <a:ext cx="4114800" cy="1700784"/>
          </a:xfrm>
          <a:prstGeom prst="rect">
            <a:avLst/>
          </a:prstGeom>
          <a:solidFill>
            <a:srgbClr val="0A2A20"/>
          </a:solidFill>
          <a:ln w="12700">
            <a:solidFill>
              <a:srgbClr val="02C39A"/>
            </a:solidFill>
            <a:prstDash val="solid"/>
          </a:ln>
          <a:effectLst>
            <a:outerShdw sx="100000" sy="100000" kx="0" ky="0" algn="bl" rotWithShape="0" blurRad="63500" dist="25400" dir="8100000">
              <a:srgbClr val="000000">
                <a:alpha val="8000"/>
              </a:srgbClr>
            </a:outerShdw>
          </a:effectLst>
        </p:spPr>
      </p:sp>
      <p:sp>
        <p:nvSpPr>
          <p:cNvPr id="35" name="Shape 33"/>
          <p:cNvSpPr/>
          <p:nvPr/>
        </p:nvSpPr>
        <p:spPr>
          <a:xfrm>
            <a:off x="4709160" y="3182112"/>
            <a:ext cx="4114800" cy="91440"/>
          </a:xfrm>
          <a:prstGeom prst="rect">
            <a:avLst/>
          </a:prstGeom>
          <a:solidFill>
            <a:srgbClr val="02C39A"/>
          </a:solidFill>
          <a:ln w="12700">
            <a:solidFill>
              <a:srgbClr val="02C39A"/>
            </a:solidFill>
            <a:prstDash val="solid"/>
          </a:ln>
        </p:spPr>
      </p:sp>
      <p:sp>
        <p:nvSpPr>
          <p:cNvPr id="36" name="Shape 34"/>
          <p:cNvSpPr/>
          <p:nvPr/>
        </p:nvSpPr>
        <p:spPr>
          <a:xfrm>
            <a:off x="4837176" y="3346704"/>
            <a:ext cx="402336" cy="402336"/>
          </a:xfrm>
          <a:prstGeom prst="ellipse">
            <a:avLst/>
          </a:prstGeom>
          <a:solidFill>
            <a:srgbClr val="02C39A"/>
          </a:solidFill>
          <a:ln w="12700">
            <a:solidFill>
              <a:srgbClr val="02C39A"/>
            </a:solidFill>
            <a:prstDash val="solid"/>
          </a:ln>
        </p:spPr>
      </p:sp>
      <p:sp>
        <p:nvSpPr>
          <p:cNvPr id="37" name="Text 35"/>
          <p:cNvSpPr/>
          <p:nvPr/>
        </p:nvSpPr>
        <p:spPr>
          <a:xfrm>
            <a:off x="4837176" y="3346704"/>
            <a:ext cx="402336" cy="402336"/>
          </a:xfrm>
          <a:prstGeom prst="rect">
            <a:avLst/>
          </a:prstGeom>
          <a:noFill/>
          <a:ln/>
        </p:spPr>
        <p:txBody>
          <a:bodyPr wrap="square" lIns="0" tIns="0" rIns="0" bIns="0" rtlCol="0" anchor="ctr"/>
          <a:lstStyle/>
          <a:p>
            <a:pPr algn="ctr" indent="0" marL="0">
              <a:buNone/>
            </a:pPr>
            <a:r>
              <a:rPr lang="en-US" sz="1400" b="1" dirty="0">
                <a:solidFill>
                  <a:srgbClr val="141D30"/>
                </a:solidFill>
              </a:rPr>
              <a:t>5</a:t>
            </a:r>
            <a:endParaRPr lang="en-US" sz="1400" dirty="0"/>
          </a:p>
        </p:txBody>
      </p:sp>
      <p:sp>
        <p:nvSpPr>
          <p:cNvPr id="38" name="Text 36"/>
          <p:cNvSpPr/>
          <p:nvPr/>
        </p:nvSpPr>
        <p:spPr>
          <a:xfrm>
            <a:off x="5330952" y="3364992"/>
            <a:ext cx="3364992" cy="365760"/>
          </a:xfrm>
          <a:prstGeom prst="rect">
            <a:avLst/>
          </a:prstGeom>
          <a:noFill/>
          <a:ln/>
        </p:spPr>
        <p:txBody>
          <a:bodyPr wrap="square" lIns="0" tIns="0" rIns="0" bIns="0" rtlCol="0" anchor="ctr"/>
          <a:lstStyle/>
          <a:p>
            <a:pPr indent="0" marL="0">
              <a:buNone/>
            </a:pPr>
            <a:r>
              <a:rPr lang="en-US" sz="1300" b="1" dirty="0">
                <a:solidFill>
                  <a:srgbClr val="02C39A"/>
                </a:solidFill>
                <a:latin typeface="Georgia" pitchFamily="34" charset="0"/>
                <a:ea typeface="Georgia" pitchFamily="34" charset="-122"/>
                <a:cs typeface="Georgia" pitchFamily="34" charset="-120"/>
              </a:rPr>
              <a:t>Stability Over Time</a:t>
            </a:r>
            <a:endParaRPr lang="en-US" sz="1300" dirty="0"/>
          </a:p>
        </p:txBody>
      </p:sp>
      <p:sp>
        <p:nvSpPr>
          <p:cNvPr id="39" name="Shape 37"/>
          <p:cNvSpPr/>
          <p:nvPr/>
        </p:nvSpPr>
        <p:spPr>
          <a:xfrm>
            <a:off x="4837176" y="3803904"/>
            <a:ext cx="3858768" cy="27432"/>
          </a:xfrm>
          <a:prstGeom prst="rect">
            <a:avLst/>
          </a:prstGeom>
          <a:solidFill>
            <a:srgbClr val="333333"/>
          </a:solidFill>
          <a:ln w="12700">
            <a:solidFill>
              <a:srgbClr val="333333"/>
            </a:solidFill>
            <a:prstDash val="solid"/>
          </a:ln>
        </p:spPr>
      </p:sp>
      <p:sp>
        <p:nvSpPr>
          <p:cNvPr id="40" name="Text 38"/>
          <p:cNvSpPr/>
          <p:nvPr/>
        </p:nvSpPr>
        <p:spPr>
          <a:xfrm>
            <a:off x="4837176" y="3877056"/>
            <a:ext cx="3858768" cy="932688"/>
          </a:xfrm>
          <a:prstGeom prst="rect">
            <a:avLst/>
          </a:prstGeom>
          <a:noFill/>
          <a:ln/>
        </p:spPr>
        <p:txBody>
          <a:bodyPr wrap="square" lIns="0" tIns="0" rIns="0" bIns="0" rtlCol="0" anchor="ctr"/>
          <a:lstStyle/>
          <a:p>
            <a:pPr indent="0" marL="0">
              <a:buNone/>
            </a:pPr>
            <a:r>
              <a:rPr lang="en-US" sz="1050" dirty="0">
                <a:solidFill>
                  <a:srgbClr val="BBBBBB"/>
                </a:solidFill>
              </a:rPr>
              <a:t>Model drift is inevitable. Customer behavior shifts. Fraudsters adapt. A model with slightly lower initial accuracy but better temporal stability often outperforms in production.</a:t>
            </a:r>
            <a:endParaRPr lang="en-US" sz="1050" dirty="0"/>
          </a:p>
        </p:txBody>
      </p:sp>
      <p:sp>
        <p:nvSpPr>
          <p:cNvPr id="42" name="Text 39"/>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400070"/>
          </a:solidFill>
          <a:ln w="12700">
            <a:solidFill>
              <a:srgbClr val="400070"/>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STEP 6: EXPLAINABILITY — IF IT CAN'T BE EXPLAINED, IT WON'T BE USED</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5029200" cy="420624"/>
          </a:xfrm>
          <a:prstGeom prst="rect">
            <a:avLst/>
          </a:prstGeom>
          <a:noFill/>
          <a:ln/>
        </p:spPr>
        <p:txBody>
          <a:bodyPr wrap="square" lIns="0" tIns="0" rIns="0" bIns="0" rtlCol="0" anchor="ctr"/>
          <a:lstStyle/>
          <a:p>
            <a:pPr indent="0" marL="0">
              <a:buNone/>
            </a:pPr>
            <a:r>
              <a:rPr lang="en-US" sz="2000" b="1" dirty="0">
                <a:solidFill>
                  <a:srgbClr val="1A2535"/>
                </a:solidFill>
                <a:latin typeface="Georgia" pitchFamily="34" charset="0"/>
                <a:ea typeface="Georgia" pitchFamily="34" charset="-122"/>
                <a:cs typeface="Georgia" pitchFamily="34" charset="-120"/>
              </a:rPr>
              <a:t>Even a perfect model fails if no one trusts it.</a:t>
            </a:r>
            <a:endParaRPr lang="en-US" sz="2000" dirty="0"/>
          </a:p>
        </p:txBody>
      </p:sp>
      <p:sp>
        <p:nvSpPr>
          <p:cNvPr id="6" name="Text 4"/>
          <p:cNvSpPr/>
          <p:nvPr/>
        </p:nvSpPr>
        <p:spPr>
          <a:xfrm>
            <a:off x="411480" y="1078992"/>
            <a:ext cx="8321040" cy="347472"/>
          </a:xfrm>
          <a:prstGeom prst="rect">
            <a:avLst/>
          </a:prstGeom>
          <a:noFill/>
          <a:ln/>
        </p:spPr>
        <p:txBody>
          <a:bodyPr wrap="square" lIns="0" tIns="0" rIns="0" bIns="0" rtlCol="0" anchor="ctr"/>
          <a:lstStyle/>
          <a:p>
            <a:pPr indent="0" marL="0">
              <a:buNone/>
            </a:pPr>
            <a:r>
              <a:rPr lang="en-US" sz="1500" i="1" dirty="0">
                <a:solidFill>
                  <a:srgbClr val="5B2C8D"/>
                </a:solidFill>
                <a:latin typeface="Georgia" pitchFamily="34" charset="0"/>
                <a:ea typeface="Georgia" pitchFamily="34" charset="-122"/>
                <a:cs typeface="Georgia" pitchFamily="34" charset="-120"/>
              </a:rPr>
              <a:t>In regulated industries, explainability is not optional — it's a requirement.</a:t>
            </a:r>
            <a:endParaRPr lang="en-US" sz="1500" dirty="0"/>
          </a:p>
        </p:txBody>
      </p:sp>
      <p:sp>
        <p:nvSpPr>
          <p:cNvPr id="7" name="Shape 5"/>
          <p:cNvSpPr/>
          <p:nvPr/>
        </p:nvSpPr>
        <p:spPr>
          <a:xfrm>
            <a:off x="292608" y="1554480"/>
            <a:ext cx="2697480" cy="3337560"/>
          </a:xfrm>
          <a:prstGeom prst="rect">
            <a:avLst/>
          </a:prstGeom>
          <a:solidFill>
            <a:srgbClr val="EAF4FD"/>
          </a:solidFill>
          <a:ln w="12700">
            <a:solidFill>
              <a:srgbClr val="028090"/>
            </a:solidFill>
            <a:prstDash val="solid"/>
          </a:ln>
          <a:effectLst>
            <a:outerShdw sx="100000" sy="100000" kx="0" ky="0" algn="bl" rotWithShape="0" blurRad="127000" dist="50800" dir="8100000">
              <a:srgbClr val="000000">
                <a:alpha val="15000"/>
              </a:srgbClr>
            </a:outerShdw>
          </a:effectLst>
        </p:spPr>
      </p:sp>
      <p:sp>
        <p:nvSpPr>
          <p:cNvPr id="8" name="Shape 6"/>
          <p:cNvSpPr/>
          <p:nvPr/>
        </p:nvSpPr>
        <p:spPr>
          <a:xfrm>
            <a:off x="292608" y="1554480"/>
            <a:ext cx="2697480" cy="109728"/>
          </a:xfrm>
          <a:prstGeom prst="rect">
            <a:avLst/>
          </a:prstGeom>
          <a:solidFill>
            <a:srgbClr val="028090"/>
          </a:solidFill>
          <a:ln w="12700">
            <a:solidFill>
              <a:srgbClr val="028090"/>
            </a:solidFill>
            <a:prstDash val="solid"/>
          </a:ln>
        </p:spPr>
      </p:sp>
      <p:sp>
        <p:nvSpPr>
          <p:cNvPr id="9" name="Shape 7"/>
          <p:cNvSpPr/>
          <p:nvPr/>
        </p:nvSpPr>
        <p:spPr>
          <a:xfrm>
            <a:off x="429768" y="1737360"/>
            <a:ext cx="457200" cy="457200"/>
          </a:xfrm>
          <a:prstGeom prst="ellipse">
            <a:avLst/>
          </a:prstGeom>
          <a:solidFill>
            <a:srgbClr val="028090"/>
          </a:solidFill>
          <a:ln w="12700">
            <a:solidFill>
              <a:srgbClr val="028090"/>
            </a:solidFill>
            <a:prstDash val="solid"/>
          </a:ln>
        </p:spPr>
      </p:sp>
      <p:sp>
        <p:nvSpPr>
          <p:cNvPr id="10" name="Text 8"/>
          <p:cNvSpPr/>
          <p:nvPr/>
        </p:nvSpPr>
        <p:spPr>
          <a:xfrm>
            <a:off x="429768"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11" name="Text 9"/>
          <p:cNvSpPr/>
          <p:nvPr/>
        </p:nvSpPr>
        <p:spPr>
          <a:xfrm>
            <a:off x="978408" y="1755648"/>
            <a:ext cx="1883664" cy="438912"/>
          </a:xfrm>
          <a:prstGeom prst="rect">
            <a:avLst/>
          </a:prstGeom>
          <a:noFill/>
          <a:ln/>
        </p:spPr>
        <p:txBody>
          <a:bodyPr wrap="square" lIns="0" tIns="0" rIns="0" bIns="0" rtlCol="0" anchor="ctr"/>
          <a:lstStyle/>
          <a:p>
            <a:pPr indent="0" marL="0">
              <a:buNone/>
            </a:pPr>
            <a:r>
              <a:rPr lang="en-US" sz="2000" b="1" dirty="0">
                <a:solidFill>
                  <a:srgbClr val="028090"/>
                </a:solidFill>
                <a:latin typeface="Georgia" pitchFamily="34" charset="0"/>
                <a:ea typeface="Georgia" pitchFamily="34" charset="-122"/>
                <a:cs typeface="Georgia" pitchFamily="34" charset="-120"/>
              </a:rPr>
              <a:t>Global</a:t>
            </a:r>
            <a:endParaRPr lang="en-US" sz="2000" dirty="0"/>
          </a:p>
        </p:txBody>
      </p:sp>
      <p:sp>
        <p:nvSpPr>
          <p:cNvPr id="12" name="Text 10"/>
          <p:cNvSpPr/>
          <p:nvPr/>
        </p:nvSpPr>
        <p:spPr>
          <a:xfrm>
            <a:off x="429768" y="2286000"/>
            <a:ext cx="2423160" cy="347472"/>
          </a:xfrm>
          <a:prstGeom prst="rect">
            <a:avLst/>
          </a:prstGeom>
          <a:noFill/>
          <a:ln/>
        </p:spPr>
        <p:txBody>
          <a:bodyPr wrap="square" lIns="0" tIns="0" rIns="0" bIns="0" rtlCol="0" anchor="ctr"/>
          <a:lstStyle/>
          <a:p>
            <a:pPr indent="0" marL="0">
              <a:buNone/>
            </a:pPr>
            <a:r>
              <a:rPr lang="en-US" sz="1200" i="1" dirty="0">
                <a:solidFill>
                  <a:srgbClr val="1A2535"/>
                </a:solidFill>
              </a:rPr>
              <a:t>How does the model work overall?</a:t>
            </a:r>
            <a:endParaRPr lang="en-US" sz="1200" dirty="0"/>
          </a:p>
        </p:txBody>
      </p:sp>
      <p:sp>
        <p:nvSpPr>
          <p:cNvPr id="13" name="Shape 11"/>
          <p:cNvSpPr/>
          <p:nvPr/>
        </p:nvSpPr>
        <p:spPr>
          <a:xfrm>
            <a:off x="429768" y="2651760"/>
            <a:ext cx="2423160" cy="27432"/>
          </a:xfrm>
          <a:prstGeom prst="rect">
            <a:avLst/>
          </a:prstGeom>
          <a:solidFill>
            <a:srgbClr val="CCCCCC"/>
          </a:solidFill>
          <a:ln w="12700">
            <a:solidFill>
              <a:srgbClr val="CCCCCC"/>
            </a:solidFill>
            <a:prstDash val="solid"/>
          </a:ln>
        </p:spPr>
      </p:sp>
      <p:sp>
        <p:nvSpPr>
          <p:cNvPr id="14" name="Text 12"/>
          <p:cNvSpPr/>
          <p:nvPr/>
        </p:nvSpPr>
        <p:spPr>
          <a:xfrm>
            <a:off x="429768" y="2724912"/>
            <a:ext cx="2423160" cy="621792"/>
          </a:xfrm>
          <a:prstGeom prst="rect">
            <a:avLst/>
          </a:prstGeom>
          <a:noFill/>
          <a:ln/>
        </p:spPr>
        <p:txBody>
          <a:bodyPr wrap="square" lIns="0" tIns="0" rIns="0" bIns="0" rtlCol="0" anchor="ctr"/>
          <a:lstStyle/>
          <a:p>
            <a:pPr indent="0" marL="0">
              <a:buNone/>
            </a:pPr>
            <a:r>
              <a:rPr lang="en-US" sz="1050" dirty="0">
                <a:solidFill>
                  <a:srgbClr val="1A2535"/>
                </a:solidFill>
              </a:rPr>
              <a:t>Feature importance, partial dependence plots. What generally drives outcomes?</a:t>
            </a:r>
            <a:endParaRPr lang="en-US" sz="1050" dirty="0"/>
          </a:p>
        </p:txBody>
      </p:sp>
      <p:sp>
        <p:nvSpPr>
          <p:cNvPr id="15" name="Shape 13"/>
          <p:cNvSpPr/>
          <p:nvPr/>
        </p:nvSpPr>
        <p:spPr>
          <a:xfrm>
            <a:off x="429768" y="3401568"/>
            <a:ext cx="2423160" cy="694944"/>
          </a:xfrm>
          <a:prstGeom prst="rect">
            <a:avLst/>
          </a:prstGeom>
          <a:solidFill>
            <a:srgbClr val="F0F0F0"/>
          </a:solidFill>
          <a:ln w="12700">
            <a:solidFill>
              <a:srgbClr val="028090"/>
            </a:solidFill>
            <a:prstDash val="solid"/>
          </a:ln>
        </p:spPr>
      </p:sp>
      <p:sp>
        <p:nvSpPr>
          <p:cNvPr id="16" name="Text 14"/>
          <p:cNvSpPr/>
          <p:nvPr/>
        </p:nvSpPr>
        <p:spPr>
          <a:xfrm>
            <a:off x="493776" y="3456432"/>
            <a:ext cx="2304288" cy="585216"/>
          </a:xfrm>
          <a:prstGeom prst="rect">
            <a:avLst/>
          </a:prstGeom>
          <a:noFill/>
          <a:ln/>
        </p:spPr>
        <p:txBody>
          <a:bodyPr wrap="square" lIns="0" tIns="0" rIns="0" bIns="0" rtlCol="0" anchor="ctr"/>
          <a:lstStyle/>
          <a:p>
            <a:pPr indent="0" marL="0">
              <a:buNone/>
            </a:pPr>
            <a:r>
              <a:rPr lang="en-US" sz="950" i="1" dirty="0">
                <a:solidFill>
                  <a:srgbClr val="1A2535"/>
                </a:solidFill>
              </a:rPr>
              <a:t>'Transaction velocity (attempts/hour) is the #1 driver of fraud classification across all customers.'</a:t>
            </a:r>
            <a:endParaRPr lang="en-US" sz="950" dirty="0"/>
          </a:p>
        </p:txBody>
      </p:sp>
      <p:sp>
        <p:nvSpPr>
          <p:cNvPr id="17" name="Text 15"/>
          <p:cNvSpPr/>
          <p:nvPr/>
        </p:nvSpPr>
        <p:spPr>
          <a:xfrm>
            <a:off x="429768" y="4169664"/>
            <a:ext cx="2423160" cy="603504"/>
          </a:xfrm>
          <a:prstGeom prst="rect">
            <a:avLst/>
          </a:prstGeom>
          <a:noFill/>
          <a:ln/>
        </p:spPr>
        <p:txBody>
          <a:bodyPr wrap="square" lIns="0" tIns="0" rIns="0" bIns="0" rtlCol="0" anchor="ctr"/>
          <a:lstStyle/>
          <a:p>
            <a:pPr indent="0" marL="0">
              <a:buNone/>
            </a:pPr>
            <a:r>
              <a:rPr lang="en-US" sz="950" b="1" dirty="0">
                <a:solidFill>
                  <a:srgbClr val="028090"/>
                </a:solidFill>
              </a:rPr>
              <a:t>Feature importance · Permutation importance · Partial dependence</a:t>
            </a:r>
            <a:endParaRPr lang="en-US" sz="950" dirty="0"/>
          </a:p>
        </p:txBody>
      </p:sp>
      <p:sp>
        <p:nvSpPr>
          <p:cNvPr id="18" name="Shape 16"/>
          <p:cNvSpPr/>
          <p:nvPr/>
        </p:nvSpPr>
        <p:spPr>
          <a:xfrm>
            <a:off x="3236976" y="1554480"/>
            <a:ext cx="2697480" cy="3337560"/>
          </a:xfrm>
          <a:prstGeom prst="rect">
            <a:avLst/>
          </a:prstGeom>
          <a:solidFill>
            <a:srgbClr val="F5F0FF"/>
          </a:solidFill>
          <a:ln w="12700">
            <a:solidFill>
              <a:srgbClr val="5B2C8D"/>
            </a:solidFill>
            <a:prstDash val="solid"/>
          </a:ln>
          <a:effectLst>
            <a:outerShdw sx="100000" sy="100000" kx="0" ky="0" algn="bl" rotWithShape="0" blurRad="127000" dist="50800" dir="8100000">
              <a:srgbClr val="000000">
                <a:alpha val="15000"/>
              </a:srgbClr>
            </a:outerShdw>
          </a:effectLst>
        </p:spPr>
      </p:sp>
      <p:sp>
        <p:nvSpPr>
          <p:cNvPr id="19" name="Shape 17"/>
          <p:cNvSpPr/>
          <p:nvPr/>
        </p:nvSpPr>
        <p:spPr>
          <a:xfrm>
            <a:off x="3236976" y="1554480"/>
            <a:ext cx="2697480" cy="109728"/>
          </a:xfrm>
          <a:prstGeom prst="rect">
            <a:avLst/>
          </a:prstGeom>
          <a:solidFill>
            <a:srgbClr val="5B2C8D"/>
          </a:solidFill>
          <a:ln w="12700">
            <a:solidFill>
              <a:srgbClr val="5B2C8D"/>
            </a:solidFill>
            <a:prstDash val="solid"/>
          </a:ln>
        </p:spPr>
      </p:sp>
      <p:sp>
        <p:nvSpPr>
          <p:cNvPr id="20" name="Shape 18"/>
          <p:cNvSpPr/>
          <p:nvPr/>
        </p:nvSpPr>
        <p:spPr>
          <a:xfrm>
            <a:off x="3374136" y="1737360"/>
            <a:ext cx="457200" cy="457200"/>
          </a:xfrm>
          <a:prstGeom prst="ellipse">
            <a:avLst/>
          </a:prstGeom>
          <a:solidFill>
            <a:srgbClr val="5B2C8D"/>
          </a:solidFill>
          <a:ln w="12700">
            <a:solidFill>
              <a:srgbClr val="5B2C8D"/>
            </a:solidFill>
            <a:prstDash val="solid"/>
          </a:ln>
        </p:spPr>
      </p:sp>
      <p:sp>
        <p:nvSpPr>
          <p:cNvPr id="21" name="Text 19"/>
          <p:cNvSpPr/>
          <p:nvPr/>
        </p:nvSpPr>
        <p:spPr>
          <a:xfrm>
            <a:off x="3374136"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22" name="Text 20"/>
          <p:cNvSpPr/>
          <p:nvPr/>
        </p:nvSpPr>
        <p:spPr>
          <a:xfrm>
            <a:off x="3922776" y="1755648"/>
            <a:ext cx="1883664" cy="438912"/>
          </a:xfrm>
          <a:prstGeom prst="rect">
            <a:avLst/>
          </a:prstGeom>
          <a:noFill/>
          <a:ln/>
        </p:spPr>
        <p:txBody>
          <a:bodyPr wrap="square" lIns="0" tIns="0" rIns="0" bIns="0" rtlCol="0" anchor="ctr"/>
          <a:lstStyle/>
          <a:p>
            <a:pPr indent="0" marL="0">
              <a:buNone/>
            </a:pPr>
            <a:r>
              <a:rPr lang="en-US" sz="2000" b="1" dirty="0">
                <a:solidFill>
                  <a:srgbClr val="5B2C8D"/>
                </a:solidFill>
                <a:latin typeface="Georgia" pitchFamily="34" charset="0"/>
                <a:ea typeface="Georgia" pitchFamily="34" charset="-122"/>
                <a:cs typeface="Georgia" pitchFamily="34" charset="-120"/>
              </a:rPr>
              <a:t>Local</a:t>
            </a:r>
            <a:endParaRPr lang="en-US" sz="2000" dirty="0"/>
          </a:p>
        </p:txBody>
      </p:sp>
      <p:sp>
        <p:nvSpPr>
          <p:cNvPr id="23" name="Text 21"/>
          <p:cNvSpPr/>
          <p:nvPr/>
        </p:nvSpPr>
        <p:spPr>
          <a:xfrm>
            <a:off x="3374136" y="2286000"/>
            <a:ext cx="2423160" cy="347472"/>
          </a:xfrm>
          <a:prstGeom prst="rect">
            <a:avLst/>
          </a:prstGeom>
          <a:noFill/>
          <a:ln/>
        </p:spPr>
        <p:txBody>
          <a:bodyPr wrap="square" lIns="0" tIns="0" rIns="0" bIns="0" rtlCol="0" anchor="ctr"/>
          <a:lstStyle/>
          <a:p>
            <a:pPr indent="0" marL="0">
              <a:buNone/>
            </a:pPr>
            <a:r>
              <a:rPr lang="en-US" sz="1200" i="1" dirty="0">
                <a:solidFill>
                  <a:srgbClr val="1A2535"/>
                </a:solidFill>
              </a:rPr>
              <a:t>Why did the model make THIS decision?</a:t>
            </a:r>
            <a:endParaRPr lang="en-US" sz="1200" dirty="0"/>
          </a:p>
        </p:txBody>
      </p:sp>
      <p:sp>
        <p:nvSpPr>
          <p:cNvPr id="24" name="Shape 22"/>
          <p:cNvSpPr/>
          <p:nvPr/>
        </p:nvSpPr>
        <p:spPr>
          <a:xfrm>
            <a:off x="3374136" y="2651760"/>
            <a:ext cx="2423160" cy="27432"/>
          </a:xfrm>
          <a:prstGeom prst="rect">
            <a:avLst/>
          </a:prstGeom>
          <a:solidFill>
            <a:srgbClr val="CCCCCC"/>
          </a:solidFill>
          <a:ln w="12700">
            <a:solidFill>
              <a:srgbClr val="CCCCCC"/>
            </a:solidFill>
            <a:prstDash val="solid"/>
          </a:ln>
        </p:spPr>
      </p:sp>
      <p:sp>
        <p:nvSpPr>
          <p:cNvPr id="25" name="Text 23"/>
          <p:cNvSpPr/>
          <p:nvPr/>
        </p:nvSpPr>
        <p:spPr>
          <a:xfrm>
            <a:off x="3374136" y="2724912"/>
            <a:ext cx="2423160" cy="621792"/>
          </a:xfrm>
          <a:prstGeom prst="rect">
            <a:avLst/>
          </a:prstGeom>
          <a:noFill/>
          <a:ln/>
        </p:spPr>
        <p:txBody>
          <a:bodyPr wrap="square" lIns="0" tIns="0" rIns="0" bIns="0" rtlCol="0" anchor="ctr"/>
          <a:lstStyle/>
          <a:p>
            <a:pPr indent="0" marL="0">
              <a:buNone/>
            </a:pPr>
            <a:r>
              <a:rPr lang="en-US" sz="1050" dirty="0">
                <a:solidFill>
                  <a:srgbClr val="1A2535"/>
                </a:solidFill>
              </a:rPr>
              <a:t>SHAP values, LIME. Why was THIS transaction flagged, for THIS customer, right now?</a:t>
            </a:r>
            <a:endParaRPr lang="en-US" sz="1050" dirty="0"/>
          </a:p>
        </p:txBody>
      </p:sp>
      <p:sp>
        <p:nvSpPr>
          <p:cNvPr id="26" name="Shape 24"/>
          <p:cNvSpPr/>
          <p:nvPr/>
        </p:nvSpPr>
        <p:spPr>
          <a:xfrm>
            <a:off x="3374136" y="3401568"/>
            <a:ext cx="2423160" cy="694944"/>
          </a:xfrm>
          <a:prstGeom prst="rect">
            <a:avLst/>
          </a:prstGeom>
          <a:solidFill>
            <a:srgbClr val="F0F0F0"/>
          </a:solidFill>
          <a:ln w="12700">
            <a:solidFill>
              <a:srgbClr val="5B2C8D"/>
            </a:solidFill>
            <a:prstDash val="solid"/>
          </a:ln>
        </p:spPr>
      </p:sp>
      <p:sp>
        <p:nvSpPr>
          <p:cNvPr id="27" name="Text 25"/>
          <p:cNvSpPr/>
          <p:nvPr/>
        </p:nvSpPr>
        <p:spPr>
          <a:xfrm>
            <a:off x="3438144" y="3456432"/>
            <a:ext cx="2304288" cy="585216"/>
          </a:xfrm>
          <a:prstGeom prst="rect">
            <a:avLst/>
          </a:prstGeom>
          <a:noFill/>
          <a:ln/>
        </p:spPr>
        <p:txBody>
          <a:bodyPr wrap="square" lIns="0" tIns="0" rIns="0" bIns="0" rtlCol="0" anchor="ctr"/>
          <a:lstStyle/>
          <a:p>
            <a:pPr indent="0" marL="0">
              <a:buNone/>
            </a:pPr>
            <a:r>
              <a:rPr lang="en-US" sz="950" i="1" dirty="0">
                <a:solidFill>
                  <a:srgbClr val="1A2535"/>
                </a:solidFill>
              </a:rPr>
              <a:t>'This transaction was flagged: +0.42 velocity, +0.38 geo-distance, -0.12 merchant history.'</a:t>
            </a:r>
            <a:endParaRPr lang="en-US" sz="950" dirty="0"/>
          </a:p>
        </p:txBody>
      </p:sp>
      <p:sp>
        <p:nvSpPr>
          <p:cNvPr id="28" name="Text 26"/>
          <p:cNvSpPr/>
          <p:nvPr/>
        </p:nvSpPr>
        <p:spPr>
          <a:xfrm>
            <a:off x="3374136" y="4169664"/>
            <a:ext cx="2423160" cy="603504"/>
          </a:xfrm>
          <a:prstGeom prst="rect">
            <a:avLst/>
          </a:prstGeom>
          <a:noFill/>
          <a:ln/>
        </p:spPr>
        <p:txBody>
          <a:bodyPr wrap="square" lIns="0" tIns="0" rIns="0" bIns="0" rtlCol="0" anchor="ctr"/>
          <a:lstStyle/>
          <a:p>
            <a:pPr indent="0" marL="0">
              <a:buNone/>
            </a:pPr>
            <a:r>
              <a:rPr lang="en-US" sz="950" b="1" dirty="0">
                <a:solidFill>
                  <a:srgbClr val="5B2C8D"/>
                </a:solidFill>
              </a:rPr>
              <a:t>SHAP values · LIME · Counterfactual explanations</a:t>
            </a:r>
            <a:endParaRPr lang="en-US" sz="950" dirty="0"/>
          </a:p>
        </p:txBody>
      </p:sp>
      <p:sp>
        <p:nvSpPr>
          <p:cNvPr id="29" name="Shape 27"/>
          <p:cNvSpPr/>
          <p:nvPr/>
        </p:nvSpPr>
        <p:spPr>
          <a:xfrm>
            <a:off x="6181344" y="1554480"/>
            <a:ext cx="2697480" cy="3337560"/>
          </a:xfrm>
          <a:prstGeom prst="rect">
            <a:avLst/>
          </a:prstGeom>
          <a:solidFill>
            <a:srgbClr val="FFF4EB"/>
          </a:solidFill>
          <a:ln w="12700">
            <a:solidFill>
              <a:srgbClr val="BF5E00"/>
            </a:solidFill>
            <a:prstDash val="solid"/>
          </a:ln>
          <a:effectLst>
            <a:outerShdw sx="100000" sy="100000" kx="0" ky="0" algn="bl" rotWithShape="0" blurRad="127000" dist="50800" dir="8100000">
              <a:srgbClr val="000000">
                <a:alpha val="15000"/>
              </a:srgbClr>
            </a:outerShdw>
          </a:effectLst>
        </p:spPr>
      </p:sp>
      <p:sp>
        <p:nvSpPr>
          <p:cNvPr id="30" name="Shape 28"/>
          <p:cNvSpPr/>
          <p:nvPr/>
        </p:nvSpPr>
        <p:spPr>
          <a:xfrm>
            <a:off x="6181344" y="1554480"/>
            <a:ext cx="2697480" cy="109728"/>
          </a:xfrm>
          <a:prstGeom prst="rect">
            <a:avLst/>
          </a:prstGeom>
          <a:solidFill>
            <a:srgbClr val="BF5E00"/>
          </a:solidFill>
          <a:ln w="12700">
            <a:solidFill>
              <a:srgbClr val="BF5E00"/>
            </a:solidFill>
            <a:prstDash val="solid"/>
          </a:ln>
        </p:spPr>
      </p:sp>
      <p:sp>
        <p:nvSpPr>
          <p:cNvPr id="31" name="Shape 29"/>
          <p:cNvSpPr/>
          <p:nvPr/>
        </p:nvSpPr>
        <p:spPr>
          <a:xfrm>
            <a:off x="6318504" y="1737360"/>
            <a:ext cx="457200" cy="457200"/>
          </a:xfrm>
          <a:prstGeom prst="ellipse">
            <a:avLst/>
          </a:prstGeom>
          <a:solidFill>
            <a:srgbClr val="BF5E00"/>
          </a:solidFill>
          <a:ln w="12700">
            <a:solidFill>
              <a:srgbClr val="BF5E00"/>
            </a:solidFill>
            <a:prstDash val="solid"/>
          </a:ln>
        </p:spPr>
      </p:sp>
      <p:sp>
        <p:nvSpPr>
          <p:cNvPr id="32" name="Text 30"/>
          <p:cNvSpPr/>
          <p:nvPr/>
        </p:nvSpPr>
        <p:spPr>
          <a:xfrm>
            <a:off x="6318504"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33" name="Text 31"/>
          <p:cNvSpPr/>
          <p:nvPr/>
        </p:nvSpPr>
        <p:spPr>
          <a:xfrm>
            <a:off x="6867144" y="1755648"/>
            <a:ext cx="1883664" cy="438912"/>
          </a:xfrm>
          <a:prstGeom prst="rect">
            <a:avLst/>
          </a:prstGeom>
          <a:noFill/>
          <a:ln/>
        </p:spPr>
        <p:txBody>
          <a:bodyPr wrap="square" lIns="0" tIns="0" rIns="0" bIns="0" rtlCol="0" anchor="ctr"/>
          <a:lstStyle/>
          <a:p>
            <a:pPr indent="0" marL="0">
              <a:buNone/>
            </a:pPr>
            <a:r>
              <a:rPr lang="en-US" sz="2000" b="1" dirty="0">
                <a:solidFill>
                  <a:srgbClr val="BF5E00"/>
                </a:solidFill>
                <a:latin typeface="Georgia" pitchFamily="34" charset="0"/>
                <a:ea typeface="Georgia" pitchFamily="34" charset="-122"/>
                <a:cs typeface="Georgia" pitchFamily="34" charset="-120"/>
              </a:rPr>
              <a:t>Operational</a:t>
            </a:r>
            <a:endParaRPr lang="en-US" sz="2000" dirty="0"/>
          </a:p>
        </p:txBody>
      </p:sp>
      <p:sp>
        <p:nvSpPr>
          <p:cNvPr id="34" name="Text 32"/>
          <p:cNvSpPr/>
          <p:nvPr/>
        </p:nvSpPr>
        <p:spPr>
          <a:xfrm>
            <a:off x="6318504" y="2286000"/>
            <a:ext cx="2423160" cy="347472"/>
          </a:xfrm>
          <a:prstGeom prst="rect">
            <a:avLst/>
          </a:prstGeom>
          <a:noFill/>
          <a:ln/>
        </p:spPr>
        <p:txBody>
          <a:bodyPr wrap="square" lIns="0" tIns="0" rIns="0" bIns="0" rtlCol="0" anchor="ctr"/>
          <a:lstStyle/>
          <a:p>
            <a:pPr indent="0" marL="0">
              <a:buNone/>
            </a:pPr>
            <a:r>
              <a:rPr lang="en-US" sz="1200" i="1" dirty="0">
                <a:solidFill>
                  <a:srgbClr val="1A2535"/>
                </a:solidFill>
              </a:rPr>
              <a:t>Can a human act on the explanation?</a:t>
            </a:r>
            <a:endParaRPr lang="en-US" sz="1200" dirty="0"/>
          </a:p>
        </p:txBody>
      </p:sp>
      <p:sp>
        <p:nvSpPr>
          <p:cNvPr id="35" name="Shape 33"/>
          <p:cNvSpPr/>
          <p:nvPr/>
        </p:nvSpPr>
        <p:spPr>
          <a:xfrm>
            <a:off x="6318504" y="2651760"/>
            <a:ext cx="2423160" cy="27432"/>
          </a:xfrm>
          <a:prstGeom prst="rect">
            <a:avLst/>
          </a:prstGeom>
          <a:solidFill>
            <a:srgbClr val="CCCCCC"/>
          </a:solidFill>
          <a:ln w="12700">
            <a:solidFill>
              <a:srgbClr val="CCCCCC"/>
            </a:solidFill>
            <a:prstDash val="solid"/>
          </a:ln>
        </p:spPr>
      </p:sp>
      <p:sp>
        <p:nvSpPr>
          <p:cNvPr id="36" name="Text 34"/>
          <p:cNvSpPr/>
          <p:nvPr/>
        </p:nvSpPr>
        <p:spPr>
          <a:xfrm>
            <a:off x="6318504" y="2724912"/>
            <a:ext cx="2423160" cy="621792"/>
          </a:xfrm>
          <a:prstGeom prst="rect">
            <a:avLst/>
          </a:prstGeom>
          <a:noFill/>
          <a:ln/>
        </p:spPr>
        <p:txBody>
          <a:bodyPr wrap="square" lIns="0" tIns="0" rIns="0" bIns="0" rtlCol="0" anchor="ctr"/>
          <a:lstStyle/>
          <a:p>
            <a:pPr indent="0" marL="0">
              <a:buNone/>
            </a:pPr>
            <a:r>
              <a:rPr lang="en-US" sz="1050" dirty="0">
                <a:solidFill>
                  <a:srgbClr val="1A2535"/>
                </a:solidFill>
              </a:rPr>
              <a:t>Does it make sense in business terms? Can a banker explain it to a customer? Is it defensible to a regulator?</a:t>
            </a:r>
            <a:endParaRPr lang="en-US" sz="1050" dirty="0"/>
          </a:p>
        </p:txBody>
      </p:sp>
      <p:sp>
        <p:nvSpPr>
          <p:cNvPr id="37" name="Shape 35"/>
          <p:cNvSpPr/>
          <p:nvPr/>
        </p:nvSpPr>
        <p:spPr>
          <a:xfrm>
            <a:off x="6318504" y="3401568"/>
            <a:ext cx="2423160" cy="694944"/>
          </a:xfrm>
          <a:prstGeom prst="rect">
            <a:avLst/>
          </a:prstGeom>
          <a:solidFill>
            <a:srgbClr val="F0F0F0"/>
          </a:solidFill>
          <a:ln w="12700">
            <a:solidFill>
              <a:srgbClr val="BF5E00"/>
            </a:solidFill>
            <a:prstDash val="solid"/>
          </a:ln>
        </p:spPr>
      </p:sp>
      <p:sp>
        <p:nvSpPr>
          <p:cNvPr id="38" name="Text 36"/>
          <p:cNvSpPr/>
          <p:nvPr/>
        </p:nvSpPr>
        <p:spPr>
          <a:xfrm>
            <a:off x="6382512" y="3456432"/>
            <a:ext cx="2304288" cy="585216"/>
          </a:xfrm>
          <a:prstGeom prst="rect">
            <a:avLst/>
          </a:prstGeom>
          <a:noFill/>
          <a:ln/>
        </p:spPr>
        <p:txBody>
          <a:bodyPr wrap="square" lIns="0" tIns="0" rIns="0" bIns="0" rtlCol="0" anchor="ctr"/>
          <a:lstStyle/>
          <a:p>
            <a:pPr indent="0" marL="0">
              <a:buNone/>
            </a:pPr>
            <a:r>
              <a:rPr lang="en-US" sz="950" i="1" dirty="0">
                <a:solidFill>
                  <a:srgbClr val="1A2535"/>
                </a:solidFill>
              </a:rPr>
              <a:t>'We blocked your transaction because this is your first purchase in this city for an amount this large.'</a:t>
            </a:r>
            <a:endParaRPr lang="en-US" sz="950" dirty="0"/>
          </a:p>
        </p:txBody>
      </p:sp>
      <p:sp>
        <p:nvSpPr>
          <p:cNvPr id="39" name="Text 37"/>
          <p:cNvSpPr/>
          <p:nvPr/>
        </p:nvSpPr>
        <p:spPr>
          <a:xfrm>
            <a:off x="6318504" y="4169664"/>
            <a:ext cx="2423160" cy="603504"/>
          </a:xfrm>
          <a:prstGeom prst="rect">
            <a:avLst/>
          </a:prstGeom>
          <a:noFill/>
          <a:ln/>
        </p:spPr>
        <p:txBody>
          <a:bodyPr wrap="square" lIns="0" tIns="0" rIns="0" bIns="0" rtlCol="0" anchor="ctr"/>
          <a:lstStyle/>
          <a:p>
            <a:pPr indent="0" marL="0">
              <a:buNone/>
            </a:pPr>
            <a:r>
              <a:rPr lang="en-US" sz="950" b="1" dirty="0">
                <a:solidFill>
                  <a:srgbClr val="BF5E00"/>
                </a:solidFill>
              </a:rPr>
              <a:t>Plain-language templates · Human review workflows · Audit logs</a:t>
            </a:r>
            <a:endParaRPr lang="en-US" sz="950" dirty="0"/>
          </a:p>
        </p:txBody>
      </p:sp>
      <p:sp>
        <p:nvSpPr>
          <p:cNvPr id="41" name="Text 38"/>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400070"/>
          </a:solidFill>
          <a:ln w="12700">
            <a:solidFill>
              <a:srgbClr val="400070"/>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EXPLAINABILITY IN PRACTICE — SHAP VALUES</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420624"/>
          </a:xfrm>
          <a:prstGeom prst="rect">
            <a:avLst/>
          </a:prstGeom>
          <a:noFill/>
          <a:ln/>
        </p:spPr>
        <p:txBody>
          <a:bodyPr wrap="square" lIns="0" tIns="0" rIns="0" bIns="0" rtlCol="0" anchor="ctr"/>
          <a:lstStyle/>
          <a:p>
            <a:pPr indent="0" marL="0">
              <a:buNone/>
            </a:pPr>
            <a:r>
              <a:rPr lang="en-US" sz="1600" i="1" dirty="0">
                <a:solidFill>
                  <a:srgbClr val="1A2535"/>
                </a:solidFill>
                <a:latin typeface="Georgia" pitchFamily="34" charset="0"/>
                <a:ea typeface="Georgia" pitchFamily="34" charset="-122"/>
                <a:cs typeface="Georgia" pitchFamily="34" charset="-120"/>
              </a:rPr>
              <a:t>Every prediction decomposed into the contribution of every feature — for every individual decision.</a:t>
            </a:r>
            <a:endParaRPr lang="en-US" sz="1600" dirty="0"/>
          </a:p>
        </p:txBody>
      </p:sp>
      <p:sp>
        <p:nvSpPr>
          <p:cNvPr id="6" name="Text 4"/>
          <p:cNvSpPr/>
          <p:nvPr/>
        </p:nvSpPr>
        <p:spPr>
          <a:xfrm>
            <a:off x="411480" y="1207008"/>
            <a:ext cx="4572000" cy="365760"/>
          </a:xfrm>
          <a:prstGeom prst="rect">
            <a:avLst/>
          </a:prstGeom>
          <a:noFill/>
          <a:ln/>
        </p:spPr>
        <p:txBody>
          <a:bodyPr wrap="square" lIns="0" tIns="0" rIns="0" bIns="0" rtlCol="0" anchor="ctr"/>
          <a:lstStyle/>
          <a:p>
            <a:pPr indent="0" marL="0">
              <a:buNone/>
            </a:pPr>
            <a:r>
              <a:rPr lang="en-US" sz="1400" b="1" dirty="0">
                <a:solidFill>
                  <a:srgbClr val="1E2D4E"/>
                </a:solidFill>
                <a:latin typeface="Georgia" pitchFamily="34" charset="0"/>
                <a:ea typeface="Georgia" pitchFamily="34" charset="-122"/>
                <a:cs typeface="Georgia" pitchFamily="34" charset="-120"/>
              </a:rPr>
              <a:t>Why was transaction #TXN-44821 flagged?</a:t>
            </a:r>
            <a:endParaRPr lang="en-US" sz="1400" dirty="0"/>
          </a:p>
        </p:txBody>
      </p:sp>
      <p:sp>
        <p:nvSpPr>
          <p:cNvPr id="7" name="Text 5"/>
          <p:cNvSpPr/>
          <p:nvPr/>
        </p:nvSpPr>
        <p:spPr>
          <a:xfrm>
            <a:off x="411480" y="1572768"/>
            <a:ext cx="2560320" cy="292608"/>
          </a:xfrm>
          <a:prstGeom prst="rect">
            <a:avLst/>
          </a:prstGeom>
          <a:noFill/>
          <a:ln/>
        </p:spPr>
        <p:txBody>
          <a:bodyPr wrap="square" lIns="0" tIns="0" rIns="0" bIns="0" rtlCol="0" anchor="ctr"/>
          <a:lstStyle/>
          <a:p>
            <a:pPr indent="0" marL="0">
              <a:buNone/>
            </a:pPr>
            <a:r>
              <a:rPr lang="en-US" sz="1200" i="1" dirty="0">
                <a:solidFill>
                  <a:srgbClr val="4A5568"/>
                </a:solidFill>
              </a:rPr>
              <a:t>Base fraud rate: 0.012</a:t>
            </a:r>
            <a:endParaRPr lang="en-US" sz="1200" dirty="0"/>
          </a:p>
        </p:txBody>
      </p:sp>
      <p:sp>
        <p:nvSpPr>
          <p:cNvPr id="8" name="Text 6"/>
          <p:cNvSpPr/>
          <p:nvPr/>
        </p:nvSpPr>
        <p:spPr>
          <a:xfrm>
            <a:off x="411480" y="1993392"/>
            <a:ext cx="2560320" cy="347472"/>
          </a:xfrm>
          <a:prstGeom prst="rect">
            <a:avLst/>
          </a:prstGeom>
          <a:noFill/>
          <a:ln/>
        </p:spPr>
        <p:txBody>
          <a:bodyPr wrap="square" lIns="0" tIns="0" rIns="0" bIns="0" rtlCol="0" anchor="ctr"/>
          <a:lstStyle/>
          <a:p>
            <a:pPr indent="0" marL="0">
              <a:buNone/>
            </a:pPr>
            <a:r>
              <a:rPr lang="en-US" sz="1050" dirty="0">
                <a:solidFill>
                  <a:srgbClr val="1A2535"/>
                </a:solidFill>
                <a:latin typeface="Courier New" pitchFamily="34" charset="0"/>
                <a:ea typeface="Courier New" pitchFamily="34" charset="-122"/>
                <a:cs typeface="Courier New" pitchFamily="34" charset="-120"/>
              </a:rPr>
              <a:t>transaction_velocity</a:t>
            </a:r>
            <a:endParaRPr lang="en-US" sz="1050" dirty="0"/>
          </a:p>
        </p:txBody>
      </p:sp>
      <p:sp>
        <p:nvSpPr>
          <p:cNvPr id="9" name="Shape 7"/>
          <p:cNvSpPr/>
          <p:nvPr/>
        </p:nvSpPr>
        <p:spPr>
          <a:xfrm>
            <a:off x="3017520" y="2048256"/>
            <a:ext cx="1728216" cy="256032"/>
          </a:xfrm>
          <a:prstGeom prst="rect">
            <a:avLst/>
          </a:prstGeom>
          <a:solidFill>
            <a:srgbClr val="C0392B"/>
          </a:solidFill>
          <a:ln w="12700">
            <a:solidFill>
              <a:srgbClr val="C0392B"/>
            </a:solidFill>
            <a:prstDash val="solid"/>
          </a:ln>
        </p:spPr>
      </p:sp>
      <p:sp>
        <p:nvSpPr>
          <p:cNvPr id="10" name="Text 8"/>
          <p:cNvSpPr/>
          <p:nvPr/>
        </p:nvSpPr>
        <p:spPr>
          <a:xfrm>
            <a:off x="4791456" y="1993392"/>
            <a:ext cx="402336" cy="347472"/>
          </a:xfrm>
          <a:prstGeom prst="rect">
            <a:avLst/>
          </a:prstGeom>
          <a:noFill/>
          <a:ln/>
        </p:spPr>
        <p:txBody>
          <a:bodyPr wrap="square" lIns="0" tIns="0" rIns="0" bIns="0" rtlCol="0" anchor="ctr"/>
          <a:lstStyle/>
          <a:p>
            <a:pPr indent="0" marL="0">
              <a:buNone/>
            </a:pPr>
            <a:r>
              <a:rPr lang="en-US" sz="1100" b="1" dirty="0">
                <a:solidFill>
                  <a:srgbClr val="C0392B"/>
                </a:solidFill>
              </a:rPr>
              <a:t>+0.42</a:t>
            </a:r>
            <a:endParaRPr lang="en-US" sz="1100" dirty="0"/>
          </a:p>
        </p:txBody>
      </p:sp>
      <p:sp>
        <p:nvSpPr>
          <p:cNvPr id="11" name="Text 9"/>
          <p:cNvSpPr/>
          <p:nvPr/>
        </p:nvSpPr>
        <p:spPr>
          <a:xfrm>
            <a:off x="6858000" y="1993392"/>
            <a:ext cx="1993392" cy="347472"/>
          </a:xfrm>
          <a:prstGeom prst="rect">
            <a:avLst/>
          </a:prstGeom>
          <a:noFill/>
          <a:ln/>
        </p:spPr>
        <p:txBody>
          <a:bodyPr wrap="square" lIns="0" tIns="0" rIns="0" bIns="0" rtlCol="0" anchor="ctr"/>
          <a:lstStyle/>
          <a:p>
            <a:pPr indent="0" marL="0">
              <a:buNone/>
            </a:pPr>
            <a:r>
              <a:rPr lang="en-US" sz="950" i="1" dirty="0">
                <a:solidFill>
                  <a:srgbClr val="4A5568"/>
                </a:solidFill>
              </a:rPr>
              <a:t>12 attempts in 1 hour</a:t>
            </a:r>
            <a:endParaRPr lang="en-US" sz="950" dirty="0"/>
          </a:p>
        </p:txBody>
      </p:sp>
      <p:sp>
        <p:nvSpPr>
          <p:cNvPr id="12" name="Text 10"/>
          <p:cNvSpPr/>
          <p:nvPr/>
        </p:nvSpPr>
        <p:spPr>
          <a:xfrm>
            <a:off x="411480" y="2414016"/>
            <a:ext cx="2560320" cy="347472"/>
          </a:xfrm>
          <a:prstGeom prst="rect">
            <a:avLst/>
          </a:prstGeom>
          <a:noFill/>
          <a:ln/>
        </p:spPr>
        <p:txBody>
          <a:bodyPr wrap="square" lIns="0" tIns="0" rIns="0" bIns="0" rtlCol="0" anchor="ctr"/>
          <a:lstStyle/>
          <a:p>
            <a:pPr indent="0" marL="0">
              <a:buNone/>
            </a:pPr>
            <a:r>
              <a:rPr lang="en-US" sz="1050" dirty="0">
                <a:solidFill>
                  <a:srgbClr val="1A2535"/>
                </a:solidFill>
                <a:latin typeface="Courier New" pitchFamily="34" charset="0"/>
                <a:ea typeface="Courier New" pitchFamily="34" charset="-122"/>
                <a:cs typeface="Courier New" pitchFamily="34" charset="-120"/>
              </a:rPr>
              <a:t>geo_distance_home</a:t>
            </a:r>
            <a:endParaRPr lang="en-US" sz="1050" dirty="0"/>
          </a:p>
        </p:txBody>
      </p:sp>
      <p:sp>
        <p:nvSpPr>
          <p:cNvPr id="13" name="Shape 11"/>
          <p:cNvSpPr/>
          <p:nvPr/>
        </p:nvSpPr>
        <p:spPr>
          <a:xfrm>
            <a:off x="3017520" y="2468880"/>
            <a:ext cx="1563624" cy="256032"/>
          </a:xfrm>
          <a:prstGeom prst="rect">
            <a:avLst/>
          </a:prstGeom>
          <a:solidFill>
            <a:srgbClr val="C0392B"/>
          </a:solidFill>
          <a:ln w="12700">
            <a:solidFill>
              <a:srgbClr val="C0392B"/>
            </a:solidFill>
            <a:prstDash val="solid"/>
          </a:ln>
        </p:spPr>
      </p:sp>
      <p:sp>
        <p:nvSpPr>
          <p:cNvPr id="14" name="Text 12"/>
          <p:cNvSpPr/>
          <p:nvPr/>
        </p:nvSpPr>
        <p:spPr>
          <a:xfrm>
            <a:off x="4626864" y="2414016"/>
            <a:ext cx="402336" cy="347472"/>
          </a:xfrm>
          <a:prstGeom prst="rect">
            <a:avLst/>
          </a:prstGeom>
          <a:noFill/>
          <a:ln/>
        </p:spPr>
        <p:txBody>
          <a:bodyPr wrap="square" lIns="0" tIns="0" rIns="0" bIns="0" rtlCol="0" anchor="ctr"/>
          <a:lstStyle/>
          <a:p>
            <a:pPr indent="0" marL="0">
              <a:buNone/>
            </a:pPr>
            <a:r>
              <a:rPr lang="en-US" sz="1100" b="1" dirty="0">
                <a:solidFill>
                  <a:srgbClr val="C0392B"/>
                </a:solidFill>
              </a:rPr>
              <a:t>+0.38</a:t>
            </a:r>
            <a:endParaRPr lang="en-US" sz="1100" dirty="0"/>
          </a:p>
        </p:txBody>
      </p:sp>
      <p:sp>
        <p:nvSpPr>
          <p:cNvPr id="15" name="Text 13"/>
          <p:cNvSpPr/>
          <p:nvPr/>
        </p:nvSpPr>
        <p:spPr>
          <a:xfrm>
            <a:off x="6858000" y="2414016"/>
            <a:ext cx="1993392" cy="347472"/>
          </a:xfrm>
          <a:prstGeom prst="rect">
            <a:avLst/>
          </a:prstGeom>
          <a:noFill/>
          <a:ln/>
        </p:spPr>
        <p:txBody>
          <a:bodyPr wrap="square" lIns="0" tIns="0" rIns="0" bIns="0" rtlCol="0" anchor="ctr"/>
          <a:lstStyle/>
          <a:p>
            <a:pPr indent="0" marL="0">
              <a:buNone/>
            </a:pPr>
            <a:r>
              <a:rPr lang="en-US" sz="950" i="1" dirty="0">
                <a:solidFill>
                  <a:srgbClr val="4A5568"/>
                </a:solidFill>
              </a:rPr>
              <a:t>340 miles from usual location</a:t>
            </a:r>
            <a:endParaRPr lang="en-US" sz="950" dirty="0"/>
          </a:p>
        </p:txBody>
      </p:sp>
      <p:sp>
        <p:nvSpPr>
          <p:cNvPr id="16" name="Text 14"/>
          <p:cNvSpPr/>
          <p:nvPr/>
        </p:nvSpPr>
        <p:spPr>
          <a:xfrm>
            <a:off x="411480" y="2834640"/>
            <a:ext cx="2560320" cy="347472"/>
          </a:xfrm>
          <a:prstGeom prst="rect">
            <a:avLst/>
          </a:prstGeom>
          <a:noFill/>
          <a:ln/>
        </p:spPr>
        <p:txBody>
          <a:bodyPr wrap="square" lIns="0" tIns="0" rIns="0" bIns="0" rtlCol="0" anchor="ctr"/>
          <a:lstStyle/>
          <a:p>
            <a:pPr indent="0" marL="0">
              <a:buNone/>
            </a:pPr>
            <a:r>
              <a:rPr lang="en-US" sz="1050" dirty="0">
                <a:solidFill>
                  <a:srgbClr val="1A2535"/>
                </a:solidFill>
                <a:latin typeface="Courier New" pitchFamily="34" charset="0"/>
                <a:ea typeface="Courier New" pitchFamily="34" charset="-122"/>
                <a:cs typeface="Courier New" pitchFamily="34" charset="-120"/>
              </a:rPr>
              <a:t>merchant_category</a:t>
            </a:r>
            <a:endParaRPr lang="en-US" sz="1050" dirty="0"/>
          </a:p>
        </p:txBody>
      </p:sp>
      <p:sp>
        <p:nvSpPr>
          <p:cNvPr id="17" name="Shape 15"/>
          <p:cNvSpPr/>
          <p:nvPr/>
        </p:nvSpPr>
        <p:spPr>
          <a:xfrm>
            <a:off x="3017520" y="2889504"/>
            <a:ext cx="905256" cy="256032"/>
          </a:xfrm>
          <a:prstGeom prst="rect">
            <a:avLst/>
          </a:prstGeom>
          <a:solidFill>
            <a:srgbClr val="C0392B"/>
          </a:solidFill>
          <a:ln w="12700">
            <a:solidFill>
              <a:srgbClr val="C0392B"/>
            </a:solidFill>
            <a:prstDash val="solid"/>
          </a:ln>
        </p:spPr>
      </p:sp>
      <p:sp>
        <p:nvSpPr>
          <p:cNvPr id="18" name="Text 16"/>
          <p:cNvSpPr/>
          <p:nvPr/>
        </p:nvSpPr>
        <p:spPr>
          <a:xfrm>
            <a:off x="3968496" y="2834640"/>
            <a:ext cx="402336" cy="347472"/>
          </a:xfrm>
          <a:prstGeom prst="rect">
            <a:avLst/>
          </a:prstGeom>
          <a:noFill/>
          <a:ln/>
        </p:spPr>
        <p:txBody>
          <a:bodyPr wrap="square" lIns="0" tIns="0" rIns="0" bIns="0" rtlCol="0" anchor="ctr"/>
          <a:lstStyle/>
          <a:p>
            <a:pPr indent="0" marL="0">
              <a:buNone/>
            </a:pPr>
            <a:r>
              <a:rPr lang="en-US" sz="1100" b="1" dirty="0">
                <a:solidFill>
                  <a:srgbClr val="C0392B"/>
                </a:solidFill>
              </a:rPr>
              <a:t>+0.22</a:t>
            </a:r>
            <a:endParaRPr lang="en-US" sz="1100" dirty="0"/>
          </a:p>
        </p:txBody>
      </p:sp>
      <p:sp>
        <p:nvSpPr>
          <p:cNvPr id="19" name="Text 17"/>
          <p:cNvSpPr/>
          <p:nvPr/>
        </p:nvSpPr>
        <p:spPr>
          <a:xfrm>
            <a:off x="6858000" y="2834640"/>
            <a:ext cx="1993392" cy="347472"/>
          </a:xfrm>
          <a:prstGeom prst="rect">
            <a:avLst/>
          </a:prstGeom>
          <a:noFill/>
          <a:ln/>
        </p:spPr>
        <p:txBody>
          <a:bodyPr wrap="square" lIns="0" tIns="0" rIns="0" bIns="0" rtlCol="0" anchor="ctr"/>
          <a:lstStyle/>
          <a:p>
            <a:pPr indent="0" marL="0">
              <a:buNone/>
            </a:pPr>
            <a:r>
              <a:rPr lang="en-US" sz="950" i="1" dirty="0">
                <a:solidFill>
                  <a:srgbClr val="4A5568"/>
                </a:solidFill>
              </a:rPr>
              <a:t>Electronics — high-fraud category</a:t>
            </a:r>
            <a:endParaRPr lang="en-US" sz="950" dirty="0"/>
          </a:p>
        </p:txBody>
      </p:sp>
      <p:sp>
        <p:nvSpPr>
          <p:cNvPr id="20" name="Text 18"/>
          <p:cNvSpPr/>
          <p:nvPr/>
        </p:nvSpPr>
        <p:spPr>
          <a:xfrm>
            <a:off x="411480" y="3255264"/>
            <a:ext cx="2560320" cy="347472"/>
          </a:xfrm>
          <a:prstGeom prst="rect">
            <a:avLst/>
          </a:prstGeom>
          <a:noFill/>
          <a:ln/>
        </p:spPr>
        <p:txBody>
          <a:bodyPr wrap="square" lIns="0" tIns="0" rIns="0" bIns="0" rtlCol="0" anchor="ctr"/>
          <a:lstStyle/>
          <a:p>
            <a:pPr indent="0" marL="0">
              <a:buNone/>
            </a:pPr>
            <a:r>
              <a:rPr lang="en-US" sz="1050" dirty="0">
                <a:solidFill>
                  <a:srgbClr val="1A2535"/>
                </a:solidFill>
                <a:latin typeface="Courier New" pitchFamily="34" charset="0"/>
                <a:ea typeface="Courier New" pitchFamily="34" charset="-122"/>
                <a:cs typeface="Courier New" pitchFamily="34" charset="-120"/>
              </a:rPr>
              <a:t>amount_vs_avg</a:t>
            </a:r>
            <a:endParaRPr lang="en-US" sz="1050" dirty="0"/>
          </a:p>
        </p:txBody>
      </p:sp>
      <p:sp>
        <p:nvSpPr>
          <p:cNvPr id="21" name="Shape 19"/>
          <p:cNvSpPr/>
          <p:nvPr/>
        </p:nvSpPr>
        <p:spPr>
          <a:xfrm>
            <a:off x="3017520" y="3310128"/>
            <a:ext cx="740664" cy="256032"/>
          </a:xfrm>
          <a:prstGeom prst="rect">
            <a:avLst/>
          </a:prstGeom>
          <a:solidFill>
            <a:srgbClr val="C0392B"/>
          </a:solidFill>
          <a:ln w="12700">
            <a:solidFill>
              <a:srgbClr val="C0392B"/>
            </a:solidFill>
            <a:prstDash val="solid"/>
          </a:ln>
        </p:spPr>
      </p:sp>
      <p:sp>
        <p:nvSpPr>
          <p:cNvPr id="22" name="Text 20"/>
          <p:cNvSpPr/>
          <p:nvPr/>
        </p:nvSpPr>
        <p:spPr>
          <a:xfrm>
            <a:off x="3803904" y="3255264"/>
            <a:ext cx="402336" cy="347472"/>
          </a:xfrm>
          <a:prstGeom prst="rect">
            <a:avLst/>
          </a:prstGeom>
          <a:noFill/>
          <a:ln/>
        </p:spPr>
        <p:txBody>
          <a:bodyPr wrap="square" lIns="0" tIns="0" rIns="0" bIns="0" rtlCol="0" anchor="ctr"/>
          <a:lstStyle/>
          <a:p>
            <a:pPr indent="0" marL="0">
              <a:buNone/>
            </a:pPr>
            <a:r>
              <a:rPr lang="en-US" sz="1100" b="1" dirty="0">
                <a:solidFill>
                  <a:srgbClr val="C0392B"/>
                </a:solidFill>
              </a:rPr>
              <a:t>+0.18</a:t>
            </a:r>
            <a:endParaRPr lang="en-US" sz="1100" dirty="0"/>
          </a:p>
        </p:txBody>
      </p:sp>
      <p:sp>
        <p:nvSpPr>
          <p:cNvPr id="23" name="Text 21"/>
          <p:cNvSpPr/>
          <p:nvPr/>
        </p:nvSpPr>
        <p:spPr>
          <a:xfrm>
            <a:off x="6858000" y="3255264"/>
            <a:ext cx="1993392" cy="347472"/>
          </a:xfrm>
          <a:prstGeom prst="rect">
            <a:avLst/>
          </a:prstGeom>
          <a:noFill/>
          <a:ln/>
        </p:spPr>
        <p:txBody>
          <a:bodyPr wrap="square" lIns="0" tIns="0" rIns="0" bIns="0" rtlCol="0" anchor="ctr"/>
          <a:lstStyle/>
          <a:p>
            <a:pPr indent="0" marL="0">
              <a:buNone/>
            </a:pPr>
            <a:r>
              <a:rPr lang="en-US" sz="950" i="1" dirty="0">
                <a:solidFill>
                  <a:srgbClr val="4A5568"/>
                </a:solidFill>
              </a:rPr>
              <a:t>4.2x customer average spend</a:t>
            </a:r>
            <a:endParaRPr lang="en-US" sz="950" dirty="0"/>
          </a:p>
        </p:txBody>
      </p:sp>
      <p:sp>
        <p:nvSpPr>
          <p:cNvPr id="24" name="Text 22"/>
          <p:cNvSpPr/>
          <p:nvPr/>
        </p:nvSpPr>
        <p:spPr>
          <a:xfrm>
            <a:off x="411480" y="3675888"/>
            <a:ext cx="2560320" cy="347472"/>
          </a:xfrm>
          <a:prstGeom prst="rect">
            <a:avLst/>
          </a:prstGeom>
          <a:noFill/>
          <a:ln/>
        </p:spPr>
        <p:txBody>
          <a:bodyPr wrap="square" lIns="0" tIns="0" rIns="0" bIns="0" rtlCol="0" anchor="ctr"/>
          <a:lstStyle/>
          <a:p>
            <a:pPr indent="0" marL="0">
              <a:buNone/>
            </a:pPr>
            <a:r>
              <a:rPr lang="en-US" sz="1050" dirty="0">
                <a:solidFill>
                  <a:srgbClr val="1A2535"/>
                </a:solidFill>
                <a:latin typeface="Courier New" pitchFamily="34" charset="0"/>
                <a:ea typeface="Courier New" pitchFamily="34" charset="-122"/>
                <a:cs typeface="Courier New" pitchFamily="34" charset="-120"/>
              </a:rPr>
              <a:t>account_tenure</a:t>
            </a:r>
            <a:endParaRPr lang="en-US" sz="1050" dirty="0"/>
          </a:p>
        </p:txBody>
      </p:sp>
      <p:sp>
        <p:nvSpPr>
          <p:cNvPr id="25" name="Shape 23"/>
          <p:cNvSpPr/>
          <p:nvPr/>
        </p:nvSpPr>
        <p:spPr>
          <a:xfrm>
            <a:off x="2441448" y="3730752"/>
            <a:ext cx="576072" cy="256032"/>
          </a:xfrm>
          <a:prstGeom prst="rect">
            <a:avLst/>
          </a:prstGeom>
          <a:solidFill>
            <a:srgbClr val="0A5E3F"/>
          </a:solidFill>
          <a:ln w="12700">
            <a:solidFill>
              <a:srgbClr val="0A5E3F"/>
            </a:solidFill>
            <a:prstDash val="solid"/>
          </a:ln>
        </p:spPr>
      </p:sp>
      <p:sp>
        <p:nvSpPr>
          <p:cNvPr id="26" name="Text 24"/>
          <p:cNvSpPr/>
          <p:nvPr/>
        </p:nvSpPr>
        <p:spPr>
          <a:xfrm>
            <a:off x="2002536" y="3675888"/>
            <a:ext cx="402336" cy="347472"/>
          </a:xfrm>
          <a:prstGeom prst="rect">
            <a:avLst/>
          </a:prstGeom>
          <a:noFill/>
          <a:ln/>
        </p:spPr>
        <p:txBody>
          <a:bodyPr wrap="square" lIns="0" tIns="0" rIns="0" bIns="0" rtlCol="0" anchor="ctr"/>
          <a:lstStyle/>
          <a:p>
            <a:pPr indent="0" marL="0">
              <a:buNone/>
            </a:pPr>
            <a:r>
              <a:rPr lang="en-US" sz="1100" b="1" dirty="0">
                <a:solidFill>
                  <a:srgbClr val="0A5E3F"/>
                </a:solidFill>
              </a:rPr>
              <a:t>-0.14</a:t>
            </a:r>
            <a:endParaRPr lang="en-US" sz="1100" dirty="0"/>
          </a:p>
        </p:txBody>
      </p:sp>
      <p:sp>
        <p:nvSpPr>
          <p:cNvPr id="27" name="Text 25"/>
          <p:cNvSpPr/>
          <p:nvPr/>
        </p:nvSpPr>
        <p:spPr>
          <a:xfrm>
            <a:off x="6858000" y="3675888"/>
            <a:ext cx="1993392" cy="347472"/>
          </a:xfrm>
          <a:prstGeom prst="rect">
            <a:avLst/>
          </a:prstGeom>
          <a:noFill/>
          <a:ln/>
        </p:spPr>
        <p:txBody>
          <a:bodyPr wrap="square" lIns="0" tIns="0" rIns="0" bIns="0" rtlCol="0" anchor="ctr"/>
          <a:lstStyle/>
          <a:p>
            <a:pPr indent="0" marL="0">
              <a:buNone/>
            </a:pPr>
            <a:r>
              <a:rPr lang="en-US" sz="950" i="1" dirty="0">
                <a:solidFill>
                  <a:srgbClr val="4A5568"/>
                </a:solidFill>
              </a:rPr>
              <a:t>5-year customer, stable history</a:t>
            </a:r>
            <a:endParaRPr lang="en-US" sz="950" dirty="0"/>
          </a:p>
        </p:txBody>
      </p:sp>
      <p:sp>
        <p:nvSpPr>
          <p:cNvPr id="28" name="Text 26"/>
          <p:cNvSpPr/>
          <p:nvPr/>
        </p:nvSpPr>
        <p:spPr>
          <a:xfrm>
            <a:off x="411480" y="4096512"/>
            <a:ext cx="2560320" cy="347472"/>
          </a:xfrm>
          <a:prstGeom prst="rect">
            <a:avLst/>
          </a:prstGeom>
          <a:noFill/>
          <a:ln/>
        </p:spPr>
        <p:txBody>
          <a:bodyPr wrap="square" lIns="0" tIns="0" rIns="0" bIns="0" rtlCol="0" anchor="ctr"/>
          <a:lstStyle/>
          <a:p>
            <a:pPr indent="0" marL="0">
              <a:buNone/>
            </a:pPr>
            <a:r>
              <a:rPr lang="en-US" sz="1050" dirty="0">
                <a:solidFill>
                  <a:srgbClr val="1A2535"/>
                </a:solidFill>
                <a:latin typeface="Courier New" pitchFamily="34" charset="0"/>
                <a:ea typeface="Courier New" pitchFamily="34" charset="-122"/>
                <a:cs typeface="Courier New" pitchFamily="34" charset="-120"/>
              </a:rPr>
              <a:t>time_since_last_login</a:t>
            </a:r>
            <a:endParaRPr lang="en-US" sz="1050" dirty="0"/>
          </a:p>
        </p:txBody>
      </p:sp>
      <p:sp>
        <p:nvSpPr>
          <p:cNvPr id="29" name="Shape 27"/>
          <p:cNvSpPr/>
          <p:nvPr/>
        </p:nvSpPr>
        <p:spPr>
          <a:xfrm>
            <a:off x="2688336" y="4151376"/>
            <a:ext cx="329184" cy="256032"/>
          </a:xfrm>
          <a:prstGeom prst="rect">
            <a:avLst/>
          </a:prstGeom>
          <a:solidFill>
            <a:srgbClr val="0A5E3F"/>
          </a:solidFill>
          <a:ln w="12700">
            <a:solidFill>
              <a:srgbClr val="0A5E3F"/>
            </a:solidFill>
            <a:prstDash val="solid"/>
          </a:ln>
        </p:spPr>
      </p:sp>
      <p:sp>
        <p:nvSpPr>
          <p:cNvPr id="30" name="Text 28"/>
          <p:cNvSpPr/>
          <p:nvPr/>
        </p:nvSpPr>
        <p:spPr>
          <a:xfrm>
            <a:off x="2249424" y="4096512"/>
            <a:ext cx="402336" cy="347472"/>
          </a:xfrm>
          <a:prstGeom prst="rect">
            <a:avLst/>
          </a:prstGeom>
          <a:noFill/>
          <a:ln/>
        </p:spPr>
        <p:txBody>
          <a:bodyPr wrap="square" lIns="0" tIns="0" rIns="0" bIns="0" rtlCol="0" anchor="ctr"/>
          <a:lstStyle/>
          <a:p>
            <a:pPr indent="0" marL="0">
              <a:buNone/>
            </a:pPr>
            <a:r>
              <a:rPr lang="en-US" sz="1100" b="1" dirty="0">
                <a:solidFill>
                  <a:srgbClr val="0A5E3F"/>
                </a:solidFill>
              </a:rPr>
              <a:t>-0.08</a:t>
            </a:r>
            <a:endParaRPr lang="en-US" sz="1100" dirty="0"/>
          </a:p>
        </p:txBody>
      </p:sp>
      <p:sp>
        <p:nvSpPr>
          <p:cNvPr id="31" name="Text 29"/>
          <p:cNvSpPr/>
          <p:nvPr/>
        </p:nvSpPr>
        <p:spPr>
          <a:xfrm>
            <a:off x="6858000" y="4096512"/>
            <a:ext cx="1993392" cy="347472"/>
          </a:xfrm>
          <a:prstGeom prst="rect">
            <a:avLst/>
          </a:prstGeom>
          <a:noFill/>
          <a:ln/>
        </p:spPr>
        <p:txBody>
          <a:bodyPr wrap="square" lIns="0" tIns="0" rIns="0" bIns="0" rtlCol="0" anchor="ctr"/>
          <a:lstStyle/>
          <a:p>
            <a:pPr indent="0" marL="0">
              <a:buNone/>
            </a:pPr>
            <a:r>
              <a:rPr lang="en-US" sz="950" i="1" dirty="0">
                <a:solidFill>
                  <a:srgbClr val="4A5568"/>
                </a:solidFill>
              </a:rPr>
              <a:t>Active in app 2 hours ago</a:t>
            </a:r>
            <a:endParaRPr lang="en-US" sz="950" dirty="0"/>
          </a:p>
        </p:txBody>
      </p:sp>
      <p:sp>
        <p:nvSpPr>
          <p:cNvPr id="32" name="Shape 30"/>
          <p:cNvSpPr/>
          <p:nvPr/>
        </p:nvSpPr>
        <p:spPr>
          <a:xfrm>
            <a:off x="3017520" y="1956816"/>
            <a:ext cx="36576" cy="2542032"/>
          </a:xfrm>
          <a:prstGeom prst="rect">
            <a:avLst/>
          </a:prstGeom>
          <a:solidFill>
            <a:srgbClr val="888888"/>
          </a:solidFill>
          <a:ln w="12700">
            <a:solidFill>
              <a:srgbClr val="888888"/>
            </a:solidFill>
            <a:prstDash val="solid"/>
          </a:ln>
        </p:spPr>
      </p:sp>
      <p:sp>
        <p:nvSpPr>
          <p:cNvPr id="33" name="Shape 31"/>
          <p:cNvSpPr/>
          <p:nvPr/>
        </p:nvSpPr>
        <p:spPr>
          <a:xfrm>
            <a:off x="411480" y="4572000"/>
            <a:ext cx="8321040" cy="347472"/>
          </a:xfrm>
          <a:prstGeom prst="rect">
            <a:avLst/>
          </a:prstGeom>
          <a:solidFill>
            <a:srgbClr val="1E2D4E"/>
          </a:solidFill>
          <a:ln w="12700">
            <a:solidFill>
              <a:srgbClr val="1E2D4E"/>
            </a:solidFill>
            <a:prstDash val="solid"/>
          </a:ln>
        </p:spPr>
      </p:sp>
      <p:sp>
        <p:nvSpPr>
          <p:cNvPr id="34" name="Text 32"/>
          <p:cNvSpPr/>
          <p:nvPr/>
        </p:nvSpPr>
        <p:spPr>
          <a:xfrm>
            <a:off x="548640" y="4608576"/>
            <a:ext cx="8138160" cy="274320"/>
          </a:xfrm>
          <a:prstGeom prst="rect">
            <a:avLst/>
          </a:prstGeom>
          <a:noFill/>
          <a:ln/>
        </p:spPr>
        <p:txBody>
          <a:bodyPr wrap="square" lIns="0" tIns="0" rIns="0" bIns="0" rtlCol="0" anchor="ctr"/>
          <a:lstStyle/>
          <a:p>
            <a:pPr algn="l" indent="0" marL="0">
              <a:buNone/>
            </a:pPr>
            <a:r>
              <a:rPr lang="en-US" sz="1200" dirty="0">
                <a:solidFill>
                  <a:srgbClr val="94A3B8"/>
                </a:solidFill>
              </a:rPr>
              <a:t>Final fraud score: </a:t>
            </a:r>
            <a:pPr algn="l" indent="0" marL="0">
              <a:buNone/>
            </a:pPr>
            <a:r>
              <a:rPr lang="en-US" sz="1200" b="1" dirty="0">
                <a:solidFill>
                  <a:srgbClr val="C0392B"/>
                </a:solidFill>
              </a:rPr>
              <a:t>0.91  →  FLAGGED</a:t>
            </a:r>
            <a:pPr algn="l" indent="0" marL="0">
              <a:buNone/>
            </a:pPr>
            <a:r>
              <a:rPr lang="en-US" sz="1200" i="1" dirty="0">
                <a:solidFill>
                  <a:srgbClr val="94A3B8"/>
                </a:solidFill>
              </a:rPr>
              <a:t>   |  Reason: Velocity + geo-distance + amount anomaly</a:t>
            </a:r>
            <a:endParaRPr lang="en-US" sz="1200" dirty="0"/>
          </a:p>
        </p:txBody>
      </p:sp>
      <p:sp>
        <p:nvSpPr>
          <p:cNvPr id="36" name="Text 33"/>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D4E"/>
          </a:solidFill>
          <a:ln w="12700">
            <a:solidFill>
              <a:srgbClr val="1E2D4E"/>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AI vs ML — TWO DIFFERENT THINGS THAT NEED TWO DIFFERENT EVALUATION FRAMEWORKS</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420624"/>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They're not the same tool.</a:t>
            </a:r>
            <a:endParaRPr lang="en-US" sz="2000" dirty="0"/>
          </a:p>
        </p:txBody>
      </p:sp>
      <p:sp>
        <p:nvSpPr>
          <p:cNvPr id="6" name="Shape 4"/>
          <p:cNvSpPr/>
          <p:nvPr/>
        </p:nvSpPr>
        <p:spPr>
          <a:xfrm>
            <a:off x="320040" y="1170432"/>
            <a:ext cx="3977640" cy="3547872"/>
          </a:xfrm>
          <a:prstGeom prst="rect">
            <a:avLst/>
          </a:prstGeom>
          <a:solidFill>
            <a:srgbClr val="1A2B3A"/>
          </a:solidFill>
          <a:ln w="12700">
            <a:solidFill>
              <a:srgbClr val="028090"/>
            </a:solidFill>
            <a:prstDash val="solid"/>
          </a:ln>
          <a:effectLst>
            <a:outerShdw sx="100000" sy="100000" kx="0" ky="0" algn="bl" rotWithShape="0" blurRad="127000" dist="50800" dir="8100000">
              <a:srgbClr val="000000">
                <a:alpha val="15000"/>
              </a:srgbClr>
            </a:outerShdw>
          </a:effectLst>
        </p:spPr>
      </p:sp>
      <p:sp>
        <p:nvSpPr>
          <p:cNvPr id="7" name="Shape 5"/>
          <p:cNvSpPr/>
          <p:nvPr/>
        </p:nvSpPr>
        <p:spPr>
          <a:xfrm>
            <a:off x="320040" y="1170432"/>
            <a:ext cx="3977640" cy="475488"/>
          </a:xfrm>
          <a:prstGeom prst="rect">
            <a:avLst/>
          </a:prstGeom>
          <a:solidFill>
            <a:srgbClr val="028090"/>
          </a:solidFill>
          <a:ln w="12700">
            <a:solidFill>
              <a:srgbClr val="028090"/>
            </a:solidFill>
            <a:prstDash val="solid"/>
          </a:ln>
        </p:spPr>
      </p:sp>
      <p:sp>
        <p:nvSpPr>
          <p:cNvPr id="8" name="Text 6"/>
          <p:cNvSpPr/>
          <p:nvPr/>
        </p:nvSpPr>
        <p:spPr>
          <a:xfrm>
            <a:off x="457200" y="1216152"/>
            <a:ext cx="3703320" cy="384048"/>
          </a:xfrm>
          <a:prstGeom prst="rect">
            <a:avLst/>
          </a:prstGeom>
          <a:noFill/>
          <a:ln/>
        </p:spPr>
        <p:txBody>
          <a:bodyPr wrap="square" lIns="0" tIns="0" rIns="0" bIns="0" rtlCol="0" anchor="ctr"/>
          <a:lstStyle/>
          <a:p>
            <a:pPr algn="ctr" indent="0" marL="0">
              <a:buNone/>
            </a:pPr>
            <a:r>
              <a:rPr lang="en-US" sz="1600" b="1" dirty="0">
                <a:solidFill>
                  <a:srgbClr val="141D30"/>
                </a:solidFill>
                <a:latin typeface="Georgia" pitchFamily="34" charset="0"/>
                <a:ea typeface="Georgia" pitchFamily="34" charset="-122"/>
                <a:cs typeface="Georgia" pitchFamily="34" charset="-120"/>
              </a:rPr>
              <a:t>ML — Specific Mastery</a:t>
            </a:r>
            <a:endParaRPr lang="en-US" sz="1600" dirty="0"/>
          </a:p>
        </p:txBody>
      </p:sp>
      <p:sp>
        <p:nvSpPr>
          <p:cNvPr id="9" name="Shape 7"/>
          <p:cNvSpPr/>
          <p:nvPr/>
        </p:nvSpPr>
        <p:spPr>
          <a:xfrm>
            <a:off x="4846320" y="1170432"/>
            <a:ext cx="3977640" cy="3547872"/>
          </a:xfrm>
          <a:prstGeom prst="rect">
            <a:avLst/>
          </a:prstGeom>
          <a:solidFill>
            <a:srgbClr val="1A1A2A"/>
          </a:solidFill>
          <a:ln w="12700">
            <a:solidFill>
              <a:srgbClr val="9B59B6"/>
            </a:solidFill>
            <a:prstDash val="solid"/>
          </a:ln>
          <a:effectLst>
            <a:outerShdw sx="100000" sy="100000" kx="0" ky="0" algn="bl" rotWithShape="0" blurRad="127000" dist="50800" dir="8100000">
              <a:srgbClr val="000000">
                <a:alpha val="15000"/>
              </a:srgbClr>
            </a:outerShdw>
          </a:effectLst>
        </p:spPr>
      </p:sp>
      <p:sp>
        <p:nvSpPr>
          <p:cNvPr id="10" name="Shape 8"/>
          <p:cNvSpPr/>
          <p:nvPr/>
        </p:nvSpPr>
        <p:spPr>
          <a:xfrm>
            <a:off x="4846320" y="1170432"/>
            <a:ext cx="3977640" cy="475488"/>
          </a:xfrm>
          <a:prstGeom prst="rect">
            <a:avLst/>
          </a:prstGeom>
          <a:solidFill>
            <a:srgbClr val="9B59B6"/>
          </a:solidFill>
          <a:ln w="12700">
            <a:solidFill>
              <a:srgbClr val="9B59B6"/>
            </a:solidFill>
            <a:prstDash val="solid"/>
          </a:ln>
        </p:spPr>
      </p:sp>
      <p:sp>
        <p:nvSpPr>
          <p:cNvPr id="11" name="Text 9"/>
          <p:cNvSpPr/>
          <p:nvPr/>
        </p:nvSpPr>
        <p:spPr>
          <a:xfrm>
            <a:off x="4983480" y="1216152"/>
            <a:ext cx="370332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AI / LLMs — General Capability</a:t>
            </a:r>
            <a:endParaRPr lang="en-US" sz="1600" dirty="0"/>
          </a:p>
        </p:txBody>
      </p:sp>
      <p:sp>
        <p:nvSpPr>
          <p:cNvPr id="12" name="Shape 10"/>
          <p:cNvSpPr/>
          <p:nvPr/>
        </p:nvSpPr>
        <p:spPr>
          <a:xfrm>
            <a:off x="457200" y="1865376"/>
            <a:ext cx="73152" cy="274320"/>
          </a:xfrm>
          <a:prstGeom prst="rect">
            <a:avLst/>
          </a:prstGeom>
          <a:solidFill>
            <a:srgbClr val="028090"/>
          </a:solidFill>
          <a:ln w="12700">
            <a:solidFill>
              <a:srgbClr val="028090"/>
            </a:solidFill>
            <a:prstDash val="solid"/>
          </a:ln>
        </p:spPr>
      </p:sp>
      <p:sp>
        <p:nvSpPr>
          <p:cNvPr id="13" name="Text 11"/>
          <p:cNvSpPr/>
          <p:nvPr/>
        </p:nvSpPr>
        <p:spPr>
          <a:xfrm>
            <a:off x="621792" y="177393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Optimizes one objective</a:t>
            </a:r>
            <a:endParaRPr lang="en-US" sz="1200" dirty="0"/>
          </a:p>
        </p:txBody>
      </p:sp>
      <p:sp>
        <p:nvSpPr>
          <p:cNvPr id="14" name="Text 12"/>
          <p:cNvSpPr/>
          <p:nvPr/>
        </p:nvSpPr>
        <p:spPr>
          <a:xfrm>
            <a:off x="621792" y="202996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Minimize fraud false negatives at 5ms</a:t>
            </a:r>
            <a:endParaRPr lang="en-US" sz="1050" dirty="0"/>
          </a:p>
        </p:txBody>
      </p:sp>
      <p:sp>
        <p:nvSpPr>
          <p:cNvPr id="15" name="Shape 13"/>
          <p:cNvSpPr/>
          <p:nvPr/>
        </p:nvSpPr>
        <p:spPr>
          <a:xfrm>
            <a:off x="457200" y="2414016"/>
            <a:ext cx="73152" cy="274320"/>
          </a:xfrm>
          <a:prstGeom prst="rect">
            <a:avLst/>
          </a:prstGeom>
          <a:solidFill>
            <a:srgbClr val="028090"/>
          </a:solidFill>
          <a:ln w="12700">
            <a:solidFill>
              <a:srgbClr val="028090"/>
            </a:solidFill>
            <a:prstDash val="solid"/>
          </a:ln>
        </p:spPr>
      </p:sp>
      <p:sp>
        <p:nvSpPr>
          <p:cNvPr id="16" name="Text 14"/>
          <p:cNvSpPr/>
          <p:nvPr/>
        </p:nvSpPr>
        <p:spPr>
          <a:xfrm>
            <a:off x="621792" y="232257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Trained on structured data</a:t>
            </a:r>
            <a:endParaRPr lang="en-US" sz="1200" dirty="0"/>
          </a:p>
        </p:txBody>
      </p:sp>
      <p:sp>
        <p:nvSpPr>
          <p:cNvPr id="17" name="Text 15"/>
          <p:cNvSpPr/>
          <p:nvPr/>
        </p:nvSpPr>
        <p:spPr>
          <a:xfrm>
            <a:off x="621792" y="257860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Transaction records, account history</a:t>
            </a:r>
            <a:endParaRPr lang="en-US" sz="1050" dirty="0"/>
          </a:p>
        </p:txBody>
      </p:sp>
      <p:sp>
        <p:nvSpPr>
          <p:cNvPr id="18" name="Shape 16"/>
          <p:cNvSpPr/>
          <p:nvPr/>
        </p:nvSpPr>
        <p:spPr>
          <a:xfrm>
            <a:off x="457200" y="2962656"/>
            <a:ext cx="73152" cy="274320"/>
          </a:xfrm>
          <a:prstGeom prst="rect">
            <a:avLst/>
          </a:prstGeom>
          <a:solidFill>
            <a:srgbClr val="028090"/>
          </a:solidFill>
          <a:ln w="12700">
            <a:solidFill>
              <a:srgbClr val="028090"/>
            </a:solidFill>
            <a:prstDash val="solid"/>
          </a:ln>
        </p:spPr>
      </p:sp>
      <p:sp>
        <p:nvSpPr>
          <p:cNvPr id="19" name="Text 17"/>
          <p:cNvSpPr/>
          <p:nvPr/>
        </p:nvSpPr>
        <p:spPr>
          <a:xfrm>
            <a:off x="621792" y="287121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Measured precisely</a:t>
            </a:r>
            <a:endParaRPr lang="en-US" sz="1200" dirty="0"/>
          </a:p>
        </p:txBody>
      </p:sp>
      <p:sp>
        <p:nvSpPr>
          <p:cNvPr id="20" name="Text 18"/>
          <p:cNvSpPr/>
          <p:nvPr/>
        </p:nvSpPr>
        <p:spPr>
          <a:xfrm>
            <a:off x="621792" y="312724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PR-AUC = 0.87, logloss = 0.23</a:t>
            </a:r>
            <a:endParaRPr lang="en-US" sz="1050" dirty="0"/>
          </a:p>
        </p:txBody>
      </p:sp>
      <p:sp>
        <p:nvSpPr>
          <p:cNvPr id="21" name="Shape 19"/>
          <p:cNvSpPr/>
          <p:nvPr/>
        </p:nvSpPr>
        <p:spPr>
          <a:xfrm>
            <a:off x="457200" y="3511296"/>
            <a:ext cx="73152" cy="274320"/>
          </a:xfrm>
          <a:prstGeom prst="rect">
            <a:avLst/>
          </a:prstGeom>
          <a:solidFill>
            <a:srgbClr val="028090"/>
          </a:solidFill>
          <a:ln w="12700">
            <a:solidFill>
              <a:srgbClr val="028090"/>
            </a:solidFill>
            <a:prstDash val="solid"/>
          </a:ln>
        </p:spPr>
      </p:sp>
      <p:sp>
        <p:nvSpPr>
          <p:cNvPr id="22" name="Text 20"/>
          <p:cNvSpPr/>
          <p:nvPr/>
        </p:nvSpPr>
        <p:spPr>
          <a:xfrm>
            <a:off x="621792" y="341985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Deployed to a specific task</a:t>
            </a:r>
            <a:endParaRPr lang="en-US" sz="1200" dirty="0"/>
          </a:p>
        </p:txBody>
      </p:sp>
      <p:sp>
        <p:nvSpPr>
          <p:cNvPr id="23" name="Text 21"/>
          <p:cNvSpPr/>
          <p:nvPr/>
        </p:nvSpPr>
        <p:spPr>
          <a:xfrm>
            <a:off x="621792" y="367588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Card fraud scoring, churn prediction</a:t>
            </a:r>
            <a:endParaRPr lang="en-US" sz="1050" dirty="0"/>
          </a:p>
        </p:txBody>
      </p:sp>
      <p:sp>
        <p:nvSpPr>
          <p:cNvPr id="24" name="Shape 22"/>
          <p:cNvSpPr/>
          <p:nvPr/>
        </p:nvSpPr>
        <p:spPr>
          <a:xfrm>
            <a:off x="457200" y="4059936"/>
            <a:ext cx="73152" cy="274320"/>
          </a:xfrm>
          <a:prstGeom prst="rect">
            <a:avLst/>
          </a:prstGeom>
          <a:solidFill>
            <a:srgbClr val="028090"/>
          </a:solidFill>
          <a:ln w="12700">
            <a:solidFill>
              <a:srgbClr val="028090"/>
            </a:solidFill>
            <a:prstDash val="solid"/>
          </a:ln>
        </p:spPr>
      </p:sp>
      <p:sp>
        <p:nvSpPr>
          <p:cNvPr id="25" name="Text 23"/>
          <p:cNvSpPr/>
          <p:nvPr/>
        </p:nvSpPr>
        <p:spPr>
          <a:xfrm>
            <a:off x="621792" y="396849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Interpretable via SHAP</a:t>
            </a:r>
            <a:endParaRPr lang="en-US" sz="1200" dirty="0"/>
          </a:p>
        </p:txBody>
      </p:sp>
      <p:sp>
        <p:nvSpPr>
          <p:cNvPr id="26" name="Text 24"/>
          <p:cNvSpPr/>
          <p:nvPr/>
        </p:nvSpPr>
        <p:spPr>
          <a:xfrm>
            <a:off x="621792" y="422452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Every decision has an audit trail</a:t>
            </a:r>
            <a:endParaRPr lang="en-US" sz="1050" dirty="0"/>
          </a:p>
        </p:txBody>
      </p:sp>
      <p:sp>
        <p:nvSpPr>
          <p:cNvPr id="27" name="Shape 25"/>
          <p:cNvSpPr/>
          <p:nvPr/>
        </p:nvSpPr>
        <p:spPr>
          <a:xfrm>
            <a:off x="4983480" y="1865376"/>
            <a:ext cx="73152" cy="274320"/>
          </a:xfrm>
          <a:prstGeom prst="rect">
            <a:avLst/>
          </a:prstGeom>
          <a:solidFill>
            <a:srgbClr val="9B59B6"/>
          </a:solidFill>
          <a:ln w="12700">
            <a:solidFill>
              <a:srgbClr val="9B59B6"/>
            </a:solidFill>
            <a:prstDash val="solid"/>
          </a:ln>
        </p:spPr>
      </p:sp>
      <p:sp>
        <p:nvSpPr>
          <p:cNvPr id="28" name="Text 26"/>
          <p:cNvSpPr/>
          <p:nvPr/>
        </p:nvSpPr>
        <p:spPr>
          <a:xfrm>
            <a:off x="5148072" y="177393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Reasons across domains</a:t>
            </a:r>
            <a:endParaRPr lang="en-US" sz="1200" dirty="0"/>
          </a:p>
        </p:txBody>
      </p:sp>
      <p:sp>
        <p:nvSpPr>
          <p:cNvPr id="29" name="Text 27"/>
          <p:cNvSpPr/>
          <p:nvPr/>
        </p:nvSpPr>
        <p:spPr>
          <a:xfrm>
            <a:off x="5148072" y="202996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'Summarize this loan agreement'</a:t>
            </a:r>
            <a:endParaRPr lang="en-US" sz="1050" dirty="0"/>
          </a:p>
        </p:txBody>
      </p:sp>
      <p:sp>
        <p:nvSpPr>
          <p:cNvPr id="30" name="Shape 28"/>
          <p:cNvSpPr/>
          <p:nvPr/>
        </p:nvSpPr>
        <p:spPr>
          <a:xfrm>
            <a:off x="4983480" y="2414016"/>
            <a:ext cx="73152" cy="274320"/>
          </a:xfrm>
          <a:prstGeom prst="rect">
            <a:avLst/>
          </a:prstGeom>
          <a:solidFill>
            <a:srgbClr val="9B59B6"/>
          </a:solidFill>
          <a:ln w="12700">
            <a:solidFill>
              <a:srgbClr val="9B59B6"/>
            </a:solidFill>
            <a:prstDash val="solid"/>
          </a:ln>
        </p:spPr>
      </p:sp>
      <p:sp>
        <p:nvSpPr>
          <p:cNvPr id="31" name="Text 29"/>
          <p:cNvSpPr/>
          <p:nvPr/>
        </p:nvSpPr>
        <p:spPr>
          <a:xfrm>
            <a:off x="5148072" y="232257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Trained on unstructured language</a:t>
            </a:r>
            <a:endParaRPr lang="en-US" sz="1200" dirty="0"/>
          </a:p>
        </p:txBody>
      </p:sp>
      <p:sp>
        <p:nvSpPr>
          <p:cNvPr id="32" name="Text 30"/>
          <p:cNvSpPr/>
          <p:nvPr/>
        </p:nvSpPr>
        <p:spPr>
          <a:xfrm>
            <a:off x="5148072" y="257860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Billions of text documents</a:t>
            </a:r>
            <a:endParaRPr lang="en-US" sz="1050" dirty="0"/>
          </a:p>
        </p:txBody>
      </p:sp>
      <p:sp>
        <p:nvSpPr>
          <p:cNvPr id="33" name="Shape 31"/>
          <p:cNvSpPr/>
          <p:nvPr/>
        </p:nvSpPr>
        <p:spPr>
          <a:xfrm>
            <a:off x="4983480" y="2962656"/>
            <a:ext cx="73152" cy="274320"/>
          </a:xfrm>
          <a:prstGeom prst="rect">
            <a:avLst/>
          </a:prstGeom>
          <a:solidFill>
            <a:srgbClr val="9B59B6"/>
          </a:solidFill>
          <a:ln w="12700">
            <a:solidFill>
              <a:srgbClr val="9B59B6"/>
            </a:solidFill>
            <a:prstDash val="solid"/>
          </a:ln>
        </p:spPr>
      </p:sp>
      <p:sp>
        <p:nvSpPr>
          <p:cNvPr id="34" name="Text 32"/>
          <p:cNvSpPr/>
          <p:nvPr/>
        </p:nvSpPr>
        <p:spPr>
          <a:xfrm>
            <a:off x="5148072" y="287121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Evaluated differently</a:t>
            </a:r>
            <a:endParaRPr lang="en-US" sz="1200" dirty="0"/>
          </a:p>
        </p:txBody>
      </p:sp>
      <p:sp>
        <p:nvSpPr>
          <p:cNvPr id="35" name="Text 33"/>
          <p:cNvSpPr/>
          <p:nvPr/>
        </p:nvSpPr>
        <p:spPr>
          <a:xfrm>
            <a:off x="5148072" y="312724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No ground truth, stochastic outputs</a:t>
            </a:r>
            <a:endParaRPr lang="en-US" sz="1050" dirty="0"/>
          </a:p>
        </p:txBody>
      </p:sp>
      <p:sp>
        <p:nvSpPr>
          <p:cNvPr id="36" name="Shape 34"/>
          <p:cNvSpPr/>
          <p:nvPr/>
        </p:nvSpPr>
        <p:spPr>
          <a:xfrm>
            <a:off x="4983480" y="3511296"/>
            <a:ext cx="73152" cy="274320"/>
          </a:xfrm>
          <a:prstGeom prst="rect">
            <a:avLst/>
          </a:prstGeom>
          <a:solidFill>
            <a:srgbClr val="9B59B6"/>
          </a:solidFill>
          <a:ln w="12700">
            <a:solidFill>
              <a:srgbClr val="9B59B6"/>
            </a:solidFill>
            <a:prstDash val="solid"/>
          </a:ln>
        </p:spPr>
      </p:sp>
      <p:sp>
        <p:nvSpPr>
          <p:cNvPr id="37" name="Text 35"/>
          <p:cNvSpPr/>
          <p:nvPr/>
        </p:nvSpPr>
        <p:spPr>
          <a:xfrm>
            <a:off x="5148072" y="341985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Used for many tasks simultaneously</a:t>
            </a:r>
            <a:endParaRPr lang="en-US" sz="1200" dirty="0"/>
          </a:p>
        </p:txBody>
      </p:sp>
      <p:sp>
        <p:nvSpPr>
          <p:cNvPr id="38" name="Text 36"/>
          <p:cNvSpPr/>
          <p:nvPr/>
        </p:nvSpPr>
        <p:spPr>
          <a:xfrm>
            <a:off x="5148072" y="367588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Q&amp;A, summarization, drafting</a:t>
            </a:r>
            <a:endParaRPr lang="en-US" sz="1050" dirty="0"/>
          </a:p>
        </p:txBody>
      </p:sp>
      <p:sp>
        <p:nvSpPr>
          <p:cNvPr id="39" name="Shape 37"/>
          <p:cNvSpPr/>
          <p:nvPr/>
        </p:nvSpPr>
        <p:spPr>
          <a:xfrm>
            <a:off x="4983480" y="4059936"/>
            <a:ext cx="73152" cy="274320"/>
          </a:xfrm>
          <a:prstGeom prst="rect">
            <a:avLst/>
          </a:prstGeom>
          <a:solidFill>
            <a:srgbClr val="9B59B6"/>
          </a:solidFill>
          <a:ln w="12700">
            <a:solidFill>
              <a:srgbClr val="9B59B6"/>
            </a:solidFill>
            <a:prstDash val="solid"/>
          </a:ln>
        </p:spPr>
      </p:sp>
      <p:sp>
        <p:nvSpPr>
          <p:cNvPr id="40" name="Text 38"/>
          <p:cNvSpPr/>
          <p:nvPr/>
        </p:nvSpPr>
        <p:spPr>
          <a:xfrm>
            <a:off x="5148072" y="3968496"/>
            <a:ext cx="3566160" cy="274320"/>
          </a:xfrm>
          <a:prstGeom prst="rect">
            <a:avLst/>
          </a:prstGeom>
          <a:noFill/>
          <a:ln/>
        </p:spPr>
        <p:txBody>
          <a:bodyPr wrap="square" lIns="0" tIns="0" rIns="0" bIns="0" rtlCol="0" anchor="ctr"/>
          <a:lstStyle/>
          <a:p>
            <a:pPr indent="0" marL="0">
              <a:buNone/>
            </a:pPr>
            <a:r>
              <a:rPr lang="en-US" sz="1200" b="1" dirty="0">
                <a:solidFill>
                  <a:srgbClr val="FFFFFF"/>
                </a:solidFill>
              </a:rPr>
              <a:t>Black box by nature</a:t>
            </a:r>
            <a:endParaRPr lang="en-US" sz="1200" dirty="0"/>
          </a:p>
        </p:txBody>
      </p:sp>
      <p:sp>
        <p:nvSpPr>
          <p:cNvPr id="41" name="Text 39"/>
          <p:cNvSpPr/>
          <p:nvPr/>
        </p:nvSpPr>
        <p:spPr>
          <a:xfrm>
            <a:off x="5148072" y="4224528"/>
            <a:ext cx="3566160" cy="237744"/>
          </a:xfrm>
          <a:prstGeom prst="rect">
            <a:avLst/>
          </a:prstGeom>
          <a:noFill/>
          <a:ln/>
        </p:spPr>
        <p:txBody>
          <a:bodyPr wrap="square" lIns="0" tIns="0" rIns="0" bIns="0" rtlCol="0" anchor="ctr"/>
          <a:lstStyle/>
          <a:p>
            <a:pPr indent="0" marL="0">
              <a:buNone/>
            </a:pPr>
            <a:r>
              <a:rPr lang="en-US" sz="1050" i="1" dirty="0">
                <a:solidFill>
                  <a:srgbClr val="94A3B8"/>
                </a:solidFill>
              </a:rPr>
              <a:t>LLM-as-judge, human eval, RAGAS</a:t>
            </a:r>
            <a:endParaRPr lang="en-US" sz="1050" dirty="0"/>
          </a:p>
        </p:txBody>
      </p:sp>
      <p:sp>
        <p:nvSpPr>
          <p:cNvPr id="42" name="Shape 40"/>
          <p:cNvSpPr/>
          <p:nvPr/>
        </p:nvSpPr>
        <p:spPr>
          <a:xfrm>
            <a:off x="0" y="4663440"/>
            <a:ext cx="9144000" cy="480060"/>
          </a:xfrm>
          <a:prstGeom prst="rect">
            <a:avLst/>
          </a:prstGeom>
          <a:solidFill>
            <a:srgbClr val="080E18"/>
          </a:solidFill>
          <a:ln w="12700">
            <a:solidFill>
              <a:srgbClr val="080E18"/>
            </a:solidFill>
            <a:prstDash val="solid"/>
          </a:ln>
        </p:spPr>
      </p:sp>
      <p:sp>
        <p:nvSpPr>
          <p:cNvPr id="43" name="Text 41"/>
          <p:cNvSpPr/>
          <p:nvPr/>
        </p:nvSpPr>
        <p:spPr>
          <a:xfrm>
            <a:off x="365760" y="4700016"/>
            <a:ext cx="8412480" cy="347472"/>
          </a:xfrm>
          <a:prstGeom prst="rect">
            <a:avLst/>
          </a:prstGeom>
          <a:noFill/>
          <a:ln/>
        </p:spPr>
        <p:txBody>
          <a:bodyPr wrap="square" lIns="0" tIns="0" rIns="0" bIns="0" rtlCol="0" anchor="ctr"/>
          <a:lstStyle/>
          <a:p>
            <a:pPr algn="ctr" indent="0" marL="0">
              <a:buNone/>
            </a:pPr>
            <a:r>
              <a:rPr lang="en-US" sz="1150" i="1" dirty="0">
                <a:solidFill>
                  <a:srgbClr val="02C39A"/>
                </a:solidFill>
              </a:rPr>
              <a:t>AI can reason broadly. Models optimize precisely. Both belong in a modern DS stack — but they need different evaluation frameworks.</a:t>
            </a:r>
            <a:endParaRPr lang="en-US" sz="1150" dirty="0"/>
          </a:p>
        </p:txBody>
      </p:sp>
      <p:sp>
        <p:nvSpPr>
          <p:cNvPr id="45" name="Text 42"/>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700000"/>
          </a:solidFill>
          <a:ln w="12700">
            <a:solidFill>
              <a:srgbClr val="700000"/>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REAL WORLD — ALL FIVE STEPS IN ONE PROJECT</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40080"/>
            <a:ext cx="8321040" cy="402336"/>
          </a:xfrm>
          <a:prstGeom prst="rect">
            <a:avLst/>
          </a:prstGeom>
          <a:noFill/>
          <a:ln/>
        </p:spPr>
        <p:txBody>
          <a:bodyPr wrap="square" lIns="0" tIns="0" rIns="0" bIns="0" rtlCol="0" anchor="ctr"/>
          <a:lstStyle/>
          <a:p>
            <a:pPr indent="0" marL="0">
              <a:buNone/>
            </a:pPr>
            <a:r>
              <a:rPr lang="en-US" sz="1800" b="1" dirty="0">
                <a:solidFill>
                  <a:srgbClr val="02C39A"/>
                </a:solidFill>
                <a:latin typeface="Georgia" pitchFamily="34" charset="0"/>
                <a:ea typeface="Georgia" pitchFamily="34" charset="-122"/>
                <a:cs typeface="Georgia" pitchFamily="34" charset="-120"/>
              </a:rPr>
              <a:t>Colombia, 2024 — Redeban National Payment Network</a:t>
            </a:r>
            <a:endParaRPr lang="en-US" sz="1800" dirty="0"/>
          </a:p>
        </p:txBody>
      </p:sp>
      <p:sp>
        <p:nvSpPr>
          <p:cNvPr id="6" name="Text 4"/>
          <p:cNvSpPr/>
          <p:nvPr/>
        </p:nvSpPr>
        <p:spPr>
          <a:xfrm>
            <a:off x="411480" y="1060704"/>
            <a:ext cx="8321040" cy="329184"/>
          </a:xfrm>
          <a:prstGeom prst="rect">
            <a:avLst/>
          </a:prstGeom>
          <a:noFill/>
          <a:ln/>
        </p:spPr>
        <p:txBody>
          <a:bodyPr wrap="square" lIns="0" tIns="0" rIns="0" bIns="0" rtlCol="0" anchor="ctr"/>
          <a:lstStyle/>
          <a:p>
            <a:pPr indent="0" marL="0">
              <a:buNone/>
            </a:pPr>
            <a:r>
              <a:rPr lang="en-US" sz="1400" i="1" dirty="0">
                <a:solidFill>
                  <a:srgbClr val="94A3B8"/>
                </a:solidFill>
              </a:rPr>
              <a:t>Instant peer-to-peer payments. Once you hit send — the money is gone.</a:t>
            </a:r>
            <a:endParaRPr lang="en-US" sz="1400" dirty="0"/>
          </a:p>
        </p:txBody>
      </p:sp>
      <p:sp>
        <p:nvSpPr>
          <p:cNvPr id="7" name="Shape 5"/>
          <p:cNvSpPr/>
          <p:nvPr/>
        </p:nvSpPr>
        <p:spPr>
          <a:xfrm>
            <a:off x="320040" y="1517904"/>
            <a:ext cx="8503920" cy="548640"/>
          </a:xfrm>
          <a:prstGeom prst="rect">
            <a:avLst/>
          </a:prstGeom>
          <a:solidFill>
            <a:srgbClr val="1A2535"/>
          </a:solidFill>
          <a:ln w="12700">
            <a:solidFill>
              <a:srgbClr val="028090"/>
            </a:solidFill>
            <a:prstDash val="solid"/>
          </a:ln>
        </p:spPr>
      </p:sp>
      <p:sp>
        <p:nvSpPr>
          <p:cNvPr id="8" name="Shape 6"/>
          <p:cNvSpPr/>
          <p:nvPr/>
        </p:nvSpPr>
        <p:spPr>
          <a:xfrm>
            <a:off x="320040" y="1517904"/>
            <a:ext cx="109728" cy="548640"/>
          </a:xfrm>
          <a:prstGeom prst="rect">
            <a:avLst/>
          </a:prstGeom>
          <a:solidFill>
            <a:srgbClr val="028090"/>
          </a:solidFill>
          <a:ln w="12700">
            <a:solidFill>
              <a:srgbClr val="028090"/>
            </a:solidFill>
            <a:prstDash val="solid"/>
          </a:ln>
        </p:spPr>
      </p:sp>
      <p:sp>
        <p:nvSpPr>
          <p:cNvPr id="9" name="Text 7"/>
          <p:cNvSpPr/>
          <p:nvPr/>
        </p:nvSpPr>
        <p:spPr>
          <a:xfrm>
            <a:off x="530352" y="1609344"/>
            <a:ext cx="1005840" cy="347472"/>
          </a:xfrm>
          <a:prstGeom prst="rect">
            <a:avLst/>
          </a:prstGeom>
          <a:noFill/>
          <a:ln/>
        </p:spPr>
        <p:txBody>
          <a:bodyPr wrap="square" lIns="0" tIns="0" rIns="0" bIns="0" rtlCol="0" anchor="ctr"/>
          <a:lstStyle/>
          <a:p>
            <a:pPr indent="0" marL="0">
              <a:buNone/>
            </a:pPr>
            <a:r>
              <a:rPr lang="en-US" sz="1200" b="1" dirty="0">
                <a:solidFill>
                  <a:srgbClr val="028090"/>
                </a:solidFill>
              </a:rPr>
              <a:t>Recipe</a:t>
            </a:r>
            <a:endParaRPr lang="en-US" sz="1200" dirty="0"/>
          </a:p>
        </p:txBody>
      </p:sp>
      <p:sp>
        <p:nvSpPr>
          <p:cNvPr id="10" name="Text 8"/>
          <p:cNvSpPr/>
          <p:nvPr/>
        </p:nvSpPr>
        <p:spPr>
          <a:xfrm>
            <a:off x="1600200" y="1609344"/>
            <a:ext cx="7132320" cy="347472"/>
          </a:xfrm>
          <a:prstGeom prst="rect">
            <a:avLst/>
          </a:prstGeom>
          <a:noFill/>
          <a:ln/>
        </p:spPr>
        <p:txBody>
          <a:bodyPr wrap="square" lIns="0" tIns="0" rIns="0" bIns="0" rtlCol="0" anchor="ctr"/>
          <a:lstStyle/>
          <a:p>
            <a:pPr indent="0" marL="0">
              <a:buNone/>
            </a:pPr>
            <a:r>
              <a:rPr lang="en-US" sz="1200" dirty="0">
                <a:solidFill>
                  <a:srgbClr val="FFFFFF"/>
                </a:solidFill>
              </a:rPr>
              <a:t>Classification — is this an authorized push fraud attempt?</a:t>
            </a:r>
            <a:endParaRPr lang="en-US" sz="1200" dirty="0"/>
          </a:p>
        </p:txBody>
      </p:sp>
      <p:sp>
        <p:nvSpPr>
          <p:cNvPr id="11" name="Shape 9"/>
          <p:cNvSpPr/>
          <p:nvPr/>
        </p:nvSpPr>
        <p:spPr>
          <a:xfrm>
            <a:off x="320040" y="2139696"/>
            <a:ext cx="8503920" cy="548640"/>
          </a:xfrm>
          <a:prstGeom prst="rect">
            <a:avLst/>
          </a:prstGeom>
          <a:solidFill>
            <a:srgbClr val="1A2535"/>
          </a:solidFill>
          <a:ln w="12700">
            <a:solidFill>
              <a:srgbClr val="E67E22"/>
            </a:solidFill>
            <a:prstDash val="solid"/>
          </a:ln>
        </p:spPr>
      </p:sp>
      <p:sp>
        <p:nvSpPr>
          <p:cNvPr id="12" name="Shape 10"/>
          <p:cNvSpPr/>
          <p:nvPr/>
        </p:nvSpPr>
        <p:spPr>
          <a:xfrm>
            <a:off x="320040" y="2139696"/>
            <a:ext cx="109728" cy="548640"/>
          </a:xfrm>
          <a:prstGeom prst="rect">
            <a:avLst/>
          </a:prstGeom>
          <a:solidFill>
            <a:srgbClr val="E67E22"/>
          </a:solidFill>
          <a:ln w="12700">
            <a:solidFill>
              <a:srgbClr val="E67E22"/>
            </a:solidFill>
            <a:prstDash val="solid"/>
          </a:ln>
        </p:spPr>
      </p:sp>
      <p:sp>
        <p:nvSpPr>
          <p:cNvPr id="13" name="Text 11"/>
          <p:cNvSpPr/>
          <p:nvPr/>
        </p:nvSpPr>
        <p:spPr>
          <a:xfrm>
            <a:off x="530352" y="2231136"/>
            <a:ext cx="1005840" cy="347472"/>
          </a:xfrm>
          <a:prstGeom prst="rect">
            <a:avLst/>
          </a:prstGeom>
          <a:noFill/>
          <a:ln/>
        </p:spPr>
        <p:txBody>
          <a:bodyPr wrap="square" lIns="0" tIns="0" rIns="0" bIns="0" rtlCol="0" anchor="ctr"/>
          <a:lstStyle/>
          <a:p>
            <a:pPr indent="0" marL="0">
              <a:buNone/>
            </a:pPr>
            <a:r>
              <a:rPr lang="en-US" sz="1200" b="1" dirty="0">
                <a:solidFill>
                  <a:srgbClr val="E67E22"/>
                </a:solidFill>
              </a:rPr>
              <a:t>Sampling</a:t>
            </a:r>
            <a:endParaRPr lang="en-US" sz="1200" dirty="0"/>
          </a:p>
        </p:txBody>
      </p:sp>
      <p:sp>
        <p:nvSpPr>
          <p:cNvPr id="14" name="Text 12"/>
          <p:cNvSpPr/>
          <p:nvPr/>
        </p:nvSpPr>
        <p:spPr>
          <a:xfrm>
            <a:off x="1600200" y="2231136"/>
            <a:ext cx="7132320" cy="347472"/>
          </a:xfrm>
          <a:prstGeom prst="rect">
            <a:avLst/>
          </a:prstGeom>
          <a:noFill/>
          <a:ln/>
        </p:spPr>
        <p:txBody>
          <a:bodyPr wrap="square" lIns="0" tIns="0" rIns="0" bIns="0" rtlCol="0" anchor="ctr"/>
          <a:lstStyle/>
          <a:p>
            <a:pPr indent="0" marL="0">
              <a:buNone/>
            </a:pPr>
            <a:r>
              <a:rPr lang="en-US" sz="1200" dirty="0">
                <a:solidFill>
                  <a:srgbClr val="FFFFFF"/>
                </a:solidFill>
              </a:rPr>
              <a:t>0.04% fraud rate. Heavy oversampling + temporal splits (no random splits — fraud patterns shift weekly).</a:t>
            </a:r>
            <a:endParaRPr lang="en-US" sz="1200" dirty="0"/>
          </a:p>
        </p:txBody>
      </p:sp>
      <p:sp>
        <p:nvSpPr>
          <p:cNvPr id="15" name="Shape 13"/>
          <p:cNvSpPr/>
          <p:nvPr/>
        </p:nvSpPr>
        <p:spPr>
          <a:xfrm>
            <a:off x="320040" y="2761488"/>
            <a:ext cx="8503920" cy="548640"/>
          </a:xfrm>
          <a:prstGeom prst="rect">
            <a:avLst/>
          </a:prstGeom>
          <a:solidFill>
            <a:srgbClr val="1A2535"/>
          </a:solidFill>
          <a:ln w="12700">
            <a:solidFill>
              <a:srgbClr val="2196F3"/>
            </a:solidFill>
            <a:prstDash val="solid"/>
          </a:ln>
        </p:spPr>
      </p:sp>
      <p:sp>
        <p:nvSpPr>
          <p:cNvPr id="16" name="Shape 14"/>
          <p:cNvSpPr/>
          <p:nvPr/>
        </p:nvSpPr>
        <p:spPr>
          <a:xfrm>
            <a:off x="320040" y="2761488"/>
            <a:ext cx="109728" cy="548640"/>
          </a:xfrm>
          <a:prstGeom prst="rect">
            <a:avLst/>
          </a:prstGeom>
          <a:solidFill>
            <a:srgbClr val="2196F3"/>
          </a:solidFill>
          <a:ln w="12700">
            <a:solidFill>
              <a:srgbClr val="2196F3"/>
            </a:solidFill>
            <a:prstDash val="solid"/>
          </a:ln>
        </p:spPr>
      </p:sp>
      <p:sp>
        <p:nvSpPr>
          <p:cNvPr id="17" name="Text 15"/>
          <p:cNvSpPr/>
          <p:nvPr/>
        </p:nvSpPr>
        <p:spPr>
          <a:xfrm>
            <a:off x="530352" y="2852928"/>
            <a:ext cx="1005840" cy="347472"/>
          </a:xfrm>
          <a:prstGeom prst="rect">
            <a:avLst/>
          </a:prstGeom>
          <a:noFill/>
          <a:ln/>
        </p:spPr>
        <p:txBody>
          <a:bodyPr wrap="square" lIns="0" tIns="0" rIns="0" bIns="0" rtlCol="0" anchor="ctr"/>
          <a:lstStyle/>
          <a:p>
            <a:pPr indent="0" marL="0">
              <a:buNone/>
            </a:pPr>
            <a:r>
              <a:rPr lang="en-US" sz="1200" b="1" dirty="0">
                <a:solidFill>
                  <a:srgbClr val="2196F3"/>
                </a:solidFill>
              </a:rPr>
              <a:t>Model</a:t>
            </a:r>
            <a:endParaRPr lang="en-US" sz="1200" dirty="0"/>
          </a:p>
        </p:txBody>
      </p:sp>
      <p:sp>
        <p:nvSpPr>
          <p:cNvPr id="18" name="Text 16"/>
          <p:cNvSpPr/>
          <p:nvPr/>
        </p:nvSpPr>
        <p:spPr>
          <a:xfrm>
            <a:off x="1600200" y="2852928"/>
            <a:ext cx="7132320" cy="347472"/>
          </a:xfrm>
          <a:prstGeom prst="rect">
            <a:avLst/>
          </a:prstGeom>
          <a:noFill/>
          <a:ln/>
        </p:spPr>
        <p:txBody>
          <a:bodyPr wrap="square" lIns="0" tIns="0" rIns="0" bIns="0" rtlCol="0" anchor="ctr"/>
          <a:lstStyle/>
          <a:p>
            <a:pPr indent="0" marL="0">
              <a:buNone/>
            </a:pPr>
            <a:r>
              <a:rPr lang="en-US" sz="1200" dirty="0">
                <a:solidFill>
                  <a:srgbClr val="FFFFFF"/>
                </a:solidFill>
              </a:rPr>
              <a:t>XGBoost + graph features (sender/receiver velocity, neighborhood risk). CatBoost for categorical merchant features.</a:t>
            </a:r>
            <a:endParaRPr lang="en-US" sz="1200" dirty="0"/>
          </a:p>
        </p:txBody>
      </p:sp>
      <p:sp>
        <p:nvSpPr>
          <p:cNvPr id="19" name="Shape 17"/>
          <p:cNvSpPr/>
          <p:nvPr/>
        </p:nvSpPr>
        <p:spPr>
          <a:xfrm>
            <a:off x="320040" y="3383280"/>
            <a:ext cx="8503920" cy="548640"/>
          </a:xfrm>
          <a:prstGeom prst="rect">
            <a:avLst/>
          </a:prstGeom>
          <a:solidFill>
            <a:srgbClr val="1A2535"/>
          </a:solidFill>
          <a:ln w="12700">
            <a:solidFill>
              <a:srgbClr val="02C39A"/>
            </a:solidFill>
            <a:prstDash val="solid"/>
          </a:ln>
        </p:spPr>
      </p:sp>
      <p:sp>
        <p:nvSpPr>
          <p:cNvPr id="20" name="Shape 18"/>
          <p:cNvSpPr/>
          <p:nvPr/>
        </p:nvSpPr>
        <p:spPr>
          <a:xfrm>
            <a:off x="320040" y="3383280"/>
            <a:ext cx="109728" cy="548640"/>
          </a:xfrm>
          <a:prstGeom prst="rect">
            <a:avLst/>
          </a:prstGeom>
          <a:solidFill>
            <a:srgbClr val="02C39A"/>
          </a:solidFill>
          <a:ln w="12700">
            <a:solidFill>
              <a:srgbClr val="02C39A"/>
            </a:solidFill>
            <a:prstDash val="solid"/>
          </a:ln>
        </p:spPr>
      </p:sp>
      <p:sp>
        <p:nvSpPr>
          <p:cNvPr id="21" name="Text 19"/>
          <p:cNvSpPr/>
          <p:nvPr/>
        </p:nvSpPr>
        <p:spPr>
          <a:xfrm>
            <a:off x="530352" y="3474720"/>
            <a:ext cx="1005840" cy="347472"/>
          </a:xfrm>
          <a:prstGeom prst="rect">
            <a:avLst/>
          </a:prstGeom>
          <a:noFill/>
          <a:ln/>
        </p:spPr>
        <p:txBody>
          <a:bodyPr wrap="square" lIns="0" tIns="0" rIns="0" bIns="0" rtlCol="0" anchor="ctr"/>
          <a:lstStyle/>
          <a:p>
            <a:pPr indent="0" marL="0">
              <a:buNone/>
            </a:pPr>
            <a:r>
              <a:rPr lang="en-US" sz="1200" b="1" dirty="0">
                <a:solidFill>
                  <a:srgbClr val="02C39A"/>
                </a:solidFill>
              </a:rPr>
              <a:t>Evaluation</a:t>
            </a:r>
            <a:endParaRPr lang="en-US" sz="1200" dirty="0"/>
          </a:p>
        </p:txBody>
      </p:sp>
      <p:sp>
        <p:nvSpPr>
          <p:cNvPr id="22" name="Text 20"/>
          <p:cNvSpPr/>
          <p:nvPr/>
        </p:nvSpPr>
        <p:spPr>
          <a:xfrm>
            <a:off x="1600200" y="3474720"/>
            <a:ext cx="7132320" cy="347472"/>
          </a:xfrm>
          <a:prstGeom prst="rect">
            <a:avLst/>
          </a:prstGeom>
          <a:noFill/>
          <a:ln/>
        </p:spPr>
        <p:txBody>
          <a:bodyPr wrap="square" lIns="0" tIns="0" rIns="0" bIns="0" rtlCol="0" anchor="ctr"/>
          <a:lstStyle/>
          <a:p>
            <a:pPr indent="0" marL="0">
              <a:buNone/>
            </a:pPr>
            <a:r>
              <a:rPr lang="en-US" sz="1200" dirty="0">
                <a:solidFill>
                  <a:srgbClr val="FFFFFF"/>
                </a:solidFill>
              </a:rPr>
              <a:t>PR-AUC as primary. Precision @ 90% recall threshold as operational metric. 200ms latency constraint — hard requirement.</a:t>
            </a:r>
            <a:endParaRPr lang="en-US" sz="1200" dirty="0"/>
          </a:p>
        </p:txBody>
      </p:sp>
      <p:sp>
        <p:nvSpPr>
          <p:cNvPr id="23" name="Shape 21"/>
          <p:cNvSpPr/>
          <p:nvPr/>
        </p:nvSpPr>
        <p:spPr>
          <a:xfrm>
            <a:off x="320040" y="4005072"/>
            <a:ext cx="8503920" cy="548640"/>
          </a:xfrm>
          <a:prstGeom prst="rect">
            <a:avLst/>
          </a:prstGeom>
          <a:solidFill>
            <a:srgbClr val="1A2535"/>
          </a:solidFill>
          <a:ln w="12700">
            <a:solidFill>
              <a:srgbClr val="CE93D8"/>
            </a:solidFill>
            <a:prstDash val="solid"/>
          </a:ln>
        </p:spPr>
      </p:sp>
      <p:sp>
        <p:nvSpPr>
          <p:cNvPr id="24" name="Shape 22"/>
          <p:cNvSpPr/>
          <p:nvPr/>
        </p:nvSpPr>
        <p:spPr>
          <a:xfrm>
            <a:off x="320040" y="4005072"/>
            <a:ext cx="109728" cy="548640"/>
          </a:xfrm>
          <a:prstGeom prst="rect">
            <a:avLst/>
          </a:prstGeom>
          <a:solidFill>
            <a:srgbClr val="CE93D8"/>
          </a:solidFill>
          <a:ln w="12700">
            <a:solidFill>
              <a:srgbClr val="CE93D8"/>
            </a:solidFill>
            <a:prstDash val="solid"/>
          </a:ln>
        </p:spPr>
      </p:sp>
      <p:sp>
        <p:nvSpPr>
          <p:cNvPr id="25" name="Text 23"/>
          <p:cNvSpPr/>
          <p:nvPr/>
        </p:nvSpPr>
        <p:spPr>
          <a:xfrm>
            <a:off x="530352" y="4096512"/>
            <a:ext cx="1005840" cy="347472"/>
          </a:xfrm>
          <a:prstGeom prst="rect">
            <a:avLst/>
          </a:prstGeom>
          <a:noFill/>
          <a:ln/>
        </p:spPr>
        <p:txBody>
          <a:bodyPr wrap="square" lIns="0" tIns="0" rIns="0" bIns="0" rtlCol="0" anchor="ctr"/>
          <a:lstStyle/>
          <a:p>
            <a:pPr indent="0" marL="0">
              <a:buNone/>
            </a:pPr>
            <a:r>
              <a:rPr lang="en-US" sz="1200" b="1" dirty="0">
                <a:solidFill>
                  <a:srgbClr val="CE93D8"/>
                </a:solidFill>
              </a:rPr>
              <a:t>Explain</a:t>
            </a:r>
            <a:endParaRPr lang="en-US" sz="1200" dirty="0"/>
          </a:p>
        </p:txBody>
      </p:sp>
      <p:sp>
        <p:nvSpPr>
          <p:cNvPr id="26" name="Text 24"/>
          <p:cNvSpPr/>
          <p:nvPr/>
        </p:nvSpPr>
        <p:spPr>
          <a:xfrm>
            <a:off x="1600200" y="4096512"/>
            <a:ext cx="7132320" cy="347472"/>
          </a:xfrm>
          <a:prstGeom prst="rect">
            <a:avLst/>
          </a:prstGeom>
          <a:noFill/>
          <a:ln/>
        </p:spPr>
        <p:txBody>
          <a:bodyPr wrap="square" lIns="0" tIns="0" rIns="0" bIns="0" rtlCol="0" anchor="ctr"/>
          <a:lstStyle/>
          <a:p>
            <a:pPr indent="0" marL="0">
              <a:buNone/>
            </a:pPr>
            <a:r>
              <a:rPr lang="en-US" sz="1200" dirty="0">
                <a:solidFill>
                  <a:srgbClr val="FFFFFF"/>
                </a:solidFill>
              </a:rPr>
              <a:t>SHAP values for every flagged transaction. Compliance required 'reason codes' for every declined payment. Non-negotiable.</a:t>
            </a:r>
            <a:endParaRPr lang="en-US" sz="1200" dirty="0"/>
          </a:p>
        </p:txBody>
      </p:sp>
      <p:sp>
        <p:nvSpPr>
          <p:cNvPr id="27" name="Shape 25"/>
          <p:cNvSpPr/>
          <p:nvPr/>
        </p:nvSpPr>
        <p:spPr>
          <a:xfrm>
            <a:off x="0" y="4663440"/>
            <a:ext cx="9144000" cy="480060"/>
          </a:xfrm>
          <a:prstGeom prst="rect">
            <a:avLst/>
          </a:prstGeom>
          <a:solidFill>
            <a:srgbClr val="8B0000"/>
          </a:solidFill>
          <a:ln w="12700">
            <a:solidFill>
              <a:srgbClr val="8B0000"/>
            </a:solidFill>
            <a:prstDash val="solid"/>
          </a:ln>
        </p:spPr>
      </p:sp>
      <p:sp>
        <p:nvSpPr>
          <p:cNvPr id="28" name="Text 26"/>
          <p:cNvSpPr/>
          <p:nvPr/>
        </p:nvSpPr>
        <p:spPr>
          <a:xfrm>
            <a:off x="365760" y="4700016"/>
            <a:ext cx="8412480" cy="347472"/>
          </a:xfrm>
          <a:prstGeom prst="rect">
            <a:avLst/>
          </a:prstGeom>
          <a:noFill/>
          <a:ln/>
        </p:spPr>
        <p:txBody>
          <a:bodyPr wrap="square" lIns="0" tIns="0" rIns="0" bIns="0" rtlCol="0" anchor="ctr"/>
          <a:lstStyle/>
          <a:p>
            <a:pPr algn="ctr" indent="0" marL="0">
              <a:buNone/>
            </a:pPr>
            <a:r>
              <a:rPr lang="en-US" sz="1150" i="1" dirty="0">
                <a:solidFill>
                  <a:srgbClr val="FFFFFF"/>
                </a:solidFill>
              </a:rPr>
              <a:t>Key lesson: getting to 99% accuracy is easy. Getting the RIGHT 99% — at the RIGHT latency — WITH explanations — is the whole game.</a:t>
            </a:r>
            <a:endParaRPr lang="en-US" sz="1150" dirty="0"/>
          </a:p>
        </p:txBody>
      </p:sp>
      <p:sp>
        <p:nvSpPr>
          <p:cNvPr id="30" name="Text 27"/>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4F8"/>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D4E"/>
          </a:solidFill>
          <a:ln w="12700">
            <a:solidFill>
              <a:srgbClr val="1E2D4E"/>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WHERE IT FAILS — THE FOUR WAYS PROJECTS DIE</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384048"/>
          </a:xfrm>
          <a:prstGeom prst="rect">
            <a:avLst/>
          </a:prstGeom>
          <a:noFill/>
          <a:ln/>
        </p:spPr>
        <p:txBody>
          <a:bodyPr wrap="square" lIns="0" tIns="0" rIns="0" bIns="0" rtlCol="0" anchor="ctr"/>
          <a:lstStyle/>
          <a:p>
            <a:pPr indent="0" marL="0">
              <a:buNone/>
            </a:pPr>
            <a:r>
              <a:rPr lang="en-US" sz="1800" i="1" dirty="0">
                <a:solidFill>
                  <a:srgbClr val="1A2535"/>
                </a:solidFill>
                <a:latin typeface="Georgia" pitchFamily="34" charset="0"/>
                <a:ea typeface="Georgia" pitchFamily="34" charset="-122"/>
                <a:cs typeface="Georgia" pitchFamily="34" charset="-120"/>
              </a:rPr>
              <a:t>The algorithm almost never kills the project.</a:t>
            </a:r>
            <a:endParaRPr lang="en-US" sz="1800" dirty="0"/>
          </a:p>
        </p:txBody>
      </p:sp>
      <p:sp>
        <p:nvSpPr>
          <p:cNvPr id="6" name="Shape 4"/>
          <p:cNvSpPr/>
          <p:nvPr/>
        </p:nvSpPr>
        <p:spPr>
          <a:xfrm>
            <a:off x="320040" y="1170432"/>
            <a:ext cx="4133088" cy="1755648"/>
          </a:xfrm>
          <a:prstGeom prst="rect">
            <a:avLst/>
          </a:prstGeom>
          <a:solidFill>
            <a:srgbClr val="FFF4EB"/>
          </a:solidFill>
          <a:ln w="12700">
            <a:solidFill>
              <a:srgbClr val="BF5E00"/>
            </a:solidFill>
            <a:prstDash val="solid"/>
          </a:ln>
          <a:effectLst>
            <a:outerShdw sx="100000" sy="100000" kx="0" ky="0" algn="bl" rotWithShape="0" blurRad="127000" dist="50800" dir="8100000">
              <a:srgbClr val="000000">
                <a:alpha val="15000"/>
              </a:srgbClr>
            </a:outerShdw>
          </a:effectLst>
        </p:spPr>
      </p:sp>
      <p:sp>
        <p:nvSpPr>
          <p:cNvPr id="7" name="Shape 5"/>
          <p:cNvSpPr/>
          <p:nvPr/>
        </p:nvSpPr>
        <p:spPr>
          <a:xfrm>
            <a:off x="320040" y="1170432"/>
            <a:ext cx="4133088" cy="109728"/>
          </a:xfrm>
          <a:prstGeom prst="rect">
            <a:avLst/>
          </a:prstGeom>
          <a:solidFill>
            <a:srgbClr val="BF5E00"/>
          </a:solidFill>
          <a:ln w="12700">
            <a:solidFill>
              <a:srgbClr val="BF5E00"/>
            </a:solidFill>
            <a:prstDash val="solid"/>
          </a:ln>
        </p:spPr>
      </p:sp>
      <p:sp>
        <p:nvSpPr>
          <p:cNvPr id="8" name="Text 6"/>
          <p:cNvSpPr/>
          <p:nvPr/>
        </p:nvSpPr>
        <p:spPr>
          <a:xfrm>
            <a:off x="457200" y="1335024"/>
            <a:ext cx="475488" cy="475488"/>
          </a:xfrm>
          <a:prstGeom prst="rect">
            <a:avLst/>
          </a:prstGeom>
          <a:noFill/>
          <a:ln/>
        </p:spPr>
        <p:txBody>
          <a:bodyPr wrap="square" lIns="0" tIns="0" rIns="0" bIns="0" rtlCol="0" anchor="ctr"/>
          <a:lstStyle/>
          <a:p>
            <a:pPr indent="0" marL="0">
              <a:buNone/>
            </a:pPr>
            <a:r>
              <a:rPr lang="en-US" sz="2200" b="1" dirty="0">
                <a:solidFill>
                  <a:srgbClr val="BF5E00"/>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978408" y="1389888"/>
            <a:ext cx="3337560" cy="402336"/>
          </a:xfrm>
          <a:prstGeom prst="rect">
            <a:avLst/>
          </a:prstGeom>
          <a:noFill/>
          <a:ln/>
        </p:spPr>
        <p:txBody>
          <a:bodyPr wrap="square" lIns="0" tIns="0" rIns="0" bIns="0" rtlCol="0" anchor="ctr"/>
          <a:lstStyle/>
          <a:p>
            <a:pPr indent="0" marL="0">
              <a:buNone/>
            </a:pPr>
            <a:r>
              <a:rPr lang="en-US" sz="1600" b="1" dirty="0">
                <a:solidFill>
                  <a:srgbClr val="1A2535"/>
                </a:solidFill>
                <a:latin typeface="Georgia" pitchFamily="34" charset="0"/>
                <a:ea typeface="Georgia" pitchFamily="34" charset="-122"/>
                <a:cs typeface="Georgia" pitchFamily="34" charset="-120"/>
              </a:rPr>
              <a:t>Bad Sampling</a:t>
            </a:r>
            <a:endParaRPr lang="en-US" sz="1600" dirty="0"/>
          </a:p>
        </p:txBody>
      </p:sp>
      <p:sp>
        <p:nvSpPr>
          <p:cNvPr id="10" name="Text 8"/>
          <p:cNvSpPr/>
          <p:nvPr/>
        </p:nvSpPr>
        <p:spPr>
          <a:xfrm>
            <a:off x="457200" y="1883664"/>
            <a:ext cx="3858768" cy="621792"/>
          </a:xfrm>
          <a:prstGeom prst="rect">
            <a:avLst/>
          </a:prstGeom>
          <a:noFill/>
          <a:ln/>
        </p:spPr>
        <p:txBody>
          <a:bodyPr wrap="square" lIns="0" tIns="0" rIns="0" bIns="0" rtlCol="0" anchor="ctr"/>
          <a:lstStyle/>
          <a:p>
            <a:pPr indent="0" marL="0">
              <a:buNone/>
            </a:pPr>
            <a:r>
              <a:rPr lang="en-US" sz="1050" dirty="0">
                <a:solidFill>
                  <a:srgbClr val="1A2535"/>
                </a:solidFill>
              </a:rPr>
              <a:t>Trained on the wrong data. Random splits instead of time-based. Class imbalance ignored. Survivorship bias baked in. The model learned a world that doesn't exist.</a:t>
            </a:r>
            <a:endParaRPr lang="en-US" sz="1050" dirty="0"/>
          </a:p>
        </p:txBody>
      </p:sp>
      <p:sp>
        <p:nvSpPr>
          <p:cNvPr id="11" name="Shape 9"/>
          <p:cNvSpPr/>
          <p:nvPr/>
        </p:nvSpPr>
        <p:spPr>
          <a:xfrm>
            <a:off x="457200" y="2532888"/>
            <a:ext cx="3858768" cy="36576"/>
          </a:xfrm>
          <a:prstGeom prst="rect">
            <a:avLst/>
          </a:prstGeom>
          <a:solidFill>
            <a:srgbClr val="BF5E00"/>
          </a:solidFill>
          <a:ln w="12700">
            <a:solidFill>
              <a:srgbClr val="BF5E00"/>
            </a:solidFill>
            <a:prstDash val="solid"/>
          </a:ln>
        </p:spPr>
      </p:sp>
      <p:sp>
        <p:nvSpPr>
          <p:cNvPr id="12" name="Text 10"/>
          <p:cNvSpPr/>
          <p:nvPr/>
        </p:nvSpPr>
        <p:spPr>
          <a:xfrm>
            <a:off x="457200" y="2596896"/>
            <a:ext cx="3858768" cy="274320"/>
          </a:xfrm>
          <a:prstGeom prst="rect">
            <a:avLst/>
          </a:prstGeom>
          <a:noFill/>
          <a:ln/>
        </p:spPr>
        <p:txBody>
          <a:bodyPr wrap="square" lIns="0" tIns="0" rIns="0" bIns="0" rtlCol="0" anchor="ctr"/>
          <a:lstStyle/>
          <a:p>
            <a:pPr indent="0" marL="0">
              <a:buNone/>
            </a:pPr>
            <a:r>
              <a:rPr lang="en-US" sz="1000" i="1" dirty="0">
                <a:solidFill>
                  <a:srgbClr val="BF5E00"/>
                </a:solidFill>
              </a:rPr>
              <a:t>"Works great in testing" — using 2019 data to predict 2024 fraud.</a:t>
            </a:r>
            <a:endParaRPr lang="en-US" sz="1000" dirty="0"/>
          </a:p>
        </p:txBody>
      </p:sp>
      <p:sp>
        <p:nvSpPr>
          <p:cNvPr id="13" name="Shape 11"/>
          <p:cNvSpPr/>
          <p:nvPr/>
        </p:nvSpPr>
        <p:spPr>
          <a:xfrm>
            <a:off x="4727448" y="1170432"/>
            <a:ext cx="4133088" cy="1755648"/>
          </a:xfrm>
          <a:prstGeom prst="rect">
            <a:avLst/>
          </a:prstGeom>
          <a:solidFill>
            <a:srgbClr val="FFF0F0"/>
          </a:solidFill>
          <a:ln w="12700">
            <a:solidFill>
              <a:srgbClr val="C0392B"/>
            </a:solidFill>
            <a:prstDash val="solid"/>
          </a:ln>
          <a:effectLst>
            <a:outerShdw sx="100000" sy="100000" kx="0" ky="0" algn="bl" rotWithShape="0" blurRad="127000" dist="50800" dir="8100000">
              <a:srgbClr val="000000">
                <a:alpha val="15000"/>
              </a:srgbClr>
            </a:outerShdw>
          </a:effectLst>
        </p:spPr>
      </p:sp>
      <p:sp>
        <p:nvSpPr>
          <p:cNvPr id="14" name="Shape 12"/>
          <p:cNvSpPr/>
          <p:nvPr/>
        </p:nvSpPr>
        <p:spPr>
          <a:xfrm>
            <a:off x="4727448" y="1170432"/>
            <a:ext cx="4133088" cy="109728"/>
          </a:xfrm>
          <a:prstGeom prst="rect">
            <a:avLst/>
          </a:prstGeom>
          <a:solidFill>
            <a:srgbClr val="C0392B"/>
          </a:solidFill>
          <a:ln w="12700">
            <a:solidFill>
              <a:srgbClr val="C0392B"/>
            </a:solidFill>
            <a:prstDash val="solid"/>
          </a:ln>
        </p:spPr>
      </p:sp>
      <p:sp>
        <p:nvSpPr>
          <p:cNvPr id="15" name="Text 13"/>
          <p:cNvSpPr/>
          <p:nvPr/>
        </p:nvSpPr>
        <p:spPr>
          <a:xfrm>
            <a:off x="4864608" y="1335024"/>
            <a:ext cx="475488" cy="475488"/>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02</a:t>
            </a:r>
            <a:endParaRPr lang="en-US" sz="2200" dirty="0"/>
          </a:p>
        </p:txBody>
      </p:sp>
      <p:sp>
        <p:nvSpPr>
          <p:cNvPr id="16" name="Text 14"/>
          <p:cNvSpPr/>
          <p:nvPr/>
        </p:nvSpPr>
        <p:spPr>
          <a:xfrm>
            <a:off x="5385816" y="1389888"/>
            <a:ext cx="3337560" cy="402336"/>
          </a:xfrm>
          <a:prstGeom prst="rect">
            <a:avLst/>
          </a:prstGeom>
          <a:noFill/>
          <a:ln/>
        </p:spPr>
        <p:txBody>
          <a:bodyPr wrap="square" lIns="0" tIns="0" rIns="0" bIns="0" rtlCol="0" anchor="ctr"/>
          <a:lstStyle/>
          <a:p>
            <a:pPr indent="0" marL="0">
              <a:buNone/>
            </a:pPr>
            <a:r>
              <a:rPr lang="en-US" sz="1600" b="1" dirty="0">
                <a:solidFill>
                  <a:srgbClr val="1A2535"/>
                </a:solidFill>
                <a:latin typeface="Georgia" pitchFamily="34" charset="0"/>
                <a:ea typeface="Georgia" pitchFamily="34" charset="-122"/>
                <a:cs typeface="Georgia" pitchFamily="34" charset="-120"/>
              </a:rPr>
              <a:t>Wrong Evaluation</a:t>
            </a:r>
            <a:endParaRPr lang="en-US" sz="1600" dirty="0"/>
          </a:p>
        </p:txBody>
      </p:sp>
      <p:sp>
        <p:nvSpPr>
          <p:cNvPr id="17" name="Text 15"/>
          <p:cNvSpPr/>
          <p:nvPr/>
        </p:nvSpPr>
        <p:spPr>
          <a:xfrm>
            <a:off x="4864608" y="1883664"/>
            <a:ext cx="3858768" cy="621792"/>
          </a:xfrm>
          <a:prstGeom prst="rect">
            <a:avLst/>
          </a:prstGeom>
          <a:noFill/>
          <a:ln/>
        </p:spPr>
        <p:txBody>
          <a:bodyPr wrap="square" lIns="0" tIns="0" rIns="0" bIns="0" rtlCol="0" anchor="ctr"/>
          <a:lstStyle/>
          <a:p>
            <a:pPr indent="0" marL="0">
              <a:buNone/>
            </a:pPr>
            <a:r>
              <a:rPr lang="en-US" sz="1050" dirty="0">
                <a:solidFill>
                  <a:srgbClr val="1A2535"/>
                </a:solidFill>
              </a:rPr>
              <a:t>Optimized the wrong metric. Ignored the business tradeoff. Didn't test at the operational threshold. Never compared to a baseline. 99.9% accurate — but useless.</a:t>
            </a:r>
            <a:endParaRPr lang="en-US" sz="1050" dirty="0"/>
          </a:p>
        </p:txBody>
      </p:sp>
      <p:sp>
        <p:nvSpPr>
          <p:cNvPr id="18" name="Shape 16"/>
          <p:cNvSpPr/>
          <p:nvPr/>
        </p:nvSpPr>
        <p:spPr>
          <a:xfrm>
            <a:off x="4864608" y="2532888"/>
            <a:ext cx="3858768" cy="36576"/>
          </a:xfrm>
          <a:prstGeom prst="rect">
            <a:avLst/>
          </a:prstGeom>
          <a:solidFill>
            <a:srgbClr val="C0392B"/>
          </a:solidFill>
          <a:ln w="12700">
            <a:solidFill>
              <a:srgbClr val="C0392B"/>
            </a:solidFill>
            <a:prstDash val="solid"/>
          </a:ln>
        </p:spPr>
      </p:sp>
      <p:sp>
        <p:nvSpPr>
          <p:cNvPr id="19" name="Text 17"/>
          <p:cNvSpPr/>
          <p:nvPr/>
        </p:nvSpPr>
        <p:spPr>
          <a:xfrm>
            <a:off x="4864608" y="2596896"/>
            <a:ext cx="3858768" cy="274320"/>
          </a:xfrm>
          <a:prstGeom prst="rect">
            <a:avLst/>
          </a:prstGeom>
          <a:noFill/>
          <a:ln/>
        </p:spPr>
        <p:txBody>
          <a:bodyPr wrap="square" lIns="0" tIns="0" rIns="0" bIns="0" rtlCol="0" anchor="ctr"/>
          <a:lstStyle/>
          <a:p>
            <a:pPr indent="0" marL="0">
              <a:buNone/>
            </a:pPr>
            <a:r>
              <a:rPr lang="en-US" sz="1000" i="1" dirty="0">
                <a:solidFill>
                  <a:srgbClr val="C0392B"/>
                </a:solidFill>
              </a:rPr>
              <a:t>"Our model is 99.97% accurate." (It never flags anything.)</a:t>
            </a:r>
            <a:endParaRPr lang="en-US" sz="1000" dirty="0"/>
          </a:p>
        </p:txBody>
      </p:sp>
      <p:sp>
        <p:nvSpPr>
          <p:cNvPr id="20" name="Shape 18"/>
          <p:cNvSpPr/>
          <p:nvPr/>
        </p:nvSpPr>
        <p:spPr>
          <a:xfrm>
            <a:off x="320040" y="3072384"/>
            <a:ext cx="4133088" cy="1755648"/>
          </a:xfrm>
          <a:prstGeom prst="rect">
            <a:avLst/>
          </a:prstGeom>
          <a:solidFill>
            <a:srgbClr val="F5F0FF"/>
          </a:solidFill>
          <a:ln w="12700">
            <a:solidFill>
              <a:srgbClr val="5B2C8D"/>
            </a:solidFill>
            <a:prstDash val="solid"/>
          </a:ln>
          <a:effectLst>
            <a:outerShdw sx="100000" sy="100000" kx="0" ky="0" algn="bl" rotWithShape="0" blurRad="127000" dist="50800" dir="8100000">
              <a:srgbClr val="000000">
                <a:alpha val="15000"/>
              </a:srgbClr>
            </a:outerShdw>
          </a:effectLst>
        </p:spPr>
      </p:sp>
      <p:sp>
        <p:nvSpPr>
          <p:cNvPr id="21" name="Shape 19"/>
          <p:cNvSpPr/>
          <p:nvPr/>
        </p:nvSpPr>
        <p:spPr>
          <a:xfrm>
            <a:off x="320040" y="3072384"/>
            <a:ext cx="4133088" cy="109728"/>
          </a:xfrm>
          <a:prstGeom prst="rect">
            <a:avLst/>
          </a:prstGeom>
          <a:solidFill>
            <a:srgbClr val="5B2C8D"/>
          </a:solidFill>
          <a:ln w="12700">
            <a:solidFill>
              <a:srgbClr val="5B2C8D"/>
            </a:solidFill>
            <a:prstDash val="solid"/>
          </a:ln>
        </p:spPr>
      </p:sp>
      <p:sp>
        <p:nvSpPr>
          <p:cNvPr id="22" name="Text 20"/>
          <p:cNvSpPr/>
          <p:nvPr/>
        </p:nvSpPr>
        <p:spPr>
          <a:xfrm>
            <a:off x="457200" y="3236976"/>
            <a:ext cx="475488" cy="475488"/>
          </a:xfrm>
          <a:prstGeom prst="rect">
            <a:avLst/>
          </a:prstGeom>
          <a:noFill/>
          <a:ln/>
        </p:spPr>
        <p:txBody>
          <a:bodyPr wrap="square" lIns="0" tIns="0" rIns="0" bIns="0" rtlCol="0" anchor="ctr"/>
          <a:lstStyle/>
          <a:p>
            <a:pPr indent="0" marL="0">
              <a:buNone/>
            </a:pPr>
            <a:r>
              <a:rPr lang="en-US" sz="2200" b="1" dirty="0">
                <a:solidFill>
                  <a:srgbClr val="5B2C8D"/>
                </a:solidFill>
                <a:latin typeface="Georgia" pitchFamily="34" charset="0"/>
                <a:ea typeface="Georgia" pitchFamily="34" charset="-122"/>
                <a:cs typeface="Georgia" pitchFamily="34" charset="-120"/>
              </a:rPr>
              <a:t>03</a:t>
            </a:r>
            <a:endParaRPr lang="en-US" sz="2200" dirty="0"/>
          </a:p>
        </p:txBody>
      </p:sp>
      <p:sp>
        <p:nvSpPr>
          <p:cNvPr id="23" name="Text 21"/>
          <p:cNvSpPr/>
          <p:nvPr/>
        </p:nvSpPr>
        <p:spPr>
          <a:xfrm>
            <a:off x="978408" y="3291840"/>
            <a:ext cx="3337560" cy="402336"/>
          </a:xfrm>
          <a:prstGeom prst="rect">
            <a:avLst/>
          </a:prstGeom>
          <a:noFill/>
          <a:ln/>
        </p:spPr>
        <p:txBody>
          <a:bodyPr wrap="square" lIns="0" tIns="0" rIns="0" bIns="0" rtlCol="0" anchor="ctr"/>
          <a:lstStyle/>
          <a:p>
            <a:pPr indent="0" marL="0">
              <a:buNone/>
            </a:pPr>
            <a:r>
              <a:rPr lang="en-US" sz="1600" b="1" dirty="0">
                <a:solidFill>
                  <a:srgbClr val="1A2535"/>
                </a:solidFill>
                <a:latin typeface="Georgia" pitchFamily="34" charset="0"/>
                <a:ea typeface="Georgia" pitchFamily="34" charset="-122"/>
                <a:cs typeface="Georgia" pitchFamily="34" charset="-120"/>
              </a:rPr>
              <a:t>No Explainability</a:t>
            </a:r>
            <a:endParaRPr lang="en-US" sz="1600" dirty="0"/>
          </a:p>
        </p:txBody>
      </p:sp>
      <p:sp>
        <p:nvSpPr>
          <p:cNvPr id="24" name="Text 22"/>
          <p:cNvSpPr/>
          <p:nvPr/>
        </p:nvSpPr>
        <p:spPr>
          <a:xfrm>
            <a:off x="457200" y="3785616"/>
            <a:ext cx="3858768" cy="621792"/>
          </a:xfrm>
          <a:prstGeom prst="rect">
            <a:avLst/>
          </a:prstGeom>
          <a:noFill/>
          <a:ln/>
        </p:spPr>
        <p:txBody>
          <a:bodyPr wrap="square" lIns="0" tIns="0" rIns="0" bIns="0" rtlCol="0" anchor="ctr"/>
          <a:lstStyle/>
          <a:p>
            <a:pPr indent="0" marL="0">
              <a:buNone/>
            </a:pPr>
            <a:r>
              <a:rPr lang="en-US" sz="1050" dirty="0">
                <a:solidFill>
                  <a:srgbClr val="1A2535"/>
                </a:solidFill>
              </a:rPr>
              <a:t>The model worked in the lab. Nobody trusted it in production. Compliance wouldn't approve it. Frontline staff ignored the scores. A model nobody uses is worth nothing.</a:t>
            </a:r>
            <a:endParaRPr lang="en-US" sz="1050" dirty="0"/>
          </a:p>
        </p:txBody>
      </p:sp>
      <p:sp>
        <p:nvSpPr>
          <p:cNvPr id="25" name="Shape 23"/>
          <p:cNvSpPr/>
          <p:nvPr/>
        </p:nvSpPr>
        <p:spPr>
          <a:xfrm>
            <a:off x="457200" y="4434840"/>
            <a:ext cx="3858768" cy="36576"/>
          </a:xfrm>
          <a:prstGeom prst="rect">
            <a:avLst/>
          </a:prstGeom>
          <a:solidFill>
            <a:srgbClr val="5B2C8D"/>
          </a:solidFill>
          <a:ln w="12700">
            <a:solidFill>
              <a:srgbClr val="5B2C8D"/>
            </a:solidFill>
            <a:prstDash val="solid"/>
          </a:ln>
        </p:spPr>
      </p:sp>
      <p:sp>
        <p:nvSpPr>
          <p:cNvPr id="26" name="Text 24"/>
          <p:cNvSpPr/>
          <p:nvPr/>
        </p:nvSpPr>
        <p:spPr>
          <a:xfrm>
            <a:off x="457200" y="4498848"/>
            <a:ext cx="3858768" cy="274320"/>
          </a:xfrm>
          <a:prstGeom prst="rect">
            <a:avLst/>
          </a:prstGeom>
          <a:noFill/>
          <a:ln/>
        </p:spPr>
        <p:txBody>
          <a:bodyPr wrap="square" lIns="0" tIns="0" rIns="0" bIns="0" rtlCol="0" anchor="ctr"/>
          <a:lstStyle/>
          <a:p>
            <a:pPr indent="0" marL="0">
              <a:buNone/>
            </a:pPr>
            <a:r>
              <a:rPr lang="en-US" sz="1000" i="1" dirty="0">
                <a:solidFill>
                  <a:srgbClr val="5B2C8D"/>
                </a:solidFill>
              </a:rPr>
              <a:t>"The AI said so" is not an answer in a regulated industry.</a:t>
            </a:r>
            <a:endParaRPr lang="en-US" sz="1000" dirty="0"/>
          </a:p>
        </p:txBody>
      </p:sp>
      <p:sp>
        <p:nvSpPr>
          <p:cNvPr id="27" name="Shape 25"/>
          <p:cNvSpPr/>
          <p:nvPr/>
        </p:nvSpPr>
        <p:spPr>
          <a:xfrm>
            <a:off x="4727448" y="3072384"/>
            <a:ext cx="4133088" cy="1755648"/>
          </a:xfrm>
          <a:prstGeom prst="rect">
            <a:avLst/>
          </a:prstGeom>
          <a:solidFill>
            <a:srgbClr val="EBF5FF"/>
          </a:solidFill>
          <a:ln w="12700">
            <a:solidFill>
              <a:srgbClr val="1565C0"/>
            </a:solidFill>
            <a:prstDash val="solid"/>
          </a:ln>
          <a:effectLst>
            <a:outerShdw sx="100000" sy="100000" kx="0" ky="0" algn="bl" rotWithShape="0" blurRad="127000" dist="50800" dir="8100000">
              <a:srgbClr val="000000">
                <a:alpha val="15000"/>
              </a:srgbClr>
            </a:outerShdw>
          </a:effectLst>
        </p:spPr>
      </p:sp>
      <p:sp>
        <p:nvSpPr>
          <p:cNvPr id="28" name="Shape 26"/>
          <p:cNvSpPr/>
          <p:nvPr/>
        </p:nvSpPr>
        <p:spPr>
          <a:xfrm>
            <a:off x="4727448" y="3072384"/>
            <a:ext cx="4133088" cy="109728"/>
          </a:xfrm>
          <a:prstGeom prst="rect">
            <a:avLst/>
          </a:prstGeom>
          <a:solidFill>
            <a:srgbClr val="1565C0"/>
          </a:solidFill>
          <a:ln w="12700">
            <a:solidFill>
              <a:srgbClr val="1565C0"/>
            </a:solidFill>
            <a:prstDash val="solid"/>
          </a:ln>
        </p:spPr>
      </p:sp>
      <p:sp>
        <p:nvSpPr>
          <p:cNvPr id="29" name="Text 27"/>
          <p:cNvSpPr/>
          <p:nvPr/>
        </p:nvSpPr>
        <p:spPr>
          <a:xfrm>
            <a:off x="4864608" y="3236976"/>
            <a:ext cx="475488" cy="475488"/>
          </a:xfrm>
          <a:prstGeom prst="rect">
            <a:avLst/>
          </a:prstGeom>
          <a:noFill/>
          <a:ln/>
        </p:spPr>
        <p:txBody>
          <a:bodyPr wrap="square" lIns="0" tIns="0" rIns="0" bIns="0" rtlCol="0" anchor="ctr"/>
          <a:lstStyle/>
          <a:p>
            <a:pPr indent="0" marL="0">
              <a:buNone/>
            </a:pPr>
            <a:r>
              <a:rPr lang="en-US" sz="2200" b="1" dirty="0">
                <a:solidFill>
                  <a:srgbClr val="1565C0"/>
                </a:solidFill>
                <a:latin typeface="Georgia" pitchFamily="34" charset="0"/>
                <a:ea typeface="Georgia" pitchFamily="34" charset="-122"/>
                <a:cs typeface="Georgia" pitchFamily="34" charset="-120"/>
              </a:rPr>
              <a:t>04</a:t>
            </a:r>
            <a:endParaRPr lang="en-US" sz="2200" dirty="0"/>
          </a:p>
        </p:txBody>
      </p:sp>
      <p:sp>
        <p:nvSpPr>
          <p:cNvPr id="30" name="Text 28"/>
          <p:cNvSpPr/>
          <p:nvPr/>
        </p:nvSpPr>
        <p:spPr>
          <a:xfrm>
            <a:off x="5385816" y="3291840"/>
            <a:ext cx="3337560" cy="402336"/>
          </a:xfrm>
          <a:prstGeom prst="rect">
            <a:avLst/>
          </a:prstGeom>
          <a:noFill/>
          <a:ln/>
        </p:spPr>
        <p:txBody>
          <a:bodyPr wrap="square" lIns="0" tIns="0" rIns="0" bIns="0" rtlCol="0" anchor="ctr"/>
          <a:lstStyle/>
          <a:p>
            <a:pPr indent="0" marL="0">
              <a:buNone/>
            </a:pPr>
            <a:r>
              <a:rPr lang="en-US" sz="1600" b="1" dirty="0">
                <a:solidFill>
                  <a:srgbClr val="1A2535"/>
                </a:solidFill>
                <a:latin typeface="Georgia" pitchFamily="34" charset="0"/>
                <a:ea typeface="Georgia" pitchFamily="34" charset="-122"/>
                <a:cs typeface="Georgia" pitchFamily="34" charset="-120"/>
              </a:rPr>
              <a:t>Organizational Incentives</a:t>
            </a:r>
            <a:endParaRPr lang="en-US" sz="1600" dirty="0"/>
          </a:p>
        </p:txBody>
      </p:sp>
      <p:sp>
        <p:nvSpPr>
          <p:cNvPr id="31" name="Text 29"/>
          <p:cNvSpPr/>
          <p:nvPr/>
        </p:nvSpPr>
        <p:spPr>
          <a:xfrm>
            <a:off x="4864608" y="3785616"/>
            <a:ext cx="3858768" cy="621792"/>
          </a:xfrm>
          <a:prstGeom prst="rect">
            <a:avLst/>
          </a:prstGeom>
          <a:noFill/>
          <a:ln/>
        </p:spPr>
        <p:txBody>
          <a:bodyPr wrap="square" lIns="0" tIns="0" rIns="0" bIns="0" rtlCol="0" anchor="ctr"/>
          <a:lstStyle/>
          <a:p>
            <a:pPr indent="0" marL="0">
              <a:buNone/>
            </a:pPr>
            <a:r>
              <a:rPr lang="en-US" sz="1050" dirty="0">
                <a:solidFill>
                  <a:srgbClr val="1A2535"/>
                </a:solidFill>
              </a:rPr>
              <a:t>Demo accuracy ≠ production value. Incentives to ship, not to sustain. No feedback loop. No monitoring. No one owns the model after launch. It decays quietly.</a:t>
            </a:r>
            <a:endParaRPr lang="en-US" sz="1050" dirty="0"/>
          </a:p>
        </p:txBody>
      </p:sp>
      <p:sp>
        <p:nvSpPr>
          <p:cNvPr id="32" name="Shape 30"/>
          <p:cNvSpPr/>
          <p:nvPr/>
        </p:nvSpPr>
        <p:spPr>
          <a:xfrm>
            <a:off x="4864608" y="4434840"/>
            <a:ext cx="3858768" cy="36576"/>
          </a:xfrm>
          <a:prstGeom prst="rect">
            <a:avLst/>
          </a:prstGeom>
          <a:solidFill>
            <a:srgbClr val="1565C0"/>
          </a:solidFill>
          <a:ln w="12700">
            <a:solidFill>
              <a:srgbClr val="1565C0"/>
            </a:solidFill>
            <a:prstDash val="solid"/>
          </a:ln>
        </p:spPr>
      </p:sp>
      <p:sp>
        <p:nvSpPr>
          <p:cNvPr id="33" name="Text 31"/>
          <p:cNvSpPr/>
          <p:nvPr/>
        </p:nvSpPr>
        <p:spPr>
          <a:xfrm>
            <a:off x="4864608" y="4498848"/>
            <a:ext cx="3858768" cy="274320"/>
          </a:xfrm>
          <a:prstGeom prst="rect">
            <a:avLst/>
          </a:prstGeom>
          <a:noFill/>
          <a:ln/>
        </p:spPr>
        <p:txBody>
          <a:bodyPr wrap="square" lIns="0" tIns="0" rIns="0" bIns="0" rtlCol="0" anchor="ctr"/>
          <a:lstStyle/>
          <a:p>
            <a:pPr indent="0" marL="0">
              <a:buNone/>
            </a:pPr>
            <a:r>
              <a:rPr lang="en-US" sz="1000" i="1" dirty="0">
                <a:solidFill>
                  <a:srgbClr val="1565C0"/>
                </a:solidFill>
              </a:rPr>
              <a:t>"We deployed it six months ago." "And?" "...nobody knows."</a:t>
            </a:r>
            <a:endParaRPr lang="en-US" sz="1000" dirty="0"/>
          </a:p>
        </p:txBody>
      </p:sp>
      <p:sp>
        <p:nvSpPr>
          <p:cNvPr id="35" name="Text 32"/>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A28"/>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E2D4E"/>
          </a:solidFill>
          <a:ln w="12700">
            <a:solidFill>
              <a:srgbClr val="1E2D4E"/>
            </a:solidFill>
            <a:prstDash val="solid"/>
          </a:ln>
        </p:spPr>
      </p:sp>
      <p:sp>
        <p:nvSpPr>
          <p:cNvPr id="3" name="Text 1"/>
          <p:cNvSpPr/>
          <p:nvPr/>
        </p:nvSpPr>
        <p:spPr>
          <a:xfrm>
            <a:off x="365760" y="54864"/>
            <a:ext cx="8412480" cy="365760"/>
          </a:xfrm>
          <a:prstGeom prst="rect">
            <a:avLst/>
          </a:prstGeom>
          <a:noFill/>
          <a:ln/>
        </p:spPr>
        <p:txBody>
          <a:bodyPr wrap="square" lIns="0" tIns="0" rIns="0" bIns="0" rtlCol="0" anchor="ctr"/>
          <a:lstStyle/>
          <a:p>
            <a:pPr algn="l" indent="0" marL="0">
              <a:buNone/>
            </a:pPr>
            <a:r>
              <a:rPr lang="en-US" sz="1100" b="1" spc="400" kern="0" dirty="0">
                <a:solidFill>
                  <a:srgbClr val="02C39A"/>
                </a:solidFill>
              </a:rPr>
              <a:t>THE SYSTEM — MODELS DECAY. SYSTEMS LEARN.</a:t>
            </a:r>
            <a:endParaRPr lang="en-US" sz="1100" dirty="0"/>
          </a:p>
        </p:txBody>
      </p:sp>
      <p:sp>
        <p:nvSpPr>
          <p:cNvPr id="4" name="Text 2"/>
          <p:cNvSpPr/>
          <p:nvPr/>
        </p:nvSpPr>
        <p:spPr>
          <a:xfrm>
            <a:off x="548640" y="594360"/>
            <a:ext cx="8046720" cy="475488"/>
          </a:xfrm>
          <a:prstGeom prst="rect">
            <a:avLst/>
          </a:prstGeom>
          <a:noFill/>
          <a:ln/>
        </p:spPr>
        <p:txBody>
          <a:bodyPr wrap="square" lIns="0" tIns="0" rIns="0" bIns="0" rtlCol="0" anchor="ctr"/>
          <a:lstStyle/>
          <a:p>
            <a:pPr algn="ctr" indent="0" marL="0">
              <a:buNone/>
            </a:pPr>
            <a:r>
              <a:rPr lang="en-US" sz="2200" i="1" dirty="0">
                <a:solidFill>
                  <a:srgbClr val="94A3B8"/>
                </a:solidFill>
                <a:latin typeface="Georgia" pitchFamily="34" charset="0"/>
                <a:ea typeface="Georgia" pitchFamily="34" charset="-122"/>
                <a:cs typeface="Georgia" pitchFamily="34" charset="-120"/>
              </a:rPr>
              <a:t>"The model was great last year" is not a system.</a:t>
            </a:r>
            <a:endParaRPr lang="en-US" sz="2200" dirty="0"/>
          </a:p>
        </p:txBody>
      </p:sp>
      <p:sp>
        <p:nvSpPr>
          <p:cNvPr id="5" name="Shape 3"/>
          <p:cNvSpPr/>
          <p:nvPr/>
        </p:nvSpPr>
        <p:spPr>
          <a:xfrm>
            <a:off x="320040" y="1261872"/>
            <a:ext cx="1938528" cy="1920240"/>
          </a:xfrm>
          <a:prstGeom prst="rect">
            <a:avLst/>
          </a:prstGeom>
          <a:solidFill>
            <a:srgbClr val="0D2B30"/>
          </a:solidFill>
          <a:ln w="12700">
            <a:solidFill>
              <a:srgbClr val="02809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320040" y="1261872"/>
            <a:ext cx="1938528" cy="91440"/>
          </a:xfrm>
          <a:prstGeom prst="rect">
            <a:avLst/>
          </a:prstGeom>
          <a:solidFill>
            <a:srgbClr val="028090"/>
          </a:solidFill>
          <a:ln w="12700">
            <a:solidFill>
              <a:srgbClr val="028090"/>
            </a:solidFill>
            <a:prstDash val="solid"/>
          </a:ln>
        </p:spPr>
      </p:sp>
      <p:sp>
        <p:nvSpPr>
          <p:cNvPr id="7" name="Shape 5"/>
          <p:cNvSpPr/>
          <p:nvPr/>
        </p:nvSpPr>
        <p:spPr>
          <a:xfrm>
            <a:off x="429768" y="1426464"/>
            <a:ext cx="420624" cy="420624"/>
          </a:xfrm>
          <a:prstGeom prst="ellipse">
            <a:avLst/>
          </a:prstGeom>
          <a:solidFill>
            <a:srgbClr val="028090"/>
          </a:solidFill>
          <a:ln w="12700">
            <a:solidFill>
              <a:srgbClr val="028090"/>
            </a:solidFill>
            <a:prstDash val="solid"/>
          </a:ln>
        </p:spPr>
      </p:sp>
      <p:sp>
        <p:nvSpPr>
          <p:cNvPr id="8" name="Text 6"/>
          <p:cNvSpPr/>
          <p:nvPr/>
        </p:nvSpPr>
        <p:spPr>
          <a:xfrm>
            <a:off x="429768" y="1426464"/>
            <a:ext cx="420624" cy="420624"/>
          </a:xfrm>
          <a:prstGeom prst="rect">
            <a:avLst/>
          </a:prstGeom>
          <a:noFill/>
          <a:ln/>
        </p:spPr>
        <p:txBody>
          <a:bodyPr wrap="square" lIns="0" tIns="0" rIns="0" bIns="0" rtlCol="0" anchor="ctr"/>
          <a:lstStyle/>
          <a:p>
            <a:pPr algn="ctr" indent="0" marL="0">
              <a:buNone/>
            </a:pPr>
            <a:r>
              <a:rPr lang="en-US" sz="1300" b="1" dirty="0">
                <a:solidFill>
                  <a:srgbClr val="141D30"/>
                </a:solidFill>
              </a:rPr>
              <a:t>01</a:t>
            </a:r>
            <a:endParaRPr lang="en-US" sz="1300" dirty="0"/>
          </a:p>
        </p:txBody>
      </p:sp>
      <p:sp>
        <p:nvSpPr>
          <p:cNvPr id="9" name="Text 7"/>
          <p:cNvSpPr/>
          <p:nvPr/>
        </p:nvSpPr>
        <p:spPr>
          <a:xfrm>
            <a:off x="923544" y="1453896"/>
            <a:ext cx="1225296" cy="402336"/>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Deploy</a:t>
            </a:r>
            <a:endParaRPr lang="en-US" sz="1400" dirty="0"/>
          </a:p>
        </p:txBody>
      </p:sp>
      <p:sp>
        <p:nvSpPr>
          <p:cNvPr id="10" name="Text 8"/>
          <p:cNvSpPr/>
          <p:nvPr/>
        </p:nvSpPr>
        <p:spPr>
          <a:xfrm>
            <a:off x="429768" y="1938528"/>
            <a:ext cx="1719072" cy="1152144"/>
          </a:xfrm>
          <a:prstGeom prst="rect">
            <a:avLst/>
          </a:prstGeom>
          <a:noFill/>
          <a:ln/>
        </p:spPr>
        <p:txBody>
          <a:bodyPr wrap="square" lIns="0" tIns="0" rIns="0" bIns="0" rtlCol="0" anchor="ctr"/>
          <a:lstStyle/>
          <a:p>
            <a:pPr indent="0" marL="0">
              <a:buNone/>
            </a:pPr>
            <a:r>
              <a:rPr lang="en-US" sz="1100" dirty="0">
                <a:solidFill>
                  <a:srgbClr val="BBBBBB"/>
                </a:solidFill>
              </a:rPr>
              <a:t>Real-time scoring.</a:t>
            </a:r>
            <a:endParaRPr lang="en-US" sz="1100" dirty="0"/>
          </a:p>
          <a:p>
            <a:pPr indent="0" marL="0">
              <a:buNone/>
            </a:pPr>
            <a:r>
              <a:rPr lang="en-US" sz="1100" dirty="0">
                <a:solidFill>
                  <a:srgbClr val="BBBBBB"/>
                </a:solidFill>
              </a:rPr>
              <a:t>Decisions in production.</a:t>
            </a:r>
            <a:endParaRPr lang="en-US" sz="1100" dirty="0"/>
          </a:p>
        </p:txBody>
      </p:sp>
      <p:sp>
        <p:nvSpPr>
          <p:cNvPr id="11" name="Text 9"/>
          <p:cNvSpPr/>
          <p:nvPr/>
        </p:nvSpPr>
        <p:spPr>
          <a:xfrm>
            <a:off x="2258568" y="2029968"/>
            <a:ext cx="274320" cy="347472"/>
          </a:xfrm>
          <a:prstGeom prst="rect">
            <a:avLst/>
          </a:prstGeom>
          <a:noFill/>
          <a:ln/>
        </p:spPr>
        <p:txBody>
          <a:bodyPr wrap="square" lIns="0" tIns="0" rIns="0" bIns="0" rtlCol="0" anchor="ctr"/>
          <a:lstStyle/>
          <a:p>
            <a:pPr algn="ctr" indent="0" marL="0">
              <a:buNone/>
            </a:pPr>
            <a:r>
              <a:rPr lang="en-US" sz="2000" b="1" dirty="0">
                <a:solidFill>
                  <a:srgbClr val="028090"/>
                </a:solidFill>
              </a:rPr>
              <a:t>→</a:t>
            </a:r>
            <a:endParaRPr lang="en-US" sz="2000" dirty="0"/>
          </a:p>
        </p:txBody>
      </p:sp>
      <p:sp>
        <p:nvSpPr>
          <p:cNvPr id="12" name="Shape 10"/>
          <p:cNvSpPr/>
          <p:nvPr/>
        </p:nvSpPr>
        <p:spPr>
          <a:xfrm>
            <a:off x="2532888" y="1261872"/>
            <a:ext cx="1938528" cy="1920240"/>
          </a:xfrm>
          <a:prstGeom prst="rect">
            <a:avLst/>
          </a:prstGeom>
          <a:solidFill>
            <a:srgbClr val="0A2010"/>
          </a:solidFill>
          <a:ln w="12700">
            <a:solidFill>
              <a:srgbClr val="27AE60"/>
            </a:solidFill>
            <a:prstDash val="solid"/>
          </a:ln>
          <a:effectLst>
            <a:outerShdw sx="100000" sy="100000" kx="0" ky="0" algn="bl" rotWithShape="0" blurRad="63500" dist="25400" dir="8100000">
              <a:srgbClr val="000000">
                <a:alpha val="8000"/>
              </a:srgbClr>
            </a:outerShdw>
          </a:effectLst>
        </p:spPr>
      </p:sp>
      <p:sp>
        <p:nvSpPr>
          <p:cNvPr id="13" name="Shape 11"/>
          <p:cNvSpPr/>
          <p:nvPr/>
        </p:nvSpPr>
        <p:spPr>
          <a:xfrm>
            <a:off x="2532888" y="1261872"/>
            <a:ext cx="1938528" cy="91440"/>
          </a:xfrm>
          <a:prstGeom prst="rect">
            <a:avLst/>
          </a:prstGeom>
          <a:solidFill>
            <a:srgbClr val="27AE60"/>
          </a:solidFill>
          <a:ln w="12700">
            <a:solidFill>
              <a:srgbClr val="27AE60"/>
            </a:solidFill>
            <a:prstDash val="solid"/>
          </a:ln>
        </p:spPr>
      </p:sp>
      <p:sp>
        <p:nvSpPr>
          <p:cNvPr id="14" name="Shape 12"/>
          <p:cNvSpPr/>
          <p:nvPr/>
        </p:nvSpPr>
        <p:spPr>
          <a:xfrm>
            <a:off x="2642616" y="1426464"/>
            <a:ext cx="420624" cy="420624"/>
          </a:xfrm>
          <a:prstGeom prst="ellipse">
            <a:avLst/>
          </a:prstGeom>
          <a:solidFill>
            <a:srgbClr val="27AE60"/>
          </a:solidFill>
          <a:ln w="12700">
            <a:solidFill>
              <a:srgbClr val="27AE60"/>
            </a:solidFill>
            <a:prstDash val="solid"/>
          </a:ln>
        </p:spPr>
      </p:sp>
      <p:sp>
        <p:nvSpPr>
          <p:cNvPr id="15" name="Text 13"/>
          <p:cNvSpPr/>
          <p:nvPr/>
        </p:nvSpPr>
        <p:spPr>
          <a:xfrm>
            <a:off x="2642616" y="1426464"/>
            <a:ext cx="420624" cy="420624"/>
          </a:xfrm>
          <a:prstGeom prst="rect">
            <a:avLst/>
          </a:prstGeom>
          <a:noFill/>
          <a:ln/>
        </p:spPr>
        <p:txBody>
          <a:bodyPr wrap="square" lIns="0" tIns="0" rIns="0" bIns="0" rtlCol="0" anchor="ctr"/>
          <a:lstStyle/>
          <a:p>
            <a:pPr algn="ctr" indent="0" marL="0">
              <a:buNone/>
            </a:pPr>
            <a:r>
              <a:rPr lang="en-US" sz="1300" b="1" dirty="0">
                <a:solidFill>
                  <a:srgbClr val="141D30"/>
                </a:solidFill>
              </a:rPr>
              <a:t>02</a:t>
            </a:r>
            <a:endParaRPr lang="en-US" sz="1300" dirty="0"/>
          </a:p>
        </p:txBody>
      </p:sp>
      <p:sp>
        <p:nvSpPr>
          <p:cNvPr id="16" name="Text 14"/>
          <p:cNvSpPr/>
          <p:nvPr/>
        </p:nvSpPr>
        <p:spPr>
          <a:xfrm>
            <a:off x="3136392" y="1453896"/>
            <a:ext cx="1225296" cy="402336"/>
          </a:xfrm>
          <a:prstGeom prst="rect">
            <a:avLst/>
          </a:prstGeom>
          <a:noFill/>
          <a:ln/>
        </p:spPr>
        <p:txBody>
          <a:bodyPr wrap="square" lIns="0" tIns="0" rIns="0" bIns="0"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Observe</a:t>
            </a:r>
            <a:endParaRPr lang="en-US" sz="1400" dirty="0"/>
          </a:p>
        </p:txBody>
      </p:sp>
      <p:sp>
        <p:nvSpPr>
          <p:cNvPr id="17" name="Text 15"/>
          <p:cNvSpPr/>
          <p:nvPr/>
        </p:nvSpPr>
        <p:spPr>
          <a:xfrm>
            <a:off x="2642616" y="1938528"/>
            <a:ext cx="1719072" cy="1152144"/>
          </a:xfrm>
          <a:prstGeom prst="rect">
            <a:avLst/>
          </a:prstGeom>
          <a:noFill/>
          <a:ln/>
        </p:spPr>
        <p:txBody>
          <a:bodyPr wrap="square" lIns="0" tIns="0" rIns="0" bIns="0" rtlCol="0" anchor="ctr"/>
          <a:lstStyle/>
          <a:p>
            <a:pPr indent="0" marL="0">
              <a:buNone/>
            </a:pPr>
            <a:r>
              <a:rPr lang="en-US" sz="1100" dirty="0">
                <a:solidFill>
                  <a:srgbClr val="BBBBBB"/>
                </a:solidFill>
              </a:rPr>
              <a:t>Collect actual outcomes.</a:t>
            </a:r>
            <a:endParaRPr lang="en-US" sz="1100" dirty="0"/>
          </a:p>
          <a:p>
            <a:pPr indent="0" marL="0">
              <a:buNone/>
            </a:pPr>
            <a:r>
              <a:rPr lang="en-US" sz="1100" dirty="0">
                <a:solidFill>
                  <a:srgbClr val="BBBBBB"/>
                </a:solidFill>
              </a:rPr>
              <a:t>Ground truth emerges.</a:t>
            </a:r>
            <a:endParaRPr lang="en-US" sz="1100" dirty="0"/>
          </a:p>
        </p:txBody>
      </p:sp>
      <p:sp>
        <p:nvSpPr>
          <p:cNvPr id="18" name="Text 16"/>
          <p:cNvSpPr/>
          <p:nvPr/>
        </p:nvSpPr>
        <p:spPr>
          <a:xfrm>
            <a:off x="4471416" y="2029968"/>
            <a:ext cx="274320" cy="347472"/>
          </a:xfrm>
          <a:prstGeom prst="rect">
            <a:avLst/>
          </a:prstGeom>
          <a:noFill/>
          <a:ln/>
        </p:spPr>
        <p:txBody>
          <a:bodyPr wrap="square" lIns="0" tIns="0" rIns="0" bIns="0" rtlCol="0" anchor="ctr"/>
          <a:lstStyle/>
          <a:p>
            <a:pPr algn="ctr" indent="0" marL="0">
              <a:buNone/>
            </a:pPr>
            <a:r>
              <a:rPr lang="en-US" sz="2000" b="1" dirty="0">
                <a:solidFill>
                  <a:srgbClr val="028090"/>
                </a:solidFill>
              </a:rPr>
              <a:t>→</a:t>
            </a:r>
            <a:endParaRPr lang="en-US" sz="2000" dirty="0"/>
          </a:p>
        </p:txBody>
      </p:sp>
      <p:sp>
        <p:nvSpPr>
          <p:cNvPr id="19" name="Shape 17"/>
          <p:cNvSpPr/>
          <p:nvPr/>
        </p:nvSpPr>
        <p:spPr>
          <a:xfrm>
            <a:off x="4745736" y="1261872"/>
            <a:ext cx="1938528" cy="1920240"/>
          </a:xfrm>
          <a:prstGeom prst="rect">
            <a:avLst/>
          </a:prstGeom>
          <a:solidFill>
            <a:srgbClr val="2A1A00"/>
          </a:solidFill>
          <a:ln w="12700">
            <a:solidFill>
              <a:srgbClr val="E67E22"/>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4745736" y="1261872"/>
            <a:ext cx="1938528" cy="91440"/>
          </a:xfrm>
          <a:prstGeom prst="rect">
            <a:avLst/>
          </a:prstGeom>
          <a:solidFill>
            <a:srgbClr val="E67E22"/>
          </a:solidFill>
          <a:ln w="12700">
            <a:solidFill>
              <a:srgbClr val="E67E22"/>
            </a:solidFill>
            <a:prstDash val="solid"/>
          </a:ln>
        </p:spPr>
      </p:sp>
      <p:sp>
        <p:nvSpPr>
          <p:cNvPr id="21" name="Shape 19"/>
          <p:cNvSpPr/>
          <p:nvPr/>
        </p:nvSpPr>
        <p:spPr>
          <a:xfrm>
            <a:off x="4855464" y="1426464"/>
            <a:ext cx="420624" cy="420624"/>
          </a:xfrm>
          <a:prstGeom prst="ellipse">
            <a:avLst/>
          </a:prstGeom>
          <a:solidFill>
            <a:srgbClr val="E67E22"/>
          </a:solidFill>
          <a:ln w="12700">
            <a:solidFill>
              <a:srgbClr val="E67E22"/>
            </a:solidFill>
            <a:prstDash val="solid"/>
          </a:ln>
        </p:spPr>
      </p:sp>
      <p:sp>
        <p:nvSpPr>
          <p:cNvPr id="22" name="Text 20"/>
          <p:cNvSpPr/>
          <p:nvPr/>
        </p:nvSpPr>
        <p:spPr>
          <a:xfrm>
            <a:off x="4855464" y="1426464"/>
            <a:ext cx="420624" cy="420624"/>
          </a:xfrm>
          <a:prstGeom prst="rect">
            <a:avLst/>
          </a:prstGeom>
          <a:noFill/>
          <a:ln/>
        </p:spPr>
        <p:txBody>
          <a:bodyPr wrap="square" lIns="0" tIns="0" rIns="0" bIns="0" rtlCol="0" anchor="ctr"/>
          <a:lstStyle/>
          <a:p>
            <a:pPr algn="ctr" indent="0" marL="0">
              <a:buNone/>
            </a:pPr>
            <a:r>
              <a:rPr lang="en-US" sz="1300" b="1" dirty="0">
                <a:solidFill>
                  <a:srgbClr val="141D30"/>
                </a:solidFill>
              </a:rPr>
              <a:t>03</a:t>
            </a:r>
            <a:endParaRPr lang="en-US" sz="1300" dirty="0"/>
          </a:p>
        </p:txBody>
      </p:sp>
      <p:sp>
        <p:nvSpPr>
          <p:cNvPr id="23" name="Text 21"/>
          <p:cNvSpPr/>
          <p:nvPr/>
        </p:nvSpPr>
        <p:spPr>
          <a:xfrm>
            <a:off x="5349240" y="1453896"/>
            <a:ext cx="1225296" cy="402336"/>
          </a:xfrm>
          <a:prstGeom prst="rect">
            <a:avLst/>
          </a:prstGeom>
          <a:noFill/>
          <a:ln/>
        </p:spPr>
        <p:txBody>
          <a:bodyPr wrap="square" lIns="0" tIns="0" rIns="0" bIns="0" rtlCol="0" anchor="ctr"/>
          <a:lstStyle/>
          <a:p>
            <a:pPr indent="0" marL="0">
              <a:buNone/>
            </a:pPr>
            <a:r>
              <a:rPr lang="en-US" sz="1400" b="1" dirty="0">
                <a:solidFill>
                  <a:srgbClr val="E67E22"/>
                </a:solidFill>
                <a:latin typeface="Georgia" pitchFamily="34" charset="0"/>
                <a:ea typeface="Georgia" pitchFamily="34" charset="-122"/>
                <a:cs typeface="Georgia" pitchFamily="34" charset="-120"/>
              </a:rPr>
              <a:t>Evaluate</a:t>
            </a:r>
            <a:endParaRPr lang="en-US" sz="1400" dirty="0"/>
          </a:p>
        </p:txBody>
      </p:sp>
      <p:sp>
        <p:nvSpPr>
          <p:cNvPr id="24" name="Text 22"/>
          <p:cNvSpPr/>
          <p:nvPr/>
        </p:nvSpPr>
        <p:spPr>
          <a:xfrm>
            <a:off x="4855464" y="1938528"/>
            <a:ext cx="1719072" cy="1152144"/>
          </a:xfrm>
          <a:prstGeom prst="rect">
            <a:avLst/>
          </a:prstGeom>
          <a:noFill/>
          <a:ln/>
        </p:spPr>
        <p:txBody>
          <a:bodyPr wrap="square" lIns="0" tIns="0" rIns="0" bIns="0" rtlCol="0" anchor="ctr"/>
          <a:lstStyle/>
          <a:p>
            <a:pPr indent="0" marL="0">
              <a:buNone/>
            </a:pPr>
            <a:r>
              <a:rPr lang="en-US" sz="1100" dirty="0">
                <a:solidFill>
                  <a:srgbClr val="BBBBBB"/>
                </a:solidFill>
              </a:rPr>
              <a:t>Metrics drifting?</a:t>
            </a:r>
            <a:endParaRPr lang="en-US" sz="1100" dirty="0"/>
          </a:p>
          <a:p>
            <a:pPr indent="0" marL="0">
              <a:buNone/>
            </a:pPr>
            <a:r>
              <a:rPr lang="en-US" sz="1100" dirty="0">
                <a:solidFill>
                  <a:srgbClr val="BBBBBB"/>
                </a:solidFill>
              </a:rPr>
              <a:t>Business tradeoffs shifting?</a:t>
            </a:r>
            <a:endParaRPr lang="en-US" sz="1100" dirty="0"/>
          </a:p>
        </p:txBody>
      </p:sp>
      <p:sp>
        <p:nvSpPr>
          <p:cNvPr id="25" name="Text 23"/>
          <p:cNvSpPr/>
          <p:nvPr/>
        </p:nvSpPr>
        <p:spPr>
          <a:xfrm>
            <a:off x="6684264" y="2029968"/>
            <a:ext cx="274320" cy="347472"/>
          </a:xfrm>
          <a:prstGeom prst="rect">
            <a:avLst/>
          </a:prstGeom>
          <a:noFill/>
          <a:ln/>
        </p:spPr>
        <p:txBody>
          <a:bodyPr wrap="square" lIns="0" tIns="0" rIns="0" bIns="0" rtlCol="0" anchor="ctr"/>
          <a:lstStyle/>
          <a:p>
            <a:pPr algn="ctr" indent="0" marL="0">
              <a:buNone/>
            </a:pPr>
            <a:r>
              <a:rPr lang="en-US" sz="2000" b="1" dirty="0">
                <a:solidFill>
                  <a:srgbClr val="028090"/>
                </a:solidFill>
              </a:rPr>
              <a:t>→</a:t>
            </a:r>
            <a:endParaRPr lang="en-US" sz="2000" dirty="0"/>
          </a:p>
        </p:txBody>
      </p:sp>
      <p:sp>
        <p:nvSpPr>
          <p:cNvPr id="26" name="Shape 24"/>
          <p:cNvSpPr/>
          <p:nvPr/>
        </p:nvSpPr>
        <p:spPr>
          <a:xfrm>
            <a:off x="6958584" y="1261872"/>
            <a:ext cx="1938528" cy="1920240"/>
          </a:xfrm>
          <a:prstGeom prst="rect">
            <a:avLst/>
          </a:prstGeom>
          <a:solidFill>
            <a:srgbClr val="1A0A2A"/>
          </a:solidFill>
          <a:ln w="12700">
            <a:solidFill>
              <a:srgbClr val="5B2C8D"/>
            </a:solidFill>
            <a:prstDash val="solid"/>
          </a:ln>
          <a:effectLst>
            <a:outerShdw sx="100000" sy="100000" kx="0" ky="0" algn="bl" rotWithShape="0" blurRad="63500" dist="25400" dir="8100000">
              <a:srgbClr val="000000">
                <a:alpha val="8000"/>
              </a:srgbClr>
            </a:outerShdw>
          </a:effectLst>
        </p:spPr>
      </p:sp>
      <p:sp>
        <p:nvSpPr>
          <p:cNvPr id="27" name="Shape 25"/>
          <p:cNvSpPr/>
          <p:nvPr/>
        </p:nvSpPr>
        <p:spPr>
          <a:xfrm>
            <a:off x="6958584" y="1261872"/>
            <a:ext cx="1938528" cy="91440"/>
          </a:xfrm>
          <a:prstGeom prst="rect">
            <a:avLst/>
          </a:prstGeom>
          <a:solidFill>
            <a:srgbClr val="5B2C8D"/>
          </a:solidFill>
          <a:ln w="12700">
            <a:solidFill>
              <a:srgbClr val="5B2C8D"/>
            </a:solidFill>
            <a:prstDash val="solid"/>
          </a:ln>
        </p:spPr>
      </p:sp>
      <p:sp>
        <p:nvSpPr>
          <p:cNvPr id="28" name="Shape 26"/>
          <p:cNvSpPr/>
          <p:nvPr/>
        </p:nvSpPr>
        <p:spPr>
          <a:xfrm>
            <a:off x="7068312" y="1426464"/>
            <a:ext cx="420624" cy="420624"/>
          </a:xfrm>
          <a:prstGeom prst="ellipse">
            <a:avLst/>
          </a:prstGeom>
          <a:solidFill>
            <a:srgbClr val="5B2C8D"/>
          </a:solidFill>
          <a:ln w="12700">
            <a:solidFill>
              <a:srgbClr val="5B2C8D"/>
            </a:solidFill>
            <a:prstDash val="solid"/>
          </a:ln>
        </p:spPr>
      </p:sp>
      <p:sp>
        <p:nvSpPr>
          <p:cNvPr id="29" name="Text 27"/>
          <p:cNvSpPr/>
          <p:nvPr/>
        </p:nvSpPr>
        <p:spPr>
          <a:xfrm>
            <a:off x="7068312" y="1426464"/>
            <a:ext cx="420624" cy="420624"/>
          </a:xfrm>
          <a:prstGeom prst="rect">
            <a:avLst/>
          </a:prstGeom>
          <a:noFill/>
          <a:ln/>
        </p:spPr>
        <p:txBody>
          <a:bodyPr wrap="square" lIns="0" tIns="0" rIns="0" bIns="0" rtlCol="0" anchor="ctr"/>
          <a:lstStyle/>
          <a:p>
            <a:pPr algn="ctr" indent="0" marL="0">
              <a:buNone/>
            </a:pPr>
            <a:r>
              <a:rPr lang="en-US" sz="1300" b="1" dirty="0">
                <a:solidFill>
                  <a:srgbClr val="141D30"/>
                </a:solidFill>
              </a:rPr>
              <a:t>04</a:t>
            </a:r>
            <a:endParaRPr lang="en-US" sz="1300" dirty="0"/>
          </a:p>
        </p:txBody>
      </p:sp>
      <p:sp>
        <p:nvSpPr>
          <p:cNvPr id="30" name="Text 28"/>
          <p:cNvSpPr/>
          <p:nvPr/>
        </p:nvSpPr>
        <p:spPr>
          <a:xfrm>
            <a:off x="7562088" y="1453896"/>
            <a:ext cx="1225296" cy="402336"/>
          </a:xfrm>
          <a:prstGeom prst="rect">
            <a:avLst/>
          </a:prstGeom>
          <a:noFill/>
          <a:ln/>
        </p:spPr>
        <p:txBody>
          <a:bodyPr wrap="square" lIns="0" tIns="0" rIns="0" bIns="0" rtlCol="0" anchor="ctr"/>
          <a:lstStyle/>
          <a:p>
            <a:pPr indent="0" marL="0">
              <a:buNone/>
            </a:pPr>
            <a:r>
              <a:rPr lang="en-US" sz="1400" b="1" dirty="0">
                <a:solidFill>
                  <a:srgbClr val="5B2C8D"/>
                </a:solidFill>
                <a:latin typeface="Georgia" pitchFamily="34" charset="0"/>
                <a:ea typeface="Georgia" pitchFamily="34" charset="-122"/>
                <a:cs typeface="Georgia" pitchFamily="34" charset="-120"/>
              </a:rPr>
              <a:t>Retrain</a:t>
            </a:r>
            <a:endParaRPr lang="en-US" sz="1400" dirty="0"/>
          </a:p>
        </p:txBody>
      </p:sp>
      <p:sp>
        <p:nvSpPr>
          <p:cNvPr id="31" name="Text 29"/>
          <p:cNvSpPr/>
          <p:nvPr/>
        </p:nvSpPr>
        <p:spPr>
          <a:xfrm>
            <a:off x="7068312" y="1938528"/>
            <a:ext cx="1719072" cy="1152144"/>
          </a:xfrm>
          <a:prstGeom prst="rect">
            <a:avLst/>
          </a:prstGeom>
          <a:noFill/>
          <a:ln/>
        </p:spPr>
        <p:txBody>
          <a:bodyPr wrap="square" lIns="0" tIns="0" rIns="0" bIns="0" rtlCol="0" anchor="ctr"/>
          <a:lstStyle/>
          <a:p>
            <a:pPr indent="0" marL="0">
              <a:buNone/>
            </a:pPr>
            <a:r>
              <a:rPr lang="en-US" sz="1100" dirty="0">
                <a:solidFill>
                  <a:srgbClr val="BBBBBB"/>
                </a:solidFill>
              </a:rPr>
              <a:t>New signal flows back.</a:t>
            </a:r>
            <a:endParaRPr lang="en-US" sz="1100" dirty="0"/>
          </a:p>
          <a:p>
            <a:pPr indent="0" marL="0">
              <a:buNone/>
            </a:pPr>
            <a:r>
              <a:rPr lang="en-US" sz="1100" dirty="0">
                <a:solidFill>
                  <a:srgbClr val="BBBBBB"/>
                </a:solidFill>
              </a:rPr>
              <a:t>Model improves. Repeat.</a:t>
            </a:r>
            <a:endParaRPr lang="en-US" sz="1100" dirty="0"/>
          </a:p>
        </p:txBody>
      </p:sp>
      <p:sp>
        <p:nvSpPr>
          <p:cNvPr id="32" name="Shape 30"/>
          <p:cNvSpPr/>
          <p:nvPr/>
        </p:nvSpPr>
        <p:spPr>
          <a:xfrm>
            <a:off x="320040" y="3273552"/>
            <a:ext cx="8503920" cy="256032"/>
          </a:xfrm>
          <a:prstGeom prst="rect">
            <a:avLst/>
          </a:prstGeom>
          <a:solidFill>
            <a:srgbClr val="028090"/>
          </a:solidFill>
          <a:ln w="12700">
            <a:solidFill>
              <a:srgbClr val="028090"/>
            </a:solidFill>
            <a:prstDash val="solid"/>
          </a:ln>
        </p:spPr>
      </p:sp>
      <p:sp>
        <p:nvSpPr>
          <p:cNvPr id="33" name="Text 31"/>
          <p:cNvSpPr/>
          <p:nvPr/>
        </p:nvSpPr>
        <p:spPr>
          <a:xfrm>
            <a:off x="457200" y="3291840"/>
            <a:ext cx="8321040" cy="219456"/>
          </a:xfrm>
          <a:prstGeom prst="rect">
            <a:avLst/>
          </a:prstGeom>
          <a:noFill/>
          <a:ln/>
        </p:spPr>
        <p:txBody>
          <a:bodyPr wrap="square" lIns="0" tIns="0" rIns="0" bIns="0" rtlCol="0" anchor="ctr"/>
          <a:lstStyle/>
          <a:p>
            <a:pPr algn="ctr" indent="0" marL="0">
              <a:buNone/>
            </a:pPr>
            <a:r>
              <a:rPr lang="en-US" sz="1100" b="1" dirty="0">
                <a:solidFill>
                  <a:srgbClr val="141D30"/>
                </a:solidFill>
              </a:rPr>
              <a:t>⟳   Every loop makes the system smarter — this is what separates a model from a system.</a:t>
            </a:r>
            <a:endParaRPr lang="en-US" sz="1100" dirty="0"/>
          </a:p>
        </p:txBody>
      </p:sp>
      <p:sp>
        <p:nvSpPr>
          <p:cNvPr id="34" name="Shape 32"/>
          <p:cNvSpPr/>
          <p:nvPr/>
        </p:nvSpPr>
        <p:spPr>
          <a:xfrm>
            <a:off x="320040" y="3611880"/>
            <a:ext cx="4114800" cy="914400"/>
          </a:xfrm>
          <a:prstGeom prst="rect">
            <a:avLst/>
          </a:prstGeom>
          <a:solidFill>
            <a:srgbClr val="200A0A"/>
          </a:solidFill>
          <a:ln w="12700">
            <a:solidFill>
              <a:srgbClr val="C0392B"/>
            </a:solidFill>
            <a:prstDash val="solid"/>
          </a:ln>
        </p:spPr>
      </p:sp>
      <p:sp>
        <p:nvSpPr>
          <p:cNvPr id="35" name="Text 33"/>
          <p:cNvSpPr/>
          <p:nvPr/>
        </p:nvSpPr>
        <p:spPr>
          <a:xfrm>
            <a:off x="457200" y="3657600"/>
            <a:ext cx="3840480" cy="256032"/>
          </a:xfrm>
          <a:prstGeom prst="rect">
            <a:avLst/>
          </a:prstGeom>
          <a:noFill/>
          <a:ln/>
        </p:spPr>
        <p:txBody>
          <a:bodyPr wrap="square" lIns="0" tIns="0" rIns="0" bIns="0" rtlCol="0" anchor="ctr"/>
          <a:lstStyle/>
          <a:p>
            <a:pPr indent="0" marL="0">
              <a:buNone/>
            </a:pPr>
            <a:r>
              <a:rPr lang="en-US" sz="1150" b="1" dirty="0">
                <a:solidFill>
                  <a:srgbClr val="C0392B"/>
                </a:solidFill>
              </a:rPr>
              <a:t>⚠️  The Fraud ML Gotcha</a:t>
            </a:r>
            <a:endParaRPr lang="en-US" sz="1150" dirty="0"/>
          </a:p>
        </p:txBody>
      </p:sp>
      <p:sp>
        <p:nvSpPr>
          <p:cNvPr id="36" name="Text 34"/>
          <p:cNvSpPr/>
          <p:nvPr/>
        </p:nvSpPr>
        <p:spPr>
          <a:xfrm>
            <a:off x="457200" y="3931920"/>
            <a:ext cx="3840480" cy="548640"/>
          </a:xfrm>
          <a:prstGeom prst="rect">
            <a:avLst/>
          </a:prstGeom>
          <a:noFill/>
          <a:ln/>
        </p:spPr>
        <p:txBody>
          <a:bodyPr wrap="square" lIns="0" tIns="0" rIns="0" bIns="0" rtlCol="0" anchor="ctr"/>
          <a:lstStyle/>
          <a:p>
            <a:pPr indent="0" marL="0">
              <a:buNone/>
            </a:pPr>
            <a:r>
              <a:rPr lang="en-US" sz="1050" dirty="0">
                <a:solidFill>
                  <a:srgbClr val="CCCCCC"/>
                </a:solidFill>
              </a:rPr>
              <a:t>When you block a transaction, you never learn if it was actually fraud. Your ground truth is systematically incomplete.</a:t>
            </a:r>
            <a:endParaRPr lang="en-US" sz="1050" dirty="0"/>
          </a:p>
        </p:txBody>
      </p:sp>
      <p:sp>
        <p:nvSpPr>
          <p:cNvPr id="37" name="Shape 35"/>
          <p:cNvSpPr/>
          <p:nvPr/>
        </p:nvSpPr>
        <p:spPr>
          <a:xfrm>
            <a:off x="4709160" y="3611880"/>
            <a:ext cx="4114800" cy="914400"/>
          </a:xfrm>
          <a:prstGeom prst="rect">
            <a:avLst/>
          </a:prstGeom>
          <a:solidFill>
            <a:srgbClr val="0A1A0A"/>
          </a:solidFill>
          <a:ln w="12700">
            <a:solidFill>
              <a:srgbClr val="02C39A"/>
            </a:solidFill>
            <a:prstDash val="solid"/>
          </a:ln>
        </p:spPr>
      </p:sp>
      <p:sp>
        <p:nvSpPr>
          <p:cNvPr id="38" name="Text 36"/>
          <p:cNvSpPr/>
          <p:nvPr/>
        </p:nvSpPr>
        <p:spPr>
          <a:xfrm>
            <a:off x="4846320" y="3657600"/>
            <a:ext cx="3840480" cy="256032"/>
          </a:xfrm>
          <a:prstGeom prst="rect">
            <a:avLst/>
          </a:prstGeom>
          <a:noFill/>
          <a:ln/>
        </p:spPr>
        <p:txBody>
          <a:bodyPr wrap="square" lIns="0" tIns="0" rIns="0" bIns="0" rtlCol="0" anchor="ctr"/>
          <a:lstStyle/>
          <a:p>
            <a:pPr indent="0" marL="0">
              <a:buNone/>
            </a:pPr>
            <a:r>
              <a:rPr lang="en-US" sz="1150" b="1" dirty="0">
                <a:solidFill>
                  <a:srgbClr val="02C39A"/>
                </a:solidFill>
              </a:rPr>
              <a:t>💡  The Data Flywheel</a:t>
            </a:r>
            <a:endParaRPr lang="en-US" sz="1150" dirty="0"/>
          </a:p>
        </p:txBody>
      </p:sp>
      <p:sp>
        <p:nvSpPr>
          <p:cNvPr id="39" name="Text 37"/>
          <p:cNvSpPr/>
          <p:nvPr/>
        </p:nvSpPr>
        <p:spPr>
          <a:xfrm>
            <a:off x="4846320" y="3931920"/>
            <a:ext cx="3840480" cy="548640"/>
          </a:xfrm>
          <a:prstGeom prst="rect">
            <a:avLst/>
          </a:prstGeom>
          <a:noFill/>
          <a:ln/>
        </p:spPr>
        <p:txBody>
          <a:bodyPr wrap="square" lIns="0" tIns="0" rIns="0" bIns="0" rtlCol="0" anchor="ctr"/>
          <a:lstStyle/>
          <a:p>
            <a:pPr indent="0" marL="0">
              <a:buNone/>
            </a:pPr>
            <a:r>
              <a:rPr lang="en-US" sz="1050" dirty="0">
                <a:solidFill>
                  <a:srgbClr val="CCCCCC"/>
                </a:solidFill>
              </a:rPr>
              <a:t>More predictions → more outcomes → better training → more accurate model → more trust → more deployment.</a:t>
            </a:r>
            <a:endParaRPr lang="en-US" sz="1050" dirty="0"/>
          </a:p>
        </p:txBody>
      </p:sp>
      <p:sp>
        <p:nvSpPr>
          <p:cNvPr id="41" name="Text 38"/>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D4E"/>
          </a:solidFill>
          <a:ln w="12700">
            <a:solidFill>
              <a:srgbClr val="1E2D4E"/>
            </a:solidFill>
            <a:prstDash val="solid"/>
          </a:ln>
        </p:spPr>
      </p:sp>
      <p:sp>
        <p:nvSpPr>
          <p:cNvPr id="3" name="Text 1"/>
          <p:cNvSpPr/>
          <p:nvPr/>
        </p:nvSpPr>
        <p:spPr>
          <a:xfrm>
            <a:off x="365760" y="64008"/>
            <a:ext cx="8412480" cy="384048"/>
          </a:xfrm>
          <a:prstGeom prst="rect">
            <a:avLst/>
          </a:prstGeom>
          <a:noFill/>
          <a:ln/>
        </p:spPr>
        <p:txBody>
          <a:bodyPr wrap="square" lIns="0" tIns="0" rIns="0" bIns="0" rtlCol="0" anchor="ctr"/>
          <a:lstStyle/>
          <a:p>
            <a:pPr algn="l" indent="0" marL="0">
              <a:buNone/>
            </a:pPr>
            <a:r>
              <a:rPr lang="en-US" sz="1100" b="1" spc="400" kern="0" dirty="0">
                <a:solidFill>
                  <a:srgbClr val="02C39A"/>
                </a:solidFill>
              </a:rPr>
              <a:t>WHAT THIS MEANS FOR YOU — FOUR QUESTIONS TO ALWAYS ASK</a:t>
            </a:r>
            <a:endParaRPr lang="en-US" sz="1100" dirty="0"/>
          </a:p>
        </p:txBody>
      </p:sp>
      <p:sp>
        <p:nvSpPr>
          <p:cNvPr id="4" name="Shape 2"/>
          <p:cNvSpPr/>
          <p:nvPr/>
        </p:nvSpPr>
        <p:spPr>
          <a:xfrm>
            <a:off x="0" y="502920"/>
            <a:ext cx="182880" cy="4640580"/>
          </a:xfrm>
          <a:prstGeom prst="rect">
            <a:avLst/>
          </a:prstGeom>
          <a:solidFill>
            <a:srgbClr val="028090"/>
          </a:solidFill>
          <a:ln w="12700">
            <a:solidFill>
              <a:srgbClr val="028090"/>
            </a:solidFill>
            <a:prstDash val="solid"/>
          </a:ln>
        </p:spPr>
      </p:sp>
      <p:sp>
        <p:nvSpPr>
          <p:cNvPr id="5" name="Text 3"/>
          <p:cNvSpPr/>
          <p:nvPr/>
        </p:nvSpPr>
        <p:spPr>
          <a:xfrm>
            <a:off x="411480" y="658368"/>
            <a:ext cx="8321040" cy="384048"/>
          </a:xfrm>
          <a:prstGeom prst="rect">
            <a:avLst/>
          </a:prstGeom>
          <a:noFill/>
          <a:ln/>
        </p:spPr>
        <p:txBody>
          <a:bodyPr wrap="square" lIns="0" tIns="0" rIns="0" bIns="0" rtlCol="0" anchor="ctr"/>
          <a:lstStyle/>
          <a:p>
            <a:pPr indent="0" marL="0">
              <a:buNone/>
            </a:pPr>
            <a:r>
              <a:rPr lang="en-US" sz="1700" i="1" dirty="0">
                <a:solidFill>
                  <a:srgbClr val="1A2535"/>
                </a:solidFill>
                <a:latin typeface="Georgia" pitchFamily="34" charset="0"/>
                <a:ea typeface="Georgia" pitchFamily="34" charset="-122"/>
                <a:cs typeface="Georgia" pitchFamily="34" charset="-120"/>
              </a:rPr>
              <a:t>You don't need to know the math. You need to ask the right questions.</a:t>
            </a:r>
            <a:endParaRPr lang="en-US" sz="1700" dirty="0"/>
          </a:p>
        </p:txBody>
      </p:sp>
      <p:sp>
        <p:nvSpPr>
          <p:cNvPr id="6" name="Shape 4"/>
          <p:cNvSpPr/>
          <p:nvPr/>
        </p:nvSpPr>
        <p:spPr>
          <a:xfrm>
            <a:off x="292608" y="1143000"/>
            <a:ext cx="8558784" cy="877824"/>
          </a:xfrm>
          <a:prstGeom prst="rect">
            <a:avLst/>
          </a:prstGeom>
          <a:solidFill>
            <a:srgbClr val="EAF4FD"/>
          </a:solidFill>
          <a:ln w="12700">
            <a:solidFill>
              <a:srgbClr val="028090"/>
            </a:solidFill>
            <a:prstDash val="solid"/>
          </a:ln>
        </p:spPr>
      </p:sp>
      <p:sp>
        <p:nvSpPr>
          <p:cNvPr id="7" name="Shape 5"/>
          <p:cNvSpPr/>
          <p:nvPr/>
        </p:nvSpPr>
        <p:spPr>
          <a:xfrm>
            <a:off x="292608" y="1143000"/>
            <a:ext cx="128016" cy="877824"/>
          </a:xfrm>
          <a:prstGeom prst="rect">
            <a:avLst/>
          </a:prstGeom>
          <a:solidFill>
            <a:srgbClr val="028090"/>
          </a:solidFill>
          <a:ln w="12700">
            <a:solidFill>
              <a:srgbClr val="028090"/>
            </a:solidFill>
            <a:prstDash val="solid"/>
          </a:ln>
        </p:spPr>
      </p:sp>
      <p:sp>
        <p:nvSpPr>
          <p:cNvPr id="8" name="Text 6"/>
          <p:cNvSpPr/>
          <p:nvPr/>
        </p:nvSpPr>
        <p:spPr>
          <a:xfrm>
            <a:off x="530352" y="1197864"/>
            <a:ext cx="8138160" cy="310896"/>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What recipe are you using — and is it the right question?</a:t>
            </a:r>
            <a:endParaRPr lang="en-US" sz="1350" dirty="0"/>
          </a:p>
        </p:txBody>
      </p:sp>
      <p:sp>
        <p:nvSpPr>
          <p:cNvPr id="9" name="Text 7"/>
          <p:cNvSpPr/>
          <p:nvPr/>
        </p:nvSpPr>
        <p:spPr>
          <a:xfrm>
            <a:off x="530352" y="1527048"/>
            <a:ext cx="5212080" cy="237744"/>
          </a:xfrm>
          <a:prstGeom prst="rect">
            <a:avLst/>
          </a:prstGeom>
          <a:noFill/>
          <a:ln/>
        </p:spPr>
        <p:txBody>
          <a:bodyPr wrap="square" lIns="0" tIns="0" rIns="0" bIns="0" rtlCol="0" anchor="ctr"/>
          <a:lstStyle/>
          <a:p>
            <a:pPr indent="0" marL="0">
              <a:buNone/>
            </a:pPr>
            <a:r>
              <a:rPr lang="en-US" sz="1050" dirty="0">
                <a:solidFill>
                  <a:srgbClr val="4A5568"/>
                </a:solidFill>
              </a:rPr>
              <a:t>Why: A model that clusters when it should classify, or predicts when the real need is to rank, gets the wrong answer regardless of how well it's built.</a:t>
            </a:r>
            <a:endParaRPr lang="en-US" sz="1050" dirty="0"/>
          </a:p>
        </p:txBody>
      </p:sp>
      <p:sp>
        <p:nvSpPr>
          <p:cNvPr id="10" name="Text 8"/>
          <p:cNvSpPr/>
          <p:nvPr/>
        </p:nvSpPr>
        <p:spPr>
          <a:xfrm>
            <a:off x="530352" y="1764792"/>
            <a:ext cx="8138160" cy="201168"/>
          </a:xfrm>
          <a:prstGeom prst="rect">
            <a:avLst/>
          </a:prstGeom>
          <a:noFill/>
          <a:ln/>
        </p:spPr>
        <p:txBody>
          <a:bodyPr wrap="square" lIns="0" tIns="0" rIns="0" bIns="0" rtlCol="0" anchor="ctr"/>
          <a:lstStyle/>
          <a:p>
            <a:pPr indent="0" marL="0">
              <a:buNone/>
            </a:pPr>
            <a:r>
              <a:rPr lang="en-US" sz="1000" i="1" dirty="0">
                <a:solidFill>
                  <a:srgbClr val="028090"/>
                </a:solidFill>
              </a:rPr>
              <a:t>'We built a churn model.' → Is it predicting probability, classifying at-risk/not, or ranking by urgency?</a:t>
            </a:r>
            <a:endParaRPr lang="en-US" sz="1000" dirty="0"/>
          </a:p>
        </p:txBody>
      </p:sp>
      <p:sp>
        <p:nvSpPr>
          <p:cNvPr id="11" name="Shape 9"/>
          <p:cNvSpPr/>
          <p:nvPr/>
        </p:nvSpPr>
        <p:spPr>
          <a:xfrm>
            <a:off x="292608" y="2112264"/>
            <a:ext cx="8558784" cy="877824"/>
          </a:xfrm>
          <a:prstGeom prst="rect">
            <a:avLst/>
          </a:prstGeom>
          <a:solidFill>
            <a:srgbClr val="FFF4EB"/>
          </a:solidFill>
          <a:ln w="12700">
            <a:solidFill>
              <a:srgbClr val="E67E22"/>
            </a:solidFill>
            <a:prstDash val="solid"/>
          </a:ln>
        </p:spPr>
      </p:sp>
      <p:sp>
        <p:nvSpPr>
          <p:cNvPr id="12" name="Shape 10"/>
          <p:cNvSpPr/>
          <p:nvPr/>
        </p:nvSpPr>
        <p:spPr>
          <a:xfrm>
            <a:off x="292608" y="2112264"/>
            <a:ext cx="128016" cy="877824"/>
          </a:xfrm>
          <a:prstGeom prst="rect">
            <a:avLst/>
          </a:prstGeom>
          <a:solidFill>
            <a:srgbClr val="E67E22"/>
          </a:solidFill>
          <a:ln w="12700">
            <a:solidFill>
              <a:srgbClr val="E67E22"/>
            </a:solidFill>
            <a:prstDash val="solid"/>
          </a:ln>
        </p:spPr>
      </p:sp>
      <p:sp>
        <p:nvSpPr>
          <p:cNvPr id="13" name="Text 11"/>
          <p:cNvSpPr/>
          <p:nvPr/>
        </p:nvSpPr>
        <p:spPr>
          <a:xfrm>
            <a:off x="530352" y="2167128"/>
            <a:ext cx="8138160" cy="310896"/>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What did you train it on — and what's missing from that data?</a:t>
            </a:r>
            <a:endParaRPr lang="en-US" sz="1350" dirty="0"/>
          </a:p>
        </p:txBody>
      </p:sp>
      <p:sp>
        <p:nvSpPr>
          <p:cNvPr id="14" name="Text 12"/>
          <p:cNvSpPr/>
          <p:nvPr/>
        </p:nvSpPr>
        <p:spPr>
          <a:xfrm>
            <a:off x="530352" y="2496312"/>
            <a:ext cx="5212080" cy="237744"/>
          </a:xfrm>
          <a:prstGeom prst="rect">
            <a:avLst/>
          </a:prstGeom>
          <a:noFill/>
          <a:ln/>
        </p:spPr>
        <p:txBody>
          <a:bodyPr wrap="square" lIns="0" tIns="0" rIns="0" bIns="0" rtlCol="0" anchor="ctr"/>
          <a:lstStyle/>
          <a:p>
            <a:pPr indent="0" marL="0">
              <a:buNone/>
            </a:pPr>
            <a:r>
              <a:rPr lang="en-US" sz="1050" dirty="0">
                <a:solidFill>
                  <a:srgbClr val="4A5568"/>
                </a:solidFill>
              </a:rPr>
              <a:t>Why: The sampling question. Who chose the data? What time period? Was the training set balanced? What fraud or failure was never observed?</a:t>
            </a:r>
            <a:endParaRPr lang="en-US" sz="1050" dirty="0"/>
          </a:p>
        </p:txBody>
      </p:sp>
      <p:sp>
        <p:nvSpPr>
          <p:cNvPr id="15" name="Text 13"/>
          <p:cNvSpPr/>
          <p:nvPr/>
        </p:nvSpPr>
        <p:spPr>
          <a:xfrm>
            <a:off x="530352" y="2734056"/>
            <a:ext cx="8138160" cy="201168"/>
          </a:xfrm>
          <a:prstGeom prst="rect">
            <a:avLst/>
          </a:prstGeom>
          <a:noFill/>
          <a:ln/>
        </p:spPr>
        <p:txBody>
          <a:bodyPr wrap="square" lIns="0" tIns="0" rIns="0" bIns="0" rtlCol="0" anchor="ctr"/>
          <a:lstStyle/>
          <a:p>
            <a:pPr indent="0" marL="0">
              <a:buNone/>
            </a:pPr>
            <a:r>
              <a:rPr lang="en-US" sz="1000" i="1" dirty="0">
                <a:solidFill>
                  <a:srgbClr val="E67E22"/>
                </a:solidFill>
              </a:rPr>
              <a:t>'Trained on 2021–2023 data.' → Did behavior change post-COVID? Is your rare class represented?</a:t>
            </a:r>
            <a:endParaRPr lang="en-US" sz="1000" dirty="0"/>
          </a:p>
        </p:txBody>
      </p:sp>
      <p:sp>
        <p:nvSpPr>
          <p:cNvPr id="16" name="Shape 14"/>
          <p:cNvSpPr/>
          <p:nvPr/>
        </p:nvSpPr>
        <p:spPr>
          <a:xfrm>
            <a:off x="292608" y="3081528"/>
            <a:ext cx="8558784" cy="877824"/>
          </a:xfrm>
          <a:prstGeom prst="rect">
            <a:avLst/>
          </a:prstGeom>
          <a:solidFill>
            <a:srgbClr val="F5F0FF"/>
          </a:solidFill>
          <a:ln w="12700">
            <a:solidFill>
              <a:srgbClr val="5B2C8D"/>
            </a:solidFill>
            <a:prstDash val="solid"/>
          </a:ln>
        </p:spPr>
      </p:sp>
      <p:sp>
        <p:nvSpPr>
          <p:cNvPr id="17" name="Shape 15"/>
          <p:cNvSpPr/>
          <p:nvPr/>
        </p:nvSpPr>
        <p:spPr>
          <a:xfrm>
            <a:off x="292608" y="3081528"/>
            <a:ext cx="128016" cy="877824"/>
          </a:xfrm>
          <a:prstGeom prst="rect">
            <a:avLst/>
          </a:prstGeom>
          <a:solidFill>
            <a:srgbClr val="5B2C8D"/>
          </a:solidFill>
          <a:ln w="12700">
            <a:solidFill>
              <a:srgbClr val="5B2C8D"/>
            </a:solidFill>
            <a:prstDash val="solid"/>
          </a:ln>
        </p:spPr>
      </p:sp>
      <p:sp>
        <p:nvSpPr>
          <p:cNvPr id="18" name="Text 16"/>
          <p:cNvSpPr/>
          <p:nvPr/>
        </p:nvSpPr>
        <p:spPr>
          <a:xfrm>
            <a:off x="530352" y="3136392"/>
            <a:ext cx="8138160" cy="310896"/>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What are you evaluating — across how many dimensions?</a:t>
            </a:r>
            <a:endParaRPr lang="en-US" sz="1350" dirty="0"/>
          </a:p>
        </p:txBody>
      </p:sp>
      <p:sp>
        <p:nvSpPr>
          <p:cNvPr id="19" name="Text 17"/>
          <p:cNvSpPr/>
          <p:nvPr/>
        </p:nvSpPr>
        <p:spPr>
          <a:xfrm>
            <a:off x="530352" y="3465576"/>
            <a:ext cx="5212080" cy="237744"/>
          </a:xfrm>
          <a:prstGeom prst="rect">
            <a:avLst/>
          </a:prstGeom>
          <a:noFill/>
          <a:ln/>
        </p:spPr>
        <p:txBody>
          <a:bodyPr wrap="square" lIns="0" tIns="0" rIns="0" bIns="0" rtlCol="0" anchor="ctr"/>
          <a:lstStyle/>
          <a:p>
            <a:pPr indent="0" marL="0">
              <a:buNone/>
            </a:pPr>
            <a:r>
              <a:rPr lang="en-US" sz="1050" dirty="0">
                <a:solidFill>
                  <a:srgbClr val="4A5568"/>
                </a:solidFill>
              </a:rPr>
              <a:t>Why: One metric is not evaluation. What's the operational threshold? What's the false positive cost? What happens at 2x scale and 6 months of drift?</a:t>
            </a:r>
            <a:endParaRPr lang="en-US" sz="1050" dirty="0"/>
          </a:p>
        </p:txBody>
      </p:sp>
      <p:sp>
        <p:nvSpPr>
          <p:cNvPr id="20" name="Text 18"/>
          <p:cNvSpPr/>
          <p:nvPr/>
        </p:nvSpPr>
        <p:spPr>
          <a:xfrm>
            <a:off x="530352" y="3703320"/>
            <a:ext cx="8138160" cy="201168"/>
          </a:xfrm>
          <a:prstGeom prst="rect">
            <a:avLst/>
          </a:prstGeom>
          <a:noFill/>
          <a:ln/>
        </p:spPr>
        <p:txBody>
          <a:bodyPr wrap="square" lIns="0" tIns="0" rIns="0" bIns="0" rtlCol="0" anchor="ctr"/>
          <a:lstStyle/>
          <a:p>
            <a:pPr indent="0" marL="0">
              <a:buNone/>
            </a:pPr>
            <a:r>
              <a:rPr lang="en-US" sz="1000" i="1" dirty="0">
                <a:solidFill>
                  <a:srgbClr val="5B2C8D"/>
                </a:solidFill>
              </a:rPr>
              <a:t>'AUC is 0.91.' → What's PR-AUC? What's the threshold? What's the latency? Has it been A/B tested?</a:t>
            </a:r>
            <a:endParaRPr lang="en-US" sz="1000" dirty="0"/>
          </a:p>
        </p:txBody>
      </p:sp>
      <p:sp>
        <p:nvSpPr>
          <p:cNvPr id="21" name="Shape 19"/>
          <p:cNvSpPr/>
          <p:nvPr/>
        </p:nvSpPr>
        <p:spPr>
          <a:xfrm>
            <a:off x="292608" y="4050792"/>
            <a:ext cx="8558784" cy="877824"/>
          </a:xfrm>
          <a:prstGeom prst="rect">
            <a:avLst/>
          </a:prstGeom>
          <a:solidFill>
            <a:srgbClr val="EDFAF4"/>
          </a:solidFill>
          <a:ln w="12700">
            <a:solidFill>
              <a:srgbClr val="02C39A"/>
            </a:solidFill>
            <a:prstDash val="solid"/>
          </a:ln>
        </p:spPr>
      </p:sp>
      <p:sp>
        <p:nvSpPr>
          <p:cNvPr id="22" name="Shape 20"/>
          <p:cNvSpPr/>
          <p:nvPr/>
        </p:nvSpPr>
        <p:spPr>
          <a:xfrm>
            <a:off x="292608" y="4050792"/>
            <a:ext cx="128016" cy="877824"/>
          </a:xfrm>
          <a:prstGeom prst="rect">
            <a:avLst/>
          </a:prstGeom>
          <a:solidFill>
            <a:srgbClr val="02C39A"/>
          </a:solidFill>
          <a:ln w="12700">
            <a:solidFill>
              <a:srgbClr val="02C39A"/>
            </a:solidFill>
            <a:prstDash val="solid"/>
          </a:ln>
        </p:spPr>
      </p:sp>
      <p:sp>
        <p:nvSpPr>
          <p:cNvPr id="23" name="Text 21"/>
          <p:cNvSpPr/>
          <p:nvPr/>
        </p:nvSpPr>
        <p:spPr>
          <a:xfrm>
            <a:off x="530352" y="4105656"/>
            <a:ext cx="8138160" cy="310896"/>
          </a:xfrm>
          <a:prstGeom prst="rect">
            <a:avLst/>
          </a:prstGeom>
          <a:noFill/>
          <a:ln/>
        </p:spPr>
        <p:txBody>
          <a:bodyPr wrap="square" lIns="0" tIns="0" rIns="0" bIns="0" rtlCol="0" anchor="ctr"/>
          <a:lstStyle/>
          <a:p>
            <a:pPr indent="0" marL="0">
              <a:buNone/>
            </a:pPr>
            <a:r>
              <a:rPr lang="en-US" sz="1350" b="1" dirty="0">
                <a:solidFill>
                  <a:srgbClr val="1E2D4E"/>
                </a:solidFill>
                <a:latin typeface="Georgia" pitchFamily="34" charset="0"/>
                <a:ea typeface="Georgia" pitchFamily="34" charset="-122"/>
                <a:cs typeface="Georgia" pitchFamily="34" charset="-120"/>
              </a:rPr>
              <a:t>❓  Can you explain WHY it made that specific decision?</a:t>
            </a:r>
            <a:endParaRPr lang="en-US" sz="1350" dirty="0"/>
          </a:p>
        </p:txBody>
      </p:sp>
      <p:sp>
        <p:nvSpPr>
          <p:cNvPr id="24" name="Text 22"/>
          <p:cNvSpPr/>
          <p:nvPr/>
        </p:nvSpPr>
        <p:spPr>
          <a:xfrm>
            <a:off x="530352" y="4434840"/>
            <a:ext cx="5212080" cy="237744"/>
          </a:xfrm>
          <a:prstGeom prst="rect">
            <a:avLst/>
          </a:prstGeom>
          <a:noFill/>
          <a:ln/>
        </p:spPr>
        <p:txBody>
          <a:bodyPr wrap="square" lIns="0" tIns="0" rIns="0" bIns="0" rtlCol="0" anchor="ctr"/>
          <a:lstStyle/>
          <a:p>
            <a:pPr indent="0" marL="0">
              <a:buNone/>
            </a:pPr>
            <a:r>
              <a:rPr lang="en-US" sz="1050" dirty="0">
                <a:solidFill>
                  <a:srgbClr val="4A5568"/>
                </a:solidFill>
              </a:rPr>
              <a:t>Why: Not 'the model is accurate.' For this customer, this transaction, this moment — what drove the decision? If you can't say, you can't govern it.</a:t>
            </a:r>
            <a:endParaRPr lang="en-US" sz="1050" dirty="0"/>
          </a:p>
        </p:txBody>
      </p:sp>
      <p:sp>
        <p:nvSpPr>
          <p:cNvPr id="25" name="Text 23"/>
          <p:cNvSpPr/>
          <p:nvPr/>
        </p:nvSpPr>
        <p:spPr>
          <a:xfrm>
            <a:off x="530352" y="4672584"/>
            <a:ext cx="8138160" cy="201168"/>
          </a:xfrm>
          <a:prstGeom prst="rect">
            <a:avLst/>
          </a:prstGeom>
          <a:noFill/>
          <a:ln/>
        </p:spPr>
        <p:txBody>
          <a:bodyPr wrap="square" lIns="0" tIns="0" rIns="0" bIns="0" rtlCol="0" anchor="ctr"/>
          <a:lstStyle/>
          <a:p>
            <a:pPr indent="0" marL="0">
              <a:buNone/>
            </a:pPr>
            <a:r>
              <a:rPr lang="en-US" sz="1000" i="1" dirty="0">
                <a:solidFill>
                  <a:srgbClr val="02C39A"/>
                </a:solidFill>
              </a:rPr>
              <a:t>Demand a white-box. 'The AI said so' is not an answer in a regulated industry.</a:t>
            </a:r>
            <a:endParaRPr lang="en-US" sz="1000" dirty="0"/>
          </a:p>
        </p:txBody>
      </p:sp>
      <p:sp>
        <p:nvSpPr>
          <p:cNvPr id="27" name="Text 24"/>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888888"/>
                </a:solidFill>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D30"/>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028090"/>
          </a:solidFill>
          <a:ln w="12700">
            <a:solidFill>
              <a:srgbClr val="028090"/>
            </a:solidFill>
            <a:prstDash val="solid"/>
          </a:ln>
        </p:spPr>
      </p:sp>
      <p:sp>
        <p:nvSpPr>
          <p:cNvPr id="3" name="Shape 1"/>
          <p:cNvSpPr/>
          <p:nvPr/>
        </p:nvSpPr>
        <p:spPr>
          <a:xfrm>
            <a:off x="256032" y="0"/>
            <a:ext cx="91440" cy="5143500"/>
          </a:xfrm>
          <a:prstGeom prst="rect">
            <a:avLst/>
          </a:prstGeom>
          <a:solidFill>
            <a:srgbClr val="02C39A"/>
          </a:solidFill>
          <a:ln w="12700">
            <a:solidFill>
              <a:srgbClr val="02C39A"/>
            </a:solidFill>
            <a:prstDash val="solid"/>
          </a:ln>
        </p:spPr>
      </p:sp>
      <p:sp>
        <p:nvSpPr>
          <p:cNvPr id="4" name="Text 2"/>
          <p:cNvSpPr/>
          <p:nvPr/>
        </p:nvSpPr>
        <p:spPr>
          <a:xfrm>
            <a:off x="566928" y="411480"/>
            <a:ext cx="8321040" cy="804672"/>
          </a:xfrm>
          <a:prstGeom prst="rect">
            <a:avLst/>
          </a:prstGeom>
          <a:noFill/>
          <a:ln/>
        </p:spPr>
        <p:txBody>
          <a:bodyPr wrap="square" lIns="0" tIns="0" rIns="0" bIns="0" rtlCol="0" anchor="ctr"/>
          <a:lstStyle/>
          <a:p>
            <a:pPr algn="l" indent="0" marL="0">
              <a:buNone/>
            </a:pPr>
            <a:r>
              <a:rPr lang="en-US" sz="4600" b="1" dirty="0">
                <a:solidFill>
                  <a:srgbClr val="FFFFFF"/>
                </a:solidFill>
                <a:latin typeface="Georgia" pitchFamily="34" charset="0"/>
                <a:ea typeface="Georgia" pitchFamily="34" charset="-122"/>
                <a:cs typeface="Georgia" pitchFamily="34" charset="-120"/>
              </a:rPr>
              <a:t>Great data science</a:t>
            </a:r>
            <a:endParaRPr lang="en-US" sz="4600" dirty="0"/>
          </a:p>
        </p:txBody>
      </p:sp>
      <p:sp>
        <p:nvSpPr>
          <p:cNvPr id="5" name="Text 3"/>
          <p:cNvSpPr/>
          <p:nvPr/>
        </p:nvSpPr>
        <p:spPr>
          <a:xfrm>
            <a:off x="566928" y="1234440"/>
            <a:ext cx="8321040" cy="658368"/>
          </a:xfrm>
          <a:prstGeom prst="rect">
            <a:avLst/>
          </a:prstGeom>
          <a:noFill/>
          <a:ln/>
        </p:spPr>
        <p:txBody>
          <a:bodyPr wrap="square" lIns="0" tIns="0" rIns="0" bIns="0" rtlCol="0" anchor="ctr"/>
          <a:lstStyle/>
          <a:p>
            <a:pPr algn="l" indent="0" marL="0">
              <a:buNone/>
            </a:pPr>
            <a:r>
              <a:rPr lang="en-US" sz="3600" i="1" dirty="0">
                <a:solidFill>
                  <a:srgbClr val="94A3B8"/>
                </a:solidFill>
                <a:latin typeface="Georgia" pitchFamily="34" charset="0"/>
                <a:ea typeface="Georgia" pitchFamily="34" charset="-122"/>
                <a:cs typeface="Georgia" pitchFamily="34" charset="-120"/>
              </a:rPr>
              <a:t>is not about building models.</a:t>
            </a:r>
            <a:endParaRPr lang="en-US" sz="3600" dirty="0"/>
          </a:p>
        </p:txBody>
      </p:sp>
      <p:sp>
        <p:nvSpPr>
          <p:cNvPr id="6" name="Shape 4"/>
          <p:cNvSpPr/>
          <p:nvPr/>
        </p:nvSpPr>
        <p:spPr>
          <a:xfrm>
            <a:off x="566928" y="1993392"/>
            <a:ext cx="5486400" cy="54864"/>
          </a:xfrm>
          <a:prstGeom prst="rect">
            <a:avLst/>
          </a:prstGeom>
          <a:solidFill>
            <a:srgbClr val="028090"/>
          </a:solidFill>
          <a:ln w="12700">
            <a:solidFill>
              <a:srgbClr val="028090"/>
            </a:solidFill>
            <a:prstDash val="solid"/>
          </a:ln>
        </p:spPr>
      </p:sp>
      <p:sp>
        <p:nvSpPr>
          <p:cNvPr id="7" name="Text 5"/>
          <p:cNvSpPr/>
          <p:nvPr/>
        </p:nvSpPr>
        <p:spPr>
          <a:xfrm>
            <a:off x="566928" y="2157984"/>
            <a:ext cx="8321040" cy="658368"/>
          </a:xfrm>
          <a:prstGeom prst="rect">
            <a:avLst/>
          </a:prstGeom>
          <a:noFill/>
          <a:ln/>
        </p:spPr>
        <p:txBody>
          <a:bodyPr wrap="square" lIns="0" tIns="0" rIns="0" bIns="0" rtlCol="0" anchor="ctr"/>
          <a:lstStyle/>
          <a:p>
            <a:pPr algn="l" indent="0" marL="0">
              <a:buNone/>
            </a:pPr>
            <a:r>
              <a:rPr lang="en-US" sz="3600" b="1" dirty="0">
                <a:solidFill>
                  <a:srgbClr val="02C39A"/>
                </a:solidFill>
                <a:latin typeface="Georgia" pitchFamily="34" charset="0"/>
                <a:ea typeface="Georgia" pitchFamily="34" charset="-122"/>
                <a:cs typeface="Georgia" pitchFamily="34" charset="-120"/>
              </a:rPr>
              <a:t>It's about designing systems</a:t>
            </a:r>
            <a:endParaRPr lang="en-US" sz="3600" dirty="0"/>
          </a:p>
        </p:txBody>
      </p:sp>
      <p:sp>
        <p:nvSpPr>
          <p:cNvPr id="8" name="Text 6"/>
          <p:cNvSpPr/>
          <p:nvPr/>
        </p:nvSpPr>
        <p:spPr>
          <a:xfrm>
            <a:off x="566928" y="2834640"/>
            <a:ext cx="8321040" cy="658368"/>
          </a:xfrm>
          <a:prstGeom prst="rect">
            <a:avLst/>
          </a:prstGeom>
          <a:noFill/>
          <a:ln/>
        </p:spPr>
        <p:txBody>
          <a:bodyPr wrap="square" lIns="0" tIns="0" rIns="0" bIns="0" rtlCol="0" anchor="ctr"/>
          <a:lstStyle/>
          <a:p>
            <a:pPr algn="l" indent="0" marL="0">
              <a:buNone/>
            </a:pPr>
            <a:r>
              <a:rPr lang="en-US" sz="3600" b="1" dirty="0">
                <a:solidFill>
                  <a:srgbClr val="02C39A"/>
                </a:solidFill>
                <a:latin typeface="Georgia" pitchFamily="34" charset="0"/>
                <a:ea typeface="Georgia" pitchFamily="34" charset="-122"/>
                <a:cs typeface="Georgia" pitchFamily="34" charset="-120"/>
              </a:rPr>
              <a:t>that make better decisions.</a:t>
            </a:r>
            <a:endParaRPr lang="en-US" sz="3600" dirty="0"/>
          </a:p>
        </p:txBody>
      </p:sp>
      <p:sp>
        <p:nvSpPr>
          <p:cNvPr id="9" name="Shape 7"/>
          <p:cNvSpPr/>
          <p:nvPr/>
        </p:nvSpPr>
        <p:spPr>
          <a:xfrm>
            <a:off x="566928" y="3675888"/>
            <a:ext cx="0" cy="0"/>
          </a:xfrm>
          <a:prstGeom prst="ellipse">
            <a:avLst/>
          </a:prstGeom>
          <a:noFill/>
          <a:ln/>
        </p:spPr>
      </p:sp>
      <p:sp>
        <p:nvSpPr>
          <p:cNvPr id="10" name="Shape 8"/>
          <p:cNvSpPr/>
          <p:nvPr/>
        </p:nvSpPr>
        <p:spPr>
          <a:xfrm>
            <a:off x="566928" y="3675888"/>
            <a:ext cx="0" cy="0"/>
          </a:xfrm>
          <a:prstGeom prst="ellipse">
            <a:avLst/>
          </a:prstGeom>
          <a:noFill/>
          <a:ln/>
        </p:spPr>
      </p:sp>
      <p:sp>
        <p:nvSpPr>
          <p:cNvPr id="11" name="Shape 9"/>
          <p:cNvSpPr/>
          <p:nvPr/>
        </p:nvSpPr>
        <p:spPr>
          <a:xfrm>
            <a:off x="566928" y="3675888"/>
            <a:ext cx="0" cy="0"/>
          </a:xfrm>
          <a:prstGeom prst="ellipse">
            <a:avLst/>
          </a:prstGeom>
          <a:noFill/>
          <a:ln/>
        </p:spPr>
      </p:sp>
      <p:sp>
        <p:nvSpPr>
          <p:cNvPr id="12" name="Shape 10"/>
          <p:cNvSpPr/>
          <p:nvPr/>
        </p:nvSpPr>
        <p:spPr>
          <a:xfrm>
            <a:off x="566928" y="3675888"/>
            <a:ext cx="0" cy="0"/>
          </a:xfrm>
          <a:prstGeom prst="ellipse">
            <a:avLst/>
          </a:prstGeom>
          <a:noFill/>
          <a:ln/>
        </p:spPr>
      </p:sp>
      <p:sp>
        <p:nvSpPr>
          <p:cNvPr id="13" name="Shape 11"/>
          <p:cNvSpPr/>
          <p:nvPr/>
        </p:nvSpPr>
        <p:spPr>
          <a:xfrm>
            <a:off x="566928" y="3675888"/>
            <a:ext cx="310896" cy="310896"/>
          </a:xfrm>
          <a:prstGeom prst="ellipse">
            <a:avLst/>
          </a:prstGeom>
          <a:solidFill>
            <a:srgbClr val="028090"/>
          </a:solidFill>
          <a:ln w="12700">
            <a:solidFill>
              <a:srgbClr val="028090"/>
            </a:solidFill>
            <a:prstDash val="solid"/>
          </a:ln>
        </p:spPr>
      </p:sp>
      <p:sp>
        <p:nvSpPr>
          <p:cNvPr id="14" name="Text 12"/>
          <p:cNvSpPr/>
          <p:nvPr/>
        </p:nvSpPr>
        <p:spPr>
          <a:xfrm>
            <a:off x="566928" y="3675888"/>
            <a:ext cx="310896" cy="310896"/>
          </a:xfrm>
          <a:prstGeom prst="rect">
            <a:avLst/>
          </a:prstGeom>
          <a:noFill/>
          <a:ln/>
        </p:spPr>
        <p:txBody>
          <a:bodyPr wrap="square" lIns="0" tIns="0" rIns="0" bIns="0" rtlCol="0" anchor="ctr"/>
          <a:lstStyle/>
          <a:p>
            <a:pPr algn="ctr" indent="0" marL="0">
              <a:buNone/>
            </a:pPr>
            <a:r>
              <a:rPr lang="en-US" sz="1100" b="1" dirty="0">
                <a:solidFill>
                  <a:srgbClr val="141D30"/>
                </a:solidFill>
              </a:rPr>
              <a:t>1</a:t>
            </a:r>
            <a:endParaRPr lang="en-US" sz="1100" dirty="0"/>
          </a:p>
        </p:txBody>
      </p:sp>
      <p:sp>
        <p:nvSpPr>
          <p:cNvPr id="15" name="Text 13"/>
          <p:cNvSpPr/>
          <p:nvPr/>
        </p:nvSpPr>
        <p:spPr>
          <a:xfrm>
            <a:off x="950976" y="3639312"/>
            <a:ext cx="3749040" cy="256032"/>
          </a:xfrm>
          <a:prstGeom prst="rect">
            <a:avLst/>
          </a:prstGeom>
          <a:noFill/>
          <a:ln/>
        </p:spPr>
        <p:txBody>
          <a:bodyPr wrap="square" lIns="0" tIns="0" rIns="0" bIns="0" rtlCol="0" anchor="ctr"/>
          <a:lstStyle/>
          <a:p>
            <a:pPr indent="0" marL="0">
              <a:buNone/>
            </a:pPr>
            <a:r>
              <a:rPr lang="en-US" sz="1200" b="1" dirty="0">
                <a:solidFill>
                  <a:srgbClr val="02C39A"/>
                </a:solidFill>
                <a:latin typeface="Georgia" pitchFamily="34" charset="0"/>
                <a:ea typeface="Georgia" pitchFamily="34" charset="-122"/>
                <a:cs typeface="Georgia" pitchFamily="34" charset="-120"/>
              </a:rPr>
              <a:t>Choose the right recipe</a:t>
            </a:r>
            <a:endParaRPr lang="en-US" sz="1200" dirty="0"/>
          </a:p>
        </p:txBody>
      </p:sp>
      <p:sp>
        <p:nvSpPr>
          <p:cNvPr id="16" name="Text 14"/>
          <p:cNvSpPr/>
          <p:nvPr/>
        </p:nvSpPr>
        <p:spPr>
          <a:xfrm>
            <a:off x="950976" y="3913632"/>
            <a:ext cx="3749040" cy="237744"/>
          </a:xfrm>
          <a:prstGeom prst="rect">
            <a:avLst/>
          </a:prstGeom>
          <a:noFill/>
          <a:ln/>
        </p:spPr>
        <p:txBody>
          <a:bodyPr wrap="square" lIns="0" tIns="0" rIns="0" bIns="0" rtlCol="0" anchor="ctr"/>
          <a:lstStyle/>
          <a:p>
            <a:pPr indent="0" marL="0">
              <a:buNone/>
            </a:pPr>
            <a:r>
              <a:rPr lang="en-US" sz="1000" dirty="0">
                <a:solidFill>
                  <a:srgbClr val="94A3B8"/>
                </a:solidFill>
              </a:rPr>
              <a:t>You're choosing a type of question, not an algorithm.</a:t>
            </a:r>
            <a:endParaRPr lang="en-US" sz="1000" dirty="0"/>
          </a:p>
        </p:txBody>
      </p:sp>
      <p:sp>
        <p:nvSpPr>
          <p:cNvPr id="17" name="Shape 15"/>
          <p:cNvSpPr/>
          <p:nvPr/>
        </p:nvSpPr>
        <p:spPr>
          <a:xfrm>
            <a:off x="4864608" y="3675888"/>
            <a:ext cx="310896" cy="310896"/>
          </a:xfrm>
          <a:prstGeom prst="ellipse">
            <a:avLst/>
          </a:prstGeom>
          <a:solidFill>
            <a:srgbClr val="028090"/>
          </a:solidFill>
          <a:ln w="12700">
            <a:solidFill>
              <a:srgbClr val="028090"/>
            </a:solidFill>
            <a:prstDash val="solid"/>
          </a:ln>
        </p:spPr>
      </p:sp>
      <p:sp>
        <p:nvSpPr>
          <p:cNvPr id="18" name="Text 16"/>
          <p:cNvSpPr/>
          <p:nvPr/>
        </p:nvSpPr>
        <p:spPr>
          <a:xfrm>
            <a:off x="4864608" y="3675888"/>
            <a:ext cx="310896" cy="310896"/>
          </a:xfrm>
          <a:prstGeom prst="rect">
            <a:avLst/>
          </a:prstGeom>
          <a:noFill/>
          <a:ln/>
        </p:spPr>
        <p:txBody>
          <a:bodyPr wrap="square" lIns="0" tIns="0" rIns="0" bIns="0" rtlCol="0" anchor="ctr"/>
          <a:lstStyle/>
          <a:p>
            <a:pPr algn="ctr" indent="0" marL="0">
              <a:buNone/>
            </a:pPr>
            <a:r>
              <a:rPr lang="en-US" sz="1100" b="1" dirty="0">
                <a:solidFill>
                  <a:srgbClr val="141D30"/>
                </a:solidFill>
              </a:rPr>
              <a:t>2</a:t>
            </a:r>
            <a:endParaRPr lang="en-US" sz="1100" dirty="0"/>
          </a:p>
        </p:txBody>
      </p:sp>
      <p:sp>
        <p:nvSpPr>
          <p:cNvPr id="19" name="Text 17"/>
          <p:cNvSpPr/>
          <p:nvPr/>
        </p:nvSpPr>
        <p:spPr>
          <a:xfrm>
            <a:off x="5248656" y="3639312"/>
            <a:ext cx="3749040" cy="256032"/>
          </a:xfrm>
          <a:prstGeom prst="rect">
            <a:avLst/>
          </a:prstGeom>
          <a:noFill/>
          <a:ln/>
        </p:spPr>
        <p:txBody>
          <a:bodyPr wrap="square" lIns="0" tIns="0" rIns="0" bIns="0" rtlCol="0" anchor="ctr"/>
          <a:lstStyle/>
          <a:p>
            <a:pPr indent="0" marL="0">
              <a:buNone/>
            </a:pPr>
            <a:r>
              <a:rPr lang="en-US" sz="1200" b="1" dirty="0">
                <a:solidFill>
                  <a:srgbClr val="02C39A"/>
                </a:solidFill>
                <a:latin typeface="Georgia" pitchFamily="34" charset="0"/>
                <a:ea typeface="Georgia" pitchFamily="34" charset="-122"/>
                <a:cs typeface="Georgia" pitchFamily="34" charset="-120"/>
              </a:rPr>
              <a:t>Sample the right reality</a:t>
            </a:r>
            <a:endParaRPr lang="en-US" sz="1200" dirty="0"/>
          </a:p>
        </p:txBody>
      </p:sp>
      <p:sp>
        <p:nvSpPr>
          <p:cNvPr id="20" name="Text 18"/>
          <p:cNvSpPr/>
          <p:nvPr/>
        </p:nvSpPr>
        <p:spPr>
          <a:xfrm>
            <a:off x="5248656" y="3913632"/>
            <a:ext cx="3749040" cy="237744"/>
          </a:xfrm>
          <a:prstGeom prst="rect">
            <a:avLst/>
          </a:prstGeom>
          <a:noFill/>
          <a:ln/>
        </p:spPr>
        <p:txBody>
          <a:bodyPr wrap="square" lIns="0" tIns="0" rIns="0" bIns="0" rtlCol="0" anchor="ctr"/>
          <a:lstStyle/>
          <a:p>
            <a:pPr indent="0" marL="0">
              <a:buNone/>
            </a:pPr>
            <a:r>
              <a:rPr lang="en-US" sz="1000" dirty="0">
                <a:solidFill>
                  <a:srgbClr val="94A3B8"/>
                </a:solidFill>
              </a:rPr>
              <a:t>Bad sample → bad model. Garbage in, garbage out, every time.</a:t>
            </a:r>
            <a:endParaRPr lang="en-US" sz="1000" dirty="0"/>
          </a:p>
        </p:txBody>
      </p:sp>
      <p:sp>
        <p:nvSpPr>
          <p:cNvPr id="21" name="Shape 19"/>
          <p:cNvSpPr/>
          <p:nvPr/>
        </p:nvSpPr>
        <p:spPr>
          <a:xfrm>
            <a:off x="566928" y="4315968"/>
            <a:ext cx="310896" cy="310896"/>
          </a:xfrm>
          <a:prstGeom prst="ellipse">
            <a:avLst/>
          </a:prstGeom>
          <a:solidFill>
            <a:srgbClr val="028090"/>
          </a:solidFill>
          <a:ln w="12700">
            <a:solidFill>
              <a:srgbClr val="028090"/>
            </a:solidFill>
            <a:prstDash val="solid"/>
          </a:ln>
        </p:spPr>
      </p:sp>
      <p:sp>
        <p:nvSpPr>
          <p:cNvPr id="22" name="Text 20"/>
          <p:cNvSpPr/>
          <p:nvPr/>
        </p:nvSpPr>
        <p:spPr>
          <a:xfrm>
            <a:off x="566928" y="4315968"/>
            <a:ext cx="310896" cy="310896"/>
          </a:xfrm>
          <a:prstGeom prst="rect">
            <a:avLst/>
          </a:prstGeom>
          <a:noFill/>
          <a:ln/>
        </p:spPr>
        <p:txBody>
          <a:bodyPr wrap="square" lIns="0" tIns="0" rIns="0" bIns="0" rtlCol="0" anchor="ctr"/>
          <a:lstStyle/>
          <a:p>
            <a:pPr algn="ctr" indent="0" marL="0">
              <a:buNone/>
            </a:pPr>
            <a:r>
              <a:rPr lang="en-US" sz="1100" b="1" dirty="0">
                <a:solidFill>
                  <a:srgbClr val="141D30"/>
                </a:solidFill>
              </a:rPr>
              <a:t>3</a:t>
            </a:r>
            <a:endParaRPr lang="en-US" sz="1100" dirty="0"/>
          </a:p>
        </p:txBody>
      </p:sp>
      <p:sp>
        <p:nvSpPr>
          <p:cNvPr id="23" name="Text 21"/>
          <p:cNvSpPr/>
          <p:nvPr/>
        </p:nvSpPr>
        <p:spPr>
          <a:xfrm>
            <a:off x="950976" y="4279392"/>
            <a:ext cx="3749040" cy="256032"/>
          </a:xfrm>
          <a:prstGeom prst="rect">
            <a:avLst/>
          </a:prstGeom>
          <a:noFill/>
          <a:ln/>
        </p:spPr>
        <p:txBody>
          <a:bodyPr wrap="square" lIns="0" tIns="0" rIns="0" bIns="0" rtlCol="0" anchor="ctr"/>
          <a:lstStyle/>
          <a:p>
            <a:pPr indent="0" marL="0">
              <a:buNone/>
            </a:pPr>
            <a:r>
              <a:rPr lang="en-US" sz="1200" b="1" dirty="0">
                <a:solidFill>
                  <a:srgbClr val="02C39A"/>
                </a:solidFill>
                <a:latin typeface="Georgia" pitchFamily="34" charset="0"/>
                <a:ea typeface="Georgia" pitchFamily="34" charset="-122"/>
                <a:cs typeface="Georgia" pitchFamily="34" charset="-120"/>
              </a:rPr>
              <a:t>Evaluate across dimensions</a:t>
            </a:r>
            <a:endParaRPr lang="en-US" sz="1200" dirty="0"/>
          </a:p>
        </p:txBody>
      </p:sp>
      <p:sp>
        <p:nvSpPr>
          <p:cNvPr id="24" name="Text 22"/>
          <p:cNvSpPr/>
          <p:nvPr/>
        </p:nvSpPr>
        <p:spPr>
          <a:xfrm>
            <a:off x="950976" y="4553712"/>
            <a:ext cx="3749040" cy="237744"/>
          </a:xfrm>
          <a:prstGeom prst="rect">
            <a:avLst/>
          </a:prstGeom>
          <a:noFill/>
          <a:ln/>
        </p:spPr>
        <p:txBody>
          <a:bodyPr wrap="square" lIns="0" tIns="0" rIns="0" bIns="0" rtlCol="0" anchor="ctr"/>
          <a:lstStyle/>
          <a:p>
            <a:pPr indent="0" marL="0">
              <a:buNone/>
            </a:pPr>
            <a:r>
              <a:rPr lang="en-US" sz="1000" dirty="0">
                <a:solidFill>
                  <a:srgbClr val="94A3B8"/>
                </a:solidFill>
              </a:rPr>
              <a:t>Metrics, tradeoffs, latency, scale, stability. Not one number.</a:t>
            </a:r>
            <a:endParaRPr lang="en-US" sz="1000" dirty="0"/>
          </a:p>
        </p:txBody>
      </p:sp>
      <p:sp>
        <p:nvSpPr>
          <p:cNvPr id="25" name="Shape 23"/>
          <p:cNvSpPr/>
          <p:nvPr/>
        </p:nvSpPr>
        <p:spPr>
          <a:xfrm>
            <a:off x="4864608" y="4315968"/>
            <a:ext cx="310896" cy="310896"/>
          </a:xfrm>
          <a:prstGeom prst="ellipse">
            <a:avLst/>
          </a:prstGeom>
          <a:solidFill>
            <a:srgbClr val="028090"/>
          </a:solidFill>
          <a:ln w="12700">
            <a:solidFill>
              <a:srgbClr val="028090"/>
            </a:solidFill>
            <a:prstDash val="solid"/>
          </a:ln>
        </p:spPr>
      </p:sp>
      <p:sp>
        <p:nvSpPr>
          <p:cNvPr id="26" name="Text 24"/>
          <p:cNvSpPr/>
          <p:nvPr/>
        </p:nvSpPr>
        <p:spPr>
          <a:xfrm>
            <a:off x="4864608" y="4315968"/>
            <a:ext cx="310896" cy="310896"/>
          </a:xfrm>
          <a:prstGeom prst="rect">
            <a:avLst/>
          </a:prstGeom>
          <a:noFill/>
          <a:ln/>
        </p:spPr>
        <p:txBody>
          <a:bodyPr wrap="square" lIns="0" tIns="0" rIns="0" bIns="0" rtlCol="0" anchor="ctr"/>
          <a:lstStyle/>
          <a:p>
            <a:pPr algn="ctr" indent="0" marL="0">
              <a:buNone/>
            </a:pPr>
            <a:r>
              <a:rPr lang="en-US" sz="1100" b="1" dirty="0">
                <a:solidFill>
                  <a:srgbClr val="141D30"/>
                </a:solidFill>
              </a:rPr>
              <a:t>4</a:t>
            </a:r>
            <a:endParaRPr lang="en-US" sz="1100" dirty="0"/>
          </a:p>
        </p:txBody>
      </p:sp>
      <p:sp>
        <p:nvSpPr>
          <p:cNvPr id="27" name="Text 25"/>
          <p:cNvSpPr/>
          <p:nvPr/>
        </p:nvSpPr>
        <p:spPr>
          <a:xfrm>
            <a:off x="5248656" y="4279392"/>
            <a:ext cx="3749040" cy="256032"/>
          </a:xfrm>
          <a:prstGeom prst="rect">
            <a:avLst/>
          </a:prstGeom>
          <a:noFill/>
          <a:ln/>
        </p:spPr>
        <p:txBody>
          <a:bodyPr wrap="square" lIns="0" tIns="0" rIns="0" bIns="0" rtlCol="0" anchor="ctr"/>
          <a:lstStyle/>
          <a:p>
            <a:pPr indent="0" marL="0">
              <a:buNone/>
            </a:pPr>
            <a:r>
              <a:rPr lang="en-US" sz="1200" b="1" dirty="0">
                <a:solidFill>
                  <a:srgbClr val="02C39A"/>
                </a:solidFill>
                <a:latin typeface="Georgia" pitchFamily="34" charset="0"/>
                <a:ea typeface="Georgia" pitchFamily="34" charset="-122"/>
                <a:cs typeface="Georgia" pitchFamily="34" charset="-120"/>
              </a:rPr>
              <a:t>Make it explainable enough to trust</a:t>
            </a:r>
            <a:endParaRPr lang="en-US" sz="1200" dirty="0"/>
          </a:p>
        </p:txBody>
      </p:sp>
      <p:sp>
        <p:nvSpPr>
          <p:cNvPr id="28" name="Text 26"/>
          <p:cNvSpPr/>
          <p:nvPr/>
        </p:nvSpPr>
        <p:spPr>
          <a:xfrm>
            <a:off x="5248656" y="4553712"/>
            <a:ext cx="3749040" cy="237744"/>
          </a:xfrm>
          <a:prstGeom prst="rect">
            <a:avLst/>
          </a:prstGeom>
          <a:noFill/>
          <a:ln/>
        </p:spPr>
        <p:txBody>
          <a:bodyPr wrap="square" lIns="0" tIns="0" rIns="0" bIns="0" rtlCol="0" anchor="ctr"/>
          <a:lstStyle/>
          <a:p>
            <a:pPr indent="0" marL="0">
              <a:buNone/>
            </a:pPr>
            <a:r>
              <a:rPr lang="en-US" sz="1000" dirty="0">
                <a:solidFill>
                  <a:srgbClr val="94A3B8"/>
                </a:solidFill>
              </a:rPr>
              <a:t>If it can't be explained, it won't be used. If it won't be used, it doesn't matter.</a:t>
            </a:r>
            <a:endParaRPr lang="en-US" sz="1000" dirty="0"/>
          </a:p>
        </p:txBody>
      </p:sp>
      <p:sp>
        <p:nvSpPr>
          <p:cNvPr id="29" name="Text 27"/>
          <p:cNvSpPr/>
          <p:nvPr/>
        </p:nvSpPr>
        <p:spPr>
          <a:xfrm>
            <a:off x="566928" y="4773168"/>
            <a:ext cx="8229600" cy="256032"/>
          </a:xfrm>
          <a:prstGeom prst="rect">
            <a:avLst/>
          </a:prstGeom>
          <a:noFill/>
          <a:ln/>
        </p:spPr>
        <p:txBody>
          <a:bodyPr wrap="square" lIns="0" tIns="0" rIns="0" bIns="0" rtlCol="0" anchor="ctr"/>
          <a:lstStyle/>
          <a:p>
            <a:pPr algn="l" indent="0" marL="0">
              <a:buNone/>
            </a:pPr>
            <a:r>
              <a:rPr lang="en-US" sz="1200" i="1" dirty="0">
                <a:solidFill>
                  <a:srgbClr val="94A3B8"/>
                </a:solidFill>
              </a:rPr>
              <a:t>"Data science isn't about knowing more — it's about seeing differently."</a:t>
            </a:r>
            <a:endParaRPr lang="en-US" sz="1200" dirty="0"/>
          </a:p>
        </p:txBody>
      </p:sp>
      <p:sp>
        <p:nvSpPr>
          <p:cNvPr id="31" name="Text 28"/>
          <p:cNvSpPr/>
          <p:nvPr/>
        </p:nvSpPr>
        <p:spPr>
          <a:xfrm>
            <a:off x="8046720" y="4864608"/>
            <a:ext cx="914400" cy="201168"/>
          </a:xfrm>
          <a:prstGeom prst="rect">
            <a:avLst/>
          </a:prstGeom>
          <a:noFill/>
          <a:ln/>
        </p:spPr>
        <p:txBody>
          <a:bodyPr wrap="square" lIns="0" tIns="0" rIns="0" bIns="0" rtlCol="0" anchor="ctr"/>
          <a:lstStyle/>
          <a:p>
            <a:pPr algn="r" indent="0" marL="0">
              <a:buNone/>
            </a:pPr>
            <a:r>
              <a:rPr lang="en-US" sz="900" dirty="0">
                <a:solidFill>
                  <a:srgbClr val="94A3B8"/>
                </a:solidFill>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Is a Recipe — Conference Edition</dc:title>
  <dc:subject>PptxGenJS Presentation</dc:subject>
  <dc:creator>Mike Ames</dc:creator>
  <cp:lastModifiedBy>Mike Ames</cp:lastModifiedBy>
  <cp:revision>1</cp:revision>
  <dcterms:created xsi:type="dcterms:W3CDTF">2026-04-08T21:29:15Z</dcterms:created>
  <dcterms:modified xsi:type="dcterms:W3CDTF">2026-04-08T21:29:15Z</dcterms:modified>
</cp:coreProperties>
</file>