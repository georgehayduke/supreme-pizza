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7" d="100"/>
          <a:sy n="167"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Zelle Memo Intelligence</c:v>
                </c:pt>
              </c:strCache>
            </c:strRef>
          </c:tx>
          <c:spPr>
            <a:solidFill>
              <a:srgbClr val="085CE5"/>
            </a:solidFill>
            <a:effectLst/>
          </c:spPr>
          <c:invertIfNegative val="0"/>
          <c:cat>
            <c:strRef>
              <c:f>Sheet1!$A$2:$A$9</c:f>
              <c:strCache>
                <c:ptCount val="8"/>
                <c:pt idx="0">
                  <c:v>Q3 FY26</c:v>
                </c:pt>
                <c:pt idx="1">
                  <c:v>Q4 FY26</c:v>
                </c:pt>
                <c:pt idx="2">
                  <c:v>Q1 FY27</c:v>
                </c:pt>
                <c:pt idx="3">
                  <c:v>Q2 FY27</c:v>
                </c:pt>
                <c:pt idx="4">
                  <c:v>Q3 FY27</c:v>
                </c:pt>
                <c:pt idx="5">
                  <c:v>Q4 FY27</c:v>
                </c:pt>
                <c:pt idx="6">
                  <c:v>Q1 FY28 ★</c:v>
                </c:pt>
                <c:pt idx="7">
                  <c:v>Q2 FY28</c:v>
                </c:pt>
              </c:strCache>
            </c:strRef>
          </c:cat>
          <c:val>
            <c:numRef>
              <c:f>Sheet1!$B$2:$B$9</c:f>
              <c:numCache>
                <c:formatCode>General</c:formatCode>
                <c:ptCount val="8"/>
                <c:pt idx="0">
                  <c:v>0</c:v>
                </c:pt>
                <c:pt idx="1">
                  <c:v>0</c:v>
                </c:pt>
                <c:pt idx="2">
                  <c:v>48.5</c:v>
                </c:pt>
                <c:pt idx="3">
                  <c:v>87.3</c:v>
                </c:pt>
                <c:pt idx="4">
                  <c:v>126.1</c:v>
                </c:pt>
                <c:pt idx="5">
                  <c:v>164.9</c:v>
                </c:pt>
                <c:pt idx="6">
                  <c:v>194</c:v>
                </c:pt>
                <c:pt idx="7">
                  <c:v>223.1</c:v>
                </c:pt>
              </c:numCache>
            </c:numRef>
          </c:val>
          <c:extLst>
            <c:ext xmlns:c16="http://schemas.microsoft.com/office/drawing/2014/chart" uri="{C3380CC4-5D6E-409C-BE32-E72D297353CC}">
              <c16:uniqueId val="{00000000-E68A-AC42-84BD-E08350E4A113}"/>
            </c:ext>
          </c:extLst>
        </c:ser>
        <c:ser>
          <c:idx val="1"/>
          <c:order val="1"/>
          <c:tx>
            <c:strRef>
              <c:f>Sheet1!$C$1</c:f>
              <c:strCache>
                <c:ptCount val="1"/>
                <c:pt idx="0">
                  <c:v>Churn Sentinel</c:v>
                </c:pt>
              </c:strCache>
            </c:strRef>
          </c:tx>
          <c:spPr>
            <a:solidFill>
              <a:srgbClr val="06185F"/>
            </a:solidFill>
            <a:effectLst/>
          </c:spPr>
          <c:invertIfNegative val="0"/>
          <c:cat>
            <c:strRef>
              <c:f>Sheet1!$A$2:$A$9</c:f>
              <c:strCache>
                <c:ptCount val="8"/>
                <c:pt idx="0">
                  <c:v>Q3 FY26</c:v>
                </c:pt>
                <c:pt idx="1">
                  <c:v>Q4 FY26</c:v>
                </c:pt>
                <c:pt idx="2">
                  <c:v>Q1 FY27</c:v>
                </c:pt>
                <c:pt idx="3">
                  <c:v>Q2 FY27</c:v>
                </c:pt>
                <c:pt idx="4">
                  <c:v>Q3 FY27</c:v>
                </c:pt>
                <c:pt idx="5">
                  <c:v>Q4 FY27</c:v>
                </c:pt>
                <c:pt idx="6">
                  <c:v>Q1 FY28 ★</c:v>
                </c:pt>
                <c:pt idx="7">
                  <c:v>Q2 FY28</c:v>
                </c:pt>
              </c:strCache>
            </c:strRef>
          </c:cat>
          <c:val>
            <c:numRef>
              <c:f>Sheet1!$C$2:$C$9</c:f>
              <c:numCache>
                <c:formatCode>General</c:formatCode>
                <c:ptCount val="8"/>
                <c:pt idx="0">
                  <c:v>0</c:v>
                </c:pt>
                <c:pt idx="1">
                  <c:v>0</c:v>
                </c:pt>
                <c:pt idx="2">
                  <c:v>0</c:v>
                </c:pt>
                <c:pt idx="3">
                  <c:v>205.5</c:v>
                </c:pt>
                <c:pt idx="4">
                  <c:v>383.6</c:v>
                </c:pt>
                <c:pt idx="5">
                  <c:v>534.29999999999995</c:v>
                </c:pt>
                <c:pt idx="6">
                  <c:v>657.6</c:v>
                </c:pt>
                <c:pt idx="7">
                  <c:v>753.5</c:v>
                </c:pt>
              </c:numCache>
            </c:numRef>
          </c:val>
          <c:extLst>
            <c:ext xmlns:c16="http://schemas.microsoft.com/office/drawing/2014/chart" uri="{C3380CC4-5D6E-409C-BE32-E72D297353CC}">
              <c16:uniqueId val="{00000001-E68A-AC42-84BD-E08350E4A113}"/>
            </c:ext>
          </c:extLst>
        </c:ser>
        <c:ser>
          <c:idx val="2"/>
          <c:order val="2"/>
          <c:tx>
            <c:strRef>
              <c:f>Sheet1!$D$1</c:f>
              <c:strCache>
                <c:ptCount val="1"/>
                <c:pt idx="0">
                  <c:v>CommercialSignal</c:v>
                </c:pt>
              </c:strCache>
            </c:strRef>
          </c:tx>
          <c:spPr>
            <a:solidFill>
              <a:srgbClr val="0A52C4"/>
            </a:solidFill>
            <a:effectLst/>
          </c:spPr>
          <c:invertIfNegative val="0"/>
          <c:cat>
            <c:strRef>
              <c:f>Sheet1!$A$2:$A$9</c:f>
              <c:strCache>
                <c:ptCount val="8"/>
                <c:pt idx="0">
                  <c:v>Q3 FY26</c:v>
                </c:pt>
                <c:pt idx="1">
                  <c:v>Q4 FY26</c:v>
                </c:pt>
                <c:pt idx="2">
                  <c:v>Q1 FY27</c:v>
                </c:pt>
                <c:pt idx="3">
                  <c:v>Q2 FY27</c:v>
                </c:pt>
                <c:pt idx="4">
                  <c:v>Q3 FY27</c:v>
                </c:pt>
                <c:pt idx="5">
                  <c:v>Q4 FY27</c:v>
                </c:pt>
                <c:pt idx="6">
                  <c:v>Q1 FY28 ★</c:v>
                </c:pt>
                <c:pt idx="7">
                  <c:v>Q2 FY28</c:v>
                </c:pt>
              </c:strCache>
            </c:strRef>
          </c:cat>
          <c:val>
            <c:numRef>
              <c:f>Sheet1!$D$2:$D$9</c:f>
              <c:numCache>
                <c:formatCode>General</c:formatCode>
                <c:ptCount val="8"/>
                <c:pt idx="0">
                  <c:v>0</c:v>
                </c:pt>
                <c:pt idx="1">
                  <c:v>0</c:v>
                </c:pt>
                <c:pt idx="2">
                  <c:v>0</c:v>
                </c:pt>
                <c:pt idx="3">
                  <c:v>0</c:v>
                </c:pt>
                <c:pt idx="4">
                  <c:v>111</c:v>
                </c:pt>
                <c:pt idx="5">
                  <c:v>210.9</c:v>
                </c:pt>
                <c:pt idx="6">
                  <c:v>299.7</c:v>
                </c:pt>
                <c:pt idx="7">
                  <c:v>366.3</c:v>
                </c:pt>
              </c:numCache>
            </c:numRef>
          </c:val>
          <c:extLst>
            <c:ext xmlns:c16="http://schemas.microsoft.com/office/drawing/2014/chart" uri="{C3380CC4-5D6E-409C-BE32-E72D297353CC}">
              <c16:uniqueId val="{00000002-E68A-AC42-84BD-E08350E4A113}"/>
            </c:ext>
          </c:extLst>
        </c:ser>
        <c:ser>
          <c:idx val="3"/>
          <c:order val="3"/>
          <c:tx>
            <c:strRef>
              <c:f>Sheet1!$E$1</c:f>
              <c:strCache>
                <c:ptCount val="1"/>
                <c:pt idx="0">
                  <c:v>Gen. Wealth Deflection</c:v>
                </c:pt>
              </c:strCache>
            </c:strRef>
          </c:tx>
          <c:spPr>
            <a:solidFill>
              <a:srgbClr val="0F3D8A"/>
            </a:solidFill>
            <a:effectLst/>
          </c:spPr>
          <c:invertIfNegative val="0"/>
          <c:cat>
            <c:strRef>
              <c:f>Sheet1!$A$2:$A$9</c:f>
              <c:strCache>
                <c:ptCount val="8"/>
                <c:pt idx="0">
                  <c:v>Q3 FY26</c:v>
                </c:pt>
                <c:pt idx="1">
                  <c:v>Q4 FY26</c:v>
                </c:pt>
                <c:pt idx="2">
                  <c:v>Q1 FY27</c:v>
                </c:pt>
                <c:pt idx="3">
                  <c:v>Q2 FY27</c:v>
                </c:pt>
                <c:pt idx="4">
                  <c:v>Q3 FY27</c:v>
                </c:pt>
                <c:pt idx="5">
                  <c:v>Q4 FY27</c:v>
                </c:pt>
                <c:pt idx="6">
                  <c:v>Q1 FY28 ★</c:v>
                </c:pt>
                <c:pt idx="7">
                  <c:v>Q2 FY28</c:v>
                </c:pt>
              </c:strCache>
            </c:strRef>
          </c:cat>
          <c:val>
            <c:numRef>
              <c:f>Sheet1!$E$2:$E$9</c:f>
              <c:numCache>
                <c:formatCode>General</c:formatCode>
                <c:ptCount val="8"/>
                <c:pt idx="0">
                  <c:v>0</c:v>
                </c:pt>
                <c:pt idx="1">
                  <c:v>0</c:v>
                </c:pt>
                <c:pt idx="2">
                  <c:v>0</c:v>
                </c:pt>
                <c:pt idx="3">
                  <c:v>0</c:v>
                </c:pt>
                <c:pt idx="4">
                  <c:v>0</c:v>
                </c:pt>
                <c:pt idx="5">
                  <c:v>0</c:v>
                </c:pt>
                <c:pt idx="6">
                  <c:v>95.2</c:v>
                </c:pt>
                <c:pt idx="7">
                  <c:v>176.8</c:v>
                </c:pt>
              </c:numCache>
            </c:numRef>
          </c:val>
          <c:extLst>
            <c:ext xmlns:c16="http://schemas.microsoft.com/office/drawing/2014/chart" uri="{C3380CC4-5D6E-409C-BE32-E72D297353CC}">
              <c16:uniqueId val="{00000003-E68A-AC42-84BD-E08350E4A113}"/>
            </c:ext>
          </c:extLst>
        </c:ser>
        <c:ser>
          <c:idx val="4"/>
          <c:order val="4"/>
          <c:tx>
            <c:strRef>
              <c:f>Sheet1!$F$1</c:f>
              <c:strCache>
                <c:ptCount val="1"/>
                <c:pt idx="0">
                  <c:v>Anomaly Detection</c:v>
                </c:pt>
              </c:strCache>
            </c:strRef>
          </c:tx>
          <c:spPr>
            <a:solidFill>
              <a:srgbClr val="575A5D"/>
            </a:solidFill>
            <a:effectLst/>
          </c:spPr>
          <c:invertIfNegative val="0"/>
          <c:cat>
            <c:strRef>
              <c:f>Sheet1!$A$2:$A$9</c:f>
              <c:strCache>
                <c:ptCount val="8"/>
                <c:pt idx="0">
                  <c:v>Q3 FY26</c:v>
                </c:pt>
                <c:pt idx="1">
                  <c:v>Q4 FY26</c:v>
                </c:pt>
                <c:pt idx="2">
                  <c:v>Q1 FY27</c:v>
                </c:pt>
                <c:pt idx="3">
                  <c:v>Q2 FY27</c:v>
                </c:pt>
                <c:pt idx="4">
                  <c:v>Q3 FY27</c:v>
                </c:pt>
                <c:pt idx="5">
                  <c:v>Q4 FY27</c:v>
                </c:pt>
                <c:pt idx="6">
                  <c:v>Q1 FY28 ★</c:v>
                </c:pt>
                <c:pt idx="7">
                  <c:v>Q2 FY28</c:v>
                </c:pt>
              </c:strCache>
            </c:strRef>
          </c:cat>
          <c:val>
            <c:numRef>
              <c:f>Sheet1!$F$2:$F$9</c:f>
              <c:numCache>
                <c:formatCode>General</c:formatCode>
                <c:ptCount val="8"/>
                <c:pt idx="0">
                  <c:v>0</c:v>
                </c:pt>
                <c:pt idx="1">
                  <c:v>0</c:v>
                </c:pt>
                <c:pt idx="2">
                  <c:v>0</c:v>
                </c:pt>
                <c:pt idx="3">
                  <c:v>0</c:v>
                </c:pt>
                <c:pt idx="4">
                  <c:v>0</c:v>
                </c:pt>
                <c:pt idx="5">
                  <c:v>0</c:v>
                </c:pt>
                <c:pt idx="6">
                  <c:v>0</c:v>
                </c:pt>
                <c:pt idx="7">
                  <c:v>117.6</c:v>
                </c:pt>
              </c:numCache>
            </c:numRef>
          </c:val>
          <c:extLst>
            <c:ext xmlns:c16="http://schemas.microsoft.com/office/drawing/2014/chart" uri="{C3380CC4-5D6E-409C-BE32-E72D297353CC}">
              <c16:uniqueId val="{00000004-E68A-AC42-84BD-E08350E4A113}"/>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75A5D"/>
                </a:solidFill>
                <a:latin typeface="Arial"/>
              </a:defRPr>
            </a:pPr>
            <a:endParaRPr lang="en-US"/>
          </a:p>
        </c:txPr>
        <c:crossAx val="2094734552"/>
        <c:crosses val="autoZero"/>
        <c:auto val="1"/>
        <c:lblAlgn val="ctr"/>
        <c:lblOffset val="100"/>
        <c:noMultiLvlLbl val="1"/>
      </c:catAx>
      <c:valAx>
        <c:axId val="2094734552"/>
        <c:scaling>
          <c:orientation val="minMax"/>
          <c:max val="18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75A5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4920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TO $1M ARR — Presenter Talking Points
OPENING FRAME (30 seconds):
"This slide answers the question we always get from leadership: what's the return? The answer is $1.25M in ARR by Q1 FY28 — that's July through September 2027 — driven by four apps and just 6% penetration of our existing FI base."
THE MODEL STRUCTURE:
• This is not a top-down market-sizing exercise. It's a bottoms-up, account-by-account model built on JH's actual 1,660 contracted FIs.
• We segmented those FIs by asset tier and CU/bank split (44% CU / 56% bank). CUs get a 12% pricing accommodation for cooperative budget structures.
• Each app has a blended average price — weighted across tiers — that we used to project ARR as FIs onboard quarterly.
• We applied an 8% annual subscription churn rate (2% per quarter) to model attrition realistically.
• Important Zelle Memo context: we currently have 260 Zelle-enabled FIs, not 580 (~35%). The model reflects reality — conservative Zelle Memo ramp of 5 FIs in launch quarter vs. the full JH Zelle addressable opportunity as PayCenter adoption grows.
THE RAMP (walk the chart left to right):
• Q3–Q4 FY26: Build quarters — no revenue. Team building Churn Sentinel ACH pipeline and Zelle Memo NLP infrastructure.
• Q1 FY27: Zelle Memo Intelligence launches. 5 FIs in first quarter (conservative given 260 addressable today) → $48.5K ARR.
• Q2 FY27: Churn Sentinel launches. 15 new FIs signed. Total ARR $293K.
• Q3 FY27: CommercialSignal adds to the stack. Three apps → $621K.
• Q4 FY27: $910K — approaching $1M but not quite there. This is actually a healthy position.
• Q1 FY28 ★: The milestone quarter. $1.25M ARR. Four apps (Gen. Wealth joins), 102 active subscriptions.
• Q2 FY28: $1.64M with Anomaly Detection coming online.
WHAT MAKES THIS CREDIBLE:
• 6.1% penetration of our own customer base is extremely conservative — we already have the relationships, the contracts, and the data pipelines. This is not cold outreach. These are existing JHBI clients we upsell.
• Churn Sentinel has the broadest addressability (all 1,660 FIs) and becomes the dominant revenue line by Q2 FY28 ($753K of the total $1.64M).
• The model uses correct 8% annual churn (2% per quarter) — earlier model drafts had a formula bug that overcalculated churn; this version is fixed.
• As JH PayCenter adoption grows and more FIs enable Zelle, the Zelle Memo addressable base expands — creating natural upside not modeled here.
KEY RISK AND MITIGATION:
• Biggest risk is sales cycle length — community FIs can have 6-12 month procurement cycles. Mitigation: build the pilot program (3–5 anchor FIs) into Phase 1 to generate reference customers.
• "What if Zelle Memo underperforms given only 260 FIs?" — Churn Sentinel and CommercialSignal are universal (all 1,660 FIs) and drive the bulk of revenue. Zelle Memo is additive, not foundational to the $1M path.
CLOSE:
"The Excel model behind this is available for review. Every assumption is documented, all formulas are live. The path to $1.25M ARR is achievable in Q1 FY28 within our existing FI base, starting with the 260 Zelle-enabled FIs we have today."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 APP PRICING — Presenter Talking Points
FRAMING (15 seconds):
"These are annual add-on subscriptions priced on top of the JHBI platform fee. We're not replacing JHBI revenue — we're extending it. Every existing JHBI client is a potential buyer. No new sales motion required, just a product upsell."
THE PRICING RATIONALE:
• Pricing scales with institution size — smaller FIs (&lt;$250M) pay entry-level rates; larger FIs ($5B+) pay rates commensurate with the value at scale (a 5B+ bank protecting even 0.5% churn = multi-million dollar impact).
• The blended average prices used in the revenue model account for our 44/56 CU/bank mix and the 12% cooperative discount for CUs.
• Why a 12% CU discount? Credit unions run on NCUA-regulated capital ratios and cooperative surplus rules — budget flexibility is genuinely lower. A modest discount maintains the relationship without giving away margin; we're still above SAAS rule-of-thumb economics.
TIER POSITIONING:
• &lt;$250M tier: Entry point. $5–9K is a rounding error relative to the potential churn or fraud loss at this asset size. Easy approval cycle.
• $250M–$1B tier: Core community bank/CU market — most of our base sits here. $8–14K annually is a 1–2 month subscriptions to a junior analyst. Model ROI is obvious.
• $1B–$5B: Larger regional. $15–24K. These FIs often have internal analytics teams; our angle is "complement your team with JH network intelligence you can't build yourself."
• $5B+: Strategic accounts. $25–40K. Require more complex sales cycle but anchor client wins drive brand credibility. Prioritize 1–2 pilot partners here early.
LAUNCH SEQUENCING (connect back to the roadmap):
• Zelle Memo launches first (Q1 FY27) because the payments pipeline is being built anyway — it's the lowest incremental lift.
• Churn Sentinel follows in Q2 FY27 and has the broadest addressability — all 1,660 FIs, no Zelle dependency.
• CommercialSignal Q3 FY27, Gen. Wealth and Anomaly Detection in FY28 as the model suite matures.
ON BUNDLING:
"We're not offering bundles at launch — we want clean per-app economics to understand what the market actually values. Once we have 4–5 apps live and 50+ FI subscribers, bundling becomes a natural conversation to drive expansion revenue. That option is built into the model as a future lever."
ANTICIPATED QUESTION: "Why not price per-account or per-user?"
Answer: Per-FI annual subscription is the dominant SaaS model in fintech B2B. It's predictable, easy for FI budget owners to approve (single line item), and doesn't require us to instrument usage metering in Year 1. We can layer consumption pricing in Year 2 once instrumentation is in place.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ARCU &amp; JHAKnow → JHBI TRANSITION — Presenter Talking Points
OPENING FRAME:
"This slide addresses a question leadership will ask: what happens to our existing ARCU and JHAKnow customers? The answer is: they get the better product at their current price, and we grow from there."
THE TRANSITION STORY:
• ARCU and JHAKnow are being replaced by JHBI — Jack Henry's next-generation intelligence platform. JHBI is the unified successor, combining the capabilities of both into a single platform with a richer data model.
• 720 credit unions currently on ARCU. 940 banks on JHAKnow. Total: 1,660 core FIs — all of whom are JHBI's addressable base for Day 1.
• The migration is structured as a wave-based program over 4 quarters (Fall 2026 through Spring 2027), with pilot cohorts in Q1 FY27 to work out onboarding issues before scale.
PRICING CONTINUITY — THE KEY MESSAGE:
• Existing subscribers get JHBI at their current rate. This is a loyalty signal and removes friction from the migration conversation.
• Net-new FIs (any FI joining JHBI that was NOT on ARCU or JHAKnow) pay JHBI platform rates — which is how we grow revenue without raising prices on existing clients.
• DS apps are add-on subscriptions for ALL clients regardless of migration status. Zelle Memo Intelligence is available from Day 1.
THE CU TRACK:
• 720 ARCU credit unions. Pilot cohort of 50 in Q1 FY27 — focused on digital-forward CUs with Zelle enabled (strongest immediate DS app fit).
• Waves 1 and 2 (Q2-Q3 FY27) convert the bulk of the base. By Q4 FY27, all 720 CUs are on JHBI.
• Key hooks: Zelle Memo Intelligence (Q1), Churn Sentinel (Q2), CommercialSignal (Q3).
THE BANK TRACK:
• 940 JHAKnow banks. Pilot cohort of 30 — focus on mid-size community banks ($250M–$1B) with the clearest ROI profile for DS apps.
• Bank waves follow the same timing. By Q4 FY27, full bank base is on JHBI.
• JHAKnow banks tend to have stronger commercial banking activity — CommercialSignal and Churn Sentinel are the strongest initial DS app conversations.
ANTICIPATED OBJECTION: "Won't existing clients feel shortchanged if new clients get a better deal?"
Answer: No — existing clients get price protection AND access to the new platform. The premium pricing is for net-new relationships. This is standard SaaS migration practice (Salesforce, HubSpot all do this).
REVENUE IMPLICATION:
• As the existing base migrates, DS add-on revenue builds. The path to $1M ARR we showed (4.9% penetration) is achievable entirely within the migrating base — no net-new JH client required.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85CE5"/>
          </a:solidFill>
          <a:ln w="12700">
            <a:solidFill>
              <a:srgbClr val="085CE5"/>
            </a:solidFill>
            <a:prstDash val="solid"/>
          </a:ln>
        </p:spPr>
        <p:txBody>
          <a:bodyPr/>
          <a:lstStyle/>
          <a:p>
            <a:endParaRPr lang="en-US"/>
          </a:p>
        </p:txBody>
      </p:sp>
      <p:sp>
        <p:nvSpPr>
          <p:cNvPr id="3" name="Shape 1"/>
          <p:cNvSpPr/>
          <p:nvPr/>
        </p:nvSpPr>
        <p:spPr>
          <a:xfrm>
            <a:off x="6400800" y="2103120"/>
            <a:ext cx="4114800" cy="4114800"/>
          </a:xfrm>
          <a:prstGeom prst="ellipse">
            <a:avLst/>
          </a:prstGeom>
          <a:solidFill>
            <a:srgbClr val="085CE5">
              <a:alpha val="15000"/>
            </a:srgbClr>
          </a:solidFill>
          <a:ln w="12700">
            <a:solidFill>
              <a:srgbClr val="085CE5">
                <a:alpha val="25000"/>
              </a:srgbClr>
            </a:solidFill>
            <a:prstDash val="solid"/>
          </a:ln>
        </p:spPr>
        <p:txBody>
          <a:bodyPr/>
          <a:lstStyle/>
          <a:p>
            <a:endParaRPr lang="en-US"/>
          </a:p>
        </p:txBody>
      </p:sp>
      <p:sp>
        <p:nvSpPr>
          <p:cNvPr id="4" name="Shape 2"/>
          <p:cNvSpPr/>
          <p:nvPr/>
        </p:nvSpPr>
        <p:spPr>
          <a:xfrm>
            <a:off x="7315200" y="2834640"/>
            <a:ext cx="2560320" cy="2560320"/>
          </a:xfrm>
          <a:prstGeom prst="ellipse">
            <a:avLst/>
          </a:prstGeom>
          <a:solidFill>
            <a:srgbClr val="76DCFD">
              <a:alpha val="25000"/>
            </a:srgbClr>
          </a:solidFill>
          <a:ln w="12700">
            <a:solidFill>
              <a:srgbClr val="76DCFD">
                <a:alpha val="35000"/>
              </a:srgbClr>
            </a:solidFill>
            <a:prstDash val="solid"/>
          </a:ln>
        </p:spPr>
        <p:txBody>
          <a:bodyPr/>
          <a:lstStyle/>
          <a:p>
            <a:endParaRPr lang="en-US"/>
          </a:p>
        </p:txBody>
      </p:sp>
      <p:sp>
        <p:nvSpPr>
          <p:cNvPr id="5" name="Text 3"/>
          <p:cNvSpPr/>
          <p:nvPr/>
        </p:nvSpPr>
        <p:spPr>
          <a:xfrm>
            <a:off x="365760" y="502920"/>
            <a:ext cx="8412480" cy="320040"/>
          </a:xfrm>
          <a:prstGeom prst="rect">
            <a:avLst/>
          </a:prstGeom>
          <a:noFill/>
          <a:ln/>
        </p:spPr>
        <p:txBody>
          <a:bodyPr wrap="square" lIns="0" tIns="0" rIns="0" bIns="0" rtlCol="0" anchor="ctr"/>
          <a:lstStyle/>
          <a:p>
            <a:pPr marL="0" indent="0">
              <a:buNone/>
            </a:pPr>
            <a:r>
              <a:rPr lang="en-US" sz="1100" kern="0" spc="100" dirty="0">
                <a:solidFill>
                  <a:srgbClr val="76DCFD"/>
                </a:solidFill>
                <a:latin typeface="Calibri" pitchFamily="34" charset="0"/>
                <a:ea typeface="Calibri" pitchFamily="34" charset="-122"/>
                <a:cs typeface="Calibri" pitchFamily="34" charset="-120"/>
              </a:rPr>
              <a:t>JHBI  ·  Data Science Platform Investment Brief</a:t>
            </a:r>
            <a:endParaRPr lang="en-US" sz="1100" dirty="0"/>
          </a:p>
        </p:txBody>
      </p:sp>
      <p:sp>
        <p:nvSpPr>
          <p:cNvPr id="6" name="Text 4"/>
          <p:cNvSpPr/>
          <p:nvPr/>
        </p:nvSpPr>
        <p:spPr>
          <a:xfrm>
            <a:off x="365760" y="960120"/>
            <a:ext cx="7315200" cy="192024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Data Science</a:t>
            </a:r>
            <a:endParaRPr lang="en-US" sz="4800" dirty="0"/>
          </a:p>
          <a:p>
            <a:pPr marL="0" indent="0">
              <a:buNone/>
            </a:pPr>
            <a:r>
              <a:rPr lang="en-US" sz="4800" b="1" dirty="0">
                <a:solidFill>
                  <a:srgbClr val="FFFFFF"/>
                </a:solidFill>
                <a:latin typeface="Calibri" pitchFamily="34" charset="0"/>
                <a:ea typeface="Calibri" pitchFamily="34" charset="-122"/>
                <a:cs typeface="Calibri" pitchFamily="34" charset="-120"/>
              </a:rPr>
              <a:t>Platform Strategy</a:t>
            </a:r>
            <a:endParaRPr lang="en-US" sz="4800" dirty="0"/>
          </a:p>
        </p:txBody>
      </p:sp>
      <p:sp>
        <p:nvSpPr>
          <p:cNvPr id="7" name="Text 5"/>
          <p:cNvSpPr/>
          <p:nvPr/>
        </p:nvSpPr>
        <p:spPr>
          <a:xfrm>
            <a:off x="365760" y="2971800"/>
            <a:ext cx="7680960" cy="457200"/>
          </a:xfrm>
          <a:prstGeom prst="rect">
            <a:avLst/>
          </a:prstGeom>
          <a:noFill/>
          <a:ln/>
        </p:spPr>
        <p:txBody>
          <a:bodyPr wrap="square" lIns="0" tIns="0" rIns="0" bIns="0" rtlCol="0" anchor="ctr"/>
          <a:lstStyle/>
          <a:p>
            <a:pPr marL="0" indent="0">
              <a:buNone/>
            </a:pPr>
            <a:r>
              <a:rPr lang="en-US" sz="1600" i="1" dirty="0">
                <a:solidFill>
                  <a:srgbClr val="76DCFD"/>
                </a:solidFill>
                <a:latin typeface="Calibri" pitchFamily="34" charset="0"/>
                <a:ea typeface="Calibri" pitchFamily="34" charset="-122"/>
                <a:cs typeface="Calibri" pitchFamily="34" charset="-120"/>
              </a:rPr>
              <a:t>Building AI-Powered Applications for Jack Henry's Financial Institution Clients</a:t>
            </a:r>
            <a:endParaRPr lang="en-US" sz="1600" dirty="0"/>
          </a:p>
        </p:txBody>
      </p:sp>
      <p:sp>
        <p:nvSpPr>
          <p:cNvPr id="8" name="Shape 6"/>
          <p:cNvSpPr/>
          <p:nvPr/>
        </p:nvSpPr>
        <p:spPr>
          <a:xfrm>
            <a:off x="365760" y="3547872"/>
            <a:ext cx="2286000" cy="45720"/>
          </a:xfrm>
          <a:prstGeom prst="rect">
            <a:avLst/>
          </a:prstGeom>
          <a:solidFill>
            <a:srgbClr val="085CE5"/>
          </a:solidFill>
          <a:ln w="12700">
            <a:solidFill>
              <a:srgbClr val="085CE5"/>
            </a:solidFill>
            <a:prstDash val="solid"/>
          </a:ln>
        </p:spPr>
        <p:txBody>
          <a:bodyPr/>
          <a:lstStyle/>
          <a:p>
            <a:endParaRPr lang="en-US"/>
          </a:p>
        </p:txBody>
      </p:sp>
      <p:sp>
        <p:nvSpPr>
          <p:cNvPr id="9" name="Text 7"/>
          <p:cNvSpPr/>
          <p:nvPr/>
        </p:nvSpPr>
        <p:spPr>
          <a:xfrm>
            <a:off x="365760" y="3703320"/>
            <a:ext cx="5486400" cy="320040"/>
          </a:xfrm>
          <a:prstGeom prst="rect">
            <a:avLst/>
          </a:prstGeom>
          <a:noFill/>
          <a:ln/>
        </p:spPr>
        <p:txBody>
          <a:bodyPr wrap="square" lIns="0" tIns="0" rIns="0" bIns="0" rtlCol="0" anchor="ctr"/>
          <a:lstStyle/>
          <a:p>
            <a:pPr marL="0" indent="0">
              <a:buNone/>
            </a:pPr>
            <a:r>
              <a:rPr lang="en-US" sz="1200" dirty="0">
                <a:solidFill>
                  <a:srgbClr val="B6BBC0"/>
                </a:solidFill>
                <a:latin typeface="Calibri" pitchFamily="34" charset="0"/>
                <a:ea typeface="Calibri" pitchFamily="34" charset="-122"/>
                <a:cs typeface="Calibri" pitchFamily="34" charset="-120"/>
              </a:rPr>
              <a:t>Data &amp; Analytics Team  |  March 2026</a:t>
            </a:r>
            <a:endParaRPr lang="en-US" sz="1200" dirty="0"/>
          </a:p>
        </p:txBody>
      </p:sp>
      <p:sp>
        <p:nvSpPr>
          <p:cNvPr id="10" name="Text 8"/>
          <p:cNvSpPr/>
          <p:nvPr/>
        </p:nvSpPr>
        <p:spPr>
          <a:xfrm>
            <a:off x="365760" y="4800600"/>
            <a:ext cx="3657600" cy="237744"/>
          </a:xfrm>
          <a:prstGeom prst="rect">
            <a:avLst/>
          </a:prstGeom>
          <a:noFill/>
          <a:ln/>
        </p:spPr>
        <p:txBody>
          <a:bodyPr wrap="square" lIns="0" tIns="0" rIns="0" bIns="0" rtlCol="0" anchor="ctr"/>
          <a:lstStyle/>
          <a:p>
            <a:pPr marL="0" indent="0">
              <a:buNone/>
            </a:pPr>
            <a:r>
              <a:rPr lang="en-US" sz="900" i="1" dirty="0">
                <a:solidFill>
                  <a:srgbClr val="B6BBC0"/>
                </a:solidFill>
                <a:latin typeface="Calibri" pitchFamily="34" charset="0"/>
                <a:ea typeface="Calibri" pitchFamily="34" charset="-122"/>
                <a:cs typeface="Calibri" pitchFamily="34" charset="-120"/>
              </a:rPr>
              <a:t>Powering the Financial World™</a:t>
            </a:r>
            <a:endParaRPr lang="en-US" sz="900" dirty="0"/>
          </a:p>
        </p:txBody>
      </p:sp>
      <p:sp>
        <p:nvSpPr>
          <p:cNvPr id="11" name="Text 9"/>
          <p:cNvSpPr/>
          <p:nvPr/>
        </p:nvSpPr>
        <p:spPr>
          <a:xfrm>
            <a:off x="7132320" y="4828032"/>
            <a:ext cx="1828800" cy="228600"/>
          </a:xfrm>
          <a:prstGeom prst="rect">
            <a:avLst/>
          </a:prstGeom>
          <a:noFill/>
          <a:ln/>
        </p:spPr>
        <p:txBody>
          <a:bodyPr wrap="square" lIns="0" tIns="0" rIns="0" bIns="0" rtlCol="0" anchor="ctr"/>
          <a:lstStyle/>
          <a:p>
            <a:pPr marL="0" indent="0" algn="r">
              <a:buNone/>
            </a:pPr>
            <a:r>
              <a:rPr lang="en-US" sz="900" kern="0" spc="100" dirty="0">
                <a:solidFill>
                  <a:srgbClr val="B6BBC0"/>
                </a:solidFill>
                <a:latin typeface="Calibri" pitchFamily="34" charset="0"/>
                <a:ea typeface="Calibri" pitchFamily="34" charset="-122"/>
                <a:cs typeface="Calibri" pitchFamily="34" charset="-120"/>
              </a:rPr>
              <a:t>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txBody>
          <a:bodyPr/>
          <a:lstStyle/>
          <a:p>
            <a:endParaRPr lang="en-US"/>
          </a:p>
        </p:txBody>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Market Opportunity for Jack Henry</a:t>
            </a:r>
            <a:endParaRPr lang="en-US" sz="2200" dirty="0"/>
          </a:p>
        </p:txBody>
      </p:sp>
      <p:sp>
        <p:nvSpPr>
          <p:cNvPr id="4" name="Text 2"/>
          <p:cNvSpPr/>
          <p:nvPr/>
        </p:nvSpPr>
        <p:spPr>
          <a:xfrm>
            <a:off x="365760" y="777240"/>
            <a:ext cx="8412480" cy="566928"/>
          </a:xfrm>
          <a:prstGeom prst="rect">
            <a:avLst/>
          </a:prstGeom>
          <a:noFill/>
          <a:ln/>
        </p:spPr>
        <p:txBody>
          <a:bodyPr wrap="square" lIns="0" tIns="0" rIns="0" bIns="0" rtlCol="0" anchor="ctr"/>
          <a:lstStyle/>
          <a:p>
            <a:pPr marL="0" indent="0">
              <a:buNone/>
            </a:pPr>
            <a:r>
              <a:rPr lang="en-US" sz="1250" dirty="0">
                <a:solidFill>
                  <a:srgbClr val="575A5D"/>
                </a:solidFill>
                <a:latin typeface="Calibri" pitchFamily="34" charset="0"/>
                <a:ea typeface="Calibri" pitchFamily="34" charset="-122"/>
                <a:cs typeface="Calibri" pitchFamily="34" charset="-120"/>
              </a:rPr>
              <a:t>Jack Henry serves 1,660 financial institutions on core platforms and 7,500+ across its full ecosystem — institutions that collectively manage trillions in assets. By embedding AI-driven analytics directly into our platform, we can transform how every FI client makes decisions on retention, risk, compliance, and growth.</a:t>
            </a:r>
            <a:endParaRPr lang="en-US" sz="1250" dirty="0"/>
          </a:p>
        </p:txBody>
      </p:sp>
      <p:sp>
        <p:nvSpPr>
          <p:cNvPr id="5" name="Shape 3"/>
          <p:cNvSpPr/>
          <p:nvPr/>
        </p:nvSpPr>
        <p:spPr>
          <a:xfrm>
            <a:off x="365760" y="1463040"/>
            <a:ext cx="2651760" cy="2468880"/>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365760" y="1463040"/>
            <a:ext cx="2651760" cy="91440"/>
          </a:xfrm>
          <a:prstGeom prst="rect">
            <a:avLst/>
          </a:prstGeom>
          <a:solidFill>
            <a:srgbClr val="085CE5"/>
          </a:solidFill>
          <a:ln w="12700">
            <a:solidFill>
              <a:srgbClr val="085CE5"/>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444752" y="1618488"/>
            <a:ext cx="475488" cy="475488"/>
          </a:xfrm>
          <a:prstGeom prst="rect">
            <a:avLst/>
          </a:prstGeom>
        </p:spPr>
      </p:pic>
      <p:sp>
        <p:nvSpPr>
          <p:cNvPr id="8" name="Text 5"/>
          <p:cNvSpPr/>
          <p:nvPr/>
        </p:nvSpPr>
        <p:spPr>
          <a:xfrm>
            <a:off x="457200" y="2139696"/>
            <a:ext cx="2468880" cy="804672"/>
          </a:xfrm>
          <a:prstGeom prst="rect">
            <a:avLst/>
          </a:prstGeom>
          <a:noFill/>
          <a:ln/>
        </p:spPr>
        <p:txBody>
          <a:bodyPr wrap="square" lIns="0" tIns="0" rIns="0" bIns="0" rtlCol="0" anchor="ctr"/>
          <a:lstStyle/>
          <a:p>
            <a:pPr marL="0" indent="0" algn="ctr">
              <a:buNone/>
            </a:pPr>
            <a:r>
              <a:rPr lang="en-US" sz="4200" b="1" dirty="0">
                <a:solidFill>
                  <a:srgbClr val="085CE5"/>
                </a:solidFill>
                <a:latin typeface="Calibri" pitchFamily="34" charset="0"/>
                <a:ea typeface="Calibri" pitchFamily="34" charset="-122"/>
                <a:cs typeface="Calibri" pitchFamily="34" charset="-120"/>
              </a:rPr>
              <a:t>1,660</a:t>
            </a:r>
            <a:endParaRPr lang="en-US" sz="4200" dirty="0"/>
          </a:p>
        </p:txBody>
      </p:sp>
      <p:sp>
        <p:nvSpPr>
          <p:cNvPr id="9" name="Text 6"/>
          <p:cNvSpPr/>
          <p:nvPr/>
        </p:nvSpPr>
        <p:spPr>
          <a:xfrm>
            <a:off x="457200" y="2962656"/>
            <a:ext cx="2468880" cy="685800"/>
          </a:xfrm>
          <a:prstGeom prst="rect">
            <a:avLst/>
          </a:prstGeom>
          <a:noFill/>
          <a:ln/>
        </p:spPr>
        <p:txBody>
          <a:bodyPr wrap="square" lIns="0" tIns="0" rIns="0" bIns="0" rtlCol="0" anchor="ctr"/>
          <a:lstStyle/>
          <a:p>
            <a:pPr marL="0" indent="0" algn="ctr">
              <a:buNone/>
            </a:pPr>
            <a:r>
              <a:rPr lang="en-US" sz="1150" dirty="0">
                <a:solidFill>
                  <a:srgbClr val="575A5D"/>
                </a:solidFill>
                <a:latin typeface="Calibri" pitchFamily="34" charset="0"/>
                <a:ea typeface="Calibri" pitchFamily="34" charset="-122"/>
                <a:cs typeface="Calibri" pitchFamily="34" charset="-120"/>
              </a:rPr>
              <a:t>Core FI clients — banks &amp; CUs</a:t>
            </a:r>
            <a:endParaRPr lang="en-US" sz="1150" dirty="0"/>
          </a:p>
          <a:p>
            <a:pPr marL="0" indent="0" algn="ctr">
              <a:buNone/>
            </a:pPr>
            <a:r>
              <a:rPr lang="en-US" sz="1150" dirty="0">
                <a:solidFill>
                  <a:srgbClr val="575A5D"/>
                </a:solidFill>
                <a:latin typeface="Calibri" pitchFamily="34" charset="0"/>
                <a:ea typeface="Calibri" pitchFamily="34" charset="-122"/>
                <a:cs typeface="Calibri" pitchFamily="34" charset="-120"/>
              </a:rPr>
              <a:t>with deepest JH data access</a:t>
            </a:r>
            <a:endParaRPr lang="en-US" sz="1150" dirty="0"/>
          </a:p>
        </p:txBody>
      </p:sp>
      <p:sp>
        <p:nvSpPr>
          <p:cNvPr id="10" name="Shape 7"/>
          <p:cNvSpPr/>
          <p:nvPr/>
        </p:nvSpPr>
        <p:spPr>
          <a:xfrm>
            <a:off x="3182112" y="1463040"/>
            <a:ext cx="2651760" cy="2468880"/>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1" name="Shape 8"/>
          <p:cNvSpPr/>
          <p:nvPr/>
        </p:nvSpPr>
        <p:spPr>
          <a:xfrm>
            <a:off x="3182112" y="1463040"/>
            <a:ext cx="2651760" cy="91440"/>
          </a:xfrm>
          <a:prstGeom prst="rect">
            <a:avLst/>
          </a:prstGeom>
          <a:solidFill>
            <a:srgbClr val="06185F"/>
          </a:solidFill>
          <a:ln w="12700">
            <a:solidFill>
              <a:srgbClr val="06185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261104" y="1618488"/>
            <a:ext cx="475488" cy="475488"/>
          </a:xfrm>
          <a:prstGeom prst="rect">
            <a:avLst/>
          </a:prstGeom>
        </p:spPr>
      </p:pic>
      <p:sp>
        <p:nvSpPr>
          <p:cNvPr id="13" name="Text 9"/>
          <p:cNvSpPr/>
          <p:nvPr/>
        </p:nvSpPr>
        <p:spPr>
          <a:xfrm>
            <a:off x="3273552" y="2139696"/>
            <a:ext cx="2468880" cy="804672"/>
          </a:xfrm>
          <a:prstGeom prst="rect">
            <a:avLst/>
          </a:prstGeom>
          <a:noFill/>
          <a:ln/>
        </p:spPr>
        <p:txBody>
          <a:bodyPr wrap="square" lIns="0" tIns="0" rIns="0" bIns="0" rtlCol="0" anchor="ctr"/>
          <a:lstStyle/>
          <a:p>
            <a:pPr marL="0" indent="0" algn="ctr">
              <a:buNone/>
            </a:pPr>
            <a:r>
              <a:rPr lang="en-US" sz="4200" b="1" dirty="0">
                <a:solidFill>
                  <a:srgbClr val="06185F"/>
                </a:solidFill>
                <a:latin typeface="Calibri" pitchFamily="34" charset="0"/>
                <a:ea typeface="Calibri" pitchFamily="34" charset="-122"/>
                <a:cs typeface="Calibri" pitchFamily="34" charset="-120"/>
              </a:rPr>
              <a:t>$6.2B</a:t>
            </a:r>
            <a:endParaRPr lang="en-US" sz="4200" dirty="0"/>
          </a:p>
        </p:txBody>
      </p:sp>
      <p:sp>
        <p:nvSpPr>
          <p:cNvPr id="14" name="Text 10"/>
          <p:cNvSpPr/>
          <p:nvPr/>
        </p:nvSpPr>
        <p:spPr>
          <a:xfrm>
            <a:off x="3273552" y="2962656"/>
            <a:ext cx="2468880" cy="685800"/>
          </a:xfrm>
          <a:prstGeom prst="rect">
            <a:avLst/>
          </a:prstGeom>
          <a:noFill/>
          <a:ln/>
        </p:spPr>
        <p:txBody>
          <a:bodyPr wrap="square" lIns="0" tIns="0" rIns="0" bIns="0" rtlCol="0" anchor="ctr"/>
          <a:lstStyle/>
          <a:p>
            <a:pPr marL="0" indent="0" algn="ctr">
              <a:buNone/>
            </a:pPr>
            <a:r>
              <a:rPr lang="en-US" sz="1150" dirty="0">
                <a:solidFill>
                  <a:srgbClr val="575A5D"/>
                </a:solidFill>
                <a:latin typeface="Calibri" pitchFamily="34" charset="0"/>
                <a:ea typeface="Calibri" pitchFamily="34" charset="-122"/>
                <a:cs typeface="Calibri" pitchFamily="34" charset="-120"/>
              </a:rPr>
              <a:t>projected AI banking analytics</a:t>
            </a:r>
            <a:endParaRPr lang="en-US" sz="1150" dirty="0"/>
          </a:p>
          <a:p>
            <a:pPr marL="0" indent="0" algn="ctr">
              <a:buNone/>
            </a:pPr>
            <a:r>
              <a:rPr lang="en-US" sz="1150" dirty="0">
                <a:solidFill>
                  <a:srgbClr val="575A5D"/>
                </a:solidFill>
                <a:latin typeface="Calibri" pitchFamily="34" charset="0"/>
                <a:ea typeface="Calibri" pitchFamily="34" charset="-122"/>
                <a:cs typeface="Calibri" pitchFamily="34" charset="-120"/>
              </a:rPr>
              <a:t>market by 2028 (Mordor Intel.)</a:t>
            </a:r>
            <a:endParaRPr lang="en-US" sz="1150" dirty="0"/>
          </a:p>
        </p:txBody>
      </p:sp>
      <p:sp>
        <p:nvSpPr>
          <p:cNvPr id="15" name="Shape 11"/>
          <p:cNvSpPr/>
          <p:nvPr/>
        </p:nvSpPr>
        <p:spPr>
          <a:xfrm>
            <a:off x="5998464" y="1463040"/>
            <a:ext cx="2651760" cy="2468880"/>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6" name="Shape 12"/>
          <p:cNvSpPr/>
          <p:nvPr/>
        </p:nvSpPr>
        <p:spPr>
          <a:xfrm>
            <a:off x="5998464" y="1463040"/>
            <a:ext cx="2651760" cy="91440"/>
          </a:xfrm>
          <a:prstGeom prst="rect">
            <a:avLst/>
          </a:prstGeom>
          <a:solidFill>
            <a:srgbClr val="073FA8"/>
          </a:solidFill>
          <a:ln w="12700">
            <a:solidFill>
              <a:srgbClr val="073FA8"/>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7077456" y="1618488"/>
            <a:ext cx="475488" cy="475488"/>
          </a:xfrm>
          <a:prstGeom prst="rect">
            <a:avLst/>
          </a:prstGeom>
        </p:spPr>
      </p:pic>
      <p:sp>
        <p:nvSpPr>
          <p:cNvPr id="18" name="Text 13"/>
          <p:cNvSpPr/>
          <p:nvPr/>
        </p:nvSpPr>
        <p:spPr>
          <a:xfrm>
            <a:off x="6089904" y="2139696"/>
            <a:ext cx="2468880" cy="804672"/>
          </a:xfrm>
          <a:prstGeom prst="rect">
            <a:avLst/>
          </a:prstGeom>
          <a:noFill/>
          <a:ln/>
        </p:spPr>
        <p:txBody>
          <a:bodyPr wrap="square" lIns="0" tIns="0" rIns="0" bIns="0" rtlCol="0" anchor="ctr"/>
          <a:lstStyle/>
          <a:p>
            <a:pPr marL="0" indent="0" algn="ctr">
              <a:buNone/>
            </a:pPr>
            <a:r>
              <a:rPr lang="en-US" sz="4200" b="1" dirty="0">
                <a:solidFill>
                  <a:srgbClr val="073FA8"/>
                </a:solidFill>
                <a:latin typeface="Calibri" pitchFamily="34" charset="0"/>
                <a:ea typeface="Calibri" pitchFamily="34" charset="-122"/>
                <a:cs typeface="Calibri" pitchFamily="34" charset="-120"/>
              </a:rPr>
              <a:t>74%</a:t>
            </a:r>
            <a:endParaRPr lang="en-US" sz="4200" dirty="0"/>
          </a:p>
        </p:txBody>
      </p:sp>
      <p:sp>
        <p:nvSpPr>
          <p:cNvPr id="19" name="Text 14"/>
          <p:cNvSpPr/>
          <p:nvPr/>
        </p:nvSpPr>
        <p:spPr>
          <a:xfrm>
            <a:off x="6089904" y="2962656"/>
            <a:ext cx="2468880" cy="685800"/>
          </a:xfrm>
          <a:prstGeom prst="rect">
            <a:avLst/>
          </a:prstGeom>
          <a:noFill/>
          <a:ln/>
        </p:spPr>
        <p:txBody>
          <a:bodyPr wrap="square" lIns="0" tIns="0" rIns="0" bIns="0" rtlCol="0" anchor="ctr"/>
          <a:lstStyle/>
          <a:p>
            <a:pPr marL="0" indent="0" algn="ctr">
              <a:buNone/>
            </a:pPr>
            <a:r>
              <a:rPr lang="en-US" sz="1150" dirty="0">
                <a:solidFill>
                  <a:srgbClr val="575A5D"/>
                </a:solidFill>
                <a:latin typeface="Calibri" pitchFamily="34" charset="0"/>
                <a:ea typeface="Calibri" pitchFamily="34" charset="-122"/>
                <a:cs typeface="Calibri" pitchFamily="34" charset="-120"/>
              </a:rPr>
              <a:t>of FIs cite AI/ML tools as a</a:t>
            </a:r>
            <a:endParaRPr lang="en-US" sz="1150" dirty="0"/>
          </a:p>
          <a:p>
            <a:pPr marL="0" indent="0" algn="ctr">
              <a:buNone/>
            </a:pPr>
            <a:r>
              <a:rPr lang="en-US" sz="1150" dirty="0">
                <a:solidFill>
                  <a:srgbClr val="575A5D"/>
                </a:solidFill>
                <a:latin typeface="Calibri" pitchFamily="34" charset="0"/>
                <a:ea typeface="Calibri" pitchFamily="34" charset="-122"/>
                <a:cs typeface="Calibri" pitchFamily="34" charset="-120"/>
              </a:rPr>
              <a:t>top 3 technology priority*</a:t>
            </a:r>
            <a:endParaRPr lang="en-US" sz="1150" dirty="0"/>
          </a:p>
        </p:txBody>
      </p:sp>
      <p:sp>
        <p:nvSpPr>
          <p:cNvPr id="20" name="Text 15"/>
          <p:cNvSpPr/>
          <p:nvPr/>
        </p:nvSpPr>
        <p:spPr>
          <a:xfrm>
            <a:off x="365760" y="4005072"/>
            <a:ext cx="8412480" cy="256032"/>
          </a:xfrm>
          <a:prstGeom prst="rect">
            <a:avLst/>
          </a:prstGeom>
          <a:noFill/>
          <a:ln/>
        </p:spPr>
        <p:txBody>
          <a:bodyPr wrap="square" lIns="0" tIns="0" rIns="0" bIns="0" rtlCol="0" anchor="ctr"/>
          <a:lstStyle/>
          <a:p>
            <a:pPr marL="0" indent="0">
              <a:buNone/>
            </a:pPr>
            <a:r>
              <a:rPr lang="en-US" sz="900" i="1" dirty="0">
                <a:solidFill>
                  <a:srgbClr val="B6BBC0"/>
                </a:solidFill>
                <a:latin typeface="Calibri" pitchFamily="34" charset="0"/>
                <a:ea typeface="Calibri" pitchFamily="34" charset="-122"/>
                <a:cs typeface="Calibri" pitchFamily="34" charset="-120"/>
              </a:rPr>
              <a:t>* ICBA / Cornerstone Advisors 2025 What's Going On In Banking survey</a:t>
            </a:r>
            <a:endParaRPr lang="en-US" sz="900" dirty="0"/>
          </a:p>
        </p:txBody>
      </p:sp>
      <p:sp>
        <p:nvSpPr>
          <p:cNvPr id="21" name="Shape 16"/>
          <p:cNvSpPr/>
          <p:nvPr/>
        </p:nvSpPr>
        <p:spPr>
          <a:xfrm>
            <a:off x="365760" y="4315968"/>
            <a:ext cx="8412480" cy="658368"/>
          </a:xfrm>
          <a:prstGeom prst="rect">
            <a:avLst/>
          </a:prstGeom>
          <a:solidFill>
            <a:srgbClr val="06185F"/>
          </a:solidFill>
          <a:ln w="12700">
            <a:solidFill>
              <a:srgbClr val="06185F"/>
            </a:solidFill>
            <a:prstDash val="solid"/>
          </a:ln>
        </p:spPr>
        <p:txBody>
          <a:bodyPr/>
          <a:lstStyle/>
          <a:p>
            <a:endParaRPr lang="en-US"/>
          </a:p>
        </p:txBody>
      </p:sp>
      <p:sp>
        <p:nvSpPr>
          <p:cNvPr id="22" name="Text 17"/>
          <p:cNvSpPr/>
          <p:nvPr/>
        </p:nvSpPr>
        <p:spPr>
          <a:xfrm>
            <a:off x="548640" y="4352544"/>
            <a:ext cx="8046720" cy="585216"/>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We are requesting budget and headcount to build the team and platform to deliver this value — starting with our 1,660 core FI clients, expanding across the full JH ecosystem.</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D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txBody>
          <a:bodyPr/>
          <a:lstStyle/>
          <a:p>
            <a:endParaRPr lang="en-US"/>
          </a:p>
        </p:txBody>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Real Market Opportunity — Grounded in JH's Actual Footprint</a:t>
            </a:r>
            <a:endParaRPr lang="en-US" sz="2000" dirty="0"/>
          </a:p>
        </p:txBody>
      </p:sp>
      <p:sp>
        <p:nvSpPr>
          <p:cNvPr id="4" name="Text 2"/>
          <p:cNvSpPr/>
          <p:nvPr/>
        </p:nvSpPr>
        <p:spPr>
          <a:xfrm>
            <a:off x="365760" y="749808"/>
            <a:ext cx="8412480" cy="365760"/>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Jack Henry's FY2024 10-K reports 1,660 FIs on core processing — 940 banks and 720 credit unions. The remaining ~5,870 clients use payment and complementary products only. This is the true addressable base for the AI platform.</a:t>
            </a:r>
            <a:endParaRPr lang="en-US" sz="1000" dirty="0"/>
          </a:p>
        </p:txBody>
      </p:sp>
      <p:sp>
        <p:nvSpPr>
          <p:cNvPr id="5" name="Shape 3"/>
          <p:cNvSpPr/>
          <p:nvPr/>
        </p:nvSpPr>
        <p:spPr>
          <a:xfrm>
            <a:off x="274320" y="1188720"/>
            <a:ext cx="2834640" cy="331012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274320" y="1188720"/>
            <a:ext cx="2834640" cy="54864"/>
          </a:xfrm>
          <a:prstGeom prst="rect">
            <a:avLst/>
          </a:prstGeom>
          <a:solidFill>
            <a:srgbClr val="085CE5"/>
          </a:solidFill>
          <a:ln w="12700">
            <a:solidFill>
              <a:srgbClr val="085CE5"/>
            </a:solidFill>
            <a:prstDash val="solid"/>
          </a:ln>
        </p:spPr>
        <p:txBody>
          <a:bodyPr/>
          <a:lstStyle/>
          <a:p>
            <a:endParaRPr lang="en-US"/>
          </a:p>
        </p:txBody>
      </p:sp>
      <p:sp>
        <p:nvSpPr>
          <p:cNvPr id="7" name="Shape 5"/>
          <p:cNvSpPr/>
          <p:nvPr/>
        </p:nvSpPr>
        <p:spPr>
          <a:xfrm>
            <a:off x="420624" y="1298448"/>
            <a:ext cx="1005840" cy="201168"/>
          </a:xfrm>
          <a:prstGeom prst="rect">
            <a:avLst/>
          </a:prstGeom>
          <a:solidFill>
            <a:srgbClr val="085CE5"/>
          </a:solidFill>
          <a:ln w="12700">
            <a:solidFill>
              <a:srgbClr val="085CE5"/>
            </a:solidFill>
            <a:prstDash val="solid"/>
          </a:ln>
        </p:spPr>
        <p:txBody>
          <a:bodyPr/>
          <a:lstStyle/>
          <a:p>
            <a:endParaRPr lang="en-US"/>
          </a:p>
        </p:txBody>
      </p:sp>
      <p:sp>
        <p:nvSpPr>
          <p:cNvPr id="8" name="Text 6"/>
          <p:cNvSpPr/>
          <p:nvPr/>
        </p:nvSpPr>
        <p:spPr>
          <a:xfrm>
            <a:off x="420624" y="1298448"/>
            <a:ext cx="100584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PRIMARY</a:t>
            </a:r>
            <a:endParaRPr lang="en-US" sz="750" dirty="0"/>
          </a:p>
        </p:txBody>
      </p:sp>
      <p:sp>
        <p:nvSpPr>
          <p:cNvPr id="9" name="Text 7"/>
          <p:cNvSpPr/>
          <p:nvPr/>
        </p:nvSpPr>
        <p:spPr>
          <a:xfrm>
            <a:off x="420624" y="1554480"/>
            <a:ext cx="2542032" cy="256032"/>
          </a:xfrm>
          <a:prstGeom prst="rect">
            <a:avLst/>
          </a:prstGeom>
          <a:noFill/>
          <a:ln/>
        </p:spPr>
        <p:txBody>
          <a:bodyPr wrap="square" lIns="0" tIns="0" rIns="0" bIns="0" rtlCol="0" anchor="ctr"/>
          <a:lstStyle/>
          <a:p>
            <a:pPr marL="0" indent="0">
              <a:buNone/>
            </a:pPr>
            <a:r>
              <a:rPr lang="en-US" sz="1200" b="1" dirty="0">
                <a:solidFill>
                  <a:srgbClr val="06185F"/>
                </a:solidFill>
                <a:latin typeface="Calibri" pitchFamily="34" charset="0"/>
                <a:ea typeface="Calibri" pitchFamily="34" charset="-122"/>
                <a:cs typeface="Calibri" pitchFamily="34" charset="-120"/>
              </a:rPr>
              <a:t>Core Platform FIs</a:t>
            </a:r>
            <a:endParaRPr lang="en-US" sz="1200" dirty="0"/>
          </a:p>
        </p:txBody>
      </p:sp>
      <p:sp>
        <p:nvSpPr>
          <p:cNvPr id="10" name="Text 8"/>
          <p:cNvSpPr/>
          <p:nvPr/>
        </p:nvSpPr>
        <p:spPr>
          <a:xfrm>
            <a:off x="420624" y="1828800"/>
            <a:ext cx="2542032" cy="694944"/>
          </a:xfrm>
          <a:prstGeom prst="rect">
            <a:avLst/>
          </a:prstGeom>
          <a:noFill/>
          <a:ln/>
        </p:spPr>
        <p:txBody>
          <a:bodyPr wrap="square" lIns="0" tIns="0" rIns="0" bIns="0" rtlCol="0" anchor="ctr"/>
          <a:lstStyle/>
          <a:p>
            <a:pPr marL="0" indent="0">
              <a:buNone/>
            </a:pPr>
            <a:r>
              <a:rPr lang="en-US" sz="4600" b="1" dirty="0">
                <a:solidFill>
                  <a:srgbClr val="085CE5"/>
                </a:solidFill>
                <a:latin typeface="Calibri" pitchFamily="34" charset="0"/>
                <a:ea typeface="Calibri" pitchFamily="34" charset="-122"/>
                <a:cs typeface="Calibri" pitchFamily="34" charset="-120"/>
              </a:rPr>
              <a:t>1,660</a:t>
            </a:r>
            <a:endParaRPr lang="en-US" sz="4600" dirty="0"/>
          </a:p>
        </p:txBody>
      </p:sp>
      <p:sp>
        <p:nvSpPr>
          <p:cNvPr id="11" name="Text 9"/>
          <p:cNvSpPr/>
          <p:nvPr/>
        </p:nvSpPr>
        <p:spPr>
          <a:xfrm>
            <a:off x="420624" y="2523744"/>
            <a:ext cx="2542032" cy="219456"/>
          </a:xfrm>
          <a:prstGeom prst="rect">
            <a:avLst/>
          </a:prstGeom>
          <a:noFill/>
          <a:ln/>
        </p:spPr>
        <p:txBody>
          <a:bodyPr wrap="square" lIns="0" tIns="0" rIns="0" bIns="0" rtlCol="0" anchor="ctr"/>
          <a:lstStyle/>
          <a:p>
            <a:pPr marL="0" indent="0">
              <a:buNone/>
            </a:pPr>
            <a:r>
              <a:rPr lang="en-US" sz="900" i="1" dirty="0">
                <a:solidFill>
                  <a:srgbClr val="B6BBC0"/>
                </a:solidFill>
                <a:latin typeface="Calibri" pitchFamily="34" charset="0"/>
                <a:ea typeface="Calibri" pitchFamily="34" charset="-122"/>
                <a:cs typeface="Calibri" pitchFamily="34" charset="-120"/>
              </a:rPr>
              <a:t>940 banks  ·  720 credit unions</a:t>
            </a:r>
            <a:endParaRPr lang="en-US" sz="900" dirty="0"/>
          </a:p>
        </p:txBody>
      </p:sp>
      <p:sp>
        <p:nvSpPr>
          <p:cNvPr id="12" name="Shape 10"/>
          <p:cNvSpPr/>
          <p:nvPr/>
        </p:nvSpPr>
        <p:spPr>
          <a:xfrm>
            <a:off x="420624" y="2798064"/>
            <a:ext cx="2542032" cy="18288"/>
          </a:xfrm>
          <a:prstGeom prst="rect">
            <a:avLst/>
          </a:prstGeom>
          <a:solidFill>
            <a:srgbClr val="E7ECF0"/>
          </a:solidFill>
          <a:ln w="12700">
            <a:solidFill>
              <a:srgbClr val="E7ECF0"/>
            </a:solidFill>
            <a:prstDash val="solid"/>
          </a:ln>
        </p:spPr>
        <p:txBody>
          <a:bodyPr/>
          <a:lstStyle/>
          <a:p>
            <a:endParaRPr lang="en-US"/>
          </a:p>
        </p:txBody>
      </p:sp>
      <p:sp>
        <p:nvSpPr>
          <p:cNvPr id="13" name="Text 11"/>
          <p:cNvSpPr/>
          <p:nvPr/>
        </p:nvSpPr>
        <p:spPr>
          <a:xfrm>
            <a:off x="420624" y="2871216"/>
            <a:ext cx="2542032" cy="1463040"/>
          </a:xfrm>
          <a:prstGeom prst="rect">
            <a:avLst/>
          </a:prstGeom>
          <a:noFill/>
          <a:ln/>
        </p:spPr>
        <p:txBody>
          <a:bodyPr wrap="square" lIns="0" tIns="0" rIns="0" bIns="0" rtlCol="0" anchor="ctr"/>
          <a:lstStyle/>
          <a:p>
            <a:pPr marL="0" indent="0">
              <a:buNone/>
            </a:pPr>
            <a:r>
              <a:rPr lang="en-US" sz="950" dirty="0">
                <a:solidFill>
                  <a:srgbClr val="575A5D"/>
                </a:solidFill>
                <a:latin typeface="Calibri" pitchFamily="34" charset="0"/>
                <a:ea typeface="Calibri" pitchFamily="34" charset="-122"/>
                <a:cs typeface="Calibri" pitchFamily="34" charset="-120"/>
              </a:rPr>
              <a:t>Full data access: core transactions, deposits, lending, digital. Highest AI value — all 5 Phase 1 apps apply. JH has 25% of target bank market and ~17% of US CU market on core.</a:t>
            </a:r>
            <a:endParaRPr lang="en-US" sz="950" dirty="0"/>
          </a:p>
        </p:txBody>
      </p:sp>
      <p:sp>
        <p:nvSpPr>
          <p:cNvPr id="14" name="Shape 12"/>
          <p:cNvSpPr/>
          <p:nvPr/>
        </p:nvSpPr>
        <p:spPr>
          <a:xfrm>
            <a:off x="3218688" y="1188720"/>
            <a:ext cx="2834640" cy="331012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5" name="Shape 13"/>
          <p:cNvSpPr/>
          <p:nvPr/>
        </p:nvSpPr>
        <p:spPr>
          <a:xfrm>
            <a:off x="3218688" y="1188720"/>
            <a:ext cx="2834640" cy="54864"/>
          </a:xfrm>
          <a:prstGeom prst="rect">
            <a:avLst/>
          </a:prstGeom>
          <a:solidFill>
            <a:srgbClr val="073FA8"/>
          </a:solidFill>
          <a:ln w="12700">
            <a:solidFill>
              <a:srgbClr val="073FA8"/>
            </a:solidFill>
            <a:prstDash val="solid"/>
          </a:ln>
        </p:spPr>
        <p:txBody>
          <a:bodyPr/>
          <a:lstStyle/>
          <a:p>
            <a:endParaRPr lang="en-US"/>
          </a:p>
        </p:txBody>
      </p:sp>
      <p:sp>
        <p:nvSpPr>
          <p:cNvPr id="16" name="Shape 14"/>
          <p:cNvSpPr/>
          <p:nvPr/>
        </p:nvSpPr>
        <p:spPr>
          <a:xfrm>
            <a:off x="3364992" y="1298448"/>
            <a:ext cx="1005840" cy="201168"/>
          </a:xfrm>
          <a:prstGeom prst="rect">
            <a:avLst/>
          </a:prstGeom>
          <a:solidFill>
            <a:srgbClr val="073FA8"/>
          </a:solidFill>
          <a:ln w="12700">
            <a:solidFill>
              <a:srgbClr val="073FA8"/>
            </a:solidFill>
            <a:prstDash val="solid"/>
          </a:ln>
        </p:spPr>
        <p:txBody>
          <a:bodyPr/>
          <a:lstStyle/>
          <a:p>
            <a:endParaRPr lang="en-US"/>
          </a:p>
        </p:txBody>
      </p:sp>
      <p:sp>
        <p:nvSpPr>
          <p:cNvPr id="17" name="Text 15"/>
          <p:cNvSpPr/>
          <p:nvPr/>
        </p:nvSpPr>
        <p:spPr>
          <a:xfrm>
            <a:off x="3364992" y="1298448"/>
            <a:ext cx="100584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SECONDARY</a:t>
            </a:r>
            <a:endParaRPr lang="en-US" sz="750" dirty="0"/>
          </a:p>
        </p:txBody>
      </p:sp>
      <p:sp>
        <p:nvSpPr>
          <p:cNvPr id="18" name="Text 16"/>
          <p:cNvSpPr/>
          <p:nvPr/>
        </p:nvSpPr>
        <p:spPr>
          <a:xfrm>
            <a:off x="3364992" y="1554480"/>
            <a:ext cx="2542032" cy="256032"/>
          </a:xfrm>
          <a:prstGeom prst="rect">
            <a:avLst/>
          </a:prstGeom>
          <a:noFill/>
          <a:ln/>
        </p:spPr>
        <p:txBody>
          <a:bodyPr wrap="square" lIns="0" tIns="0" rIns="0" bIns="0" rtlCol="0" anchor="ctr"/>
          <a:lstStyle/>
          <a:p>
            <a:pPr marL="0" indent="0">
              <a:buNone/>
            </a:pPr>
            <a:r>
              <a:rPr lang="en-US" sz="1200" b="1" dirty="0">
                <a:solidFill>
                  <a:srgbClr val="06185F"/>
                </a:solidFill>
                <a:latin typeface="Calibri" pitchFamily="34" charset="0"/>
                <a:ea typeface="Calibri" pitchFamily="34" charset="-122"/>
                <a:cs typeface="Calibri" pitchFamily="34" charset="-120"/>
              </a:rPr>
              <a:t>Payment / Complementary FIs</a:t>
            </a:r>
            <a:endParaRPr lang="en-US" sz="1200" dirty="0"/>
          </a:p>
        </p:txBody>
      </p:sp>
      <p:sp>
        <p:nvSpPr>
          <p:cNvPr id="19" name="Text 17"/>
          <p:cNvSpPr/>
          <p:nvPr/>
        </p:nvSpPr>
        <p:spPr>
          <a:xfrm>
            <a:off x="3364992" y="1828800"/>
            <a:ext cx="2542032" cy="694944"/>
          </a:xfrm>
          <a:prstGeom prst="rect">
            <a:avLst/>
          </a:prstGeom>
          <a:noFill/>
          <a:ln/>
        </p:spPr>
        <p:txBody>
          <a:bodyPr wrap="square" lIns="0" tIns="0" rIns="0" bIns="0" rtlCol="0" anchor="ctr"/>
          <a:lstStyle/>
          <a:p>
            <a:pPr marL="0" indent="0">
              <a:buNone/>
            </a:pPr>
            <a:r>
              <a:rPr lang="en-US" sz="4600" b="1" dirty="0">
                <a:solidFill>
                  <a:srgbClr val="073FA8"/>
                </a:solidFill>
                <a:latin typeface="Calibri" pitchFamily="34" charset="0"/>
                <a:ea typeface="Calibri" pitchFamily="34" charset="-122"/>
                <a:cs typeface="Calibri" pitchFamily="34" charset="-120"/>
              </a:rPr>
              <a:t>5,870</a:t>
            </a:r>
            <a:endParaRPr lang="en-US" sz="4600" dirty="0"/>
          </a:p>
        </p:txBody>
      </p:sp>
      <p:sp>
        <p:nvSpPr>
          <p:cNvPr id="20" name="Text 18"/>
          <p:cNvSpPr/>
          <p:nvPr/>
        </p:nvSpPr>
        <p:spPr>
          <a:xfrm>
            <a:off x="3364992" y="2523744"/>
            <a:ext cx="2542032" cy="219456"/>
          </a:xfrm>
          <a:prstGeom prst="rect">
            <a:avLst/>
          </a:prstGeom>
          <a:noFill/>
          <a:ln/>
        </p:spPr>
        <p:txBody>
          <a:bodyPr wrap="square" lIns="0" tIns="0" rIns="0" bIns="0" rtlCol="0" anchor="ctr"/>
          <a:lstStyle/>
          <a:p>
            <a:pPr marL="0" indent="0">
              <a:buNone/>
            </a:pPr>
            <a:r>
              <a:rPr lang="en-US" sz="900" i="1" dirty="0">
                <a:solidFill>
                  <a:srgbClr val="B6BBC0"/>
                </a:solidFill>
                <a:latin typeface="Calibri" pitchFamily="34" charset="0"/>
                <a:ea typeface="Calibri" pitchFamily="34" charset="-122"/>
                <a:cs typeface="Calibri" pitchFamily="34" charset="-120"/>
              </a:rPr>
              <a:t>Payments, digital, card, bill pay</a:t>
            </a:r>
            <a:endParaRPr lang="en-US" sz="900" dirty="0"/>
          </a:p>
        </p:txBody>
      </p:sp>
      <p:sp>
        <p:nvSpPr>
          <p:cNvPr id="21" name="Shape 19"/>
          <p:cNvSpPr/>
          <p:nvPr/>
        </p:nvSpPr>
        <p:spPr>
          <a:xfrm>
            <a:off x="3364992" y="2798064"/>
            <a:ext cx="2542032" cy="18288"/>
          </a:xfrm>
          <a:prstGeom prst="rect">
            <a:avLst/>
          </a:prstGeom>
          <a:solidFill>
            <a:srgbClr val="E7ECF0"/>
          </a:solidFill>
          <a:ln w="12700">
            <a:solidFill>
              <a:srgbClr val="E7ECF0"/>
            </a:solidFill>
            <a:prstDash val="solid"/>
          </a:ln>
        </p:spPr>
        <p:txBody>
          <a:bodyPr/>
          <a:lstStyle/>
          <a:p>
            <a:endParaRPr lang="en-US"/>
          </a:p>
        </p:txBody>
      </p:sp>
      <p:sp>
        <p:nvSpPr>
          <p:cNvPr id="22" name="Text 20"/>
          <p:cNvSpPr/>
          <p:nvPr/>
        </p:nvSpPr>
        <p:spPr>
          <a:xfrm>
            <a:off x="3364992" y="2871216"/>
            <a:ext cx="2542032" cy="1463040"/>
          </a:xfrm>
          <a:prstGeom prst="rect">
            <a:avLst/>
          </a:prstGeom>
          <a:noFill/>
          <a:ln/>
        </p:spPr>
        <p:txBody>
          <a:bodyPr wrap="square" lIns="0" tIns="0" rIns="0" bIns="0" rtlCol="0" anchor="ctr"/>
          <a:lstStyle/>
          <a:p>
            <a:pPr marL="0" indent="0">
              <a:buNone/>
            </a:pPr>
            <a:r>
              <a:rPr lang="en-US" sz="950" dirty="0">
                <a:solidFill>
                  <a:srgbClr val="575A5D"/>
                </a:solidFill>
                <a:latin typeface="Calibri" pitchFamily="34" charset="0"/>
                <a:ea typeface="Calibri" pitchFamily="34" charset="-122"/>
                <a:cs typeface="Calibri" pitchFamily="34" charset="-120"/>
              </a:rPr>
              <a:t>Payment data only — no core relationship. Zelle Memo Intelligence and Anomaly Detection apply directly. Broader sales motion; lighter data integration per FI.</a:t>
            </a:r>
            <a:endParaRPr lang="en-US" sz="950" dirty="0"/>
          </a:p>
        </p:txBody>
      </p:sp>
      <p:sp>
        <p:nvSpPr>
          <p:cNvPr id="23" name="Shape 21"/>
          <p:cNvSpPr/>
          <p:nvPr/>
        </p:nvSpPr>
        <p:spPr>
          <a:xfrm>
            <a:off x="6163056" y="1188720"/>
            <a:ext cx="2834640" cy="331012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24" name="Shape 22"/>
          <p:cNvSpPr/>
          <p:nvPr/>
        </p:nvSpPr>
        <p:spPr>
          <a:xfrm>
            <a:off x="6163056" y="1188720"/>
            <a:ext cx="2834640" cy="54864"/>
          </a:xfrm>
          <a:prstGeom prst="rect">
            <a:avLst/>
          </a:prstGeom>
          <a:solidFill>
            <a:srgbClr val="575A5D"/>
          </a:solidFill>
          <a:ln w="12700">
            <a:solidFill>
              <a:srgbClr val="575A5D"/>
            </a:solidFill>
            <a:prstDash val="solid"/>
          </a:ln>
        </p:spPr>
        <p:txBody>
          <a:bodyPr/>
          <a:lstStyle/>
          <a:p>
            <a:endParaRPr lang="en-US"/>
          </a:p>
        </p:txBody>
      </p:sp>
      <p:sp>
        <p:nvSpPr>
          <p:cNvPr id="25" name="Shape 23"/>
          <p:cNvSpPr/>
          <p:nvPr/>
        </p:nvSpPr>
        <p:spPr>
          <a:xfrm>
            <a:off x="6309360" y="1298448"/>
            <a:ext cx="1005840" cy="201168"/>
          </a:xfrm>
          <a:prstGeom prst="rect">
            <a:avLst/>
          </a:prstGeom>
          <a:solidFill>
            <a:srgbClr val="575A5D"/>
          </a:solidFill>
          <a:ln w="12700">
            <a:solidFill>
              <a:srgbClr val="575A5D"/>
            </a:solidFill>
            <a:prstDash val="solid"/>
          </a:ln>
        </p:spPr>
        <p:txBody>
          <a:bodyPr/>
          <a:lstStyle/>
          <a:p>
            <a:endParaRPr lang="en-US"/>
          </a:p>
        </p:txBody>
      </p:sp>
      <p:sp>
        <p:nvSpPr>
          <p:cNvPr id="26" name="Text 24"/>
          <p:cNvSpPr/>
          <p:nvPr/>
        </p:nvSpPr>
        <p:spPr>
          <a:xfrm>
            <a:off x="6309360" y="1298448"/>
            <a:ext cx="100584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FUTURE</a:t>
            </a:r>
            <a:endParaRPr lang="en-US" sz="750" dirty="0"/>
          </a:p>
        </p:txBody>
      </p:sp>
      <p:sp>
        <p:nvSpPr>
          <p:cNvPr id="27" name="Text 25"/>
          <p:cNvSpPr/>
          <p:nvPr/>
        </p:nvSpPr>
        <p:spPr>
          <a:xfrm>
            <a:off x="6309360" y="1554480"/>
            <a:ext cx="2542032" cy="256032"/>
          </a:xfrm>
          <a:prstGeom prst="rect">
            <a:avLst/>
          </a:prstGeom>
          <a:noFill/>
          <a:ln/>
        </p:spPr>
        <p:txBody>
          <a:bodyPr wrap="square" lIns="0" tIns="0" rIns="0" bIns="0" rtlCol="0" anchor="ctr"/>
          <a:lstStyle/>
          <a:p>
            <a:pPr marL="0" indent="0">
              <a:buNone/>
            </a:pPr>
            <a:r>
              <a:rPr lang="en-US" sz="1200" b="1" dirty="0">
                <a:solidFill>
                  <a:srgbClr val="06185F"/>
                </a:solidFill>
                <a:latin typeface="Calibri" pitchFamily="34" charset="0"/>
                <a:ea typeface="Calibri" pitchFamily="34" charset="-122"/>
                <a:cs typeface="Calibri" pitchFamily="34" charset="-120"/>
              </a:rPr>
              <a:t>All U.S. Credit Unions</a:t>
            </a:r>
            <a:endParaRPr lang="en-US" sz="1200" dirty="0"/>
          </a:p>
        </p:txBody>
      </p:sp>
      <p:sp>
        <p:nvSpPr>
          <p:cNvPr id="28" name="Text 26"/>
          <p:cNvSpPr/>
          <p:nvPr/>
        </p:nvSpPr>
        <p:spPr>
          <a:xfrm>
            <a:off x="6309360" y="1828800"/>
            <a:ext cx="2542032" cy="694944"/>
          </a:xfrm>
          <a:prstGeom prst="rect">
            <a:avLst/>
          </a:prstGeom>
          <a:noFill/>
          <a:ln/>
        </p:spPr>
        <p:txBody>
          <a:bodyPr wrap="square" lIns="0" tIns="0" rIns="0" bIns="0" rtlCol="0" anchor="ctr"/>
          <a:lstStyle/>
          <a:p>
            <a:pPr marL="0" indent="0">
              <a:buNone/>
            </a:pPr>
            <a:r>
              <a:rPr lang="en-US" sz="4600" b="1" dirty="0">
                <a:solidFill>
                  <a:srgbClr val="575A5D"/>
                </a:solidFill>
                <a:latin typeface="Calibri" pitchFamily="34" charset="0"/>
                <a:ea typeface="Calibri" pitchFamily="34" charset="-122"/>
                <a:cs typeface="Calibri" pitchFamily="34" charset="-120"/>
              </a:rPr>
              <a:t>4,374</a:t>
            </a:r>
            <a:endParaRPr lang="en-US" sz="4600" dirty="0"/>
          </a:p>
        </p:txBody>
      </p:sp>
      <p:sp>
        <p:nvSpPr>
          <p:cNvPr id="29" name="Text 27"/>
          <p:cNvSpPr/>
          <p:nvPr/>
        </p:nvSpPr>
        <p:spPr>
          <a:xfrm>
            <a:off x="6309360" y="2523744"/>
            <a:ext cx="2542032" cy="219456"/>
          </a:xfrm>
          <a:prstGeom prst="rect">
            <a:avLst/>
          </a:prstGeom>
          <a:noFill/>
          <a:ln/>
        </p:spPr>
        <p:txBody>
          <a:bodyPr wrap="square" lIns="0" tIns="0" rIns="0" bIns="0" rtlCol="0" anchor="ctr"/>
          <a:lstStyle/>
          <a:p>
            <a:pPr marL="0" indent="0">
              <a:buNone/>
            </a:pPr>
            <a:r>
              <a:rPr lang="en-US" sz="900" i="1" dirty="0">
                <a:solidFill>
                  <a:srgbClr val="B6BBC0"/>
                </a:solidFill>
                <a:latin typeface="Calibri" pitchFamily="34" charset="0"/>
                <a:ea typeface="Calibri" pitchFamily="34" charset="-122"/>
                <a:cs typeface="Calibri" pitchFamily="34" charset="-120"/>
              </a:rPr>
              <a:t>NCUA 5300 — public regulatory data</a:t>
            </a:r>
            <a:endParaRPr lang="en-US" sz="900" dirty="0"/>
          </a:p>
        </p:txBody>
      </p:sp>
      <p:sp>
        <p:nvSpPr>
          <p:cNvPr id="30" name="Shape 28"/>
          <p:cNvSpPr/>
          <p:nvPr/>
        </p:nvSpPr>
        <p:spPr>
          <a:xfrm>
            <a:off x="6309360" y="2798064"/>
            <a:ext cx="2542032" cy="18288"/>
          </a:xfrm>
          <a:prstGeom prst="rect">
            <a:avLst/>
          </a:prstGeom>
          <a:solidFill>
            <a:srgbClr val="E7ECF0"/>
          </a:solidFill>
          <a:ln w="12700">
            <a:solidFill>
              <a:srgbClr val="E7ECF0"/>
            </a:solidFill>
            <a:prstDash val="solid"/>
          </a:ln>
        </p:spPr>
        <p:txBody>
          <a:bodyPr/>
          <a:lstStyle/>
          <a:p>
            <a:endParaRPr lang="en-US"/>
          </a:p>
        </p:txBody>
      </p:sp>
      <p:sp>
        <p:nvSpPr>
          <p:cNvPr id="31" name="Text 29"/>
          <p:cNvSpPr/>
          <p:nvPr/>
        </p:nvSpPr>
        <p:spPr>
          <a:xfrm>
            <a:off x="6309360" y="2871216"/>
            <a:ext cx="2542032" cy="1463040"/>
          </a:xfrm>
          <a:prstGeom prst="rect">
            <a:avLst/>
          </a:prstGeom>
          <a:noFill/>
          <a:ln/>
        </p:spPr>
        <p:txBody>
          <a:bodyPr wrap="square" lIns="0" tIns="0" rIns="0" bIns="0" rtlCol="0" anchor="ctr"/>
          <a:lstStyle/>
          <a:p>
            <a:pPr marL="0" indent="0">
              <a:buNone/>
            </a:pPr>
            <a:r>
              <a:rPr lang="en-US" sz="950" dirty="0">
                <a:solidFill>
                  <a:srgbClr val="575A5D"/>
                </a:solidFill>
                <a:latin typeface="Calibri" pitchFamily="34" charset="0"/>
                <a:ea typeface="Calibri" pitchFamily="34" charset="-122"/>
                <a:cs typeface="Calibri" pitchFamily="34" charset="-120"/>
              </a:rPr>
              <a:t>Future open-data opportunity: NCUA 5300 regulatory intelligence requires no JH relationship. Any of the 4,374 U.S. CUs with $2.5T in assets is addressable — a long-tail expansion lever after core FI penetration.</a:t>
            </a:r>
            <a:endParaRPr lang="en-US" sz="950" dirty="0"/>
          </a:p>
        </p:txBody>
      </p:sp>
      <p:sp>
        <p:nvSpPr>
          <p:cNvPr id="32" name="Shape 30"/>
          <p:cNvSpPr/>
          <p:nvPr/>
        </p:nvSpPr>
        <p:spPr>
          <a:xfrm>
            <a:off x="274320" y="4572000"/>
            <a:ext cx="8595360" cy="457200"/>
          </a:xfrm>
          <a:prstGeom prst="rect">
            <a:avLst/>
          </a:prstGeom>
          <a:solidFill>
            <a:srgbClr val="06185F"/>
          </a:solidFill>
          <a:ln w="12700">
            <a:solidFill>
              <a:srgbClr val="06185F"/>
            </a:solidFill>
            <a:prstDash val="solid"/>
          </a:ln>
        </p:spPr>
        <p:txBody>
          <a:bodyPr/>
          <a:lstStyle/>
          <a:p>
            <a:endParaRPr lang="en-US"/>
          </a:p>
        </p:txBody>
      </p:sp>
      <p:sp>
        <p:nvSpPr>
          <p:cNvPr id="33" name="Text 31"/>
          <p:cNvSpPr/>
          <p:nvPr/>
        </p:nvSpPr>
        <p:spPr>
          <a:xfrm>
            <a:off x="457200" y="4599432"/>
            <a:ext cx="8229600" cy="40233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Phase 1 targets the 1,660 core FIs first — Zelle Memo Intelligence launching now, then expanding across DS apps and payment-only FIs as pipelines mature.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5303520" y="-1828800"/>
            <a:ext cx="6400800" cy="6400800"/>
          </a:xfrm>
          <a:prstGeom prst="ellipse">
            <a:avLst/>
          </a:prstGeom>
          <a:solidFill>
            <a:srgbClr val="085CE5">
              <a:alpha val="10000"/>
            </a:srgbClr>
          </a:solidFill>
          <a:ln w="12700">
            <a:solidFill>
              <a:srgbClr val="085CE5">
                <a:alpha val="18000"/>
              </a:srgbClr>
            </a:solidFill>
            <a:prstDash val="solid"/>
          </a:ln>
        </p:spPr>
        <p:txBody>
          <a:bodyPr/>
          <a:lstStyle/>
          <a:p>
            <a:endParaRPr lang="en-US"/>
          </a:p>
        </p:txBody>
      </p:sp>
      <p:sp>
        <p:nvSpPr>
          <p:cNvPr id="3" name="Shape 1"/>
          <p:cNvSpPr/>
          <p:nvPr/>
        </p:nvSpPr>
        <p:spPr>
          <a:xfrm>
            <a:off x="6583680" y="914400"/>
            <a:ext cx="3200400" cy="3200400"/>
          </a:xfrm>
          <a:prstGeom prst="ellipse">
            <a:avLst/>
          </a:prstGeom>
          <a:solidFill>
            <a:srgbClr val="76DCFD">
              <a:alpha val="12000"/>
            </a:srgbClr>
          </a:solidFill>
          <a:ln w="12700">
            <a:solidFill>
              <a:srgbClr val="76DCFD">
                <a:alpha val="20000"/>
              </a:srgbClr>
            </a:solidFill>
            <a:prstDash val="solid"/>
          </a:ln>
        </p:spPr>
        <p:txBody>
          <a:bodyPr/>
          <a:lstStyle/>
          <a:p>
            <a:endParaRPr lang="en-US"/>
          </a:p>
        </p:txBody>
      </p:sp>
      <p:sp>
        <p:nvSpPr>
          <p:cNvPr id="4" name="Shape 2"/>
          <p:cNvSpPr/>
          <p:nvPr/>
        </p:nvSpPr>
        <p:spPr>
          <a:xfrm>
            <a:off x="0" y="0"/>
            <a:ext cx="137160" cy="5143500"/>
          </a:xfrm>
          <a:prstGeom prst="rect">
            <a:avLst/>
          </a:prstGeom>
          <a:solidFill>
            <a:srgbClr val="085CE5"/>
          </a:solidFill>
          <a:ln w="12700">
            <a:solidFill>
              <a:srgbClr val="085CE5"/>
            </a:solidFill>
            <a:prstDash val="solid"/>
          </a:ln>
        </p:spPr>
        <p:txBody>
          <a:bodyPr/>
          <a:lstStyle/>
          <a:p>
            <a:endParaRPr lang="en-US"/>
          </a:p>
        </p:txBody>
      </p:sp>
      <p:sp>
        <p:nvSpPr>
          <p:cNvPr id="5" name="Text 3"/>
          <p:cNvSpPr/>
          <p:nvPr/>
        </p:nvSpPr>
        <p:spPr>
          <a:xfrm>
            <a:off x="365760" y="457200"/>
            <a:ext cx="5486400" cy="347472"/>
          </a:xfrm>
          <a:prstGeom prst="rect">
            <a:avLst/>
          </a:prstGeom>
          <a:noFill/>
          <a:ln/>
        </p:spPr>
        <p:txBody>
          <a:bodyPr wrap="square" lIns="0" tIns="0" rIns="0" bIns="0" rtlCol="0" anchor="ctr"/>
          <a:lstStyle/>
          <a:p>
            <a:pPr marL="0" indent="0">
              <a:buNone/>
            </a:pPr>
            <a:r>
              <a:rPr lang="en-US" sz="1100" b="1" kern="0" spc="400" dirty="0">
                <a:solidFill>
                  <a:srgbClr val="76DCFD"/>
                </a:solidFill>
                <a:latin typeface="Calibri" pitchFamily="34" charset="0"/>
                <a:ea typeface="Calibri" pitchFamily="34" charset="-122"/>
                <a:cs typeface="Calibri" pitchFamily="34" charset="-120"/>
              </a:rPr>
              <a:t>OUR VISION</a:t>
            </a:r>
            <a:endParaRPr lang="en-US" sz="1100" dirty="0"/>
          </a:p>
        </p:txBody>
      </p:sp>
      <p:sp>
        <p:nvSpPr>
          <p:cNvPr id="6" name="Text 4"/>
          <p:cNvSpPr/>
          <p:nvPr/>
        </p:nvSpPr>
        <p:spPr>
          <a:xfrm>
            <a:off x="365760" y="868680"/>
            <a:ext cx="6400800" cy="169164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Make Jack Henry the AI-First</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Platform Partner for Every</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Community FI in America</a:t>
            </a:r>
            <a:endParaRPr lang="en-US" sz="3400" dirty="0"/>
          </a:p>
        </p:txBody>
      </p:sp>
      <p:sp>
        <p:nvSpPr>
          <p:cNvPr id="7" name="Text 5"/>
          <p:cNvSpPr/>
          <p:nvPr/>
        </p:nvSpPr>
        <p:spPr>
          <a:xfrm>
            <a:off x="365760" y="2651760"/>
            <a:ext cx="5852160" cy="960120"/>
          </a:xfrm>
          <a:prstGeom prst="rect">
            <a:avLst/>
          </a:prstGeom>
          <a:noFill/>
          <a:ln/>
        </p:spPr>
        <p:txBody>
          <a:bodyPr wrap="square" lIns="0" tIns="0" rIns="0" bIns="0" rtlCol="0" anchor="ctr"/>
          <a:lstStyle/>
          <a:p>
            <a:pPr marL="0" indent="0">
              <a:buNone/>
            </a:pPr>
            <a:r>
              <a:rPr lang="en-US" sz="1300" dirty="0">
                <a:solidFill>
                  <a:srgbClr val="E7ECF0"/>
                </a:solidFill>
                <a:latin typeface="Calibri" pitchFamily="34" charset="0"/>
                <a:ea typeface="Calibri" pitchFamily="34" charset="-122"/>
                <a:cs typeface="Calibri" pitchFamily="34" charset="-120"/>
              </a:rPr>
              <a:t>By embedding AI-powered analytics and decision intelligence directly into the JH platform ecosystem, we deepen client stickiness, create new revenue streams, and establish an insurmountable competitive moat versus FIS, Fiserv, and niche challengers.</a:t>
            </a:r>
            <a:endParaRPr lang="en-US" sz="1300" dirty="0"/>
          </a:p>
        </p:txBody>
      </p:sp>
      <p:sp>
        <p:nvSpPr>
          <p:cNvPr id="8" name="Text 6"/>
          <p:cNvSpPr/>
          <p:nvPr/>
        </p:nvSpPr>
        <p:spPr>
          <a:xfrm>
            <a:off x="365760" y="3730752"/>
            <a:ext cx="5486400" cy="256032"/>
          </a:xfrm>
          <a:prstGeom prst="rect">
            <a:avLst/>
          </a:prstGeom>
          <a:noFill/>
          <a:ln/>
        </p:spPr>
        <p:txBody>
          <a:bodyPr wrap="square" lIns="0" tIns="0" rIns="0" bIns="0" rtlCol="0" anchor="ctr"/>
          <a:lstStyle/>
          <a:p>
            <a:pPr marL="0" indent="0">
              <a:buNone/>
            </a:pPr>
            <a:r>
              <a:rPr lang="en-US" sz="900" b="1" kern="0" spc="150" dirty="0">
                <a:solidFill>
                  <a:srgbClr val="B6BBC0"/>
                </a:solidFill>
                <a:latin typeface="Calibri" pitchFamily="34" charset="0"/>
                <a:ea typeface="Calibri" pitchFamily="34" charset="-122"/>
                <a:cs typeface="Calibri" pitchFamily="34" charset="-120"/>
              </a:rPr>
              <a:t>FOUR INVESTMENT PILLARS</a:t>
            </a:r>
            <a:endParaRPr lang="en-US" sz="900" dirty="0"/>
          </a:p>
        </p:txBody>
      </p:sp>
      <p:sp>
        <p:nvSpPr>
          <p:cNvPr id="9" name="Shape 7"/>
          <p:cNvSpPr/>
          <p:nvPr/>
        </p:nvSpPr>
        <p:spPr>
          <a:xfrm>
            <a:off x="365760" y="4041648"/>
            <a:ext cx="1993392" cy="457200"/>
          </a:xfrm>
          <a:prstGeom prst="rect">
            <a:avLst/>
          </a:prstGeom>
          <a:solidFill>
            <a:srgbClr val="085CE5">
              <a:alpha val="35000"/>
            </a:srgbClr>
          </a:solidFill>
          <a:ln w="12700">
            <a:solidFill>
              <a:srgbClr val="085CE5"/>
            </a:solidFill>
            <a:prstDash val="solid"/>
          </a:ln>
        </p:spPr>
        <p:txBody>
          <a:bodyPr/>
          <a:lstStyle/>
          <a:p>
            <a:endParaRPr lang="en-US"/>
          </a:p>
        </p:txBody>
      </p:sp>
      <p:sp>
        <p:nvSpPr>
          <p:cNvPr id="10" name="Text 8"/>
          <p:cNvSpPr/>
          <p:nvPr/>
        </p:nvSpPr>
        <p:spPr>
          <a:xfrm>
            <a:off x="411480" y="4041648"/>
            <a:ext cx="1901952"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Data Acquisition</a:t>
            </a:r>
            <a:endParaRPr lang="en-US" sz="1150" dirty="0"/>
          </a:p>
        </p:txBody>
      </p:sp>
      <p:sp>
        <p:nvSpPr>
          <p:cNvPr id="11" name="Shape 9"/>
          <p:cNvSpPr/>
          <p:nvPr/>
        </p:nvSpPr>
        <p:spPr>
          <a:xfrm>
            <a:off x="2487168" y="4041648"/>
            <a:ext cx="1993392" cy="457200"/>
          </a:xfrm>
          <a:prstGeom prst="rect">
            <a:avLst/>
          </a:prstGeom>
          <a:solidFill>
            <a:srgbClr val="0D2E7A">
              <a:alpha val="35000"/>
            </a:srgbClr>
          </a:solidFill>
          <a:ln w="12700">
            <a:solidFill>
              <a:srgbClr val="0D2E7A"/>
            </a:solidFill>
            <a:prstDash val="solid"/>
          </a:ln>
        </p:spPr>
        <p:txBody>
          <a:bodyPr/>
          <a:lstStyle/>
          <a:p>
            <a:endParaRPr lang="en-US"/>
          </a:p>
        </p:txBody>
      </p:sp>
      <p:sp>
        <p:nvSpPr>
          <p:cNvPr id="12" name="Text 10"/>
          <p:cNvSpPr/>
          <p:nvPr/>
        </p:nvSpPr>
        <p:spPr>
          <a:xfrm>
            <a:off x="2532888" y="4041648"/>
            <a:ext cx="1901952"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DS Buildout</a:t>
            </a:r>
            <a:endParaRPr lang="en-US" sz="1150" dirty="0"/>
          </a:p>
        </p:txBody>
      </p:sp>
      <p:sp>
        <p:nvSpPr>
          <p:cNvPr id="13" name="Shape 11"/>
          <p:cNvSpPr/>
          <p:nvPr/>
        </p:nvSpPr>
        <p:spPr>
          <a:xfrm>
            <a:off x="4608576" y="4041648"/>
            <a:ext cx="1993392" cy="457200"/>
          </a:xfrm>
          <a:prstGeom prst="rect">
            <a:avLst/>
          </a:prstGeom>
          <a:solidFill>
            <a:srgbClr val="073FA8">
              <a:alpha val="35000"/>
            </a:srgbClr>
          </a:solidFill>
          <a:ln w="12700">
            <a:solidFill>
              <a:srgbClr val="073FA8"/>
            </a:solidFill>
            <a:prstDash val="solid"/>
          </a:ln>
        </p:spPr>
        <p:txBody>
          <a:bodyPr/>
          <a:lstStyle/>
          <a:p>
            <a:endParaRPr lang="en-US"/>
          </a:p>
        </p:txBody>
      </p:sp>
      <p:sp>
        <p:nvSpPr>
          <p:cNvPr id="14" name="Text 12"/>
          <p:cNvSpPr/>
          <p:nvPr/>
        </p:nvSpPr>
        <p:spPr>
          <a:xfrm>
            <a:off x="4654296" y="4041648"/>
            <a:ext cx="1901952"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Visualizations</a:t>
            </a:r>
            <a:endParaRPr lang="en-US" sz="1150" dirty="0"/>
          </a:p>
        </p:txBody>
      </p:sp>
      <p:sp>
        <p:nvSpPr>
          <p:cNvPr id="15" name="Shape 13"/>
          <p:cNvSpPr/>
          <p:nvPr/>
        </p:nvSpPr>
        <p:spPr>
          <a:xfrm>
            <a:off x="6729984" y="4041648"/>
            <a:ext cx="1993392" cy="457200"/>
          </a:xfrm>
          <a:prstGeom prst="rect">
            <a:avLst/>
          </a:prstGeom>
          <a:solidFill>
            <a:srgbClr val="575A5D">
              <a:alpha val="35000"/>
            </a:srgbClr>
          </a:solidFill>
          <a:ln w="12700">
            <a:solidFill>
              <a:srgbClr val="575A5D"/>
            </a:solidFill>
            <a:prstDash val="solid"/>
          </a:ln>
        </p:spPr>
        <p:txBody>
          <a:bodyPr/>
          <a:lstStyle/>
          <a:p>
            <a:endParaRPr lang="en-US"/>
          </a:p>
        </p:txBody>
      </p:sp>
      <p:sp>
        <p:nvSpPr>
          <p:cNvPr id="16" name="Text 14"/>
          <p:cNvSpPr/>
          <p:nvPr/>
        </p:nvSpPr>
        <p:spPr>
          <a:xfrm>
            <a:off x="6775704" y="4041648"/>
            <a:ext cx="1901952"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App / API Dev</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txBody>
          <a:bodyPr/>
          <a:lstStyle/>
          <a:p>
            <a:endParaRPr lang="en-US"/>
          </a:p>
        </p:txBody>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JH Platform AI — Six Core Applications</a:t>
            </a:r>
            <a:endParaRPr lang="en-US" sz="2200" dirty="0"/>
          </a:p>
        </p:txBody>
      </p:sp>
      <p:sp>
        <p:nvSpPr>
          <p:cNvPr id="4" name="Shape 2"/>
          <p:cNvSpPr/>
          <p:nvPr/>
        </p:nvSpPr>
        <p:spPr>
          <a:xfrm>
            <a:off x="320040" y="777240"/>
            <a:ext cx="2706624" cy="2011680"/>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20040" y="777240"/>
            <a:ext cx="2706624" cy="658368"/>
          </a:xfrm>
          <a:prstGeom prst="rect">
            <a:avLst/>
          </a:prstGeom>
          <a:solidFill>
            <a:srgbClr val="06185F"/>
          </a:solidFill>
          <a:ln w="12700">
            <a:solidFill>
              <a:srgbClr val="06185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457200" y="905256"/>
            <a:ext cx="384048" cy="384048"/>
          </a:xfrm>
          <a:prstGeom prst="rect">
            <a:avLst/>
          </a:prstGeom>
        </p:spPr>
      </p:pic>
      <p:sp>
        <p:nvSpPr>
          <p:cNvPr id="7" name="Text 4"/>
          <p:cNvSpPr/>
          <p:nvPr/>
        </p:nvSpPr>
        <p:spPr>
          <a:xfrm>
            <a:off x="914400" y="850392"/>
            <a:ext cx="2020824" cy="56692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Zelle Memo</a:t>
            </a:r>
            <a:endParaRPr lang="en-US" sz="1150" dirty="0"/>
          </a:p>
          <a:p>
            <a:pPr marL="0" indent="0">
              <a:buNone/>
            </a:pPr>
            <a:r>
              <a:rPr lang="en-US" sz="1150" b="1" dirty="0">
                <a:solidFill>
                  <a:srgbClr val="FFFFFF"/>
                </a:solidFill>
                <a:latin typeface="Calibri" pitchFamily="34" charset="0"/>
                <a:ea typeface="Calibri" pitchFamily="34" charset="-122"/>
                <a:cs typeface="Calibri" pitchFamily="34" charset="-120"/>
              </a:rPr>
              <a:t>Intelligence</a:t>
            </a:r>
            <a:endParaRPr lang="en-US" sz="1150" dirty="0"/>
          </a:p>
        </p:txBody>
      </p:sp>
      <p:sp>
        <p:nvSpPr>
          <p:cNvPr id="8" name="Text 5"/>
          <p:cNvSpPr/>
          <p:nvPr/>
        </p:nvSpPr>
        <p:spPr>
          <a:xfrm>
            <a:off x="429768" y="1508760"/>
            <a:ext cx="2487168" cy="1170432"/>
          </a:xfrm>
          <a:prstGeom prst="rect">
            <a:avLst/>
          </a:prstGeom>
          <a:noFill/>
          <a:ln/>
        </p:spPr>
        <p:txBody>
          <a:bodyPr wrap="square" lIns="0" tIns="0" rIns="0" bIns="0" rtlCol="0" anchor="ctr"/>
          <a:lstStyle/>
          <a:p>
            <a:pPr marL="0" indent="0">
              <a:buNone/>
            </a:pPr>
            <a:r>
              <a:rPr lang="en-US" sz="1050" dirty="0">
                <a:solidFill>
                  <a:srgbClr val="575A5D"/>
                </a:solidFill>
                <a:latin typeface="Calibri" pitchFamily="34" charset="0"/>
                <a:ea typeface="Calibri" pitchFamily="34" charset="-122"/>
                <a:cs typeface="Calibri" pitchFamily="34" charset="-120"/>
              </a:rPr>
              <a:t>NLP pipeline to classify Zelle memos for fraud patterns, elder abuse, and compliance flags — automatically.</a:t>
            </a:r>
            <a:endParaRPr lang="en-US" sz="1050" dirty="0"/>
          </a:p>
        </p:txBody>
      </p:sp>
      <p:sp>
        <p:nvSpPr>
          <p:cNvPr id="9" name="Shape 6"/>
          <p:cNvSpPr/>
          <p:nvPr/>
        </p:nvSpPr>
        <p:spPr>
          <a:xfrm>
            <a:off x="2313432" y="777240"/>
            <a:ext cx="713232" cy="256032"/>
          </a:xfrm>
          <a:prstGeom prst="rect">
            <a:avLst/>
          </a:prstGeom>
          <a:solidFill>
            <a:srgbClr val="76DCFD"/>
          </a:solidFill>
          <a:ln w="12700">
            <a:solidFill>
              <a:srgbClr val="76DCFD"/>
            </a:solidFill>
            <a:prstDash val="solid"/>
          </a:ln>
        </p:spPr>
        <p:txBody>
          <a:bodyPr/>
          <a:lstStyle/>
          <a:p>
            <a:endParaRPr lang="en-US"/>
          </a:p>
        </p:txBody>
      </p:sp>
      <p:sp>
        <p:nvSpPr>
          <p:cNvPr id="10" name="Text 7"/>
          <p:cNvSpPr/>
          <p:nvPr/>
        </p:nvSpPr>
        <p:spPr>
          <a:xfrm>
            <a:off x="2313432" y="777240"/>
            <a:ext cx="713232" cy="256032"/>
          </a:xfrm>
          <a:prstGeom prst="rect">
            <a:avLst/>
          </a:prstGeom>
          <a:noFill/>
          <a:ln/>
        </p:spPr>
        <p:txBody>
          <a:bodyPr wrap="square" lIns="0" tIns="0" rIns="0" bIns="0" rtlCol="0" anchor="ctr"/>
          <a:lstStyle/>
          <a:p>
            <a:pPr marL="0" indent="0" algn="ctr">
              <a:buNone/>
            </a:pPr>
            <a:r>
              <a:rPr lang="en-US" sz="850" b="1" kern="0" spc="100" dirty="0">
                <a:solidFill>
                  <a:srgbClr val="06185F"/>
                </a:solidFill>
                <a:latin typeface="Calibri" pitchFamily="34" charset="0"/>
                <a:ea typeface="Calibri" pitchFamily="34" charset="-122"/>
                <a:cs typeface="Calibri" pitchFamily="34" charset="-120"/>
              </a:rPr>
              <a:t>NOW</a:t>
            </a:r>
            <a:endParaRPr lang="en-US" sz="850" dirty="0"/>
          </a:p>
        </p:txBody>
      </p:sp>
      <p:sp>
        <p:nvSpPr>
          <p:cNvPr id="11" name="Shape 8"/>
          <p:cNvSpPr/>
          <p:nvPr/>
        </p:nvSpPr>
        <p:spPr>
          <a:xfrm>
            <a:off x="3172968" y="777240"/>
            <a:ext cx="2706624" cy="2011680"/>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2" name="Shape 9"/>
          <p:cNvSpPr/>
          <p:nvPr/>
        </p:nvSpPr>
        <p:spPr>
          <a:xfrm>
            <a:off x="3172968" y="777240"/>
            <a:ext cx="2706624" cy="658368"/>
          </a:xfrm>
          <a:prstGeom prst="rect">
            <a:avLst/>
          </a:prstGeom>
          <a:solidFill>
            <a:srgbClr val="085CE5"/>
          </a:solidFill>
          <a:ln w="12700">
            <a:solidFill>
              <a:srgbClr val="085CE5"/>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310128" y="905256"/>
            <a:ext cx="384048" cy="384048"/>
          </a:xfrm>
          <a:prstGeom prst="rect">
            <a:avLst/>
          </a:prstGeom>
        </p:spPr>
      </p:pic>
      <p:sp>
        <p:nvSpPr>
          <p:cNvPr id="14" name="Text 10"/>
          <p:cNvSpPr/>
          <p:nvPr/>
        </p:nvSpPr>
        <p:spPr>
          <a:xfrm>
            <a:off x="3767328" y="850392"/>
            <a:ext cx="2020824" cy="56692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Churn</a:t>
            </a:r>
            <a:endParaRPr lang="en-US" sz="1150" dirty="0"/>
          </a:p>
          <a:p>
            <a:pPr marL="0" indent="0">
              <a:buNone/>
            </a:pPr>
            <a:r>
              <a:rPr lang="en-US" sz="1150" b="1" dirty="0">
                <a:solidFill>
                  <a:srgbClr val="FFFFFF"/>
                </a:solidFill>
                <a:latin typeface="Calibri" pitchFamily="34" charset="0"/>
                <a:ea typeface="Calibri" pitchFamily="34" charset="-122"/>
                <a:cs typeface="Calibri" pitchFamily="34" charset="-120"/>
              </a:rPr>
              <a:t>Sentinel</a:t>
            </a:r>
            <a:endParaRPr lang="en-US" sz="1150" dirty="0"/>
          </a:p>
        </p:txBody>
      </p:sp>
      <p:sp>
        <p:nvSpPr>
          <p:cNvPr id="15" name="Text 11"/>
          <p:cNvSpPr/>
          <p:nvPr/>
        </p:nvSpPr>
        <p:spPr>
          <a:xfrm>
            <a:off x="3282696" y="1508760"/>
            <a:ext cx="2487168" cy="1170432"/>
          </a:xfrm>
          <a:prstGeom prst="rect">
            <a:avLst/>
          </a:prstGeom>
          <a:noFill/>
          <a:ln/>
        </p:spPr>
        <p:txBody>
          <a:bodyPr wrap="square" lIns="0" tIns="0" rIns="0" bIns="0" rtlCol="0" anchor="ctr"/>
          <a:lstStyle/>
          <a:p>
            <a:pPr marL="0" indent="0">
              <a:buNone/>
            </a:pPr>
            <a:r>
              <a:rPr lang="en-US" sz="1050" dirty="0">
                <a:solidFill>
                  <a:srgbClr val="575A5D"/>
                </a:solidFill>
                <a:latin typeface="Calibri" pitchFamily="34" charset="0"/>
                <a:ea typeface="Calibri" pitchFamily="34" charset="-122"/>
                <a:cs typeface="Calibri" pitchFamily="34" charset="-120"/>
              </a:rPr>
              <a:t>ML scoring to identify at-risk FI customers weekly and power proactive retention workflows before churn occurs.</a:t>
            </a:r>
            <a:endParaRPr lang="en-US" sz="1050" dirty="0"/>
          </a:p>
        </p:txBody>
      </p:sp>
      <p:sp>
        <p:nvSpPr>
          <p:cNvPr id="16" name="Shape 12"/>
          <p:cNvSpPr/>
          <p:nvPr/>
        </p:nvSpPr>
        <p:spPr>
          <a:xfrm>
            <a:off x="6025896" y="777240"/>
            <a:ext cx="2706624" cy="2011680"/>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7" name="Shape 13"/>
          <p:cNvSpPr/>
          <p:nvPr/>
        </p:nvSpPr>
        <p:spPr>
          <a:xfrm>
            <a:off x="6025896" y="777240"/>
            <a:ext cx="2706624" cy="658368"/>
          </a:xfrm>
          <a:prstGeom prst="rect">
            <a:avLst/>
          </a:prstGeom>
          <a:solidFill>
            <a:srgbClr val="073FA8"/>
          </a:solidFill>
          <a:ln w="12700">
            <a:solidFill>
              <a:srgbClr val="073FA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163056" y="905256"/>
            <a:ext cx="384048" cy="384048"/>
          </a:xfrm>
          <a:prstGeom prst="rect">
            <a:avLst/>
          </a:prstGeom>
        </p:spPr>
      </p:pic>
      <p:sp>
        <p:nvSpPr>
          <p:cNvPr id="19" name="Text 14"/>
          <p:cNvSpPr/>
          <p:nvPr/>
        </p:nvSpPr>
        <p:spPr>
          <a:xfrm>
            <a:off x="6620256" y="850392"/>
            <a:ext cx="2020824" cy="56692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Anomaly</a:t>
            </a:r>
            <a:endParaRPr lang="en-US" sz="1150" dirty="0"/>
          </a:p>
          <a:p>
            <a:pPr marL="0" indent="0">
              <a:buNone/>
            </a:pPr>
            <a:r>
              <a:rPr lang="en-US" sz="1150" b="1" dirty="0">
                <a:solidFill>
                  <a:srgbClr val="FFFFFF"/>
                </a:solidFill>
                <a:latin typeface="Calibri" pitchFamily="34" charset="0"/>
                <a:ea typeface="Calibri" pitchFamily="34" charset="-122"/>
                <a:cs typeface="Calibri" pitchFamily="34" charset="-120"/>
              </a:rPr>
              <a:t>Detection</a:t>
            </a:r>
            <a:endParaRPr lang="en-US" sz="1150" dirty="0"/>
          </a:p>
        </p:txBody>
      </p:sp>
      <p:sp>
        <p:nvSpPr>
          <p:cNvPr id="20" name="Text 15"/>
          <p:cNvSpPr/>
          <p:nvPr/>
        </p:nvSpPr>
        <p:spPr>
          <a:xfrm>
            <a:off x="6135624" y="1508760"/>
            <a:ext cx="2487168" cy="1170432"/>
          </a:xfrm>
          <a:prstGeom prst="rect">
            <a:avLst/>
          </a:prstGeom>
          <a:noFill/>
          <a:ln/>
        </p:spPr>
        <p:txBody>
          <a:bodyPr wrap="square" lIns="0" tIns="0" rIns="0" bIns="0" rtlCol="0" anchor="ctr"/>
          <a:lstStyle/>
          <a:p>
            <a:pPr marL="0" indent="0">
              <a:buNone/>
            </a:pPr>
            <a:r>
              <a:rPr lang="en-US" sz="1050" dirty="0">
                <a:solidFill>
                  <a:srgbClr val="575A5D"/>
                </a:solidFill>
                <a:latin typeface="Calibri" pitchFamily="34" charset="0"/>
                <a:ea typeface="Calibri" pitchFamily="34" charset="-122"/>
                <a:cs typeface="Calibri" pitchFamily="34" charset="-120"/>
              </a:rPr>
              <a:t>Real-time ML detection of unusual account behavior and transaction patterns across JH-powered institutions.</a:t>
            </a:r>
            <a:endParaRPr lang="en-US" sz="1050" dirty="0"/>
          </a:p>
        </p:txBody>
      </p:sp>
      <p:sp>
        <p:nvSpPr>
          <p:cNvPr id="21" name="Shape 16"/>
          <p:cNvSpPr/>
          <p:nvPr/>
        </p:nvSpPr>
        <p:spPr>
          <a:xfrm>
            <a:off x="320040" y="2953512"/>
            <a:ext cx="2706624" cy="2011680"/>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22" name="Shape 17"/>
          <p:cNvSpPr/>
          <p:nvPr/>
        </p:nvSpPr>
        <p:spPr>
          <a:xfrm>
            <a:off x="320040" y="2953512"/>
            <a:ext cx="2706624" cy="658368"/>
          </a:xfrm>
          <a:prstGeom prst="rect">
            <a:avLst/>
          </a:prstGeom>
          <a:solidFill>
            <a:srgbClr val="0D2E7A"/>
          </a:solidFill>
          <a:ln w="12700">
            <a:solidFill>
              <a:srgbClr val="0D2E7A"/>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457200" y="3081528"/>
            <a:ext cx="384048" cy="384048"/>
          </a:xfrm>
          <a:prstGeom prst="rect">
            <a:avLst/>
          </a:prstGeom>
        </p:spPr>
      </p:pic>
      <p:sp>
        <p:nvSpPr>
          <p:cNvPr id="24" name="Text 18"/>
          <p:cNvSpPr/>
          <p:nvPr/>
        </p:nvSpPr>
        <p:spPr>
          <a:xfrm>
            <a:off x="914400" y="3026664"/>
            <a:ext cx="2020824" cy="56692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FI Decision</a:t>
            </a:r>
            <a:endParaRPr lang="en-US" sz="1150" dirty="0"/>
          </a:p>
          <a:p>
            <a:pPr marL="0" indent="0">
              <a:buNone/>
            </a:pPr>
            <a:r>
              <a:rPr lang="en-US" sz="1150" b="1" dirty="0">
                <a:solidFill>
                  <a:srgbClr val="FFFFFF"/>
                </a:solidFill>
                <a:latin typeface="Calibri" pitchFamily="34" charset="0"/>
                <a:ea typeface="Calibri" pitchFamily="34" charset="-122"/>
                <a:cs typeface="Calibri" pitchFamily="34" charset="-120"/>
              </a:rPr>
              <a:t>Studio</a:t>
            </a:r>
            <a:endParaRPr lang="en-US" sz="1150" dirty="0"/>
          </a:p>
        </p:txBody>
      </p:sp>
      <p:sp>
        <p:nvSpPr>
          <p:cNvPr id="25" name="Text 19"/>
          <p:cNvSpPr/>
          <p:nvPr/>
        </p:nvSpPr>
        <p:spPr>
          <a:xfrm>
            <a:off x="429768" y="3685032"/>
            <a:ext cx="2487168" cy="1170432"/>
          </a:xfrm>
          <a:prstGeom prst="rect">
            <a:avLst/>
          </a:prstGeom>
          <a:noFill/>
          <a:ln/>
        </p:spPr>
        <p:txBody>
          <a:bodyPr wrap="square" lIns="0" tIns="0" rIns="0" bIns="0" rtlCol="0" anchor="ctr"/>
          <a:lstStyle/>
          <a:p>
            <a:pPr marL="0" indent="0">
              <a:buNone/>
            </a:pPr>
            <a:r>
              <a:rPr lang="en-US" sz="1050" dirty="0">
                <a:solidFill>
                  <a:srgbClr val="575A5D"/>
                </a:solidFill>
                <a:latin typeface="Calibri" pitchFamily="34" charset="0"/>
                <a:ea typeface="Calibri" pitchFamily="34" charset="-122"/>
                <a:cs typeface="Calibri" pitchFamily="34" charset="-120"/>
              </a:rPr>
              <a:t>No-code AutoML for FIs: upload data, train custom models, explain with SHAP, author rules, deploy as API, monitor drift.</a:t>
            </a:r>
            <a:endParaRPr lang="en-US" sz="1050" dirty="0"/>
          </a:p>
        </p:txBody>
      </p:sp>
      <p:sp>
        <p:nvSpPr>
          <p:cNvPr id="26" name="Shape 20"/>
          <p:cNvSpPr/>
          <p:nvPr/>
        </p:nvSpPr>
        <p:spPr>
          <a:xfrm>
            <a:off x="3172968" y="2953512"/>
            <a:ext cx="2706624" cy="2011680"/>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27" name="Shape 21"/>
          <p:cNvSpPr/>
          <p:nvPr/>
        </p:nvSpPr>
        <p:spPr>
          <a:xfrm>
            <a:off x="3172968" y="2953512"/>
            <a:ext cx="2706624" cy="658368"/>
          </a:xfrm>
          <a:prstGeom prst="rect">
            <a:avLst/>
          </a:prstGeom>
          <a:solidFill>
            <a:srgbClr val="0A52C4"/>
          </a:solidFill>
          <a:ln w="12700">
            <a:solidFill>
              <a:srgbClr val="0A52C4"/>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3310128" y="3081528"/>
            <a:ext cx="384048" cy="384048"/>
          </a:xfrm>
          <a:prstGeom prst="rect">
            <a:avLst/>
          </a:prstGeom>
        </p:spPr>
      </p:pic>
      <p:sp>
        <p:nvSpPr>
          <p:cNvPr id="29" name="Text 22"/>
          <p:cNvSpPr/>
          <p:nvPr/>
        </p:nvSpPr>
        <p:spPr>
          <a:xfrm>
            <a:off x="3767328" y="3026664"/>
            <a:ext cx="2020824" cy="56692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CommercialSignal</a:t>
            </a:r>
            <a:endParaRPr lang="en-US" sz="1150" dirty="0"/>
          </a:p>
        </p:txBody>
      </p:sp>
      <p:sp>
        <p:nvSpPr>
          <p:cNvPr id="30" name="Text 23"/>
          <p:cNvSpPr/>
          <p:nvPr/>
        </p:nvSpPr>
        <p:spPr>
          <a:xfrm>
            <a:off x="3282696" y="3685032"/>
            <a:ext cx="2487168" cy="1170432"/>
          </a:xfrm>
          <a:prstGeom prst="rect">
            <a:avLst/>
          </a:prstGeom>
          <a:noFill/>
          <a:ln/>
        </p:spPr>
        <p:txBody>
          <a:bodyPr wrap="square" lIns="0" tIns="0" rIns="0" bIns="0" rtlCol="0" anchor="ctr"/>
          <a:lstStyle/>
          <a:p>
            <a:pPr marL="0" indent="0">
              <a:buNone/>
            </a:pPr>
            <a:r>
              <a:rPr lang="en-US" sz="1050" dirty="0">
                <a:solidFill>
                  <a:srgbClr val="575A5D"/>
                </a:solidFill>
                <a:latin typeface="Calibri" pitchFamily="34" charset="0"/>
                <a:ea typeface="Calibri" pitchFamily="34" charset="-122"/>
                <a:cs typeface="Calibri" pitchFamily="34" charset="-120"/>
              </a:rPr>
              <a:t>ML classifier surfacing personal accounts with commercial transaction signatures — converting hidden SMB relationships to business banking.</a:t>
            </a:r>
            <a:endParaRPr lang="en-US" sz="1050" dirty="0"/>
          </a:p>
        </p:txBody>
      </p:sp>
      <p:sp>
        <p:nvSpPr>
          <p:cNvPr id="31" name="Shape 24"/>
          <p:cNvSpPr/>
          <p:nvPr/>
        </p:nvSpPr>
        <p:spPr>
          <a:xfrm>
            <a:off x="6025896" y="2953512"/>
            <a:ext cx="2706624" cy="2011680"/>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32" name="Shape 25"/>
          <p:cNvSpPr/>
          <p:nvPr/>
        </p:nvSpPr>
        <p:spPr>
          <a:xfrm>
            <a:off x="6025896" y="2953512"/>
            <a:ext cx="2706624" cy="658368"/>
          </a:xfrm>
          <a:prstGeom prst="rect">
            <a:avLst/>
          </a:prstGeom>
          <a:solidFill>
            <a:srgbClr val="0F3D8A"/>
          </a:solidFill>
          <a:ln w="12700">
            <a:solidFill>
              <a:srgbClr val="0F3D8A"/>
            </a:solidFill>
            <a:prstDash val="solid"/>
          </a:ln>
        </p:spPr>
        <p:txBody>
          <a:bodyPr/>
          <a:lstStyle/>
          <a:p>
            <a:endParaRPr lang="en-US"/>
          </a:p>
        </p:txBody>
      </p:sp>
      <p:pic>
        <p:nvPicPr>
          <p:cNvPr id="33" name="Image 5" descr="preencoded.png"/>
          <p:cNvPicPr>
            <a:picLocks noChangeAspect="1"/>
          </p:cNvPicPr>
          <p:nvPr/>
        </p:nvPicPr>
        <p:blipFill>
          <a:blip r:embed="rId8"/>
          <a:stretch>
            <a:fillRect/>
          </a:stretch>
        </p:blipFill>
        <p:spPr>
          <a:xfrm>
            <a:off x="6163056" y="3081528"/>
            <a:ext cx="384048" cy="384048"/>
          </a:xfrm>
          <a:prstGeom prst="rect">
            <a:avLst/>
          </a:prstGeom>
        </p:spPr>
      </p:pic>
      <p:sp>
        <p:nvSpPr>
          <p:cNvPr id="34" name="Text 26"/>
          <p:cNvSpPr/>
          <p:nvPr/>
        </p:nvSpPr>
        <p:spPr>
          <a:xfrm>
            <a:off x="6620256" y="3026664"/>
            <a:ext cx="2020824" cy="56692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Generational</a:t>
            </a:r>
            <a:endParaRPr lang="en-US" sz="1150" dirty="0"/>
          </a:p>
          <a:p>
            <a:pPr marL="0" indent="0">
              <a:buNone/>
            </a:pPr>
            <a:r>
              <a:rPr lang="en-US" sz="1150" b="1" dirty="0">
                <a:solidFill>
                  <a:srgbClr val="FFFFFF"/>
                </a:solidFill>
                <a:latin typeface="Calibri" pitchFamily="34" charset="0"/>
                <a:ea typeface="Calibri" pitchFamily="34" charset="-122"/>
                <a:cs typeface="Calibri" pitchFamily="34" charset="-120"/>
              </a:rPr>
              <a:t>Wealth Deflection</a:t>
            </a:r>
            <a:endParaRPr lang="en-US" sz="1150" dirty="0"/>
          </a:p>
        </p:txBody>
      </p:sp>
      <p:sp>
        <p:nvSpPr>
          <p:cNvPr id="35" name="Text 27"/>
          <p:cNvSpPr/>
          <p:nvPr/>
        </p:nvSpPr>
        <p:spPr>
          <a:xfrm>
            <a:off x="6135624" y="3685032"/>
            <a:ext cx="2487168" cy="1170432"/>
          </a:xfrm>
          <a:prstGeom prst="rect">
            <a:avLst/>
          </a:prstGeom>
          <a:noFill/>
          <a:ln/>
        </p:spPr>
        <p:txBody>
          <a:bodyPr wrap="square" lIns="0" tIns="0" rIns="0" bIns="0" rtlCol="0" anchor="ctr"/>
          <a:lstStyle/>
          <a:p>
            <a:pPr marL="0" indent="0">
              <a:buNone/>
            </a:pPr>
            <a:r>
              <a:rPr lang="en-US" sz="1050" dirty="0">
                <a:solidFill>
                  <a:srgbClr val="575A5D"/>
                </a:solidFill>
                <a:latin typeface="Calibri" pitchFamily="34" charset="0"/>
                <a:ea typeface="Calibri" pitchFamily="34" charset="-122"/>
                <a:cs typeface="Calibri" pitchFamily="34" charset="-120"/>
              </a:rPr>
              <a:t>Household coverage scoring to identify single-holder wealth concentration and expand FI relationships to next-generation family members.</a:t>
            </a:r>
            <a:endParaRPr lang="en-US" sz="1050" dirty="0"/>
          </a:p>
        </p:txBody>
      </p:sp>
      <p:sp>
        <p:nvSpPr>
          <p:cNvPr id="36" name="Shape 28"/>
          <p:cNvSpPr/>
          <p:nvPr/>
        </p:nvSpPr>
        <p:spPr>
          <a:xfrm>
            <a:off x="320040" y="4718304"/>
            <a:ext cx="8503920" cy="329184"/>
          </a:xfrm>
          <a:prstGeom prst="rect">
            <a:avLst/>
          </a:prstGeom>
          <a:solidFill>
            <a:srgbClr val="E8F7F7"/>
          </a:solidFill>
          <a:ln w="12700">
            <a:solidFill>
              <a:srgbClr val="085CE5"/>
            </a:solidFill>
            <a:prstDash val="solid"/>
          </a:ln>
        </p:spPr>
        <p:txBody>
          <a:bodyPr/>
          <a:lstStyle/>
          <a:p>
            <a:endParaRPr lang="en-US"/>
          </a:p>
        </p:txBody>
      </p:sp>
      <p:sp>
        <p:nvSpPr>
          <p:cNvPr id="37" name="Text 29"/>
          <p:cNvSpPr/>
          <p:nvPr/>
        </p:nvSpPr>
        <p:spPr>
          <a:xfrm>
            <a:off x="475488" y="4736592"/>
            <a:ext cx="8229600" cy="274320"/>
          </a:xfrm>
          <a:prstGeom prst="rect">
            <a:avLst/>
          </a:prstGeom>
          <a:noFill/>
          <a:ln/>
        </p:spPr>
        <p:txBody>
          <a:bodyPr wrap="square" lIns="0" tIns="0" rIns="0" bIns="0" rtlCol="0" anchor="ctr"/>
          <a:lstStyle/>
          <a:p>
            <a:pPr marL="0" indent="0">
              <a:buNone/>
            </a:pPr>
            <a:r>
              <a:rPr lang="en-US" sz="950" i="1" dirty="0">
                <a:solidFill>
                  <a:srgbClr val="085CE5"/>
                </a:solidFill>
                <a:latin typeface="Calibri" pitchFamily="34" charset="0"/>
                <a:ea typeface="Calibri" pitchFamily="34" charset="-122"/>
                <a:cs typeface="Calibri" pitchFamily="34" charset="-120"/>
              </a:rPr>
              <a:t>Horizon Pipeline includes Year 2 opportunities: Cross-Sell Propensity  ·  Fraud Ring Detection  ·  Deposit Runoff  ·  Overdraft Prediction  ·  and more →  see Horizon slide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06185F"/>
          </a:solidFill>
          <a:ln w="12700">
            <a:solidFill>
              <a:srgbClr val="06185F"/>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46304"/>
            <a:ext cx="384048" cy="384048"/>
          </a:xfrm>
          <a:prstGeom prst="rect">
            <a:avLst/>
          </a:prstGeom>
        </p:spPr>
      </p:pic>
      <p:sp>
        <p:nvSpPr>
          <p:cNvPr id="4" name="Text 1"/>
          <p:cNvSpPr/>
          <p:nvPr/>
        </p:nvSpPr>
        <p:spPr>
          <a:xfrm>
            <a:off x="658368" y="91440"/>
            <a:ext cx="6583680" cy="530352"/>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Zelle Memo Intelligence</a:t>
            </a:r>
            <a:endParaRPr lang="en-US" sz="2000" dirty="0"/>
          </a:p>
        </p:txBody>
      </p:sp>
      <p:sp>
        <p:nvSpPr>
          <p:cNvPr id="5" name="Text 2"/>
          <p:cNvSpPr/>
          <p:nvPr/>
        </p:nvSpPr>
        <p:spPr>
          <a:xfrm>
            <a:off x="7315200" y="164592"/>
            <a:ext cx="1691640" cy="365760"/>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JH Platform  |  AI Application</a:t>
            </a:r>
            <a:endParaRPr lang="en-US" sz="1000" dirty="0"/>
          </a:p>
        </p:txBody>
      </p:sp>
      <p:sp>
        <p:nvSpPr>
          <p:cNvPr id="6" name="Shape 3"/>
          <p:cNvSpPr/>
          <p:nvPr/>
        </p:nvSpPr>
        <p:spPr>
          <a:xfrm>
            <a:off x="256032" y="822960"/>
            <a:ext cx="4187952" cy="276148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7" name="Shape 4"/>
          <p:cNvSpPr/>
          <p:nvPr/>
        </p:nvSpPr>
        <p:spPr>
          <a:xfrm>
            <a:off x="256032" y="822960"/>
            <a:ext cx="73152" cy="2761488"/>
          </a:xfrm>
          <a:prstGeom prst="rect">
            <a:avLst/>
          </a:prstGeom>
          <a:solidFill>
            <a:srgbClr val="06185F"/>
          </a:solidFill>
          <a:ln w="12700">
            <a:solidFill>
              <a:srgbClr val="06185F"/>
            </a:solidFill>
            <a:prstDash val="solid"/>
          </a:ln>
        </p:spPr>
        <p:txBody>
          <a:bodyPr/>
          <a:lstStyle/>
          <a:p>
            <a:endParaRPr lang="en-US"/>
          </a:p>
        </p:txBody>
      </p:sp>
      <p:sp>
        <p:nvSpPr>
          <p:cNvPr id="8" name="Text 5"/>
          <p:cNvSpPr/>
          <p:nvPr/>
        </p:nvSpPr>
        <p:spPr>
          <a:xfrm>
            <a:off x="438912" y="886968"/>
            <a:ext cx="3877056" cy="256032"/>
          </a:xfrm>
          <a:prstGeom prst="rect">
            <a:avLst/>
          </a:prstGeom>
          <a:noFill/>
          <a:ln/>
        </p:spPr>
        <p:txBody>
          <a:bodyPr wrap="square" lIns="0" tIns="0" rIns="0" bIns="0" rtlCol="0" anchor="ctr"/>
          <a:lstStyle/>
          <a:p>
            <a:pPr marL="0" indent="0">
              <a:buNone/>
            </a:pPr>
            <a:r>
              <a:rPr lang="en-US" sz="850" b="1" kern="0" spc="200" dirty="0">
                <a:solidFill>
                  <a:srgbClr val="06185F"/>
                </a:solidFill>
                <a:latin typeface="Calibri" pitchFamily="34" charset="0"/>
                <a:ea typeface="Calibri" pitchFamily="34" charset="-122"/>
                <a:cs typeface="Calibri" pitchFamily="34" charset="-120"/>
              </a:rPr>
              <a:t>THE CHALLENGE FOR FI CLIENTS</a:t>
            </a:r>
            <a:endParaRPr lang="en-US" sz="850" dirty="0"/>
          </a:p>
        </p:txBody>
      </p:sp>
      <p:sp>
        <p:nvSpPr>
          <p:cNvPr id="9" name="Text 6"/>
          <p:cNvSpPr/>
          <p:nvPr/>
        </p:nvSpPr>
        <p:spPr>
          <a:xfrm>
            <a:off x="438912" y="1170432"/>
            <a:ext cx="3858768" cy="804672"/>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Zelle transaction volumes across JH-powered institutions have grown 40%+ year-over-year. Free-text memos contain fraud signals, elder abuse patterns, and compliance triggers — but manual review at scale is impossible and static rules miss adaptive language.</a:t>
            </a:r>
            <a:endParaRPr lang="en-US" sz="1100" dirty="0"/>
          </a:p>
        </p:txBody>
      </p:sp>
      <p:sp>
        <p:nvSpPr>
          <p:cNvPr id="10" name="Text 7"/>
          <p:cNvSpPr/>
          <p:nvPr/>
        </p:nvSpPr>
        <p:spPr>
          <a:xfrm>
            <a:off x="438912" y="2029968"/>
            <a:ext cx="3657600" cy="256032"/>
          </a:xfrm>
          <a:prstGeom prst="rect">
            <a:avLst/>
          </a:prstGeom>
          <a:noFill/>
          <a:ln/>
        </p:spPr>
        <p:txBody>
          <a:bodyPr wrap="square" lIns="0" tIns="0" rIns="0" bIns="0" rtlCol="0" anchor="ctr"/>
          <a:lstStyle/>
          <a:p>
            <a:pPr marL="0" indent="0">
              <a:buNone/>
            </a:pPr>
            <a:r>
              <a:rPr lang="en-US" sz="1000" b="1" dirty="0">
                <a:solidFill>
                  <a:srgbClr val="06185F"/>
                </a:solidFill>
                <a:latin typeface="Calibri" pitchFamily="34" charset="0"/>
                <a:ea typeface="Calibri" pitchFamily="34" charset="-122"/>
                <a:cs typeface="Calibri" pitchFamily="34" charset="-120"/>
              </a:rPr>
              <a:t>Key Pain Points</a:t>
            </a:r>
            <a:endParaRPr lang="en-US" sz="1000" dirty="0"/>
          </a:p>
        </p:txBody>
      </p:sp>
      <p:sp>
        <p:nvSpPr>
          <p:cNvPr id="11" name="Text 8"/>
          <p:cNvSpPr/>
          <p:nvPr/>
        </p:nvSpPr>
        <p:spPr>
          <a:xfrm>
            <a:off x="438912"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Manual memo review is expensive and impossible to scale</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Pattern-based rules miss novel language and obfuscation</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No systemic link between memo text and SAR filings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Compliance exposure growing with every Zelle transaction</a:t>
            </a:r>
            <a:endParaRPr lang="en-US" sz="1050" dirty="0"/>
          </a:p>
        </p:txBody>
      </p:sp>
      <p:sp>
        <p:nvSpPr>
          <p:cNvPr id="12" name="Shape 9"/>
          <p:cNvSpPr/>
          <p:nvPr/>
        </p:nvSpPr>
        <p:spPr>
          <a:xfrm>
            <a:off x="4700016" y="822960"/>
            <a:ext cx="4187952" cy="276148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0"/>
          <p:cNvSpPr/>
          <p:nvPr/>
        </p:nvSpPr>
        <p:spPr>
          <a:xfrm>
            <a:off x="4700016" y="822960"/>
            <a:ext cx="73152" cy="2761488"/>
          </a:xfrm>
          <a:prstGeom prst="rect">
            <a:avLst/>
          </a:prstGeom>
          <a:solidFill>
            <a:srgbClr val="085CE5"/>
          </a:solidFill>
          <a:ln w="12700">
            <a:solidFill>
              <a:srgbClr val="085CE5"/>
            </a:solidFill>
            <a:prstDash val="solid"/>
          </a:ln>
        </p:spPr>
        <p:txBody>
          <a:bodyPr/>
          <a:lstStyle/>
          <a:p>
            <a:endParaRPr lang="en-US"/>
          </a:p>
        </p:txBody>
      </p:sp>
      <p:sp>
        <p:nvSpPr>
          <p:cNvPr id="14" name="Text 11"/>
          <p:cNvSpPr/>
          <p:nvPr/>
        </p:nvSpPr>
        <p:spPr>
          <a:xfrm>
            <a:off x="4882896" y="886968"/>
            <a:ext cx="3877056" cy="256032"/>
          </a:xfrm>
          <a:prstGeom prst="rect">
            <a:avLst/>
          </a:prstGeom>
          <a:noFill/>
          <a:ln/>
        </p:spPr>
        <p:txBody>
          <a:bodyPr wrap="square" lIns="0" tIns="0" rIns="0" bIns="0" rtlCol="0" anchor="ctr"/>
          <a:lstStyle/>
          <a:p>
            <a:pPr marL="0" indent="0">
              <a:buNone/>
            </a:pPr>
            <a:r>
              <a:rPr lang="en-US" sz="850" b="1" kern="0" spc="200" dirty="0">
                <a:solidFill>
                  <a:srgbClr val="085CE5"/>
                </a:solidFill>
                <a:latin typeface="Calibri" pitchFamily="34" charset="0"/>
                <a:ea typeface="Calibri" pitchFamily="34" charset="-122"/>
                <a:cs typeface="Calibri" pitchFamily="34" charset="-120"/>
              </a:rPr>
              <a:t>WHAT JACK HENRY DELIVERS</a:t>
            </a:r>
            <a:endParaRPr lang="en-US" sz="850" dirty="0"/>
          </a:p>
        </p:txBody>
      </p:sp>
      <p:sp>
        <p:nvSpPr>
          <p:cNvPr id="15" name="Text 12"/>
          <p:cNvSpPr/>
          <p:nvPr/>
        </p:nvSpPr>
        <p:spPr>
          <a:xfrm>
            <a:off x="4882896" y="1170432"/>
            <a:ext cx="3858768" cy="804672"/>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An NLP classification and entity-extraction pipeline using fine-tuned transformer models — deployed within JH's compliance infrastructure to classify Zelle memos in near-real-time and surface risk-ranked alerts for examiner review.</a:t>
            </a:r>
            <a:endParaRPr lang="en-US" sz="1100" dirty="0"/>
          </a:p>
        </p:txBody>
      </p:sp>
      <p:sp>
        <p:nvSpPr>
          <p:cNvPr id="16" name="Text 13"/>
          <p:cNvSpPr/>
          <p:nvPr/>
        </p:nvSpPr>
        <p:spPr>
          <a:xfrm>
            <a:off x="4882896" y="2029968"/>
            <a:ext cx="3858768" cy="256032"/>
          </a:xfrm>
          <a:prstGeom prst="rect">
            <a:avLst/>
          </a:prstGeom>
          <a:noFill/>
          <a:ln/>
        </p:spPr>
        <p:txBody>
          <a:bodyPr wrap="square" lIns="0" tIns="0" rIns="0" bIns="0" rtlCol="0" anchor="ctr"/>
          <a:lstStyle/>
          <a:p>
            <a:pPr marL="0" indent="0">
              <a:buNone/>
            </a:pPr>
            <a:r>
              <a:rPr lang="en-US" sz="1000" b="1" dirty="0">
                <a:solidFill>
                  <a:srgbClr val="06185F"/>
                </a:solidFill>
                <a:latin typeface="Calibri" pitchFamily="34" charset="0"/>
                <a:ea typeface="Calibri" pitchFamily="34" charset="-122"/>
                <a:cs typeface="Calibri" pitchFamily="34" charset="-120"/>
              </a:rPr>
              <a:t>Technical Implementation</a:t>
            </a:r>
            <a:endParaRPr lang="en-US" sz="1000" dirty="0"/>
          </a:p>
        </p:txBody>
      </p:sp>
      <p:sp>
        <p:nvSpPr>
          <p:cNvPr id="17" name="Text 14"/>
          <p:cNvSpPr/>
          <p:nvPr/>
        </p:nvSpPr>
        <p:spPr>
          <a:xfrm>
            <a:off x="4882896"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Fine-tuned DistilBERT / RoBERTa on labeled memo corpus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Entity extraction: amounts, counterparties, intent signals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Risk score → automated alert queue integration</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Attention visualization for compliance examiner review</a:t>
            </a:r>
            <a:endParaRPr lang="en-US" sz="1050" dirty="0"/>
          </a:p>
        </p:txBody>
      </p:sp>
      <p:sp>
        <p:nvSpPr>
          <p:cNvPr id="18" name="Shape 15"/>
          <p:cNvSpPr/>
          <p:nvPr/>
        </p:nvSpPr>
        <p:spPr>
          <a:xfrm>
            <a:off x="365760" y="3739896"/>
            <a:ext cx="2560320" cy="1207008"/>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19" name="Text 16"/>
          <p:cNvSpPr/>
          <p:nvPr/>
        </p:nvSpPr>
        <p:spPr>
          <a:xfrm>
            <a:off x="438912" y="3785616"/>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60%</a:t>
            </a:r>
            <a:endParaRPr lang="en-US" sz="3000" dirty="0"/>
          </a:p>
        </p:txBody>
      </p:sp>
      <p:sp>
        <p:nvSpPr>
          <p:cNvPr id="20" name="Text 17"/>
          <p:cNvSpPr/>
          <p:nvPr/>
        </p:nvSpPr>
        <p:spPr>
          <a:xfrm>
            <a:off x="438912" y="4343400"/>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Reduction in manual</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memo review hours per FI</a:t>
            </a:r>
            <a:endParaRPr lang="en-US" sz="1050" dirty="0"/>
          </a:p>
        </p:txBody>
      </p:sp>
      <p:sp>
        <p:nvSpPr>
          <p:cNvPr id="21" name="Shape 18"/>
          <p:cNvSpPr/>
          <p:nvPr/>
        </p:nvSpPr>
        <p:spPr>
          <a:xfrm>
            <a:off x="3291840" y="3739896"/>
            <a:ext cx="2560320" cy="1207008"/>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22" name="Text 19"/>
          <p:cNvSpPr/>
          <p:nvPr/>
        </p:nvSpPr>
        <p:spPr>
          <a:xfrm>
            <a:off x="3364992" y="3785616"/>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$250K+</a:t>
            </a:r>
            <a:endParaRPr lang="en-US" sz="3000" dirty="0"/>
          </a:p>
        </p:txBody>
      </p:sp>
      <p:sp>
        <p:nvSpPr>
          <p:cNvPr id="23" name="Text 20"/>
          <p:cNvSpPr/>
          <p:nvPr/>
        </p:nvSpPr>
        <p:spPr>
          <a:xfrm>
            <a:off x="3364992" y="4343400"/>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Annual compliance cost</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savings per FI (est.)</a:t>
            </a:r>
            <a:endParaRPr lang="en-US" sz="1050" dirty="0"/>
          </a:p>
        </p:txBody>
      </p:sp>
      <p:sp>
        <p:nvSpPr>
          <p:cNvPr id="24" name="Shape 21"/>
          <p:cNvSpPr/>
          <p:nvPr/>
        </p:nvSpPr>
        <p:spPr>
          <a:xfrm>
            <a:off x="6217920" y="3739896"/>
            <a:ext cx="2560320" cy="1207008"/>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25" name="Text 22"/>
          <p:cNvSpPr/>
          <p:nvPr/>
        </p:nvSpPr>
        <p:spPr>
          <a:xfrm>
            <a:off x="6291072" y="3785616"/>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Q4 2026</a:t>
            </a:r>
            <a:endParaRPr lang="en-US" sz="3000" dirty="0"/>
          </a:p>
        </p:txBody>
      </p:sp>
      <p:sp>
        <p:nvSpPr>
          <p:cNvPr id="26" name="Text 23"/>
          <p:cNvSpPr/>
          <p:nvPr/>
        </p:nvSpPr>
        <p:spPr>
          <a:xfrm>
            <a:off x="6291072" y="4343400"/>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Target JH platform</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delivery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085CE5"/>
          </a:solidFill>
          <a:ln w="12700">
            <a:solidFill>
              <a:srgbClr val="085CE5"/>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46304"/>
            <a:ext cx="384048" cy="384048"/>
          </a:xfrm>
          <a:prstGeom prst="rect">
            <a:avLst/>
          </a:prstGeom>
        </p:spPr>
      </p:pic>
      <p:sp>
        <p:nvSpPr>
          <p:cNvPr id="4" name="Text 1"/>
          <p:cNvSpPr/>
          <p:nvPr/>
        </p:nvSpPr>
        <p:spPr>
          <a:xfrm>
            <a:off x="658368" y="91440"/>
            <a:ext cx="6583680" cy="530352"/>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Churn Sentinel</a:t>
            </a:r>
            <a:endParaRPr lang="en-US" sz="2000" dirty="0"/>
          </a:p>
        </p:txBody>
      </p:sp>
      <p:sp>
        <p:nvSpPr>
          <p:cNvPr id="5" name="Text 2"/>
          <p:cNvSpPr/>
          <p:nvPr/>
        </p:nvSpPr>
        <p:spPr>
          <a:xfrm>
            <a:off x="7315200" y="164592"/>
            <a:ext cx="1691640" cy="365760"/>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JH Platform  |  AI Application</a:t>
            </a:r>
            <a:endParaRPr lang="en-US" sz="1000" dirty="0"/>
          </a:p>
        </p:txBody>
      </p:sp>
      <p:sp>
        <p:nvSpPr>
          <p:cNvPr id="6" name="Shape 3"/>
          <p:cNvSpPr/>
          <p:nvPr/>
        </p:nvSpPr>
        <p:spPr>
          <a:xfrm>
            <a:off x="256032" y="822960"/>
            <a:ext cx="4187952" cy="276148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7" name="Shape 4"/>
          <p:cNvSpPr/>
          <p:nvPr/>
        </p:nvSpPr>
        <p:spPr>
          <a:xfrm>
            <a:off x="256032" y="822960"/>
            <a:ext cx="73152" cy="2761488"/>
          </a:xfrm>
          <a:prstGeom prst="rect">
            <a:avLst/>
          </a:prstGeom>
          <a:solidFill>
            <a:srgbClr val="085CE5"/>
          </a:solidFill>
          <a:ln w="12700">
            <a:solidFill>
              <a:srgbClr val="085CE5"/>
            </a:solidFill>
            <a:prstDash val="solid"/>
          </a:ln>
        </p:spPr>
        <p:txBody>
          <a:bodyPr/>
          <a:lstStyle/>
          <a:p>
            <a:endParaRPr lang="en-US"/>
          </a:p>
        </p:txBody>
      </p:sp>
      <p:sp>
        <p:nvSpPr>
          <p:cNvPr id="8" name="Text 5"/>
          <p:cNvSpPr/>
          <p:nvPr/>
        </p:nvSpPr>
        <p:spPr>
          <a:xfrm>
            <a:off x="438912" y="886968"/>
            <a:ext cx="3877056" cy="256032"/>
          </a:xfrm>
          <a:prstGeom prst="rect">
            <a:avLst/>
          </a:prstGeom>
          <a:noFill/>
          <a:ln/>
        </p:spPr>
        <p:txBody>
          <a:bodyPr wrap="square" lIns="0" tIns="0" rIns="0" bIns="0" rtlCol="0" anchor="ctr"/>
          <a:lstStyle/>
          <a:p>
            <a:pPr marL="0" indent="0">
              <a:buNone/>
            </a:pPr>
            <a:r>
              <a:rPr lang="en-US" sz="850" b="1" kern="0" spc="200" dirty="0">
                <a:solidFill>
                  <a:srgbClr val="085CE5"/>
                </a:solidFill>
                <a:latin typeface="Calibri" pitchFamily="34" charset="0"/>
                <a:ea typeface="Calibri" pitchFamily="34" charset="-122"/>
                <a:cs typeface="Calibri" pitchFamily="34" charset="-120"/>
              </a:rPr>
              <a:t>THE CHALLENGE FOR FI CLIENTS</a:t>
            </a:r>
            <a:endParaRPr lang="en-US" sz="850" dirty="0"/>
          </a:p>
        </p:txBody>
      </p:sp>
      <p:sp>
        <p:nvSpPr>
          <p:cNvPr id="9" name="Text 6"/>
          <p:cNvSpPr/>
          <p:nvPr/>
        </p:nvSpPr>
        <p:spPr>
          <a:xfrm>
            <a:off x="438912" y="1170432"/>
            <a:ext cx="3858768" cy="804672"/>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Community banks and credit unions lose 8–12% of their customer base annually — but the signal is hiding in plain sight. Direct deposit cadence changes, ACH originator shifts, and balance migration patterns in payments data telegraph defection weeks before an account closes. By the time staff react, the relationship is already gone.</a:t>
            </a:r>
            <a:endParaRPr lang="en-US" sz="1100" dirty="0"/>
          </a:p>
        </p:txBody>
      </p:sp>
      <p:sp>
        <p:nvSpPr>
          <p:cNvPr id="10" name="Text 7"/>
          <p:cNvSpPr/>
          <p:nvPr/>
        </p:nvSpPr>
        <p:spPr>
          <a:xfrm>
            <a:off x="438912" y="2029968"/>
            <a:ext cx="3657600" cy="256032"/>
          </a:xfrm>
          <a:prstGeom prst="rect">
            <a:avLst/>
          </a:prstGeom>
          <a:noFill/>
          <a:ln/>
        </p:spPr>
        <p:txBody>
          <a:bodyPr wrap="square" lIns="0" tIns="0" rIns="0" bIns="0" rtlCol="0" anchor="ctr"/>
          <a:lstStyle/>
          <a:p>
            <a:pPr marL="0" indent="0">
              <a:buNone/>
            </a:pPr>
            <a:r>
              <a:rPr lang="en-US" sz="1000" b="1" dirty="0">
                <a:solidFill>
                  <a:srgbClr val="06185F"/>
                </a:solidFill>
                <a:latin typeface="Calibri" pitchFamily="34" charset="0"/>
                <a:ea typeface="Calibri" pitchFamily="34" charset="-122"/>
                <a:cs typeface="Calibri" pitchFamily="34" charset="-120"/>
              </a:rPr>
              <a:t>Key Pain Points</a:t>
            </a:r>
            <a:endParaRPr lang="en-US" sz="1000" dirty="0"/>
          </a:p>
        </p:txBody>
      </p:sp>
      <p:sp>
        <p:nvSpPr>
          <p:cNvPr id="11" name="Text 8"/>
          <p:cNvSpPr/>
          <p:nvPr/>
        </p:nvSpPr>
        <p:spPr>
          <a:xfrm>
            <a:off x="438912"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Direct deposit moves are the #1 churn signal — caught only after the fact</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ACH cadence breaks (frequency, amount, originator) go unmonitored</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Relationship managers have no behavioral risk score to prioritize outreach</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Reactive retention is expensive — proactive saves cost a fraction</a:t>
            </a:r>
            <a:endParaRPr lang="en-US" sz="1050" dirty="0"/>
          </a:p>
        </p:txBody>
      </p:sp>
      <p:sp>
        <p:nvSpPr>
          <p:cNvPr id="12" name="Shape 9"/>
          <p:cNvSpPr/>
          <p:nvPr/>
        </p:nvSpPr>
        <p:spPr>
          <a:xfrm>
            <a:off x="4700016" y="822960"/>
            <a:ext cx="4187952" cy="276148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0"/>
          <p:cNvSpPr/>
          <p:nvPr/>
        </p:nvSpPr>
        <p:spPr>
          <a:xfrm>
            <a:off x="4700016" y="822960"/>
            <a:ext cx="73152" cy="2761488"/>
          </a:xfrm>
          <a:prstGeom prst="rect">
            <a:avLst/>
          </a:prstGeom>
          <a:solidFill>
            <a:srgbClr val="085CE5"/>
          </a:solidFill>
          <a:ln w="12700">
            <a:solidFill>
              <a:srgbClr val="085CE5"/>
            </a:solidFill>
            <a:prstDash val="solid"/>
          </a:ln>
        </p:spPr>
        <p:txBody>
          <a:bodyPr/>
          <a:lstStyle/>
          <a:p>
            <a:endParaRPr lang="en-US"/>
          </a:p>
        </p:txBody>
      </p:sp>
      <p:sp>
        <p:nvSpPr>
          <p:cNvPr id="14" name="Text 11"/>
          <p:cNvSpPr/>
          <p:nvPr/>
        </p:nvSpPr>
        <p:spPr>
          <a:xfrm>
            <a:off x="4882896" y="886968"/>
            <a:ext cx="3877056" cy="256032"/>
          </a:xfrm>
          <a:prstGeom prst="rect">
            <a:avLst/>
          </a:prstGeom>
          <a:noFill/>
          <a:ln/>
        </p:spPr>
        <p:txBody>
          <a:bodyPr wrap="square" lIns="0" tIns="0" rIns="0" bIns="0" rtlCol="0" anchor="ctr"/>
          <a:lstStyle/>
          <a:p>
            <a:pPr marL="0" indent="0">
              <a:buNone/>
            </a:pPr>
            <a:r>
              <a:rPr lang="en-US" sz="850" b="1" kern="0" spc="200" dirty="0">
                <a:solidFill>
                  <a:srgbClr val="085CE5"/>
                </a:solidFill>
                <a:latin typeface="Calibri" pitchFamily="34" charset="0"/>
                <a:ea typeface="Calibri" pitchFamily="34" charset="-122"/>
                <a:cs typeface="Calibri" pitchFamily="34" charset="-120"/>
              </a:rPr>
              <a:t>WHAT JACK HENRY DELIVERS</a:t>
            </a:r>
            <a:endParaRPr lang="en-US" sz="850" dirty="0"/>
          </a:p>
        </p:txBody>
      </p:sp>
      <p:sp>
        <p:nvSpPr>
          <p:cNvPr id="15" name="Text 12"/>
          <p:cNvSpPr/>
          <p:nvPr/>
        </p:nvSpPr>
        <p:spPr>
          <a:xfrm>
            <a:off x="4882896" y="1170432"/>
            <a:ext cx="3858768" cy="804672"/>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Churn Sentinel is a two-phase signal model built on JH's network data — Phase 1 launches on ACH payments signals (direct deposit monitoring, cadence anomalies, originator changes) and Phase 2 enriches with core banking and Banno digital signals as those pipelines come online. The model trains on JH's full FI network regardless of per-FI adoption.</a:t>
            </a:r>
            <a:endParaRPr lang="en-US" sz="1100" dirty="0"/>
          </a:p>
        </p:txBody>
      </p:sp>
      <p:sp>
        <p:nvSpPr>
          <p:cNvPr id="16" name="Text 13"/>
          <p:cNvSpPr/>
          <p:nvPr/>
        </p:nvSpPr>
        <p:spPr>
          <a:xfrm>
            <a:off x="4882896" y="2029968"/>
            <a:ext cx="3858768" cy="256032"/>
          </a:xfrm>
          <a:prstGeom prst="rect">
            <a:avLst/>
          </a:prstGeom>
          <a:noFill/>
          <a:ln/>
        </p:spPr>
        <p:txBody>
          <a:bodyPr wrap="square" lIns="0" tIns="0" rIns="0" bIns="0" rtlCol="0" anchor="ctr"/>
          <a:lstStyle/>
          <a:p>
            <a:pPr marL="0" indent="0">
              <a:buNone/>
            </a:pPr>
            <a:r>
              <a:rPr lang="en-US" sz="1000" b="1" dirty="0">
                <a:solidFill>
                  <a:srgbClr val="06185F"/>
                </a:solidFill>
                <a:latin typeface="Calibri" pitchFamily="34" charset="0"/>
                <a:ea typeface="Calibri" pitchFamily="34" charset="-122"/>
                <a:cs typeface="Calibri" pitchFamily="34" charset="-120"/>
              </a:rPr>
              <a:t>Technical Implementation</a:t>
            </a:r>
            <a:endParaRPr lang="en-US" sz="1000" dirty="0"/>
          </a:p>
        </p:txBody>
      </p:sp>
      <p:sp>
        <p:nvSpPr>
          <p:cNvPr id="17" name="Text 14"/>
          <p:cNvSpPr/>
          <p:nvPr/>
        </p:nvSpPr>
        <p:spPr>
          <a:xfrm>
            <a:off x="4882896"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Phase 1 — ACH Sentinel: direct deposit cadence + originator change detection</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Phase 2 — Core + Digital: balance trends, product thinning, Banno session signals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CatBoost survival model · SHAP explainability for banker-facing scores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Weekly scores pushed to JH CRM → automated outreach workflow triggers</a:t>
            </a:r>
            <a:endParaRPr lang="en-US" sz="1050" dirty="0"/>
          </a:p>
        </p:txBody>
      </p:sp>
      <p:sp>
        <p:nvSpPr>
          <p:cNvPr id="18" name="Shape 15"/>
          <p:cNvSpPr/>
          <p:nvPr/>
        </p:nvSpPr>
        <p:spPr>
          <a:xfrm>
            <a:off x="365760" y="3739896"/>
            <a:ext cx="2560320" cy="1207008"/>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19" name="Text 16"/>
          <p:cNvSpPr/>
          <p:nvPr/>
        </p:nvSpPr>
        <p:spPr>
          <a:xfrm>
            <a:off x="438912" y="3785616"/>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$1–3M</a:t>
            </a:r>
            <a:endParaRPr lang="en-US" sz="3000" dirty="0"/>
          </a:p>
        </p:txBody>
      </p:sp>
      <p:sp>
        <p:nvSpPr>
          <p:cNvPr id="20" name="Text 17"/>
          <p:cNvSpPr/>
          <p:nvPr/>
        </p:nvSpPr>
        <p:spPr>
          <a:xfrm>
            <a:off x="438912" y="4343400"/>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Annual revenue protected</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per FI ($1B deposits)</a:t>
            </a:r>
            <a:endParaRPr lang="en-US" sz="1050" dirty="0"/>
          </a:p>
        </p:txBody>
      </p:sp>
      <p:sp>
        <p:nvSpPr>
          <p:cNvPr id="21" name="Shape 18"/>
          <p:cNvSpPr/>
          <p:nvPr/>
        </p:nvSpPr>
        <p:spPr>
          <a:xfrm>
            <a:off x="3291840" y="3739896"/>
            <a:ext cx="2560320" cy="1207008"/>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22" name="Text 19"/>
          <p:cNvSpPr/>
          <p:nvPr/>
        </p:nvSpPr>
        <p:spPr>
          <a:xfrm>
            <a:off x="3364992" y="3785616"/>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15–25%</a:t>
            </a:r>
            <a:endParaRPr lang="en-US" sz="3000" dirty="0"/>
          </a:p>
        </p:txBody>
      </p:sp>
      <p:sp>
        <p:nvSpPr>
          <p:cNvPr id="23" name="Text 20"/>
          <p:cNvSpPr/>
          <p:nvPr/>
        </p:nvSpPr>
        <p:spPr>
          <a:xfrm>
            <a:off x="3364992" y="4343400"/>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Reduction in churn</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rate for FI clients</a:t>
            </a:r>
            <a:endParaRPr lang="en-US" sz="1050" dirty="0"/>
          </a:p>
        </p:txBody>
      </p:sp>
      <p:sp>
        <p:nvSpPr>
          <p:cNvPr id="24" name="Shape 21"/>
          <p:cNvSpPr/>
          <p:nvPr/>
        </p:nvSpPr>
        <p:spPr>
          <a:xfrm>
            <a:off x="6217920" y="3739896"/>
            <a:ext cx="2560320" cy="1207008"/>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25" name="Text 22"/>
          <p:cNvSpPr/>
          <p:nvPr/>
        </p:nvSpPr>
        <p:spPr>
          <a:xfrm>
            <a:off x="6291072" y="3785616"/>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Q1 FY27</a:t>
            </a:r>
            <a:endParaRPr lang="en-US" sz="3000" dirty="0"/>
          </a:p>
        </p:txBody>
      </p:sp>
      <p:sp>
        <p:nvSpPr>
          <p:cNvPr id="26" name="Text 23"/>
          <p:cNvSpPr/>
          <p:nvPr/>
        </p:nvSpPr>
        <p:spPr>
          <a:xfrm>
            <a:off x="6291072" y="4343400"/>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Phase 1 ACH Sentinel</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target launch</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073FA8"/>
          </a:solidFill>
          <a:ln w="12700">
            <a:solidFill>
              <a:srgbClr val="073FA8"/>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46304"/>
            <a:ext cx="384048" cy="384048"/>
          </a:xfrm>
          <a:prstGeom prst="rect">
            <a:avLst/>
          </a:prstGeom>
        </p:spPr>
      </p:pic>
      <p:sp>
        <p:nvSpPr>
          <p:cNvPr id="4" name="Text 1"/>
          <p:cNvSpPr/>
          <p:nvPr/>
        </p:nvSpPr>
        <p:spPr>
          <a:xfrm>
            <a:off x="658368" y="91440"/>
            <a:ext cx="6583680" cy="530352"/>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Anomaly Detection</a:t>
            </a:r>
            <a:endParaRPr lang="en-US" sz="2000" dirty="0"/>
          </a:p>
        </p:txBody>
      </p:sp>
      <p:sp>
        <p:nvSpPr>
          <p:cNvPr id="5" name="Text 2"/>
          <p:cNvSpPr/>
          <p:nvPr/>
        </p:nvSpPr>
        <p:spPr>
          <a:xfrm>
            <a:off x="7315200" y="164592"/>
            <a:ext cx="1691640" cy="365760"/>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JH Platform  |  AI Application</a:t>
            </a:r>
            <a:endParaRPr lang="en-US" sz="1000" dirty="0"/>
          </a:p>
        </p:txBody>
      </p:sp>
      <p:sp>
        <p:nvSpPr>
          <p:cNvPr id="6" name="Shape 3"/>
          <p:cNvSpPr/>
          <p:nvPr/>
        </p:nvSpPr>
        <p:spPr>
          <a:xfrm>
            <a:off x="256032" y="822960"/>
            <a:ext cx="4187952" cy="276148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7" name="Shape 4"/>
          <p:cNvSpPr/>
          <p:nvPr/>
        </p:nvSpPr>
        <p:spPr>
          <a:xfrm>
            <a:off x="256032" y="822960"/>
            <a:ext cx="73152" cy="2761488"/>
          </a:xfrm>
          <a:prstGeom prst="rect">
            <a:avLst/>
          </a:prstGeom>
          <a:solidFill>
            <a:srgbClr val="073FA8"/>
          </a:solidFill>
          <a:ln w="12700">
            <a:solidFill>
              <a:srgbClr val="073FA8"/>
            </a:solidFill>
            <a:prstDash val="solid"/>
          </a:ln>
        </p:spPr>
        <p:txBody>
          <a:bodyPr/>
          <a:lstStyle/>
          <a:p>
            <a:endParaRPr lang="en-US"/>
          </a:p>
        </p:txBody>
      </p:sp>
      <p:sp>
        <p:nvSpPr>
          <p:cNvPr id="8" name="Text 5"/>
          <p:cNvSpPr/>
          <p:nvPr/>
        </p:nvSpPr>
        <p:spPr>
          <a:xfrm>
            <a:off x="438912" y="886968"/>
            <a:ext cx="3877056" cy="256032"/>
          </a:xfrm>
          <a:prstGeom prst="rect">
            <a:avLst/>
          </a:prstGeom>
          <a:noFill/>
          <a:ln/>
        </p:spPr>
        <p:txBody>
          <a:bodyPr wrap="square" lIns="0" tIns="0" rIns="0" bIns="0" rtlCol="0" anchor="ctr"/>
          <a:lstStyle/>
          <a:p>
            <a:pPr marL="0" indent="0">
              <a:buNone/>
            </a:pPr>
            <a:r>
              <a:rPr lang="en-US" sz="850" b="1" kern="0" spc="200" dirty="0">
                <a:solidFill>
                  <a:srgbClr val="073FA8"/>
                </a:solidFill>
                <a:latin typeface="Calibri" pitchFamily="34" charset="0"/>
                <a:ea typeface="Calibri" pitchFamily="34" charset="-122"/>
                <a:cs typeface="Calibri" pitchFamily="34" charset="-120"/>
              </a:rPr>
              <a:t>THE CHALLENGE FOR FI CLIENTS</a:t>
            </a:r>
            <a:endParaRPr lang="en-US" sz="850" dirty="0"/>
          </a:p>
        </p:txBody>
      </p:sp>
      <p:sp>
        <p:nvSpPr>
          <p:cNvPr id="9" name="Text 6"/>
          <p:cNvSpPr/>
          <p:nvPr/>
        </p:nvSpPr>
        <p:spPr>
          <a:xfrm>
            <a:off x="438912" y="1170432"/>
            <a:ext cx="3858768" cy="804672"/>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Fraud and operational anomalies across JH-powered FIs are caught only by static rules — generating massive false positive rates that exhaust alert teams, while sophisticated multi-account patterns, account takeover signals, and operational errors slip through undetected.</a:t>
            </a:r>
            <a:endParaRPr lang="en-US" sz="1100" dirty="0"/>
          </a:p>
        </p:txBody>
      </p:sp>
      <p:sp>
        <p:nvSpPr>
          <p:cNvPr id="10" name="Text 7"/>
          <p:cNvSpPr/>
          <p:nvPr/>
        </p:nvSpPr>
        <p:spPr>
          <a:xfrm>
            <a:off x="438912" y="2029968"/>
            <a:ext cx="3657600" cy="256032"/>
          </a:xfrm>
          <a:prstGeom prst="rect">
            <a:avLst/>
          </a:prstGeom>
          <a:noFill/>
          <a:ln/>
        </p:spPr>
        <p:txBody>
          <a:bodyPr wrap="square" lIns="0" tIns="0" rIns="0" bIns="0" rtlCol="0" anchor="ctr"/>
          <a:lstStyle/>
          <a:p>
            <a:pPr marL="0" indent="0">
              <a:buNone/>
            </a:pPr>
            <a:r>
              <a:rPr lang="en-US" sz="1000" b="1" dirty="0">
                <a:solidFill>
                  <a:srgbClr val="06185F"/>
                </a:solidFill>
                <a:latin typeface="Calibri" pitchFamily="34" charset="0"/>
                <a:ea typeface="Calibri" pitchFamily="34" charset="-122"/>
                <a:cs typeface="Calibri" pitchFamily="34" charset="-120"/>
              </a:rPr>
              <a:t>Key Pain Points</a:t>
            </a:r>
            <a:endParaRPr lang="en-US" sz="1000" dirty="0"/>
          </a:p>
        </p:txBody>
      </p:sp>
      <p:sp>
        <p:nvSpPr>
          <p:cNvPr id="11" name="Text 8"/>
          <p:cNvSpPr/>
          <p:nvPr/>
        </p:nvSpPr>
        <p:spPr>
          <a:xfrm>
            <a:off x="438912"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Static rules generate excessive false positive alert volume</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Novel fraud patterns evade threshold-based logic</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No unsupervised learning across multi-account behavior</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Operational anomalies (data gaps, system errors) undetected</a:t>
            </a:r>
            <a:endParaRPr lang="en-US" sz="1050" dirty="0"/>
          </a:p>
        </p:txBody>
      </p:sp>
      <p:sp>
        <p:nvSpPr>
          <p:cNvPr id="12" name="Shape 9"/>
          <p:cNvSpPr/>
          <p:nvPr/>
        </p:nvSpPr>
        <p:spPr>
          <a:xfrm>
            <a:off x="4700016" y="822960"/>
            <a:ext cx="4187952" cy="276148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0"/>
          <p:cNvSpPr/>
          <p:nvPr/>
        </p:nvSpPr>
        <p:spPr>
          <a:xfrm>
            <a:off x="4700016" y="822960"/>
            <a:ext cx="73152" cy="2761488"/>
          </a:xfrm>
          <a:prstGeom prst="rect">
            <a:avLst/>
          </a:prstGeom>
          <a:solidFill>
            <a:srgbClr val="085CE5"/>
          </a:solidFill>
          <a:ln w="12700">
            <a:solidFill>
              <a:srgbClr val="085CE5"/>
            </a:solidFill>
            <a:prstDash val="solid"/>
          </a:ln>
        </p:spPr>
        <p:txBody>
          <a:bodyPr/>
          <a:lstStyle/>
          <a:p>
            <a:endParaRPr lang="en-US"/>
          </a:p>
        </p:txBody>
      </p:sp>
      <p:sp>
        <p:nvSpPr>
          <p:cNvPr id="14" name="Text 11"/>
          <p:cNvSpPr/>
          <p:nvPr/>
        </p:nvSpPr>
        <p:spPr>
          <a:xfrm>
            <a:off x="4882896" y="886968"/>
            <a:ext cx="3877056" cy="256032"/>
          </a:xfrm>
          <a:prstGeom prst="rect">
            <a:avLst/>
          </a:prstGeom>
          <a:noFill/>
          <a:ln/>
        </p:spPr>
        <p:txBody>
          <a:bodyPr wrap="square" lIns="0" tIns="0" rIns="0" bIns="0" rtlCol="0" anchor="ctr"/>
          <a:lstStyle/>
          <a:p>
            <a:pPr marL="0" indent="0">
              <a:buNone/>
            </a:pPr>
            <a:r>
              <a:rPr lang="en-US" sz="850" b="1" kern="0" spc="200" dirty="0">
                <a:solidFill>
                  <a:srgbClr val="085CE5"/>
                </a:solidFill>
                <a:latin typeface="Calibri" pitchFamily="34" charset="0"/>
                <a:ea typeface="Calibri" pitchFamily="34" charset="-122"/>
                <a:cs typeface="Calibri" pitchFamily="34" charset="-120"/>
              </a:rPr>
              <a:t>WHAT JACK HENRY DELIVERS</a:t>
            </a:r>
            <a:endParaRPr lang="en-US" sz="850" dirty="0"/>
          </a:p>
        </p:txBody>
      </p:sp>
      <p:sp>
        <p:nvSpPr>
          <p:cNvPr id="15" name="Text 12"/>
          <p:cNvSpPr/>
          <p:nvPr/>
        </p:nvSpPr>
        <p:spPr>
          <a:xfrm>
            <a:off x="4882896" y="1170432"/>
            <a:ext cx="3858768" cy="804672"/>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An unsupervised anomaly detection platform using Isolation Forest, DBSCAN, and autoencoder neural networks — deployed as a JH platform service scoring transactions and behavioral signals across all connected FI institutions in near real-time.</a:t>
            </a:r>
            <a:endParaRPr lang="en-US" sz="1100" dirty="0"/>
          </a:p>
        </p:txBody>
      </p:sp>
      <p:sp>
        <p:nvSpPr>
          <p:cNvPr id="16" name="Text 13"/>
          <p:cNvSpPr/>
          <p:nvPr/>
        </p:nvSpPr>
        <p:spPr>
          <a:xfrm>
            <a:off x="4882896" y="2029968"/>
            <a:ext cx="3858768" cy="256032"/>
          </a:xfrm>
          <a:prstGeom prst="rect">
            <a:avLst/>
          </a:prstGeom>
          <a:noFill/>
          <a:ln/>
        </p:spPr>
        <p:txBody>
          <a:bodyPr wrap="square" lIns="0" tIns="0" rIns="0" bIns="0" rtlCol="0" anchor="ctr"/>
          <a:lstStyle/>
          <a:p>
            <a:pPr marL="0" indent="0">
              <a:buNone/>
            </a:pPr>
            <a:r>
              <a:rPr lang="en-US" sz="1000" b="1" dirty="0">
                <a:solidFill>
                  <a:srgbClr val="06185F"/>
                </a:solidFill>
                <a:latin typeface="Calibri" pitchFamily="34" charset="0"/>
                <a:ea typeface="Calibri" pitchFamily="34" charset="-122"/>
                <a:cs typeface="Calibri" pitchFamily="34" charset="-120"/>
              </a:rPr>
              <a:t>Technical Implementation</a:t>
            </a:r>
            <a:endParaRPr lang="en-US" sz="1000" dirty="0"/>
          </a:p>
        </p:txBody>
      </p:sp>
      <p:sp>
        <p:nvSpPr>
          <p:cNvPr id="17" name="Text 14"/>
          <p:cNvSpPr/>
          <p:nvPr/>
        </p:nvSpPr>
        <p:spPr>
          <a:xfrm>
            <a:off x="4882896"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Isolation Forest + autoencoder ensemble architecture</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Streaming Kafka pipeline for near-real-time scoring</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Multi-entity context: account, customer, branch, channel</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SHAP anomaly scores surfaced in JH analyst dashboard</a:t>
            </a:r>
            <a:endParaRPr lang="en-US" sz="1050" dirty="0"/>
          </a:p>
        </p:txBody>
      </p:sp>
      <p:sp>
        <p:nvSpPr>
          <p:cNvPr id="18" name="Shape 15"/>
          <p:cNvSpPr/>
          <p:nvPr/>
        </p:nvSpPr>
        <p:spPr>
          <a:xfrm>
            <a:off x="365760" y="3739896"/>
            <a:ext cx="2560320" cy="1207008"/>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19" name="Text 16"/>
          <p:cNvSpPr/>
          <p:nvPr/>
        </p:nvSpPr>
        <p:spPr>
          <a:xfrm>
            <a:off x="438912" y="3785616"/>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$1–2M</a:t>
            </a:r>
            <a:endParaRPr lang="en-US" sz="3000" dirty="0"/>
          </a:p>
        </p:txBody>
      </p:sp>
      <p:sp>
        <p:nvSpPr>
          <p:cNvPr id="20" name="Text 17"/>
          <p:cNvSpPr/>
          <p:nvPr/>
        </p:nvSpPr>
        <p:spPr>
          <a:xfrm>
            <a:off x="438912" y="4343400"/>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Annual fraud loss saved</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per FI (est.)</a:t>
            </a:r>
            <a:endParaRPr lang="en-US" sz="1050" dirty="0"/>
          </a:p>
        </p:txBody>
      </p:sp>
      <p:sp>
        <p:nvSpPr>
          <p:cNvPr id="21" name="Shape 18"/>
          <p:cNvSpPr/>
          <p:nvPr/>
        </p:nvSpPr>
        <p:spPr>
          <a:xfrm>
            <a:off x="3291840" y="3739896"/>
            <a:ext cx="2560320" cy="1207008"/>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22" name="Text 19"/>
          <p:cNvSpPr/>
          <p:nvPr/>
        </p:nvSpPr>
        <p:spPr>
          <a:xfrm>
            <a:off x="3364992" y="3785616"/>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70%</a:t>
            </a:r>
            <a:endParaRPr lang="en-US" sz="3000" dirty="0"/>
          </a:p>
        </p:txBody>
      </p:sp>
      <p:sp>
        <p:nvSpPr>
          <p:cNvPr id="23" name="Text 20"/>
          <p:cNvSpPr/>
          <p:nvPr/>
        </p:nvSpPr>
        <p:spPr>
          <a:xfrm>
            <a:off x="3364992" y="4343400"/>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False positive</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reduction target</a:t>
            </a:r>
            <a:endParaRPr lang="en-US" sz="1050" dirty="0"/>
          </a:p>
        </p:txBody>
      </p:sp>
      <p:sp>
        <p:nvSpPr>
          <p:cNvPr id="24" name="Shape 21"/>
          <p:cNvSpPr/>
          <p:nvPr/>
        </p:nvSpPr>
        <p:spPr>
          <a:xfrm>
            <a:off x="6217920" y="3739896"/>
            <a:ext cx="2560320" cy="1207008"/>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25" name="Text 22"/>
          <p:cNvSpPr/>
          <p:nvPr/>
        </p:nvSpPr>
        <p:spPr>
          <a:xfrm>
            <a:off x="6291072" y="3785616"/>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Q1 FY27</a:t>
            </a:r>
            <a:endParaRPr lang="en-US" sz="3000" dirty="0"/>
          </a:p>
        </p:txBody>
      </p:sp>
      <p:sp>
        <p:nvSpPr>
          <p:cNvPr id="26" name="Text 23"/>
          <p:cNvSpPr/>
          <p:nvPr/>
        </p:nvSpPr>
        <p:spPr>
          <a:xfrm>
            <a:off x="6291072" y="4343400"/>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Target JH platform</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delivery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0A52C4"/>
          </a:solidFill>
          <a:ln w="12700">
            <a:solidFill>
              <a:srgbClr val="0A52C4"/>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46304"/>
            <a:ext cx="384048" cy="384048"/>
          </a:xfrm>
          <a:prstGeom prst="rect">
            <a:avLst/>
          </a:prstGeom>
        </p:spPr>
      </p:pic>
      <p:sp>
        <p:nvSpPr>
          <p:cNvPr id="4" name="Text 1"/>
          <p:cNvSpPr/>
          <p:nvPr/>
        </p:nvSpPr>
        <p:spPr>
          <a:xfrm>
            <a:off x="658368" y="91440"/>
            <a:ext cx="6583680" cy="530352"/>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CommercialSignal</a:t>
            </a:r>
            <a:endParaRPr lang="en-US" sz="2000" dirty="0"/>
          </a:p>
        </p:txBody>
      </p:sp>
      <p:sp>
        <p:nvSpPr>
          <p:cNvPr id="5" name="Text 2"/>
          <p:cNvSpPr/>
          <p:nvPr/>
        </p:nvSpPr>
        <p:spPr>
          <a:xfrm>
            <a:off x="7315200" y="164592"/>
            <a:ext cx="1691640" cy="365760"/>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JH Platform  |  AI Application</a:t>
            </a:r>
            <a:endParaRPr lang="en-US" sz="1000" dirty="0"/>
          </a:p>
        </p:txBody>
      </p:sp>
      <p:sp>
        <p:nvSpPr>
          <p:cNvPr id="6" name="Shape 3"/>
          <p:cNvSpPr/>
          <p:nvPr/>
        </p:nvSpPr>
        <p:spPr>
          <a:xfrm>
            <a:off x="256032" y="822960"/>
            <a:ext cx="4187952" cy="276148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7" name="Shape 4"/>
          <p:cNvSpPr/>
          <p:nvPr/>
        </p:nvSpPr>
        <p:spPr>
          <a:xfrm>
            <a:off x="256032" y="822960"/>
            <a:ext cx="73152" cy="2761488"/>
          </a:xfrm>
          <a:prstGeom prst="rect">
            <a:avLst/>
          </a:prstGeom>
          <a:solidFill>
            <a:srgbClr val="0A52C4"/>
          </a:solidFill>
          <a:ln w="12700">
            <a:solidFill>
              <a:srgbClr val="0A52C4"/>
            </a:solidFill>
            <a:prstDash val="solid"/>
          </a:ln>
        </p:spPr>
        <p:txBody>
          <a:bodyPr/>
          <a:lstStyle/>
          <a:p>
            <a:endParaRPr lang="en-US"/>
          </a:p>
        </p:txBody>
      </p:sp>
      <p:sp>
        <p:nvSpPr>
          <p:cNvPr id="8" name="Text 5"/>
          <p:cNvSpPr/>
          <p:nvPr/>
        </p:nvSpPr>
        <p:spPr>
          <a:xfrm>
            <a:off x="438912" y="886968"/>
            <a:ext cx="3877056" cy="256032"/>
          </a:xfrm>
          <a:prstGeom prst="rect">
            <a:avLst/>
          </a:prstGeom>
          <a:noFill/>
          <a:ln/>
        </p:spPr>
        <p:txBody>
          <a:bodyPr wrap="square" lIns="0" tIns="0" rIns="0" bIns="0" rtlCol="0" anchor="ctr"/>
          <a:lstStyle/>
          <a:p>
            <a:pPr marL="0" indent="0">
              <a:buNone/>
            </a:pPr>
            <a:r>
              <a:rPr lang="en-US" sz="850" b="1" kern="0" spc="200" dirty="0">
                <a:solidFill>
                  <a:srgbClr val="0A52C4"/>
                </a:solidFill>
                <a:latin typeface="Calibri" pitchFamily="34" charset="0"/>
                <a:ea typeface="Calibri" pitchFamily="34" charset="-122"/>
                <a:cs typeface="Calibri" pitchFamily="34" charset="-120"/>
              </a:rPr>
              <a:t>THE CHALLENGE FOR FI CLIENTS</a:t>
            </a:r>
            <a:endParaRPr lang="en-US" sz="850" dirty="0"/>
          </a:p>
        </p:txBody>
      </p:sp>
      <p:sp>
        <p:nvSpPr>
          <p:cNvPr id="9" name="Text 6"/>
          <p:cNvSpPr/>
          <p:nvPr/>
        </p:nvSpPr>
        <p:spPr>
          <a:xfrm>
            <a:off x="438912" y="1170432"/>
            <a:ext cx="3858768" cy="804672"/>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Business owners run commercial operations through personal accounts daily — creating BSA/AML blind spots, Reg E gaps, and hiding SMB relationships that belong in business banking generating fee income, treasury products, and SBA loan revenue.</a:t>
            </a:r>
            <a:endParaRPr lang="en-US" sz="1100" dirty="0"/>
          </a:p>
        </p:txBody>
      </p:sp>
      <p:sp>
        <p:nvSpPr>
          <p:cNvPr id="10" name="Text 7"/>
          <p:cNvSpPr/>
          <p:nvPr/>
        </p:nvSpPr>
        <p:spPr>
          <a:xfrm>
            <a:off x="438912" y="2029968"/>
            <a:ext cx="3657600" cy="256032"/>
          </a:xfrm>
          <a:prstGeom prst="rect">
            <a:avLst/>
          </a:prstGeom>
          <a:noFill/>
          <a:ln/>
        </p:spPr>
        <p:txBody>
          <a:bodyPr wrap="square" lIns="0" tIns="0" rIns="0" bIns="0" rtlCol="0" anchor="ctr"/>
          <a:lstStyle/>
          <a:p>
            <a:pPr marL="0" indent="0">
              <a:buNone/>
            </a:pPr>
            <a:r>
              <a:rPr lang="en-US" sz="1000" b="1" dirty="0">
                <a:solidFill>
                  <a:srgbClr val="06185F"/>
                </a:solidFill>
                <a:latin typeface="Calibri" pitchFamily="34" charset="0"/>
                <a:ea typeface="Calibri" pitchFamily="34" charset="-122"/>
                <a:cs typeface="Calibri" pitchFamily="34" charset="-120"/>
              </a:rPr>
              <a:t>Key Pain Points</a:t>
            </a:r>
            <a:endParaRPr lang="en-US" sz="1000" dirty="0"/>
          </a:p>
        </p:txBody>
      </p:sp>
      <p:sp>
        <p:nvSpPr>
          <p:cNvPr id="11" name="Text 8"/>
          <p:cNvSpPr/>
          <p:nvPr/>
        </p:nvSpPr>
        <p:spPr>
          <a:xfrm>
            <a:off x="438912"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Commercial cash flows in consumer accounts invisible to business banking teams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BSA/AML programs miss commercial-risk patterns governed by Reg E frameworks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FIs lose fee income, treasury products, and SBA loan opportunities from hidden SMBs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Sole proprietors remain in consumer tiers with no differentiated service or depth</a:t>
            </a:r>
            <a:endParaRPr lang="en-US" sz="1050" dirty="0"/>
          </a:p>
        </p:txBody>
      </p:sp>
      <p:sp>
        <p:nvSpPr>
          <p:cNvPr id="12" name="Shape 9"/>
          <p:cNvSpPr/>
          <p:nvPr/>
        </p:nvSpPr>
        <p:spPr>
          <a:xfrm>
            <a:off x="4700016" y="822960"/>
            <a:ext cx="4187952" cy="276148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0"/>
          <p:cNvSpPr/>
          <p:nvPr/>
        </p:nvSpPr>
        <p:spPr>
          <a:xfrm>
            <a:off x="4700016" y="822960"/>
            <a:ext cx="73152" cy="2761488"/>
          </a:xfrm>
          <a:prstGeom prst="rect">
            <a:avLst/>
          </a:prstGeom>
          <a:solidFill>
            <a:srgbClr val="085CE5"/>
          </a:solidFill>
          <a:ln w="12700">
            <a:solidFill>
              <a:srgbClr val="085CE5"/>
            </a:solidFill>
            <a:prstDash val="solid"/>
          </a:ln>
        </p:spPr>
        <p:txBody>
          <a:bodyPr/>
          <a:lstStyle/>
          <a:p>
            <a:endParaRPr lang="en-US"/>
          </a:p>
        </p:txBody>
      </p:sp>
      <p:sp>
        <p:nvSpPr>
          <p:cNvPr id="14" name="Text 11"/>
          <p:cNvSpPr/>
          <p:nvPr/>
        </p:nvSpPr>
        <p:spPr>
          <a:xfrm>
            <a:off x="4882896" y="886968"/>
            <a:ext cx="3877056" cy="256032"/>
          </a:xfrm>
          <a:prstGeom prst="rect">
            <a:avLst/>
          </a:prstGeom>
          <a:noFill/>
          <a:ln/>
        </p:spPr>
        <p:txBody>
          <a:bodyPr wrap="square" lIns="0" tIns="0" rIns="0" bIns="0" rtlCol="0" anchor="ctr"/>
          <a:lstStyle/>
          <a:p>
            <a:pPr marL="0" indent="0">
              <a:buNone/>
            </a:pPr>
            <a:r>
              <a:rPr lang="en-US" sz="850" b="1" kern="0" spc="200" dirty="0">
                <a:solidFill>
                  <a:srgbClr val="085CE5"/>
                </a:solidFill>
                <a:latin typeface="Calibri" pitchFamily="34" charset="0"/>
                <a:ea typeface="Calibri" pitchFamily="34" charset="-122"/>
                <a:cs typeface="Calibri" pitchFamily="34" charset="-120"/>
              </a:rPr>
              <a:t>WHAT JACK HENRY DELIVERS</a:t>
            </a:r>
            <a:endParaRPr lang="en-US" sz="850" dirty="0"/>
          </a:p>
        </p:txBody>
      </p:sp>
      <p:sp>
        <p:nvSpPr>
          <p:cNvPr id="15" name="Text 12"/>
          <p:cNvSpPr/>
          <p:nvPr/>
        </p:nvSpPr>
        <p:spPr>
          <a:xfrm>
            <a:off x="4882896" y="1170432"/>
            <a:ext cx="3858768" cy="804672"/>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An ML classification model analyzing transaction velocity, ACH vendor/payroll signatures, payee diversity, and cash flow patterns to score personal accounts for commercial usage probability — surfacing them for business banking outreach and revenue conversion.</a:t>
            </a:r>
            <a:endParaRPr lang="en-US" sz="1100" dirty="0"/>
          </a:p>
        </p:txBody>
      </p:sp>
      <p:sp>
        <p:nvSpPr>
          <p:cNvPr id="16" name="Text 13"/>
          <p:cNvSpPr/>
          <p:nvPr/>
        </p:nvSpPr>
        <p:spPr>
          <a:xfrm>
            <a:off x="4882896" y="2029968"/>
            <a:ext cx="3858768" cy="256032"/>
          </a:xfrm>
          <a:prstGeom prst="rect">
            <a:avLst/>
          </a:prstGeom>
          <a:noFill/>
          <a:ln/>
        </p:spPr>
        <p:txBody>
          <a:bodyPr wrap="square" lIns="0" tIns="0" rIns="0" bIns="0" rtlCol="0" anchor="ctr"/>
          <a:lstStyle/>
          <a:p>
            <a:pPr marL="0" indent="0">
              <a:buNone/>
            </a:pPr>
            <a:r>
              <a:rPr lang="en-US" sz="1000" b="1" dirty="0">
                <a:solidFill>
                  <a:srgbClr val="06185F"/>
                </a:solidFill>
                <a:latin typeface="Calibri" pitchFamily="34" charset="0"/>
                <a:ea typeface="Calibri" pitchFamily="34" charset="-122"/>
                <a:cs typeface="Calibri" pitchFamily="34" charset="-120"/>
              </a:rPr>
              <a:t>Technical Implementation</a:t>
            </a:r>
            <a:endParaRPr lang="en-US" sz="1000" dirty="0"/>
          </a:p>
        </p:txBody>
      </p:sp>
      <p:sp>
        <p:nvSpPr>
          <p:cNvPr id="17" name="Text 14"/>
          <p:cNvSpPr/>
          <p:nvPr/>
        </p:nvSpPr>
        <p:spPr>
          <a:xfrm>
            <a:off x="4882896"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CatBoost classifier: transaction velocity, ACH pattern, payee diversity, cash flow features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SHAP feature attribution for banker review and Regulation E compliance documentation</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Integration with JH CRM for segmented SMB conversion outreach campaigns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Automated monitoring for commercial activity thresholds with alert triggers</a:t>
            </a:r>
            <a:endParaRPr lang="en-US" sz="1050" dirty="0"/>
          </a:p>
        </p:txBody>
      </p:sp>
      <p:sp>
        <p:nvSpPr>
          <p:cNvPr id="18" name="Shape 15"/>
          <p:cNvSpPr/>
          <p:nvPr/>
        </p:nvSpPr>
        <p:spPr>
          <a:xfrm>
            <a:off x="365760" y="3657600"/>
            <a:ext cx="2560320" cy="1097280"/>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19" name="Text 16"/>
          <p:cNvSpPr/>
          <p:nvPr/>
        </p:nvSpPr>
        <p:spPr>
          <a:xfrm>
            <a:off x="438912" y="3703320"/>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$22T</a:t>
            </a:r>
            <a:endParaRPr lang="en-US" sz="3000" dirty="0"/>
          </a:p>
        </p:txBody>
      </p:sp>
      <p:sp>
        <p:nvSpPr>
          <p:cNvPr id="20" name="Text 17"/>
          <p:cNvSpPr/>
          <p:nvPr/>
        </p:nvSpPr>
        <p:spPr>
          <a:xfrm>
            <a:off x="438912" y="4261104"/>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Annual business payments</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flowing through personal accounts</a:t>
            </a:r>
            <a:endParaRPr lang="en-US" sz="1050" dirty="0"/>
          </a:p>
        </p:txBody>
      </p:sp>
      <p:sp>
        <p:nvSpPr>
          <p:cNvPr id="21" name="Shape 18"/>
          <p:cNvSpPr/>
          <p:nvPr/>
        </p:nvSpPr>
        <p:spPr>
          <a:xfrm>
            <a:off x="3291840" y="3657600"/>
            <a:ext cx="2560320" cy="1097280"/>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22" name="Text 19"/>
          <p:cNvSpPr/>
          <p:nvPr/>
        </p:nvSpPr>
        <p:spPr>
          <a:xfrm>
            <a:off x="3364992" y="3703320"/>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30–40%</a:t>
            </a:r>
            <a:endParaRPr lang="en-US" sz="3000" dirty="0"/>
          </a:p>
        </p:txBody>
      </p:sp>
      <p:sp>
        <p:nvSpPr>
          <p:cNvPr id="23" name="Text 20"/>
          <p:cNvSpPr/>
          <p:nvPr/>
        </p:nvSpPr>
        <p:spPr>
          <a:xfrm>
            <a:off x="3364992" y="4261104"/>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Small business owners use</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personal accounts commercially</a:t>
            </a:r>
            <a:endParaRPr lang="en-US" sz="1050" dirty="0"/>
          </a:p>
        </p:txBody>
      </p:sp>
      <p:sp>
        <p:nvSpPr>
          <p:cNvPr id="24" name="Shape 21"/>
          <p:cNvSpPr/>
          <p:nvPr/>
        </p:nvSpPr>
        <p:spPr>
          <a:xfrm>
            <a:off x="6217920" y="3657600"/>
            <a:ext cx="2560320" cy="1097280"/>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25" name="Text 22"/>
          <p:cNvSpPr/>
          <p:nvPr/>
        </p:nvSpPr>
        <p:spPr>
          <a:xfrm>
            <a:off x="6291072" y="3703320"/>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Q1 FY27</a:t>
            </a:r>
            <a:endParaRPr lang="en-US" sz="3000" dirty="0"/>
          </a:p>
        </p:txBody>
      </p:sp>
      <p:sp>
        <p:nvSpPr>
          <p:cNvPr id="26" name="Text 23"/>
          <p:cNvSpPr/>
          <p:nvPr/>
        </p:nvSpPr>
        <p:spPr>
          <a:xfrm>
            <a:off x="6291072" y="4261104"/>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Target JH platform</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delivery</a:t>
            </a:r>
            <a:endParaRPr lang="en-US" sz="1050" dirty="0"/>
          </a:p>
        </p:txBody>
      </p:sp>
      <p:sp>
        <p:nvSpPr>
          <p:cNvPr id="27" name="Shape 24"/>
          <p:cNvSpPr/>
          <p:nvPr/>
        </p:nvSpPr>
        <p:spPr>
          <a:xfrm>
            <a:off x="256032" y="4791456"/>
            <a:ext cx="8631936" cy="146304"/>
          </a:xfrm>
          <a:prstGeom prst="rect">
            <a:avLst/>
          </a:prstGeom>
          <a:solidFill>
            <a:srgbClr val="E7ECF0"/>
          </a:solidFill>
          <a:ln w="12700">
            <a:solidFill>
              <a:srgbClr val="E7ECF0"/>
            </a:solidFill>
            <a:prstDash val="solid"/>
          </a:ln>
        </p:spPr>
        <p:txBody>
          <a:bodyPr/>
          <a:lstStyle/>
          <a:p>
            <a:endParaRPr lang="en-US"/>
          </a:p>
        </p:txBody>
      </p:sp>
      <p:sp>
        <p:nvSpPr>
          <p:cNvPr id="28" name="Shape 25"/>
          <p:cNvSpPr/>
          <p:nvPr/>
        </p:nvSpPr>
        <p:spPr>
          <a:xfrm>
            <a:off x="256032" y="4791456"/>
            <a:ext cx="54864" cy="146304"/>
          </a:xfrm>
          <a:prstGeom prst="rect">
            <a:avLst/>
          </a:prstGeom>
          <a:solidFill>
            <a:srgbClr val="0A52C4"/>
          </a:solidFill>
          <a:ln w="12700">
            <a:solidFill>
              <a:srgbClr val="0A52C4"/>
            </a:solidFill>
            <a:prstDash val="solid"/>
          </a:ln>
        </p:spPr>
        <p:txBody>
          <a:bodyPr/>
          <a:lstStyle/>
          <a:p>
            <a:endParaRPr lang="en-US"/>
          </a:p>
        </p:txBody>
      </p:sp>
      <p:sp>
        <p:nvSpPr>
          <p:cNvPr id="29" name="Text 26"/>
          <p:cNvSpPr/>
          <p:nvPr/>
        </p:nvSpPr>
        <p:spPr>
          <a:xfrm>
            <a:off x="384048" y="4791456"/>
            <a:ext cx="8467344" cy="146304"/>
          </a:xfrm>
          <a:prstGeom prst="rect">
            <a:avLst/>
          </a:prstGeom>
          <a:noFill/>
          <a:ln/>
        </p:spPr>
        <p:txBody>
          <a:bodyPr wrap="square" lIns="0" tIns="0" rIns="0" bIns="0" rtlCol="0" anchor="ctr"/>
          <a:lstStyle/>
          <a:p>
            <a:pPr marL="0" indent="0">
              <a:buNone/>
            </a:pPr>
            <a:r>
              <a:rPr lang="en-US" sz="700" i="1" dirty="0">
                <a:solidFill>
                  <a:srgbClr val="575A5D"/>
                </a:solidFill>
                <a:latin typeface="Calibri" pitchFamily="34" charset="0"/>
                <a:ea typeface="Calibri" pitchFamily="34" charset="-122"/>
                <a:cs typeface="Calibri" pitchFamily="34" charset="-120"/>
              </a:rPr>
              <a:t>Bank Director — 'The Untapped Market Hiding in Consumer Bank Accounts' (bankdirector.com/article/the-untapped-market-hiding-in-consumer-bank-accounts)  ·  Datos Insights — 'Bank Wealth Managers: Business Owner Client Opportunity' (datos-insights.com)</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0F3D8A"/>
          </a:solidFill>
          <a:ln w="12700">
            <a:solidFill>
              <a:srgbClr val="0F3D8A"/>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46304"/>
            <a:ext cx="384048" cy="384048"/>
          </a:xfrm>
          <a:prstGeom prst="rect">
            <a:avLst/>
          </a:prstGeom>
        </p:spPr>
      </p:pic>
      <p:sp>
        <p:nvSpPr>
          <p:cNvPr id="4" name="Text 1"/>
          <p:cNvSpPr/>
          <p:nvPr/>
        </p:nvSpPr>
        <p:spPr>
          <a:xfrm>
            <a:off x="658368" y="91440"/>
            <a:ext cx="6583680" cy="530352"/>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Generational Wealth Deflection</a:t>
            </a:r>
            <a:endParaRPr lang="en-US" sz="2000" dirty="0"/>
          </a:p>
        </p:txBody>
      </p:sp>
      <p:sp>
        <p:nvSpPr>
          <p:cNvPr id="5" name="Text 2"/>
          <p:cNvSpPr/>
          <p:nvPr/>
        </p:nvSpPr>
        <p:spPr>
          <a:xfrm>
            <a:off x="7315200" y="164592"/>
            <a:ext cx="1691640" cy="365760"/>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JH Platform  |  AI Application</a:t>
            </a:r>
            <a:endParaRPr lang="en-US" sz="1000" dirty="0"/>
          </a:p>
        </p:txBody>
      </p:sp>
      <p:sp>
        <p:nvSpPr>
          <p:cNvPr id="6" name="Shape 3"/>
          <p:cNvSpPr/>
          <p:nvPr/>
        </p:nvSpPr>
        <p:spPr>
          <a:xfrm>
            <a:off x="256032" y="822960"/>
            <a:ext cx="4187952" cy="276148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7" name="Shape 4"/>
          <p:cNvSpPr/>
          <p:nvPr/>
        </p:nvSpPr>
        <p:spPr>
          <a:xfrm>
            <a:off x="256032" y="822960"/>
            <a:ext cx="73152" cy="2761488"/>
          </a:xfrm>
          <a:prstGeom prst="rect">
            <a:avLst/>
          </a:prstGeom>
          <a:solidFill>
            <a:srgbClr val="0F3D8A"/>
          </a:solidFill>
          <a:ln w="12700">
            <a:solidFill>
              <a:srgbClr val="0F3D8A"/>
            </a:solidFill>
            <a:prstDash val="solid"/>
          </a:ln>
        </p:spPr>
        <p:txBody>
          <a:bodyPr/>
          <a:lstStyle/>
          <a:p>
            <a:endParaRPr lang="en-US"/>
          </a:p>
        </p:txBody>
      </p:sp>
      <p:sp>
        <p:nvSpPr>
          <p:cNvPr id="8" name="Text 5"/>
          <p:cNvSpPr/>
          <p:nvPr/>
        </p:nvSpPr>
        <p:spPr>
          <a:xfrm>
            <a:off x="438912" y="886968"/>
            <a:ext cx="3877056" cy="256032"/>
          </a:xfrm>
          <a:prstGeom prst="rect">
            <a:avLst/>
          </a:prstGeom>
          <a:noFill/>
          <a:ln/>
        </p:spPr>
        <p:txBody>
          <a:bodyPr wrap="square" lIns="0" tIns="0" rIns="0" bIns="0" rtlCol="0" anchor="ctr"/>
          <a:lstStyle/>
          <a:p>
            <a:pPr marL="0" indent="0">
              <a:buNone/>
            </a:pPr>
            <a:r>
              <a:rPr lang="en-US" sz="850" b="1" kern="0" spc="200" dirty="0">
                <a:solidFill>
                  <a:srgbClr val="0F3D8A"/>
                </a:solidFill>
                <a:latin typeface="Calibri" pitchFamily="34" charset="0"/>
                <a:ea typeface="Calibri" pitchFamily="34" charset="-122"/>
                <a:cs typeface="Calibri" pitchFamily="34" charset="-120"/>
              </a:rPr>
              <a:t>THE CHALLENGE FOR FI CLIENTS</a:t>
            </a:r>
            <a:endParaRPr lang="en-US" sz="850" dirty="0"/>
          </a:p>
        </p:txBody>
      </p:sp>
      <p:sp>
        <p:nvSpPr>
          <p:cNvPr id="9" name="Text 6"/>
          <p:cNvSpPr/>
          <p:nvPr/>
        </p:nvSpPr>
        <p:spPr>
          <a:xfrm>
            <a:off x="438912" y="1170432"/>
            <a:ext cx="3858768" cy="804672"/>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FIs manage individual accounts but have no household model — so when wealth concentrates in a single-holder account with no family ties at the FI, a life event sends those assets to a competitor who already has the relationship with the heirs.</a:t>
            </a:r>
            <a:endParaRPr lang="en-US" sz="1100" dirty="0"/>
          </a:p>
        </p:txBody>
      </p:sp>
      <p:sp>
        <p:nvSpPr>
          <p:cNvPr id="10" name="Text 7"/>
          <p:cNvSpPr/>
          <p:nvPr/>
        </p:nvSpPr>
        <p:spPr>
          <a:xfrm>
            <a:off x="438912" y="2029968"/>
            <a:ext cx="3657600" cy="256032"/>
          </a:xfrm>
          <a:prstGeom prst="rect">
            <a:avLst/>
          </a:prstGeom>
          <a:noFill/>
          <a:ln/>
        </p:spPr>
        <p:txBody>
          <a:bodyPr wrap="square" lIns="0" tIns="0" rIns="0" bIns="0" rtlCol="0" anchor="ctr"/>
          <a:lstStyle/>
          <a:p>
            <a:pPr marL="0" indent="0">
              <a:buNone/>
            </a:pPr>
            <a:r>
              <a:rPr lang="en-US" sz="1000" b="1" dirty="0">
                <a:solidFill>
                  <a:srgbClr val="06185F"/>
                </a:solidFill>
                <a:latin typeface="Calibri" pitchFamily="34" charset="0"/>
                <a:ea typeface="Calibri" pitchFamily="34" charset="-122"/>
                <a:cs typeface="Calibri" pitchFamily="34" charset="-120"/>
              </a:rPr>
              <a:t>Key Pain Points</a:t>
            </a:r>
            <a:endParaRPr lang="en-US" sz="1000" dirty="0"/>
          </a:p>
        </p:txBody>
      </p:sp>
      <p:sp>
        <p:nvSpPr>
          <p:cNvPr id="11" name="Text 8"/>
          <p:cNvSpPr/>
          <p:nvPr/>
        </p:nvSpPr>
        <p:spPr>
          <a:xfrm>
            <a:off x="438912"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FI relationships are account-level, not household- or family-level</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No model for identifying households with single-point-of-relationship risk</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Wealth transfer triggers reactive outreach — typically too late to retain assets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Next-gen account holders are captured by digital-first competitors before FI engages</a:t>
            </a:r>
            <a:endParaRPr lang="en-US" sz="1050" dirty="0"/>
          </a:p>
        </p:txBody>
      </p:sp>
      <p:sp>
        <p:nvSpPr>
          <p:cNvPr id="12" name="Shape 9"/>
          <p:cNvSpPr/>
          <p:nvPr/>
        </p:nvSpPr>
        <p:spPr>
          <a:xfrm>
            <a:off x="4700016" y="822960"/>
            <a:ext cx="4187952" cy="276148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0"/>
          <p:cNvSpPr/>
          <p:nvPr/>
        </p:nvSpPr>
        <p:spPr>
          <a:xfrm>
            <a:off x="4700016" y="822960"/>
            <a:ext cx="73152" cy="2761488"/>
          </a:xfrm>
          <a:prstGeom prst="rect">
            <a:avLst/>
          </a:prstGeom>
          <a:solidFill>
            <a:srgbClr val="085CE5"/>
          </a:solidFill>
          <a:ln w="12700">
            <a:solidFill>
              <a:srgbClr val="085CE5"/>
            </a:solidFill>
            <a:prstDash val="solid"/>
          </a:ln>
        </p:spPr>
        <p:txBody>
          <a:bodyPr/>
          <a:lstStyle/>
          <a:p>
            <a:endParaRPr lang="en-US"/>
          </a:p>
        </p:txBody>
      </p:sp>
      <p:sp>
        <p:nvSpPr>
          <p:cNvPr id="14" name="Text 11"/>
          <p:cNvSpPr/>
          <p:nvPr/>
        </p:nvSpPr>
        <p:spPr>
          <a:xfrm>
            <a:off x="4882896" y="886968"/>
            <a:ext cx="3877056" cy="256032"/>
          </a:xfrm>
          <a:prstGeom prst="rect">
            <a:avLst/>
          </a:prstGeom>
          <a:noFill/>
          <a:ln/>
        </p:spPr>
        <p:txBody>
          <a:bodyPr wrap="square" lIns="0" tIns="0" rIns="0" bIns="0" rtlCol="0" anchor="ctr"/>
          <a:lstStyle/>
          <a:p>
            <a:pPr marL="0" indent="0">
              <a:buNone/>
            </a:pPr>
            <a:r>
              <a:rPr lang="en-US" sz="850" b="1" kern="0" spc="200" dirty="0">
                <a:solidFill>
                  <a:srgbClr val="085CE5"/>
                </a:solidFill>
                <a:latin typeface="Calibri" pitchFamily="34" charset="0"/>
                <a:ea typeface="Calibri" pitchFamily="34" charset="-122"/>
                <a:cs typeface="Calibri" pitchFamily="34" charset="-120"/>
              </a:rPr>
              <a:t>WHAT JACK HENRY DELIVERS</a:t>
            </a:r>
            <a:endParaRPr lang="en-US" sz="850" dirty="0"/>
          </a:p>
        </p:txBody>
      </p:sp>
      <p:sp>
        <p:nvSpPr>
          <p:cNvPr id="15" name="Text 12"/>
          <p:cNvSpPr/>
          <p:nvPr/>
        </p:nvSpPr>
        <p:spPr>
          <a:xfrm>
            <a:off x="4882896" y="1170432"/>
            <a:ext cx="3858768" cy="804672"/>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A household coverage scoring model that identifies existing accounts with concentrated wealth and no generational relationship depth — scoring deflection risk and triggering proactive family outreach campaigns to build multi-generational FI relationships before wealth transitions.</a:t>
            </a:r>
            <a:endParaRPr lang="en-US" sz="1100" dirty="0"/>
          </a:p>
        </p:txBody>
      </p:sp>
      <p:sp>
        <p:nvSpPr>
          <p:cNvPr id="16" name="Text 13"/>
          <p:cNvSpPr/>
          <p:nvPr/>
        </p:nvSpPr>
        <p:spPr>
          <a:xfrm>
            <a:off x="4882896" y="2029968"/>
            <a:ext cx="3858768" cy="256032"/>
          </a:xfrm>
          <a:prstGeom prst="rect">
            <a:avLst/>
          </a:prstGeom>
          <a:noFill/>
          <a:ln/>
        </p:spPr>
        <p:txBody>
          <a:bodyPr wrap="square" lIns="0" tIns="0" rIns="0" bIns="0" rtlCol="0" anchor="ctr"/>
          <a:lstStyle/>
          <a:p>
            <a:pPr marL="0" indent="0">
              <a:buNone/>
            </a:pPr>
            <a:r>
              <a:rPr lang="en-US" sz="1000" b="1" dirty="0">
                <a:solidFill>
                  <a:srgbClr val="06185F"/>
                </a:solidFill>
                <a:latin typeface="Calibri" pitchFamily="34" charset="0"/>
                <a:ea typeface="Calibri" pitchFamily="34" charset="-122"/>
                <a:cs typeface="Calibri" pitchFamily="34" charset="-120"/>
              </a:rPr>
              <a:t>Technical Implementation</a:t>
            </a:r>
            <a:endParaRPr lang="en-US" sz="1000" dirty="0"/>
          </a:p>
        </p:txBody>
      </p:sp>
      <p:sp>
        <p:nvSpPr>
          <p:cNvPr id="17" name="Text 14"/>
          <p:cNvSpPr/>
          <p:nvPr/>
        </p:nvSpPr>
        <p:spPr>
          <a:xfrm>
            <a:off x="4882896"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Household linkage model: address, name, and account relationship graph from core data</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Wealth concentration + relationship density scoring per household</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Proactive outreach triggers: next-gen Banno digital invites, relationship banker introductions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Household coverage rate tracked as FI performance KPI in JH executive dashboard</a:t>
            </a:r>
            <a:endParaRPr lang="en-US" sz="1050" dirty="0"/>
          </a:p>
        </p:txBody>
      </p:sp>
      <p:sp>
        <p:nvSpPr>
          <p:cNvPr id="18" name="Shape 15"/>
          <p:cNvSpPr/>
          <p:nvPr/>
        </p:nvSpPr>
        <p:spPr>
          <a:xfrm>
            <a:off x="365760" y="3657600"/>
            <a:ext cx="2560320" cy="1097280"/>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19" name="Text 16"/>
          <p:cNvSpPr/>
          <p:nvPr/>
        </p:nvSpPr>
        <p:spPr>
          <a:xfrm>
            <a:off x="438912" y="3703320"/>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$84T</a:t>
            </a:r>
            <a:endParaRPr lang="en-US" sz="3000" dirty="0"/>
          </a:p>
        </p:txBody>
      </p:sp>
      <p:sp>
        <p:nvSpPr>
          <p:cNvPr id="20" name="Text 17"/>
          <p:cNvSpPr/>
          <p:nvPr/>
        </p:nvSpPr>
        <p:spPr>
          <a:xfrm>
            <a:off x="438912" y="4261104"/>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U.S. household wealth</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transferring by 2045 (Cerulli)</a:t>
            </a:r>
            <a:endParaRPr lang="en-US" sz="1050" dirty="0"/>
          </a:p>
        </p:txBody>
      </p:sp>
      <p:sp>
        <p:nvSpPr>
          <p:cNvPr id="21" name="Shape 18"/>
          <p:cNvSpPr/>
          <p:nvPr/>
        </p:nvSpPr>
        <p:spPr>
          <a:xfrm>
            <a:off x="3291840" y="3657600"/>
            <a:ext cx="2560320" cy="1097280"/>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22" name="Text 19"/>
          <p:cNvSpPr/>
          <p:nvPr/>
        </p:nvSpPr>
        <p:spPr>
          <a:xfrm>
            <a:off x="3364992" y="3703320"/>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40%</a:t>
            </a:r>
            <a:endParaRPr lang="en-US" sz="3000" dirty="0"/>
          </a:p>
        </p:txBody>
      </p:sp>
      <p:sp>
        <p:nvSpPr>
          <p:cNvPr id="23" name="Text 20"/>
          <p:cNvSpPr/>
          <p:nvPr/>
        </p:nvSpPr>
        <p:spPr>
          <a:xfrm>
            <a:off x="3364992" y="4261104"/>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Of transferred wealth changes</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financial institutions</a:t>
            </a:r>
            <a:endParaRPr lang="en-US" sz="1050" dirty="0"/>
          </a:p>
        </p:txBody>
      </p:sp>
      <p:sp>
        <p:nvSpPr>
          <p:cNvPr id="24" name="Shape 21"/>
          <p:cNvSpPr/>
          <p:nvPr/>
        </p:nvSpPr>
        <p:spPr>
          <a:xfrm>
            <a:off x="6217920" y="3657600"/>
            <a:ext cx="2560320" cy="1097280"/>
          </a:xfrm>
          <a:prstGeom prst="rect">
            <a:avLst/>
          </a:prstGeom>
          <a:solidFill>
            <a:srgbClr val="06185F"/>
          </a:solidFill>
          <a:ln w="12700">
            <a:solidFill>
              <a:srgbClr val="06185F"/>
            </a:solidFill>
            <a:prstDash val="solid"/>
          </a:ln>
          <a:effectLst>
            <a:outerShdw blurRad="101600" dist="38100" dir="8100000" algn="bl" rotWithShape="0">
              <a:srgbClr val="000000">
                <a:alpha val="10000"/>
              </a:srgbClr>
            </a:outerShdw>
          </a:effectLst>
        </p:spPr>
        <p:txBody>
          <a:bodyPr/>
          <a:lstStyle/>
          <a:p>
            <a:endParaRPr lang="en-US"/>
          </a:p>
        </p:txBody>
      </p:sp>
      <p:sp>
        <p:nvSpPr>
          <p:cNvPr id="25" name="Text 22"/>
          <p:cNvSpPr/>
          <p:nvPr/>
        </p:nvSpPr>
        <p:spPr>
          <a:xfrm>
            <a:off x="6291072" y="3703320"/>
            <a:ext cx="2414016" cy="548640"/>
          </a:xfrm>
          <a:prstGeom prst="rect">
            <a:avLst/>
          </a:prstGeom>
          <a:noFill/>
          <a:ln/>
        </p:spPr>
        <p:txBody>
          <a:bodyPr wrap="square" lIns="0" tIns="0" rIns="0" bIns="0" rtlCol="0" anchor="ctr"/>
          <a:lstStyle/>
          <a:p>
            <a:pPr marL="0" indent="0" algn="ctr">
              <a:buNone/>
            </a:pPr>
            <a:r>
              <a:rPr lang="en-US" sz="3000" b="1" dirty="0">
                <a:solidFill>
                  <a:srgbClr val="76DCFD"/>
                </a:solidFill>
                <a:latin typeface="Calibri" pitchFamily="34" charset="0"/>
                <a:ea typeface="Calibri" pitchFamily="34" charset="-122"/>
                <a:cs typeface="Calibri" pitchFamily="34" charset="-120"/>
              </a:rPr>
              <a:t>Q1 FY27</a:t>
            </a:r>
            <a:endParaRPr lang="en-US" sz="3000" dirty="0"/>
          </a:p>
        </p:txBody>
      </p:sp>
      <p:sp>
        <p:nvSpPr>
          <p:cNvPr id="26" name="Text 23"/>
          <p:cNvSpPr/>
          <p:nvPr/>
        </p:nvSpPr>
        <p:spPr>
          <a:xfrm>
            <a:off x="6291072" y="4261104"/>
            <a:ext cx="2414016" cy="438912"/>
          </a:xfrm>
          <a:prstGeom prst="rect">
            <a:avLst/>
          </a:prstGeom>
          <a:noFill/>
          <a:ln/>
        </p:spPr>
        <p:txBody>
          <a:bodyPr wrap="square" lIns="0" tIns="0" rIns="0" bIns="0" rtlCol="0" anchor="ctr"/>
          <a:lstStyle/>
          <a:p>
            <a:pPr marL="0" indent="0" algn="ctr">
              <a:buNone/>
            </a:pPr>
            <a:r>
              <a:rPr lang="en-US" sz="1050" dirty="0">
                <a:solidFill>
                  <a:srgbClr val="E7ECF0"/>
                </a:solidFill>
                <a:latin typeface="Calibri" pitchFamily="34" charset="0"/>
                <a:ea typeface="Calibri" pitchFamily="34" charset="-122"/>
                <a:cs typeface="Calibri" pitchFamily="34" charset="-120"/>
              </a:rPr>
              <a:t>Target JH platform</a:t>
            </a:r>
            <a:endParaRPr lang="en-US" sz="1050" dirty="0"/>
          </a:p>
          <a:p>
            <a:pPr marL="0" indent="0" algn="ctr">
              <a:buNone/>
            </a:pPr>
            <a:r>
              <a:rPr lang="en-US" sz="1050" dirty="0">
                <a:solidFill>
                  <a:srgbClr val="E7ECF0"/>
                </a:solidFill>
                <a:latin typeface="Calibri" pitchFamily="34" charset="0"/>
                <a:ea typeface="Calibri" pitchFamily="34" charset="-122"/>
                <a:cs typeface="Calibri" pitchFamily="34" charset="-120"/>
              </a:rPr>
              <a:t>delivery</a:t>
            </a:r>
            <a:endParaRPr lang="en-US" sz="1050" dirty="0"/>
          </a:p>
        </p:txBody>
      </p:sp>
      <p:sp>
        <p:nvSpPr>
          <p:cNvPr id="27" name="Shape 24"/>
          <p:cNvSpPr/>
          <p:nvPr/>
        </p:nvSpPr>
        <p:spPr>
          <a:xfrm>
            <a:off x="256032" y="4791456"/>
            <a:ext cx="8631936" cy="146304"/>
          </a:xfrm>
          <a:prstGeom prst="rect">
            <a:avLst/>
          </a:prstGeom>
          <a:solidFill>
            <a:srgbClr val="E7ECF0"/>
          </a:solidFill>
          <a:ln w="12700">
            <a:solidFill>
              <a:srgbClr val="E7ECF0"/>
            </a:solidFill>
            <a:prstDash val="solid"/>
          </a:ln>
        </p:spPr>
        <p:txBody>
          <a:bodyPr/>
          <a:lstStyle/>
          <a:p>
            <a:endParaRPr lang="en-US"/>
          </a:p>
        </p:txBody>
      </p:sp>
      <p:sp>
        <p:nvSpPr>
          <p:cNvPr id="28" name="Shape 25"/>
          <p:cNvSpPr/>
          <p:nvPr/>
        </p:nvSpPr>
        <p:spPr>
          <a:xfrm>
            <a:off x="256032" y="4791456"/>
            <a:ext cx="54864" cy="146304"/>
          </a:xfrm>
          <a:prstGeom prst="rect">
            <a:avLst/>
          </a:prstGeom>
          <a:solidFill>
            <a:srgbClr val="0F3D8A"/>
          </a:solidFill>
          <a:ln w="12700">
            <a:solidFill>
              <a:srgbClr val="0F3D8A"/>
            </a:solidFill>
            <a:prstDash val="solid"/>
          </a:ln>
        </p:spPr>
        <p:txBody>
          <a:bodyPr/>
          <a:lstStyle/>
          <a:p>
            <a:endParaRPr lang="en-US"/>
          </a:p>
        </p:txBody>
      </p:sp>
      <p:sp>
        <p:nvSpPr>
          <p:cNvPr id="29" name="Text 26"/>
          <p:cNvSpPr/>
          <p:nvPr/>
        </p:nvSpPr>
        <p:spPr>
          <a:xfrm>
            <a:off x="384048" y="4791456"/>
            <a:ext cx="8467344" cy="146304"/>
          </a:xfrm>
          <a:prstGeom prst="rect">
            <a:avLst/>
          </a:prstGeom>
          <a:noFill/>
          <a:ln/>
        </p:spPr>
        <p:txBody>
          <a:bodyPr wrap="square" lIns="0" tIns="0" rIns="0" bIns="0" rtlCol="0" anchor="ctr"/>
          <a:lstStyle/>
          <a:p>
            <a:pPr marL="0" indent="0">
              <a:buNone/>
            </a:pPr>
            <a:r>
              <a:rPr lang="en-US" sz="700" i="1" dirty="0">
                <a:solidFill>
                  <a:srgbClr val="575A5D"/>
                </a:solidFill>
                <a:latin typeface="Calibri" pitchFamily="34" charset="0"/>
                <a:ea typeface="Calibri" pitchFamily="34" charset="-122"/>
                <a:cs typeface="Calibri" pitchFamily="34" charset="-120"/>
              </a:rPr>
              <a:t>Cerulli Associates — 'U.S. High-Net-Worth and Ultra-High-Net-Worth Markets 2023'  ·  McKinsey — 'The Great Wealth Transfer' (2023)  ·  LIMRA — Intergenerational Wealth Transfer Research</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EFD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9264"/>
          </a:xfrm>
          <a:prstGeom prst="rect">
            <a:avLst/>
          </a:prstGeom>
          <a:solidFill>
            <a:srgbClr val="0D2E7A"/>
          </a:solidFill>
          <a:ln w="12700">
            <a:solidFill>
              <a:srgbClr val="0D2E7A"/>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347472" y="146304"/>
            <a:ext cx="621792" cy="621792"/>
          </a:xfrm>
          <a:prstGeom prst="rect">
            <a:avLst/>
          </a:prstGeom>
        </p:spPr>
      </p:pic>
      <p:sp>
        <p:nvSpPr>
          <p:cNvPr id="4" name="Text 1"/>
          <p:cNvSpPr/>
          <p:nvPr/>
        </p:nvSpPr>
        <p:spPr>
          <a:xfrm>
            <a:off x="1078992" y="73152"/>
            <a:ext cx="68580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FI Decision Studio</a:t>
            </a:r>
            <a:endParaRPr lang="en-US" sz="2800" dirty="0"/>
          </a:p>
        </p:txBody>
      </p:sp>
      <p:sp>
        <p:nvSpPr>
          <p:cNvPr id="5" name="Text 2"/>
          <p:cNvSpPr/>
          <p:nvPr/>
        </p:nvSpPr>
        <p:spPr>
          <a:xfrm>
            <a:off x="1078992" y="576072"/>
            <a:ext cx="7772400" cy="292608"/>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AutoML · SHAP Explainability · Rule Authoring · API Hosting · Drift Monitoring</a:t>
            </a:r>
            <a:endParaRPr lang="en-US" sz="1050" dirty="0"/>
          </a:p>
        </p:txBody>
      </p:sp>
      <p:sp>
        <p:nvSpPr>
          <p:cNvPr id="6" name="Shape 3"/>
          <p:cNvSpPr/>
          <p:nvPr/>
        </p:nvSpPr>
        <p:spPr>
          <a:xfrm>
            <a:off x="320040" y="1078992"/>
            <a:ext cx="54864" cy="256032"/>
          </a:xfrm>
          <a:prstGeom prst="rect">
            <a:avLst/>
          </a:prstGeom>
          <a:solidFill>
            <a:srgbClr val="0D2E7A"/>
          </a:solidFill>
          <a:ln w="12700">
            <a:solidFill>
              <a:srgbClr val="0D2E7A"/>
            </a:solidFill>
            <a:prstDash val="solid"/>
          </a:ln>
        </p:spPr>
        <p:txBody>
          <a:bodyPr/>
          <a:lstStyle/>
          <a:p>
            <a:endParaRPr lang="en-US"/>
          </a:p>
        </p:txBody>
      </p:sp>
      <p:sp>
        <p:nvSpPr>
          <p:cNvPr id="7" name="Text 4"/>
          <p:cNvSpPr/>
          <p:nvPr/>
        </p:nvSpPr>
        <p:spPr>
          <a:xfrm>
            <a:off x="438912" y="1078992"/>
            <a:ext cx="2286000" cy="256032"/>
          </a:xfrm>
          <a:prstGeom prst="rect">
            <a:avLst/>
          </a:prstGeom>
          <a:noFill/>
          <a:ln/>
        </p:spPr>
        <p:txBody>
          <a:bodyPr wrap="square" lIns="0" tIns="0" rIns="0" bIns="0" rtlCol="0" anchor="ctr"/>
          <a:lstStyle/>
          <a:p>
            <a:pPr marL="0" indent="0">
              <a:buNone/>
            </a:pPr>
            <a:r>
              <a:rPr lang="en-US" sz="900" b="1" kern="0" spc="100" dirty="0">
                <a:solidFill>
                  <a:srgbClr val="0D2E7A"/>
                </a:solidFill>
                <a:latin typeface="Calibri" pitchFamily="34" charset="0"/>
                <a:ea typeface="Calibri" pitchFamily="34" charset="-122"/>
                <a:cs typeface="Calibri" pitchFamily="34" charset="-120"/>
              </a:rPr>
              <a:t>THE PROBLEM</a:t>
            </a:r>
            <a:endParaRPr lang="en-US" sz="900" dirty="0"/>
          </a:p>
        </p:txBody>
      </p:sp>
      <p:sp>
        <p:nvSpPr>
          <p:cNvPr id="8" name="Text 5"/>
          <p:cNvSpPr/>
          <p:nvPr/>
        </p:nvSpPr>
        <p:spPr>
          <a:xfrm>
            <a:off x="320040" y="1353312"/>
            <a:ext cx="4160520" cy="1078992"/>
          </a:xfrm>
          <a:prstGeom prst="rect">
            <a:avLst/>
          </a:prstGeom>
          <a:noFill/>
          <a:ln/>
        </p:spPr>
        <p:txBody>
          <a:bodyPr wrap="square" lIns="0" tIns="0" rIns="0" bIns="0" rtlCol="0" anchor="ctr"/>
          <a:lstStyle/>
          <a:p>
            <a:pPr marL="0" indent="0">
              <a:buNone/>
            </a:pPr>
            <a:r>
              <a:rPr lang="en-US" sz="1050" dirty="0">
                <a:solidFill>
                  <a:srgbClr val="575A5D"/>
                </a:solidFill>
                <a:latin typeface="Calibri" pitchFamily="34" charset="0"/>
                <a:ea typeface="Calibri" pitchFamily="34" charset="-122"/>
                <a:cs typeface="Calibri" pitchFamily="34" charset="-120"/>
              </a:rPr>
              <a:t>Community FIs have transaction data, behavioral signals, and fraud intuition built up over decades — but no way to turn it into models. Vendor AI is a black box that doesn't reflect local market dynamics and can't be explained to regulators under SR 11-7 model risk management guidelines. Building custom ML requires data science talent most FIs can't hire or afford.</a:t>
            </a:r>
            <a:endParaRPr lang="en-US" sz="1050" dirty="0"/>
          </a:p>
        </p:txBody>
      </p:sp>
      <p:sp>
        <p:nvSpPr>
          <p:cNvPr id="9" name="Shape 6"/>
          <p:cNvSpPr/>
          <p:nvPr/>
        </p:nvSpPr>
        <p:spPr>
          <a:xfrm>
            <a:off x="347472" y="2523744"/>
            <a:ext cx="146304" cy="146304"/>
          </a:xfrm>
          <a:prstGeom prst="ellipse">
            <a:avLst/>
          </a:prstGeom>
          <a:solidFill>
            <a:srgbClr val="0D2E7A"/>
          </a:solidFill>
          <a:ln w="12700">
            <a:solidFill>
              <a:srgbClr val="0D2E7A"/>
            </a:solidFill>
            <a:prstDash val="solid"/>
          </a:ln>
        </p:spPr>
        <p:txBody>
          <a:bodyPr/>
          <a:lstStyle/>
          <a:p>
            <a:endParaRPr lang="en-US"/>
          </a:p>
        </p:txBody>
      </p:sp>
      <p:sp>
        <p:nvSpPr>
          <p:cNvPr id="10" name="Text 7"/>
          <p:cNvSpPr/>
          <p:nvPr/>
        </p:nvSpPr>
        <p:spPr>
          <a:xfrm>
            <a:off x="566928" y="2468880"/>
            <a:ext cx="3886200" cy="310896"/>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No labeled data to train supervised models — FIs can't even start</a:t>
            </a:r>
            <a:endParaRPr lang="en-US" sz="1000" dirty="0"/>
          </a:p>
        </p:txBody>
      </p:sp>
      <p:sp>
        <p:nvSpPr>
          <p:cNvPr id="11" name="Shape 8"/>
          <p:cNvSpPr/>
          <p:nvPr/>
        </p:nvSpPr>
        <p:spPr>
          <a:xfrm>
            <a:off x="347472" y="2852928"/>
            <a:ext cx="146304" cy="146304"/>
          </a:xfrm>
          <a:prstGeom prst="ellipse">
            <a:avLst/>
          </a:prstGeom>
          <a:solidFill>
            <a:srgbClr val="0D2E7A"/>
          </a:solidFill>
          <a:ln w="12700">
            <a:solidFill>
              <a:srgbClr val="0D2E7A"/>
            </a:solidFill>
            <a:prstDash val="solid"/>
          </a:ln>
        </p:spPr>
        <p:txBody>
          <a:bodyPr/>
          <a:lstStyle/>
          <a:p>
            <a:endParaRPr lang="en-US"/>
          </a:p>
        </p:txBody>
      </p:sp>
      <p:sp>
        <p:nvSpPr>
          <p:cNvPr id="12" name="Text 9"/>
          <p:cNvSpPr/>
          <p:nvPr/>
        </p:nvSpPr>
        <p:spPr>
          <a:xfrm>
            <a:off x="566928" y="2798064"/>
            <a:ext cx="3886200" cy="310896"/>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Vendor scores can't be explained to the board or examiners</a:t>
            </a:r>
            <a:endParaRPr lang="en-US" sz="1000" dirty="0"/>
          </a:p>
        </p:txBody>
      </p:sp>
      <p:sp>
        <p:nvSpPr>
          <p:cNvPr id="13" name="Shape 10"/>
          <p:cNvSpPr/>
          <p:nvPr/>
        </p:nvSpPr>
        <p:spPr>
          <a:xfrm>
            <a:off x="347472" y="3182112"/>
            <a:ext cx="146304" cy="146304"/>
          </a:xfrm>
          <a:prstGeom prst="ellipse">
            <a:avLst/>
          </a:prstGeom>
          <a:solidFill>
            <a:srgbClr val="0D2E7A"/>
          </a:solidFill>
          <a:ln w="12700">
            <a:solidFill>
              <a:srgbClr val="0D2E7A"/>
            </a:solidFill>
            <a:prstDash val="solid"/>
          </a:ln>
        </p:spPr>
        <p:txBody>
          <a:bodyPr/>
          <a:lstStyle/>
          <a:p>
            <a:endParaRPr lang="en-US"/>
          </a:p>
        </p:txBody>
      </p:sp>
      <p:sp>
        <p:nvSpPr>
          <p:cNvPr id="14" name="Text 11"/>
          <p:cNvSpPr/>
          <p:nvPr/>
        </p:nvSpPr>
        <p:spPr>
          <a:xfrm>
            <a:off x="566928" y="3127248"/>
            <a:ext cx="3886200" cy="310896"/>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No rule authoring — compliance teams can't tune or override ML output</a:t>
            </a:r>
            <a:endParaRPr lang="en-US" sz="1000" dirty="0"/>
          </a:p>
        </p:txBody>
      </p:sp>
      <p:sp>
        <p:nvSpPr>
          <p:cNvPr id="15" name="Shape 12"/>
          <p:cNvSpPr/>
          <p:nvPr/>
        </p:nvSpPr>
        <p:spPr>
          <a:xfrm>
            <a:off x="347472" y="3511296"/>
            <a:ext cx="146304" cy="146304"/>
          </a:xfrm>
          <a:prstGeom prst="ellipse">
            <a:avLst/>
          </a:prstGeom>
          <a:solidFill>
            <a:srgbClr val="0D2E7A"/>
          </a:solidFill>
          <a:ln w="12700">
            <a:solidFill>
              <a:srgbClr val="0D2E7A"/>
            </a:solidFill>
            <a:prstDash val="solid"/>
          </a:ln>
        </p:spPr>
        <p:txBody>
          <a:bodyPr/>
          <a:lstStyle/>
          <a:p>
            <a:endParaRPr lang="en-US"/>
          </a:p>
        </p:txBody>
      </p:sp>
      <p:sp>
        <p:nvSpPr>
          <p:cNvPr id="16" name="Text 13"/>
          <p:cNvSpPr/>
          <p:nvPr/>
        </p:nvSpPr>
        <p:spPr>
          <a:xfrm>
            <a:off x="566928" y="3456432"/>
            <a:ext cx="3886200" cy="310896"/>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Model deployment requires engineering resources FIs don't have</a:t>
            </a:r>
            <a:endParaRPr lang="en-US" sz="1000" dirty="0"/>
          </a:p>
        </p:txBody>
      </p:sp>
      <p:sp>
        <p:nvSpPr>
          <p:cNvPr id="17" name="Shape 14"/>
          <p:cNvSpPr/>
          <p:nvPr/>
        </p:nvSpPr>
        <p:spPr>
          <a:xfrm>
            <a:off x="4663440" y="1078992"/>
            <a:ext cx="36576" cy="3273552"/>
          </a:xfrm>
          <a:prstGeom prst="rect">
            <a:avLst/>
          </a:prstGeom>
          <a:solidFill>
            <a:srgbClr val="E7ECF0"/>
          </a:solidFill>
          <a:ln w="12700">
            <a:solidFill>
              <a:srgbClr val="E7ECF0"/>
            </a:solidFill>
            <a:prstDash val="solid"/>
          </a:ln>
        </p:spPr>
        <p:txBody>
          <a:bodyPr/>
          <a:lstStyle/>
          <a:p>
            <a:endParaRPr lang="en-US"/>
          </a:p>
        </p:txBody>
      </p:sp>
      <p:sp>
        <p:nvSpPr>
          <p:cNvPr id="18" name="Shape 15"/>
          <p:cNvSpPr/>
          <p:nvPr/>
        </p:nvSpPr>
        <p:spPr>
          <a:xfrm>
            <a:off x="4828032" y="1078992"/>
            <a:ext cx="54864" cy="256032"/>
          </a:xfrm>
          <a:prstGeom prst="rect">
            <a:avLst/>
          </a:prstGeom>
          <a:solidFill>
            <a:srgbClr val="0D2E7A"/>
          </a:solidFill>
          <a:ln w="12700">
            <a:solidFill>
              <a:srgbClr val="0D2E7A"/>
            </a:solidFill>
            <a:prstDash val="solid"/>
          </a:ln>
        </p:spPr>
        <p:txBody>
          <a:bodyPr/>
          <a:lstStyle/>
          <a:p>
            <a:endParaRPr lang="en-US"/>
          </a:p>
        </p:txBody>
      </p:sp>
      <p:sp>
        <p:nvSpPr>
          <p:cNvPr id="19" name="Text 16"/>
          <p:cNvSpPr/>
          <p:nvPr/>
        </p:nvSpPr>
        <p:spPr>
          <a:xfrm>
            <a:off x="4956048" y="1078992"/>
            <a:ext cx="2286000" cy="256032"/>
          </a:xfrm>
          <a:prstGeom prst="rect">
            <a:avLst/>
          </a:prstGeom>
          <a:noFill/>
          <a:ln/>
        </p:spPr>
        <p:txBody>
          <a:bodyPr wrap="square" lIns="0" tIns="0" rIns="0" bIns="0" rtlCol="0" anchor="ctr"/>
          <a:lstStyle/>
          <a:p>
            <a:pPr marL="0" indent="0">
              <a:buNone/>
            </a:pPr>
            <a:r>
              <a:rPr lang="en-US" sz="900" b="1" kern="0" spc="100" dirty="0">
                <a:solidFill>
                  <a:srgbClr val="0D2E7A"/>
                </a:solidFill>
                <a:latin typeface="Calibri" pitchFamily="34" charset="0"/>
                <a:ea typeface="Calibri" pitchFamily="34" charset="-122"/>
                <a:cs typeface="Calibri" pitchFamily="34" charset="-120"/>
              </a:rPr>
              <a:t>THE SOLUTION</a:t>
            </a:r>
            <a:endParaRPr lang="en-US" sz="900" dirty="0"/>
          </a:p>
        </p:txBody>
      </p:sp>
      <p:sp>
        <p:nvSpPr>
          <p:cNvPr id="20" name="Text 17"/>
          <p:cNvSpPr/>
          <p:nvPr/>
        </p:nvSpPr>
        <p:spPr>
          <a:xfrm>
            <a:off x="4828032" y="1353312"/>
            <a:ext cx="3977640" cy="1170432"/>
          </a:xfrm>
          <a:prstGeom prst="rect">
            <a:avLst/>
          </a:prstGeom>
          <a:noFill/>
          <a:ln/>
        </p:spPr>
        <p:txBody>
          <a:bodyPr wrap="square" lIns="0" tIns="0" rIns="0" bIns="0" rtlCol="0" anchor="ctr"/>
          <a:lstStyle/>
          <a:p>
            <a:pPr marL="0" indent="0">
              <a:buNone/>
            </a:pPr>
            <a:r>
              <a:rPr lang="en-US" sz="1050" dirty="0">
                <a:solidFill>
                  <a:srgbClr val="575A5D"/>
                </a:solidFill>
                <a:latin typeface="Calibri" pitchFamily="34" charset="0"/>
                <a:ea typeface="Calibri" pitchFamily="34" charset="-122"/>
                <a:cs typeface="Calibri" pitchFamily="34" charset="-120"/>
              </a:rPr>
              <a:t>FI Decision Studio meets every FI at their label maturity. Start with zero labels — the platform detects anomalies with unsupervised ML. As analysts review and tag cases, it tracks label maturity and offers a one-click upgrade to a full AutoGluon supervised ensemble. Tree SHAP explains every prediction, a rule authoring layer converts model insights into editable human decisions, and one-click API deployment puts models into production without engineering support.</a:t>
            </a:r>
            <a:endParaRPr lang="en-US" sz="1050" dirty="0"/>
          </a:p>
        </p:txBody>
      </p:sp>
      <p:sp>
        <p:nvSpPr>
          <p:cNvPr id="21" name="Shape 18"/>
          <p:cNvSpPr/>
          <p:nvPr/>
        </p:nvSpPr>
        <p:spPr>
          <a:xfrm>
            <a:off x="4828032" y="2596896"/>
            <a:ext cx="54864" cy="256032"/>
          </a:xfrm>
          <a:prstGeom prst="rect">
            <a:avLst/>
          </a:prstGeom>
          <a:solidFill>
            <a:srgbClr val="0D2E7A"/>
          </a:solidFill>
          <a:ln w="12700">
            <a:solidFill>
              <a:srgbClr val="0D2E7A"/>
            </a:solidFill>
            <a:prstDash val="solid"/>
          </a:ln>
        </p:spPr>
        <p:txBody>
          <a:bodyPr/>
          <a:lstStyle/>
          <a:p>
            <a:endParaRPr lang="en-US"/>
          </a:p>
        </p:txBody>
      </p:sp>
      <p:sp>
        <p:nvSpPr>
          <p:cNvPr id="22" name="Text 19"/>
          <p:cNvSpPr/>
          <p:nvPr/>
        </p:nvSpPr>
        <p:spPr>
          <a:xfrm>
            <a:off x="4956048" y="2596896"/>
            <a:ext cx="3200400" cy="256032"/>
          </a:xfrm>
          <a:prstGeom prst="rect">
            <a:avLst/>
          </a:prstGeom>
          <a:noFill/>
          <a:ln/>
        </p:spPr>
        <p:txBody>
          <a:bodyPr wrap="square" lIns="0" tIns="0" rIns="0" bIns="0" rtlCol="0" anchor="ctr"/>
          <a:lstStyle/>
          <a:p>
            <a:pPr marL="0" indent="0">
              <a:buNone/>
            </a:pPr>
            <a:r>
              <a:rPr lang="en-US" sz="900" b="1" kern="0" spc="100" dirty="0">
                <a:solidFill>
                  <a:srgbClr val="0D2E7A"/>
                </a:solidFill>
                <a:latin typeface="Calibri" pitchFamily="34" charset="0"/>
                <a:ea typeface="Calibri" pitchFamily="34" charset="-122"/>
                <a:cs typeface="Calibri" pitchFamily="34" charset="-120"/>
              </a:rPr>
              <a:t>PLATFORM PILLARS</a:t>
            </a:r>
            <a:endParaRPr lang="en-US" sz="900" dirty="0"/>
          </a:p>
        </p:txBody>
      </p:sp>
      <p:sp>
        <p:nvSpPr>
          <p:cNvPr id="23" name="Text 20"/>
          <p:cNvSpPr/>
          <p:nvPr/>
        </p:nvSpPr>
        <p:spPr>
          <a:xfrm>
            <a:off x="4828032" y="2907792"/>
            <a:ext cx="3977640" cy="329184"/>
          </a:xfrm>
          <a:prstGeom prst="rect">
            <a:avLst/>
          </a:prstGeom>
          <a:noFill/>
          <a:ln/>
        </p:spPr>
        <p:txBody>
          <a:bodyPr wrap="square" lIns="0" tIns="0" rIns="0" bIns="0" rtlCol="0" anchor="ctr"/>
          <a:lstStyle/>
          <a:p>
            <a:pPr marL="342900" indent="-342900">
              <a:buSzPct val="100000"/>
              <a:buChar char="•"/>
            </a:pPr>
            <a:r>
              <a:rPr lang="en-US" sz="950" dirty="0">
                <a:solidFill>
                  <a:srgbClr val="575A5D"/>
                </a:solidFill>
                <a:latin typeface="Calibri" pitchFamily="34" charset="0"/>
                <a:ea typeface="Calibri" pitchFamily="34" charset="-122"/>
                <a:cs typeface="Calibri" pitchFamily="34" charset="-120"/>
              </a:rPr>
              <a:t>Unsupervised → Supervised: Isolation Forest until labels mature; AutoGluon (CatBoost + XGBoost) ensemble when ready</a:t>
            </a:r>
            <a:endParaRPr lang="en-US" sz="950" dirty="0"/>
          </a:p>
        </p:txBody>
      </p:sp>
      <p:sp>
        <p:nvSpPr>
          <p:cNvPr id="24" name="Text 21"/>
          <p:cNvSpPr/>
          <p:nvPr/>
        </p:nvSpPr>
        <p:spPr>
          <a:xfrm>
            <a:off x="4828032" y="3255264"/>
            <a:ext cx="3977640" cy="329184"/>
          </a:xfrm>
          <a:prstGeom prst="rect">
            <a:avLst/>
          </a:prstGeom>
          <a:noFill/>
          <a:ln/>
        </p:spPr>
        <p:txBody>
          <a:bodyPr wrap="square" lIns="0" tIns="0" rIns="0" bIns="0" rtlCol="0" anchor="ctr"/>
          <a:lstStyle/>
          <a:p>
            <a:pPr marL="342900" indent="-342900">
              <a:buSzPct val="100000"/>
              <a:buChar char="•"/>
            </a:pPr>
            <a:r>
              <a:rPr lang="en-US" sz="950" dirty="0">
                <a:solidFill>
                  <a:srgbClr val="575A5D"/>
                </a:solidFill>
                <a:latin typeface="Calibri" pitchFamily="34" charset="0"/>
                <a:ea typeface="Calibri" pitchFamily="34" charset="-122"/>
                <a:cs typeface="Calibri" pitchFamily="34" charset="-120"/>
              </a:rPr>
              <a:t>Tree SHAP on every prediction: top feature drivers, directional impact, plain-English output — SR 11-7 defensible</a:t>
            </a:r>
            <a:endParaRPr lang="en-US" sz="950" dirty="0"/>
          </a:p>
        </p:txBody>
      </p:sp>
      <p:sp>
        <p:nvSpPr>
          <p:cNvPr id="25" name="Text 22"/>
          <p:cNvSpPr/>
          <p:nvPr/>
        </p:nvSpPr>
        <p:spPr>
          <a:xfrm>
            <a:off x="4828032" y="3602736"/>
            <a:ext cx="3977640" cy="329184"/>
          </a:xfrm>
          <a:prstGeom prst="rect">
            <a:avLst/>
          </a:prstGeom>
          <a:noFill/>
          <a:ln/>
        </p:spPr>
        <p:txBody>
          <a:bodyPr wrap="square" lIns="0" tIns="0" rIns="0" bIns="0" rtlCol="0" anchor="ctr"/>
          <a:lstStyle/>
          <a:p>
            <a:pPr marL="342900" indent="-342900">
              <a:buSzPct val="100000"/>
              <a:buChar char="•"/>
            </a:pPr>
            <a:r>
              <a:rPr lang="en-US" sz="950" dirty="0">
                <a:solidFill>
                  <a:srgbClr val="575A5D"/>
                </a:solidFill>
                <a:latin typeface="Calibri" pitchFamily="34" charset="0"/>
                <a:ea typeface="Calibri" pitchFamily="34" charset="-122"/>
                <a:cs typeface="Calibri" pitchFamily="34" charset="-120"/>
              </a:rPr>
              <a:t>Rule Authoring: model insights → editable decision rules with visual threshold sliders and backtest on historical data</a:t>
            </a:r>
            <a:endParaRPr lang="en-US" sz="950" dirty="0"/>
          </a:p>
        </p:txBody>
      </p:sp>
      <p:sp>
        <p:nvSpPr>
          <p:cNvPr id="26" name="Text 23"/>
          <p:cNvSpPr/>
          <p:nvPr/>
        </p:nvSpPr>
        <p:spPr>
          <a:xfrm>
            <a:off x="4828032" y="3950208"/>
            <a:ext cx="3977640" cy="329184"/>
          </a:xfrm>
          <a:prstGeom prst="rect">
            <a:avLst/>
          </a:prstGeom>
          <a:noFill/>
          <a:ln/>
        </p:spPr>
        <p:txBody>
          <a:bodyPr wrap="square" lIns="0" tIns="0" rIns="0" bIns="0" rtlCol="0" anchor="ctr"/>
          <a:lstStyle/>
          <a:p>
            <a:pPr marL="342900" indent="-342900">
              <a:buSzPct val="100000"/>
              <a:buChar char="•"/>
            </a:pPr>
            <a:r>
              <a:rPr lang="en-US" sz="950" dirty="0">
                <a:solidFill>
                  <a:srgbClr val="575A5D"/>
                </a:solidFill>
                <a:latin typeface="Calibri" pitchFamily="34" charset="0"/>
                <a:ea typeface="Calibri" pitchFamily="34" charset="-122"/>
                <a:cs typeface="Calibri" pitchFamily="34" charset="-120"/>
              </a:rPr>
              <a:t>One-click API: versioned REST endpoint deployment; JH hosts, manages, and monitors — no FI engineering required</a:t>
            </a:r>
            <a:endParaRPr lang="en-US" sz="950" dirty="0"/>
          </a:p>
        </p:txBody>
      </p:sp>
      <p:sp>
        <p:nvSpPr>
          <p:cNvPr id="27" name="Text 24"/>
          <p:cNvSpPr/>
          <p:nvPr/>
        </p:nvSpPr>
        <p:spPr>
          <a:xfrm>
            <a:off x="4828032" y="4297680"/>
            <a:ext cx="3977640" cy="329184"/>
          </a:xfrm>
          <a:prstGeom prst="rect">
            <a:avLst/>
          </a:prstGeom>
          <a:noFill/>
          <a:ln/>
        </p:spPr>
        <p:txBody>
          <a:bodyPr wrap="square" lIns="0" tIns="0" rIns="0" bIns="0" rtlCol="0" anchor="ctr"/>
          <a:lstStyle/>
          <a:p>
            <a:pPr marL="342900" indent="-342900">
              <a:buSzPct val="100000"/>
              <a:buChar char="•"/>
            </a:pPr>
            <a:r>
              <a:rPr lang="en-US" sz="950" dirty="0">
                <a:solidFill>
                  <a:srgbClr val="575A5D"/>
                </a:solidFill>
                <a:latin typeface="Calibri" pitchFamily="34" charset="0"/>
                <a:ea typeface="Calibri" pitchFamily="34" charset="-122"/>
                <a:cs typeface="Calibri" pitchFamily="34" charset="-120"/>
              </a:rPr>
              <a:t>Drift Monitoring: PSI on feature distributions weekly; prediction drift alerts; automated retraining recommendations</a:t>
            </a:r>
            <a:endParaRPr lang="en-US" sz="950" dirty="0"/>
          </a:p>
        </p:txBody>
      </p:sp>
      <p:sp>
        <p:nvSpPr>
          <p:cNvPr id="28" name="Shape 25"/>
          <p:cNvSpPr/>
          <p:nvPr/>
        </p:nvSpPr>
        <p:spPr>
          <a:xfrm>
            <a:off x="365760" y="4224528"/>
            <a:ext cx="2560320" cy="877824"/>
          </a:xfrm>
          <a:prstGeom prst="rect">
            <a:avLst/>
          </a:prstGeom>
          <a:solidFill>
            <a:srgbClr val="0D2E7A"/>
          </a:solidFill>
          <a:ln w="12700">
            <a:solidFill>
              <a:srgbClr val="0D2E7A"/>
            </a:solidFill>
            <a:prstDash val="solid"/>
          </a:ln>
        </p:spPr>
        <p:txBody>
          <a:bodyPr/>
          <a:lstStyle/>
          <a:p>
            <a:endParaRPr lang="en-US"/>
          </a:p>
        </p:txBody>
      </p:sp>
      <p:sp>
        <p:nvSpPr>
          <p:cNvPr id="29" name="Text 26"/>
          <p:cNvSpPr/>
          <p:nvPr/>
        </p:nvSpPr>
        <p:spPr>
          <a:xfrm>
            <a:off x="365760" y="4242816"/>
            <a:ext cx="2560320" cy="43891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&lt; 2 hrs</a:t>
            </a:r>
            <a:endParaRPr lang="en-US" sz="2400" dirty="0"/>
          </a:p>
        </p:txBody>
      </p:sp>
      <p:sp>
        <p:nvSpPr>
          <p:cNvPr id="30" name="Text 27"/>
          <p:cNvSpPr/>
          <p:nvPr/>
        </p:nvSpPr>
        <p:spPr>
          <a:xfrm>
            <a:off x="365760" y="4663440"/>
            <a:ext cx="2560320" cy="42062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Data upload → first</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trained model deployed</a:t>
            </a:r>
            <a:endParaRPr lang="en-US" sz="950" dirty="0"/>
          </a:p>
        </p:txBody>
      </p:sp>
      <p:sp>
        <p:nvSpPr>
          <p:cNvPr id="31" name="Shape 28"/>
          <p:cNvSpPr/>
          <p:nvPr/>
        </p:nvSpPr>
        <p:spPr>
          <a:xfrm>
            <a:off x="3291840" y="4224528"/>
            <a:ext cx="2560320" cy="877824"/>
          </a:xfrm>
          <a:prstGeom prst="rect">
            <a:avLst/>
          </a:prstGeom>
          <a:solidFill>
            <a:srgbClr val="0D2E7A"/>
          </a:solidFill>
          <a:ln w="12700">
            <a:solidFill>
              <a:srgbClr val="0D2E7A"/>
            </a:solidFill>
            <a:prstDash val="solid"/>
          </a:ln>
        </p:spPr>
        <p:txBody>
          <a:bodyPr/>
          <a:lstStyle/>
          <a:p>
            <a:endParaRPr lang="en-US"/>
          </a:p>
        </p:txBody>
      </p:sp>
      <p:sp>
        <p:nvSpPr>
          <p:cNvPr id="32" name="Text 29"/>
          <p:cNvSpPr/>
          <p:nvPr/>
        </p:nvSpPr>
        <p:spPr>
          <a:xfrm>
            <a:off x="3291840" y="4242816"/>
            <a:ext cx="2560320" cy="43891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SR 11-7</a:t>
            </a:r>
            <a:endParaRPr lang="en-US" sz="2400" dirty="0"/>
          </a:p>
        </p:txBody>
      </p:sp>
      <p:sp>
        <p:nvSpPr>
          <p:cNvPr id="33" name="Text 30"/>
          <p:cNvSpPr/>
          <p:nvPr/>
        </p:nvSpPr>
        <p:spPr>
          <a:xfrm>
            <a:off x="3291840" y="4663440"/>
            <a:ext cx="2560320" cy="42062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Model risk compliance</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out of the box with SHAP</a:t>
            </a:r>
            <a:endParaRPr lang="en-US" sz="950" dirty="0"/>
          </a:p>
        </p:txBody>
      </p:sp>
      <p:sp>
        <p:nvSpPr>
          <p:cNvPr id="34" name="Shape 31"/>
          <p:cNvSpPr/>
          <p:nvPr/>
        </p:nvSpPr>
        <p:spPr>
          <a:xfrm>
            <a:off x="6217920" y="4224528"/>
            <a:ext cx="2560320" cy="877824"/>
          </a:xfrm>
          <a:prstGeom prst="rect">
            <a:avLst/>
          </a:prstGeom>
          <a:solidFill>
            <a:srgbClr val="0D2E7A"/>
          </a:solidFill>
          <a:ln w="12700">
            <a:solidFill>
              <a:srgbClr val="0D2E7A"/>
            </a:solidFill>
            <a:prstDash val="solid"/>
          </a:ln>
        </p:spPr>
        <p:txBody>
          <a:bodyPr/>
          <a:lstStyle/>
          <a:p>
            <a:endParaRPr lang="en-US"/>
          </a:p>
        </p:txBody>
      </p:sp>
      <p:sp>
        <p:nvSpPr>
          <p:cNvPr id="35" name="Text 32"/>
          <p:cNvSpPr/>
          <p:nvPr/>
        </p:nvSpPr>
        <p:spPr>
          <a:xfrm>
            <a:off x="6217920" y="4242816"/>
            <a:ext cx="2560320" cy="43891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 paths</a:t>
            </a:r>
            <a:endParaRPr lang="en-US" sz="2400" dirty="0"/>
          </a:p>
        </p:txBody>
      </p:sp>
      <p:sp>
        <p:nvSpPr>
          <p:cNvPr id="36" name="Text 33"/>
          <p:cNvSpPr/>
          <p:nvPr/>
        </p:nvSpPr>
        <p:spPr>
          <a:xfrm>
            <a:off x="6217920" y="4663440"/>
            <a:ext cx="2560320" cy="42062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Unsupervised · supervised</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 hybrid label progression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txBody>
          <a:bodyPr/>
          <a:lstStyle/>
          <a:p>
            <a:endParaRPr lang="en-US"/>
          </a:p>
        </p:txBody>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Financial Impact for FI Clients — Across the JH Platform</a:t>
            </a:r>
            <a:endParaRPr lang="en-US" sz="2200" dirty="0"/>
          </a:p>
        </p:txBody>
      </p:sp>
      <p:sp>
        <p:nvSpPr>
          <p:cNvPr id="4" name="Text 2"/>
          <p:cNvSpPr/>
          <p:nvPr/>
        </p:nvSpPr>
        <p:spPr>
          <a:xfrm>
            <a:off x="365760" y="768096"/>
            <a:ext cx="8412480" cy="411480"/>
          </a:xfrm>
          <a:prstGeom prst="rect">
            <a:avLst/>
          </a:prstGeom>
          <a:noFill/>
          <a:ln/>
        </p:spPr>
        <p:txBody>
          <a:bodyPr wrap="square" lIns="0" tIns="0" rIns="0" bIns="0" rtlCol="0" anchor="ctr"/>
          <a:lstStyle/>
          <a:p>
            <a:pPr marL="0" indent="0">
              <a:buNone/>
            </a:pPr>
            <a:r>
              <a:rPr lang="en-US" sz="1200" dirty="0">
                <a:solidFill>
                  <a:srgbClr val="575A5D"/>
                </a:solidFill>
                <a:latin typeface="Calibri" pitchFamily="34" charset="0"/>
                <a:ea typeface="Calibri" pitchFamily="34" charset="-122"/>
                <a:cs typeface="Calibri" pitchFamily="34" charset="-120"/>
              </a:rPr>
              <a:t>Conservative estimates for a mid-size community bank ($1B deposits / $800M assets). Across 1,660 core FI clients — and 7,500+ across the broader JH ecosystem — these represent transformative market value.</a:t>
            </a:r>
            <a:endParaRPr lang="en-US" sz="1200" dirty="0"/>
          </a:p>
        </p:txBody>
      </p:sp>
      <p:sp>
        <p:nvSpPr>
          <p:cNvPr id="5" name="Shape 3"/>
          <p:cNvSpPr/>
          <p:nvPr/>
        </p:nvSpPr>
        <p:spPr>
          <a:xfrm>
            <a:off x="365760" y="1243584"/>
            <a:ext cx="8412480" cy="347472"/>
          </a:xfrm>
          <a:prstGeom prst="rect">
            <a:avLst/>
          </a:prstGeom>
          <a:solidFill>
            <a:srgbClr val="06185F"/>
          </a:solidFill>
          <a:ln w="12700">
            <a:solidFill>
              <a:srgbClr val="06185F"/>
            </a:solidFill>
            <a:prstDash val="solid"/>
          </a:ln>
        </p:spPr>
        <p:txBody>
          <a:bodyPr/>
          <a:lstStyle/>
          <a:p>
            <a:endParaRPr lang="en-US"/>
          </a:p>
        </p:txBody>
      </p:sp>
      <p:sp>
        <p:nvSpPr>
          <p:cNvPr id="6" name="Text 4"/>
          <p:cNvSpPr/>
          <p:nvPr/>
        </p:nvSpPr>
        <p:spPr>
          <a:xfrm>
            <a:off x="457200" y="1280160"/>
            <a:ext cx="25603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Application</a:t>
            </a:r>
            <a:endParaRPr lang="en-US" sz="1100" dirty="0"/>
          </a:p>
        </p:txBody>
      </p:sp>
      <p:sp>
        <p:nvSpPr>
          <p:cNvPr id="7" name="Text 5"/>
          <p:cNvSpPr/>
          <p:nvPr/>
        </p:nvSpPr>
        <p:spPr>
          <a:xfrm>
            <a:off x="3108960" y="1280160"/>
            <a:ext cx="1828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Est. Annual FI Value</a:t>
            </a:r>
            <a:endParaRPr lang="en-US" sz="1100" dirty="0"/>
          </a:p>
        </p:txBody>
      </p:sp>
      <p:sp>
        <p:nvSpPr>
          <p:cNvPr id="8" name="Text 6"/>
          <p:cNvSpPr/>
          <p:nvPr/>
        </p:nvSpPr>
        <p:spPr>
          <a:xfrm>
            <a:off x="5029200" y="1280160"/>
            <a:ext cx="36576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Value Driver</a:t>
            </a:r>
            <a:endParaRPr lang="en-US" sz="1100" dirty="0"/>
          </a:p>
        </p:txBody>
      </p:sp>
      <p:sp>
        <p:nvSpPr>
          <p:cNvPr id="9" name="Shape 7"/>
          <p:cNvSpPr/>
          <p:nvPr/>
        </p:nvSpPr>
        <p:spPr>
          <a:xfrm>
            <a:off x="365760" y="1627632"/>
            <a:ext cx="8412480" cy="374904"/>
          </a:xfrm>
          <a:prstGeom prst="rect">
            <a:avLst/>
          </a:prstGeom>
          <a:solidFill>
            <a:srgbClr val="FFFFFF"/>
          </a:solidFill>
          <a:ln w="12700">
            <a:solidFill>
              <a:srgbClr val="E7ECF0"/>
            </a:solidFill>
            <a:prstDash val="solid"/>
          </a:ln>
        </p:spPr>
        <p:txBody>
          <a:bodyPr/>
          <a:lstStyle/>
          <a:p>
            <a:endParaRPr lang="en-US"/>
          </a:p>
        </p:txBody>
      </p:sp>
      <p:sp>
        <p:nvSpPr>
          <p:cNvPr id="10" name="Shape 8"/>
          <p:cNvSpPr/>
          <p:nvPr/>
        </p:nvSpPr>
        <p:spPr>
          <a:xfrm>
            <a:off x="365760" y="1627632"/>
            <a:ext cx="91440" cy="374904"/>
          </a:xfrm>
          <a:prstGeom prst="rect">
            <a:avLst/>
          </a:prstGeom>
          <a:solidFill>
            <a:srgbClr val="085CE5"/>
          </a:solidFill>
          <a:ln w="12700">
            <a:solidFill>
              <a:srgbClr val="085CE5"/>
            </a:solidFill>
            <a:prstDash val="solid"/>
          </a:ln>
        </p:spPr>
        <p:txBody>
          <a:bodyPr/>
          <a:lstStyle/>
          <a:p>
            <a:endParaRPr lang="en-US"/>
          </a:p>
        </p:txBody>
      </p:sp>
      <p:sp>
        <p:nvSpPr>
          <p:cNvPr id="11" name="Text 9"/>
          <p:cNvSpPr/>
          <p:nvPr/>
        </p:nvSpPr>
        <p:spPr>
          <a:xfrm>
            <a:off x="502920" y="1655064"/>
            <a:ext cx="2514600" cy="320040"/>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Churn Sentinel</a:t>
            </a:r>
            <a:endParaRPr lang="en-US" sz="950" dirty="0"/>
          </a:p>
        </p:txBody>
      </p:sp>
      <p:sp>
        <p:nvSpPr>
          <p:cNvPr id="12" name="Text 10"/>
          <p:cNvSpPr/>
          <p:nvPr/>
        </p:nvSpPr>
        <p:spPr>
          <a:xfrm>
            <a:off x="3108960" y="1655064"/>
            <a:ext cx="1783080" cy="320040"/>
          </a:xfrm>
          <a:prstGeom prst="rect">
            <a:avLst/>
          </a:prstGeom>
          <a:noFill/>
          <a:ln/>
        </p:spPr>
        <p:txBody>
          <a:bodyPr wrap="square" lIns="0" tIns="0" rIns="0" bIns="0" rtlCol="0" anchor="ctr"/>
          <a:lstStyle/>
          <a:p>
            <a:pPr marL="0" indent="0">
              <a:buNone/>
            </a:pPr>
            <a:r>
              <a:rPr lang="en-US" sz="950" b="1" dirty="0">
                <a:solidFill>
                  <a:srgbClr val="085CE5"/>
                </a:solidFill>
                <a:latin typeface="Calibri" pitchFamily="34" charset="0"/>
                <a:ea typeface="Calibri" pitchFamily="34" charset="-122"/>
                <a:cs typeface="Calibri" pitchFamily="34" charset="-120"/>
              </a:rPr>
              <a:t>$1–3M / year</a:t>
            </a:r>
            <a:endParaRPr lang="en-US" sz="950" dirty="0"/>
          </a:p>
        </p:txBody>
      </p:sp>
      <p:sp>
        <p:nvSpPr>
          <p:cNvPr id="13" name="Text 11"/>
          <p:cNvSpPr/>
          <p:nvPr/>
        </p:nvSpPr>
        <p:spPr>
          <a:xfrm>
            <a:off x="5029200" y="1655064"/>
            <a:ext cx="3657600" cy="320040"/>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15–25% churn reduction × avg. customer revenue of $400–$600/yr</a:t>
            </a:r>
            <a:endParaRPr lang="en-US" sz="850" dirty="0"/>
          </a:p>
        </p:txBody>
      </p:sp>
      <p:sp>
        <p:nvSpPr>
          <p:cNvPr id="14" name="Shape 12"/>
          <p:cNvSpPr/>
          <p:nvPr/>
        </p:nvSpPr>
        <p:spPr>
          <a:xfrm>
            <a:off x="365760" y="2029968"/>
            <a:ext cx="8412480" cy="374904"/>
          </a:xfrm>
          <a:prstGeom prst="rect">
            <a:avLst/>
          </a:prstGeom>
          <a:solidFill>
            <a:srgbClr val="E7ECF0"/>
          </a:solidFill>
          <a:ln w="12700">
            <a:solidFill>
              <a:srgbClr val="E7ECF0"/>
            </a:solidFill>
            <a:prstDash val="solid"/>
          </a:ln>
        </p:spPr>
        <p:txBody>
          <a:bodyPr/>
          <a:lstStyle/>
          <a:p>
            <a:endParaRPr lang="en-US"/>
          </a:p>
        </p:txBody>
      </p:sp>
      <p:sp>
        <p:nvSpPr>
          <p:cNvPr id="15" name="Shape 13"/>
          <p:cNvSpPr/>
          <p:nvPr/>
        </p:nvSpPr>
        <p:spPr>
          <a:xfrm>
            <a:off x="365760" y="2029968"/>
            <a:ext cx="91440" cy="374904"/>
          </a:xfrm>
          <a:prstGeom prst="rect">
            <a:avLst/>
          </a:prstGeom>
          <a:solidFill>
            <a:srgbClr val="06185F"/>
          </a:solidFill>
          <a:ln w="12700">
            <a:solidFill>
              <a:srgbClr val="06185F"/>
            </a:solidFill>
            <a:prstDash val="solid"/>
          </a:ln>
        </p:spPr>
        <p:txBody>
          <a:bodyPr/>
          <a:lstStyle/>
          <a:p>
            <a:endParaRPr lang="en-US"/>
          </a:p>
        </p:txBody>
      </p:sp>
      <p:sp>
        <p:nvSpPr>
          <p:cNvPr id="16" name="Text 14"/>
          <p:cNvSpPr/>
          <p:nvPr/>
        </p:nvSpPr>
        <p:spPr>
          <a:xfrm>
            <a:off x="502920" y="2057400"/>
            <a:ext cx="2514600" cy="320040"/>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Zelle Memo Intelligence</a:t>
            </a:r>
            <a:endParaRPr lang="en-US" sz="950" dirty="0"/>
          </a:p>
        </p:txBody>
      </p:sp>
      <p:sp>
        <p:nvSpPr>
          <p:cNvPr id="17" name="Text 15"/>
          <p:cNvSpPr/>
          <p:nvPr/>
        </p:nvSpPr>
        <p:spPr>
          <a:xfrm>
            <a:off x="3108960" y="2057400"/>
            <a:ext cx="1783080" cy="320040"/>
          </a:xfrm>
          <a:prstGeom prst="rect">
            <a:avLst/>
          </a:prstGeom>
          <a:noFill/>
          <a:ln/>
        </p:spPr>
        <p:txBody>
          <a:bodyPr wrap="square" lIns="0" tIns="0" rIns="0" bIns="0" rtlCol="0" anchor="ctr"/>
          <a:lstStyle/>
          <a:p>
            <a:pPr marL="0" indent="0">
              <a:buNone/>
            </a:pPr>
            <a:r>
              <a:rPr lang="en-US" sz="950" b="1" dirty="0">
                <a:solidFill>
                  <a:srgbClr val="085CE5"/>
                </a:solidFill>
                <a:latin typeface="Calibri" pitchFamily="34" charset="0"/>
                <a:ea typeface="Calibri" pitchFamily="34" charset="-122"/>
                <a:cs typeface="Calibri" pitchFamily="34" charset="-120"/>
              </a:rPr>
              <a:t>$250K–$600K / year</a:t>
            </a:r>
            <a:endParaRPr lang="en-US" sz="950" dirty="0"/>
          </a:p>
        </p:txBody>
      </p:sp>
      <p:sp>
        <p:nvSpPr>
          <p:cNvPr id="18" name="Text 16"/>
          <p:cNvSpPr/>
          <p:nvPr/>
        </p:nvSpPr>
        <p:spPr>
          <a:xfrm>
            <a:off x="5029200" y="2057400"/>
            <a:ext cx="3657600" cy="320040"/>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60% reduction in manual review hours + SAR accuracy / regulatory risk avoidance</a:t>
            </a:r>
            <a:endParaRPr lang="en-US" sz="850" dirty="0"/>
          </a:p>
        </p:txBody>
      </p:sp>
      <p:sp>
        <p:nvSpPr>
          <p:cNvPr id="19" name="Shape 17"/>
          <p:cNvSpPr/>
          <p:nvPr/>
        </p:nvSpPr>
        <p:spPr>
          <a:xfrm>
            <a:off x="365760" y="2432304"/>
            <a:ext cx="8412480" cy="374904"/>
          </a:xfrm>
          <a:prstGeom prst="rect">
            <a:avLst/>
          </a:prstGeom>
          <a:solidFill>
            <a:srgbClr val="FFFFFF"/>
          </a:solidFill>
          <a:ln w="12700">
            <a:solidFill>
              <a:srgbClr val="E7ECF0"/>
            </a:solidFill>
            <a:prstDash val="solid"/>
          </a:ln>
        </p:spPr>
        <p:txBody>
          <a:bodyPr/>
          <a:lstStyle/>
          <a:p>
            <a:endParaRPr lang="en-US"/>
          </a:p>
        </p:txBody>
      </p:sp>
      <p:sp>
        <p:nvSpPr>
          <p:cNvPr id="20" name="Shape 18"/>
          <p:cNvSpPr/>
          <p:nvPr/>
        </p:nvSpPr>
        <p:spPr>
          <a:xfrm>
            <a:off x="365760" y="2432304"/>
            <a:ext cx="91440" cy="374904"/>
          </a:xfrm>
          <a:prstGeom prst="rect">
            <a:avLst/>
          </a:prstGeom>
          <a:solidFill>
            <a:srgbClr val="073FA8"/>
          </a:solidFill>
          <a:ln w="12700">
            <a:solidFill>
              <a:srgbClr val="073FA8"/>
            </a:solidFill>
            <a:prstDash val="solid"/>
          </a:ln>
        </p:spPr>
        <p:txBody>
          <a:bodyPr/>
          <a:lstStyle/>
          <a:p>
            <a:endParaRPr lang="en-US"/>
          </a:p>
        </p:txBody>
      </p:sp>
      <p:sp>
        <p:nvSpPr>
          <p:cNvPr id="21" name="Text 19"/>
          <p:cNvSpPr/>
          <p:nvPr/>
        </p:nvSpPr>
        <p:spPr>
          <a:xfrm>
            <a:off x="502920" y="2459736"/>
            <a:ext cx="2514600" cy="320040"/>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Anomaly Detection</a:t>
            </a:r>
            <a:endParaRPr lang="en-US" sz="950" dirty="0"/>
          </a:p>
        </p:txBody>
      </p:sp>
      <p:sp>
        <p:nvSpPr>
          <p:cNvPr id="22" name="Text 20"/>
          <p:cNvSpPr/>
          <p:nvPr/>
        </p:nvSpPr>
        <p:spPr>
          <a:xfrm>
            <a:off x="3108960" y="2459736"/>
            <a:ext cx="1783080" cy="320040"/>
          </a:xfrm>
          <a:prstGeom prst="rect">
            <a:avLst/>
          </a:prstGeom>
          <a:noFill/>
          <a:ln/>
        </p:spPr>
        <p:txBody>
          <a:bodyPr wrap="square" lIns="0" tIns="0" rIns="0" bIns="0" rtlCol="0" anchor="ctr"/>
          <a:lstStyle/>
          <a:p>
            <a:pPr marL="0" indent="0">
              <a:buNone/>
            </a:pPr>
            <a:r>
              <a:rPr lang="en-US" sz="950" b="1" dirty="0">
                <a:solidFill>
                  <a:srgbClr val="085CE5"/>
                </a:solidFill>
                <a:latin typeface="Calibri" pitchFamily="34" charset="0"/>
                <a:ea typeface="Calibri" pitchFamily="34" charset="-122"/>
                <a:cs typeface="Calibri" pitchFamily="34" charset="-120"/>
              </a:rPr>
              <a:t>$1–2M / year</a:t>
            </a:r>
            <a:endParaRPr lang="en-US" sz="950" dirty="0"/>
          </a:p>
        </p:txBody>
      </p:sp>
      <p:sp>
        <p:nvSpPr>
          <p:cNvPr id="23" name="Text 21"/>
          <p:cNvSpPr/>
          <p:nvPr/>
        </p:nvSpPr>
        <p:spPr>
          <a:xfrm>
            <a:off x="5029200" y="2459736"/>
            <a:ext cx="3657600" cy="320040"/>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Fraud loss prevention + 70% false positive reduction (analyst labor saved)</a:t>
            </a:r>
            <a:endParaRPr lang="en-US" sz="850" dirty="0"/>
          </a:p>
        </p:txBody>
      </p:sp>
      <p:sp>
        <p:nvSpPr>
          <p:cNvPr id="24" name="Shape 22"/>
          <p:cNvSpPr/>
          <p:nvPr/>
        </p:nvSpPr>
        <p:spPr>
          <a:xfrm>
            <a:off x="365760" y="2834640"/>
            <a:ext cx="8412480" cy="374904"/>
          </a:xfrm>
          <a:prstGeom prst="rect">
            <a:avLst/>
          </a:prstGeom>
          <a:solidFill>
            <a:srgbClr val="E7ECF0"/>
          </a:solidFill>
          <a:ln w="12700">
            <a:solidFill>
              <a:srgbClr val="E7ECF0"/>
            </a:solidFill>
            <a:prstDash val="solid"/>
          </a:ln>
        </p:spPr>
        <p:txBody>
          <a:bodyPr/>
          <a:lstStyle/>
          <a:p>
            <a:endParaRPr lang="en-US"/>
          </a:p>
        </p:txBody>
      </p:sp>
      <p:sp>
        <p:nvSpPr>
          <p:cNvPr id="25" name="Shape 23"/>
          <p:cNvSpPr/>
          <p:nvPr/>
        </p:nvSpPr>
        <p:spPr>
          <a:xfrm>
            <a:off x="365760" y="2834640"/>
            <a:ext cx="91440" cy="374904"/>
          </a:xfrm>
          <a:prstGeom prst="rect">
            <a:avLst/>
          </a:prstGeom>
          <a:solidFill>
            <a:srgbClr val="0A52C4"/>
          </a:solidFill>
          <a:ln w="12700">
            <a:solidFill>
              <a:srgbClr val="0A52C4"/>
            </a:solidFill>
            <a:prstDash val="solid"/>
          </a:ln>
        </p:spPr>
        <p:txBody>
          <a:bodyPr/>
          <a:lstStyle/>
          <a:p>
            <a:endParaRPr lang="en-US"/>
          </a:p>
        </p:txBody>
      </p:sp>
      <p:sp>
        <p:nvSpPr>
          <p:cNvPr id="26" name="Text 24"/>
          <p:cNvSpPr/>
          <p:nvPr/>
        </p:nvSpPr>
        <p:spPr>
          <a:xfrm>
            <a:off x="502920" y="2862072"/>
            <a:ext cx="2514600" cy="320040"/>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CommercialSignal</a:t>
            </a:r>
            <a:endParaRPr lang="en-US" sz="950" dirty="0"/>
          </a:p>
        </p:txBody>
      </p:sp>
      <p:sp>
        <p:nvSpPr>
          <p:cNvPr id="27" name="Text 25"/>
          <p:cNvSpPr/>
          <p:nvPr/>
        </p:nvSpPr>
        <p:spPr>
          <a:xfrm>
            <a:off x="3108960" y="2862072"/>
            <a:ext cx="1783080" cy="320040"/>
          </a:xfrm>
          <a:prstGeom prst="rect">
            <a:avLst/>
          </a:prstGeom>
          <a:noFill/>
          <a:ln/>
        </p:spPr>
        <p:txBody>
          <a:bodyPr wrap="square" lIns="0" tIns="0" rIns="0" bIns="0" rtlCol="0" anchor="ctr"/>
          <a:lstStyle/>
          <a:p>
            <a:pPr marL="0" indent="0">
              <a:buNone/>
            </a:pPr>
            <a:r>
              <a:rPr lang="en-US" sz="950" b="1" dirty="0">
                <a:solidFill>
                  <a:srgbClr val="085CE5"/>
                </a:solidFill>
                <a:latin typeface="Calibri" pitchFamily="34" charset="0"/>
                <a:ea typeface="Calibri" pitchFamily="34" charset="-122"/>
                <a:cs typeface="Calibri" pitchFamily="34" charset="-120"/>
              </a:rPr>
              <a:t>$400K–$1.2M / year</a:t>
            </a:r>
            <a:endParaRPr lang="en-US" sz="950" dirty="0"/>
          </a:p>
        </p:txBody>
      </p:sp>
      <p:sp>
        <p:nvSpPr>
          <p:cNvPr id="28" name="Text 26"/>
          <p:cNvSpPr/>
          <p:nvPr/>
        </p:nvSpPr>
        <p:spPr>
          <a:xfrm>
            <a:off x="5029200" y="2862072"/>
            <a:ext cx="3657600" cy="320040"/>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SMB conversion revenue from business checking, treasury, and SBA loans on identified commercial-use accounts</a:t>
            </a:r>
            <a:endParaRPr lang="en-US" sz="850" dirty="0"/>
          </a:p>
        </p:txBody>
      </p:sp>
      <p:sp>
        <p:nvSpPr>
          <p:cNvPr id="29" name="Shape 27"/>
          <p:cNvSpPr/>
          <p:nvPr/>
        </p:nvSpPr>
        <p:spPr>
          <a:xfrm>
            <a:off x="365760" y="3236976"/>
            <a:ext cx="8412480" cy="374904"/>
          </a:xfrm>
          <a:prstGeom prst="rect">
            <a:avLst/>
          </a:prstGeom>
          <a:solidFill>
            <a:srgbClr val="FFFFFF"/>
          </a:solidFill>
          <a:ln w="12700">
            <a:solidFill>
              <a:srgbClr val="E7ECF0"/>
            </a:solidFill>
            <a:prstDash val="solid"/>
          </a:ln>
        </p:spPr>
        <p:txBody>
          <a:bodyPr/>
          <a:lstStyle/>
          <a:p>
            <a:endParaRPr lang="en-US"/>
          </a:p>
        </p:txBody>
      </p:sp>
      <p:sp>
        <p:nvSpPr>
          <p:cNvPr id="30" name="Shape 28"/>
          <p:cNvSpPr/>
          <p:nvPr/>
        </p:nvSpPr>
        <p:spPr>
          <a:xfrm>
            <a:off x="365760" y="3236976"/>
            <a:ext cx="91440" cy="374904"/>
          </a:xfrm>
          <a:prstGeom prst="rect">
            <a:avLst/>
          </a:prstGeom>
          <a:solidFill>
            <a:srgbClr val="0F3D8A"/>
          </a:solidFill>
          <a:ln w="12700">
            <a:solidFill>
              <a:srgbClr val="0F3D8A"/>
            </a:solidFill>
            <a:prstDash val="solid"/>
          </a:ln>
        </p:spPr>
        <p:txBody>
          <a:bodyPr/>
          <a:lstStyle/>
          <a:p>
            <a:endParaRPr lang="en-US"/>
          </a:p>
        </p:txBody>
      </p:sp>
      <p:sp>
        <p:nvSpPr>
          <p:cNvPr id="31" name="Text 29"/>
          <p:cNvSpPr/>
          <p:nvPr/>
        </p:nvSpPr>
        <p:spPr>
          <a:xfrm>
            <a:off x="502920" y="3264408"/>
            <a:ext cx="2514600" cy="320040"/>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Generational Wealth Deflection</a:t>
            </a:r>
            <a:endParaRPr lang="en-US" sz="950" dirty="0"/>
          </a:p>
        </p:txBody>
      </p:sp>
      <p:sp>
        <p:nvSpPr>
          <p:cNvPr id="32" name="Text 30"/>
          <p:cNvSpPr/>
          <p:nvPr/>
        </p:nvSpPr>
        <p:spPr>
          <a:xfrm>
            <a:off x="3108960" y="3264408"/>
            <a:ext cx="1783080" cy="320040"/>
          </a:xfrm>
          <a:prstGeom prst="rect">
            <a:avLst/>
          </a:prstGeom>
          <a:noFill/>
          <a:ln/>
        </p:spPr>
        <p:txBody>
          <a:bodyPr wrap="square" lIns="0" tIns="0" rIns="0" bIns="0" rtlCol="0" anchor="ctr"/>
          <a:lstStyle/>
          <a:p>
            <a:pPr marL="0" indent="0">
              <a:buNone/>
            </a:pPr>
            <a:r>
              <a:rPr lang="en-US" sz="950" b="1" dirty="0">
                <a:solidFill>
                  <a:srgbClr val="085CE5"/>
                </a:solidFill>
                <a:latin typeface="Calibri" pitchFamily="34" charset="0"/>
                <a:ea typeface="Calibri" pitchFamily="34" charset="-122"/>
                <a:cs typeface="Calibri" pitchFamily="34" charset="-120"/>
              </a:rPr>
              <a:t>$500K–$2M+ / year</a:t>
            </a:r>
            <a:endParaRPr lang="en-US" sz="950" dirty="0"/>
          </a:p>
        </p:txBody>
      </p:sp>
      <p:sp>
        <p:nvSpPr>
          <p:cNvPr id="33" name="Text 31"/>
          <p:cNvSpPr/>
          <p:nvPr/>
        </p:nvSpPr>
        <p:spPr>
          <a:xfrm>
            <a:off x="5029200" y="3264408"/>
            <a:ext cx="3657600" cy="320040"/>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AUM retained at generational transition × avg. household deposit balance; one retained high-net-worth household can exceed full-year subscription cost</a:t>
            </a:r>
            <a:endParaRPr lang="en-US" sz="850" dirty="0"/>
          </a:p>
        </p:txBody>
      </p:sp>
      <p:sp>
        <p:nvSpPr>
          <p:cNvPr id="34" name="Shape 32"/>
          <p:cNvSpPr/>
          <p:nvPr/>
        </p:nvSpPr>
        <p:spPr>
          <a:xfrm>
            <a:off x="365760" y="4443984"/>
            <a:ext cx="8412480" cy="420624"/>
          </a:xfrm>
          <a:prstGeom prst="rect">
            <a:avLst/>
          </a:prstGeom>
          <a:solidFill>
            <a:srgbClr val="06185F"/>
          </a:solidFill>
          <a:ln w="12700">
            <a:solidFill>
              <a:srgbClr val="06185F"/>
            </a:solidFill>
            <a:prstDash val="solid"/>
          </a:ln>
        </p:spPr>
        <p:txBody>
          <a:bodyPr/>
          <a:lstStyle/>
          <a:p>
            <a:endParaRPr lang="en-US"/>
          </a:p>
        </p:txBody>
      </p:sp>
      <p:sp>
        <p:nvSpPr>
          <p:cNvPr id="35" name="Text 33"/>
          <p:cNvSpPr/>
          <p:nvPr/>
        </p:nvSpPr>
        <p:spPr>
          <a:xfrm>
            <a:off x="502920" y="4471416"/>
            <a:ext cx="2514600" cy="36576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COMBINED POTENTIAL VALUE PER FI</a:t>
            </a:r>
            <a:endParaRPr lang="en-US" sz="1000" dirty="0"/>
          </a:p>
        </p:txBody>
      </p:sp>
      <p:sp>
        <p:nvSpPr>
          <p:cNvPr id="36" name="Text 34"/>
          <p:cNvSpPr/>
          <p:nvPr/>
        </p:nvSpPr>
        <p:spPr>
          <a:xfrm>
            <a:off x="3108960" y="4471416"/>
            <a:ext cx="1783080" cy="365760"/>
          </a:xfrm>
          <a:prstGeom prst="rect">
            <a:avLst/>
          </a:prstGeom>
          <a:noFill/>
          <a:ln/>
        </p:spPr>
        <p:txBody>
          <a:bodyPr wrap="square" lIns="0" tIns="0" rIns="0" bIns="0" rtlCol="0" anchor="ctr"/>
          <a:lstStyle/>
          <a:p>
            <a:pPr marL="0" indent="0">
              <a:buNone/>
            </a:pPr>
            <a:r>
              <a:rPr lang="en-US" sz="1100" b="1" dirty="0">
                <a:solidFill>
                  <a:srgbClr val="76DCFD"/>
                </a:solidFill>
                <a:latin typeface="Calibri" pitchFamily="34" charset="0"/>
                <a:ea typeface="Calibri" pitchFamily="34" charset="-122"/>
                <a:cs typeface="Calibri" pitchFamily="34" charset="-120"/>
              </a:rPr>
              <a:t>$4–10M+ / year</a:t>
            </a:r>
            <a:endParaRPr lang="en-US" sz="1100" dirty="0"/>
          </a:p>
        </p:txBody>
      </p:sp>
      <p:sp>
        <p:nvSpPr>
          <p:cNvPr id="37" name="Text 35"/>
          <p:cNvSpPr/>
          <p:nvPr/>
        </p:nvSpPr>
        <p:spPr>
          <a:xfrm>
            <a:off x="5029200" y="4471416"/>
            <a:ext cx="3657600" cy="365760"/>
          </a:xfrm>
          <a:prstGeom prst="rect">
            <a:avLst/>
          </a:prstGeom>
          <a:noFill/>
          <a:ln/>
        </p:spPr>
        <p:txBody>
          <a:bodyPr wrap="square" lIns="0" tIns="0" rIns="0" bIns="0" rtlCol="0" anchor="ctr"/>
          <a:lstStyle/>
          <a:p>
            <a:pPr marL="0" indent="0">
              <a:buNone/>
            </a:pPr>
            <a:r>
              <a:rPr lang="en-US" sz="950" dirty="0">
                <a:solidFill>
                  <a:srgbClr val="E7ECF0"/>
                </a:solidFill>
                <a:latin typeface="Calibri" pitchFamily="34" charset="0"/>
                <a:ea typeface="Calibri" pitchFamily="34" charset="-122"/>
                <a:cs typeface="Calibri" pitchFamily="34" charset="-120"/>
              </a:rPr>
              <a:t>Conservative aggregate across all 7 Phase 1–2 applications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EFD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txBody>
          <a:bodyPr/>
          <a:lstStyle/>
          <a:p>
            <a:endParaRPr lang="en-US"/>
          </a:p>
        </p:txBody>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Application Pricing — Full Platform Suite</a:t>
            </a:r>
            <a:endParaRPr lang="en-US" sz="2200" dirty="0"/>
          </a:p>
        </p:txBody>
      </p:sp>
      <p:sp>
        <p:nvSpPr>
          <p:cNvPr id="4" name="Text 2"/>
          <p:cNvSpPr/>
          <p:nvPr/>
        </p:nvSpPr>
        <p:spPr>
          <a:xfrm>
            <a:off x="365760" y="749808"/>
            <a:ext cx="8412480" cy="256032"/>
          </a:xfrm>
          <a:prstGeom prst="rect">
            <a:avLst/>
          </a:prstGeom>
          <a:noFill/>
          <a:ln/>
        </p:spPr>
        <p:txBody>
          <a:bodyPr wrap="square" lIns="0" tIns="0" rIns="0" bIns="0" rtlCol="0" anchor="ctr"/>
          <a:lstStyle/>
          <a:p>
            <a:pPr marL="0" indent="0">
              <a:buNone/>
            </a:pPr>
            <a:r>
              <a:rPr lang="en-US" sz="1050" dirty="0">
                <a:solidFill>
                  <a:srgbClr val="575A5D"/>
                </a:solidFill>
                <a:latin typeface="Calibri" pitchFamily="34" charset="0"/>
                <a:ea typeface="Calibri" pitchFamily="34" charset="-122"/>
                <a:cs typeface="Calibri" pitchFamily="34" charset="-120"/>
              </a:rPr>
              <a:t>Each application can be licensed standalone or bundled. Bundle pricing reflects the Intelligence tier — 20–30% below standalone sum.</a:t>
            </a:r>
            <a:endParaRPr lang="en-US" sz="1050" dirty="0"/>
          </a:p>
        </p:txBody>
      </p:sp>
      <p:sp>
        <p:nvSpPr>
          <p:cNvPr id="5" name="Text 3"/>
          <p:cNvSpPr/>
          <p:nvPr/>
        </p:nvSpPr>
        <p:spPr>
          <a:xfrm>
            <a:off x="320040" y="1078992"/>
            <a:ext cx="3108960" cy="219456"/>
          </a:xfrm>
          <a:prstGeom prst="rect">
            <a:avLst/>
          </a:prstGeom>
          <a:noFill/>
          <a:ln/>
        </p:spPr>
        <p:txBody>
          <a:bodyPr wrap="square" lIns="0" tIns="0" rIns="0" bIns="0" rtlCol="0" anchor="ctr"/>
          <a:lstStyle/>
          <a:p>
            <a:pPr marL="0" indent="0">
              <a:buNone/>
            </a:pPr>
            <a:r>
              <a:rPr lang="en-US" sz="850" b="1" kern="0" spc="50" dirty="0">
                <a:solidFill>
                  <a:srgbClr val="B6BBC0"/>
                </a:solidFill>
                <a:latin typeface="Calibri" pitchFamily="34" charset="0"/>
                <a:ea typeface="Calibri" pitchFamily="34" charset="-122"/>
                <a:cs typeface="Calibri" pitchFamily="34" charset="-120"/>
              </a:rPr>
              <a:t>APPLICATION</a:t>
            </a:r>
            <a:endParaRPr lang="en-US" sz="850" dirty="0"/>
          </a:p>
        </p:txBody>
      </p:sp>
      <p:sp>
        <p:nvSpPr>
          <p:cNvPr id="6" name="Text 4"/>
          <p:cNvSpPr/>
          <p:nvPr/>
        </p:nvSpPr>
        <p:spPr>
          <a:xfrm>
            <a:off x="3520440" y="1078992"/>
            <a:ext cx="2743200" cy="219456"/>
          </a:xfrm>
          <a:prstGeom prst="rect">
            <a:avLst/>
          </a:prstGeom>
          <a:noFill/>
          <a:ln/>
        </p:spPr>
        <p:txBody>
          <a:bodyPr wrap="square" lIns="0" tIns="0" rIns="0" bIns="0" rtlCol="0" anchor="ctr"/>
          <a:lstStyle/>
          <a:p>
            <a:pPr marL="0" indent="0">
              <a:buNone/>
            </a:pPr>
            <a:r>
              <a:rPr lang="en-US" sz="850" b="1" kern="0" spc="50" dirty="0">
                <a:solidFill>
                  <a:srgbClr val="B6BBC0"/>
                </a:solidFill>
                <a:latin typeface="Calibri" pitchFamily="34" charset="0"/>
                <a:ea typeface="Calibri" pitchFamily="34" charset="-122"/>
                <a:cs typeface="Calibri" pitchFamily="34" charset="-120"/>
              </a:rPr>
              <a:t>VALUE DRIVER</a:t>
            </a:r>
            <a:endParaRPr lang="en-US" sz="850" dirty="0"/>
          </a:p>
        </p:txBody>
      </p:sp>
      <p:sp>
        <p:nvSpPr>
          <p:cNvPr id="7" name="Text 5"/>
          <p:cNvSpPr/>
          <p:nvPr/>
        </p:nvSpPr>
        <p:spPr>
          <a:xfrm>
            <a:off x="6355080" y="1078992"/>
            <a:ext cx="1417320" cy="219456"/>
          </a:xfrm>
          <a:prstGeom prst="rect">
            <a:avLst/>
          </a:prstGeom>
          <a:noFill/>
          <a:ln/>
        </p:spPr>
        <p:txBody>
          <a:bodyPr wrap="square" lIns="0" tIns="0" rIns="0" bIns="0" rtlCol="0" anchor="ctr"/>
          <a:lstStyle/>
          <a:p>
            <a:pPr marL="0" indent="0">
              <a:buNone/>
            </a:pPr>
            <a:r>
              <a:rPr lang="en-US" sz="850" b="1" kern="0" spc="50" dirty="0">
                <a:solidFill>
                  <a:srgbClr val="B6BBC0"/>
                </a:solidFill>
                <a:latin typeface="Calibri" pitchFamily="34" charset="0"/>
                <a:ea typeface="Calibri" pitchFamily="34" charset="-122"/>
                <a:cs typeface="Calibri" pitchFamily="34" charset="-120"/>
              </a:rPr>
              <a:t>STANDALONE / MO</a:t>
            </a:r>
            <a:endParaRPr lang="en-US" sz="850" dirty="0"/>
          </a:p>
        </p:txBody>
      </p:sp>
      <p:sp>
        <p:nvSpPr>
          <p:cNvPr id="8" name="Text 6"/>
          <p:cNvSpPr/>
          <p:nvPr/>
        </p:nvSpPr>
        <p:spPr>
          <a:xfrm>
            <a:off x="7818120" y="1078992"/>
            <a:ext cx="1234440" cy="219456"/>
          </a:xfrm>
          <a:prstGeom prst="rect">
            <a:avLst/>
          </a:prstGeom>
          <a:noFill/>
          <a:ln/>
        </p:spPr>
        <p:txBody>
          <a:bodyPr wrap="square" lIns="0" tIns="0" rIns="0" bIns="0" rtlCol="0" anchor="ctr"/>
          <a:lstStyle/>
          <a:p>
            <a:pPr marL="0" indent="0">
              <a:buNone/>
            </a:pPr>
            <a:r>
              <a:rPr lang="en-US" sz="850" b="1" kern="0" spc="50" dirty="0">
                <a:solidFill>
                  <a:srgbClr val="B6BBC0"/>
                </a:solidFill>
                <a:latin typeface="Calibri" pitchFamily="34" charset="0"/>
                <a:ea typeface="Calibri" pitchFamily="34" charset="-122"/>
                <a:cs typeface="Calibri" pitchFamily="34" charset="-120"/>
              </a:rPr>
              <a:t>BUNDLE CREDIT</a:t>
            </a:r>
            <a:endParaRPr lang="en-US" sz="850" dirty="0"/>
          </a:p>
        </p:txBody>
      </p:sp>
      <p:sp>
        <p:nvSpPr>
          <p:cNvPr id="9" name="Shape 7"/>
          <p:cNvSpPr/>
          <p:nvPr/>
        </p:nvSpPr>
        <p:spPr>
          <a:xfrm>
            <a:off x="320040" y="1307592"/>
            <a:ext cx="8732520" cy="18288"/>
          </a:xfrm>
          <a:prstGeom prst="rect">
            <a:avLst/>
          </a:prstGeom>
          <a:solidFill>
            <a:srgbClr val="E7ECF0"/>
          </a:solidFill>
          <a:ln w="12700">
            <a:solidFill>
              <a:srgbClr val="E7ECF0"/>
            </a:solidFill>
            <a:prstDash val="solid"/>
          </a:ln>
        </p:spPr>
        <p:txBody>
          <a:bodyPr/>
          <a:lstStyle/>
          <a:p>
            <a:endParaRPr lang="en-US"/>
          </a:p>
        </p:txBody>
      </p:sp>
      <p:sp>
        <p:nvSpPr>
          <p:cNvPr id="10" name="Shape 8"/>
          <p:cNvSpPr/>
          <p:nvPr/>
        </p:nvSpPr>
        <p:spPr>
          <a:xfrm>
            <a:off x="320040" y="1298448"/>
            <a:ext cx="8732520" cy="411480"/>
          </a:xfrm>
          <a:prstGeom prst="rect">
            <a:avLst/>
          </a:prstGeom>
          <a:solidFill>
            <a:srgbClr val="FFFFFF"/>
          </a:solidFill>
          <a:ln w="12700">
            <a:solidFill>
              <a:srgbClr val="E7ECF0"/>
            </a:solidFill>
            <a:prstDash val="solid"/>
          </a:ln>
        </p:spPr>
        <p:txBody>
          <a:bodyPr/>
          <a:lstStyle/>
          <a:p>
            <a:endParaRPr lang="en-US"/>
          </a:p>
        </p:txBody>
      </p:sp>
      <p:sp>
        <p:nvSpPr>
          <p:cNvPr id="11" name="Shape 9"/>
          <p:cNvSpPr/>
          <p:nvPr/>
        </p:nvSpPr>
        <p:spPr>
          <a:xfrm>
            <a:off x="320040" y="1298448"/>
            <a:ext cx="73152" cy="411480"/>
          </a:xfrm>
          <a:prstGeom prst="rect">
            <a:avLst/>
          </a:prstGeom>
          <a:solidFill>
            <a:srgbClr val="085CE5"/>
          </a:solidFill>
          <a:ln w="12700">
            <a:solidFill>
              <a:srgbClr val="085CE5"/>
            </a:solidFill>
            <a:prstDash val="solid"/>
          </a:ln>
        </p:spPr>
        <p:txBody>
          <a:bodyPr/>
          <a:lstStyle/>
          <a:p>
            <a:endParaRPr lang="en-US"/>
          </a:p>
        </p:txBody>
      </p:sp>
      <p:sp>
        <p:nvSpPr>
          <p:cNvPr id="12" name="Text 10"/>
          <p:cNvSpPr/>
          <p:nvPr/>
        </p:nvSpPr>
        <p:spPr>
          <a:xfrm>
            <a:off x="475488" y="1325880"/>
            <a:ext cx="2971800" cy="17373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Churn Sentinel</a:t>
            </a:r>
            <a:endParaRPr lang="en-US" sz="950" dirty="0"/>
          </a:p>
        </p:txBody>
      </p:sp>
      <p:sp>
        <p:nvSpPr>
          <p:cNvPr id="13" name="Text 11"/>
          <p:cNvSpPr/>
          <p:nvPr/>
        </p:nvSpPr>
        <p:spPr>
          <a:xfrm>
            <a:off x="475488" y="1517904"/>
            <a:ext cx="2971800" cy="164592"/>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ML churn scores + proactive retention triggers per member</a:t>
            </a:r>
            <a:endParaRPr lang="en-US" sz="750" dirty="0"/>
          </a:p>
        </p:txBody>
      </p:sp>
      <p:sp>
        <p:nvSpPr>
          <p:cNvPr id="14" name="Text 12"/>
          <p:cNvSpPr/>
          <p:nvPr/>
        </p:nvSpPr>
        <p:spPr>
          <a:xfrm>
            <a:off x="3520440" y="1335024"/>
            <a:ext cx="2743200" cy="338328"/>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15–25% reduction in member attrition · avg. $400–$600 LTV saved per retained account</a:t>
            </a:r>
            <a:endParaRPr lang="en-US" sz="750" dirty="0"/>
          </a:p>
        </p:txBody>
      </p:sp>
      <p:sp>
        <p:nvSpPr>
          <p:cNvPr id="15" name="Text 13"/>
          <p:cNvSpPr/>
          <p:nvPr/>
        </p:nvSpPr>
        <p:spPr>
          <a:xfrm>
            <a:off x="6355080" y="1325880"/>
            <a:ext cx="1417320" cy="219456"/>
          </a:xfrm>
          <a:prstGeom prst="rect">
            <a:avLst/>
          </a:prstGeom>
          <a:noFill/>
          <a:ln/>
        </p:spPr>
        <p:txBody>
          <a:bodyPr wrap="square" lIns="0" tIns="0" rIns="0" bIns="0" rtlCol="0" anchor="ctr"/>
          <a:lstStyle/>
          <a:p>
            <a:pPr marL="0" indent="0" algn="ctr">
              <a:buNone/>
            </a:pPr>
            <a:r>
              <a:rPr lang="en-US" sz="1050" b="1" dirty="0">
                <a:solidFill>
                  <a:srgbClr val="085CE5"/>
                </a:solidFill>
                <a:latin typeface="Calibri" pitchFamily="34" charset="0"/>
                <a:ea typeface="Calibri" pitchFamily="34" charset="-122"/>
                <a:cs typeface="Calibri" pitchFamily="34" charset="-120"/>
              </a:rPr>
              <a:t>$800 – $2,500</a:t>
            </a:r>
            <a:endParaRPr lang="en-US" sz="1050" dirty="0"/>
          </a:p>
        </p:txBody>
      </p:sp>
      <p:sp>
        <p:nvSpPr>
          <p:cNvPr id="16" name="Text 14"/>
          <p:cNvSpPr/>
          <p:nvPr/>
        </p:nvSpPr>
        <p:spPr>
          <a:xfrm>
            <a:off x="6355080" y="1572768"/>
            <a:ext cx="1417320" cy="118872"/>
          </a:xfrm>
          <a:prstGeom prst="rect">
            <a:avLst/>
          </a:prstGeom>
          <a:noFill/>
          <a:ln/>
        </p:spPr>
        <p:txBody>
          <a:bodyPr wrap="square" lIns="0" tIns="0" rIns="0" bIns="0" rtlCol="0" anchor="ctr"/>
          <a:lstStyle/>
          <a:p>
            <a:pPr marL="0" indent="0" algn="ctr">
              <a:buNone/>
            </a:pPr>
            <a:r>
              <a:rPr lang="en-US" sz="650" dirty="0">
                <a:solidFill>
                  <a:srgbClr val="B6BBC0"/>
                </a:solidFill>
                <a:latin typeface="Calibri" pitchFamily="34" charset="0"/>
                <a:ea typeface="Calibri" pitchFamily="34" charset="-122"/>
                <a:cs typeface="Calibri" pitchFamily="34" charset="-120"/>
              </a:rPr>
              <a:t>/ month per FI</a:t>
            </a:r>
            <a:endParaRPr lang="en-US" sz="650" dirty="0"/>
          </a:p>
        </p:txBody>
      </p:sp>
      <p:sp>
        <p:nvSpPr>
          <p:cNvPr id="17" name="Shape 15"/>
          <p:cNvSpPr/>
          <p:nvPr/>
        </p:nvSpPr>
        <p:spPr>
          <a:xfrm>
            <a:off x="7845552" y="1408176"/>
            <a:ext cx="1170432" cy="192024"/>
          </a:xfrm>
          <a:prstGeom prst="roundRect">
            <a:avLst>
              <a:gd name="adj" fmla="val 19048"/>
            </a:avLst>
          </a:prstGeom>
          <a:solidFill>
            <a:srgbClr val="E8F7F7"/>
          </a:solidFill>
          <a:ln w="12700">
            <a:solidFill>
              <a:srgbClr val="085CE5"/>
            </a:solidFill>
            <a:prstDash val="solid"/>
          </a:ln>
        </p:spPr>
        <p:txBody>
          <a:bodyPr/>
          <a:lstStyle/>
          <a:p>
            <a:endParaRPr lang="en-US"/>
          </a:p>
        </p:txBody>
      </p:sp>
      <p:sp>
        <p:nvSpPr>
          <p:cNvPr id="18" name="Text 16"/>
          <p:cNvSpPr/>
          <p:nvPr/>
        </p:nvSpPr>
        <p:spPr>
          <a:xfrm>
            <a:off x="7845552" y="1408176"/>
            <a:ext cx="1170432" cy="192024"/>
          </a:xfrm>
          <a:prstGeom prst="rect">
            <a:avLst/>
          </a:prstGeom>
          <a:noFill/>
          <a:ln/>
        </p:spPr>
        <p:txBody>
          <a:bodyPr wrap="square" lIns="0" tIns="0" rIns="0" bIns="0" rtlCol="0" anchor="ctr"/>
          <a:lstStyle/>
          <a:p>
            <a:pPr marL="0" indent="0" algn="ctr">
              <a:buNone/>
            </a:pPr>
            <a:r>
              <a:rPr lang="en-US" sz="650" dirty="0">
                <a:solidFill>
                  <a:srgbClr val="085CE5"/>
                </a:solidFill>
                <a:latin typeface="Calibri" pitchFamily="34" charset="0"/>
                <a:ea typeface="Calibri" pitchFamily="34" charset="-122"/>
                <a:cs typeface="Calibri" pitchFamily="34" charset="-120"/>
              </a:rPr>
              <a:t>Included in Intelligence+</a:t>
            </a:r>
            <a:endParaRPr lang="en-US" sz="650" dirty="0"/>
          </a:p>
        </p:txBody>
      </p:sp>
      <p:sp>
        <p:nvSpPr>
          <p:cNvPr id="19" name="Shape 17"/>
          <p:cNvSpPr/>
          <p:nvPr/>
        </p:nvSpPr>
        <p:spPr>
          <a:xfrm>
            <a:off x="320040" y="1737360"/>
            <a:ext cx="8732520" cy="411480"/>
          </a:xfrm>
          <a:prstGeom prst="rect">
            <a:avLst/>
          </a:prstGeom>
          <a:solidFill>
            <a:srgbClr val="E7ECF0"/>
          </a:solidFill>
          <a:ln w="12700">
            <a:solidFill>
              <a:srgbClr val="E7ECF0"/>
            </a:solidFill>
            <a:prstDash val="solid"/>
          </a:ln>
        </p:spPr>
        <p:txBody>
          <a:bodyPr/>
          <a:lstStyle/>
          <a:p>
            <a:endParaRPr lang="en-US"/>
          </a:p>
        </p:txBody>
      </p:sp>
      <p:sp>
        <p:nvSpPr>
          <p:cNvPr id="20" name="Shape 18"/>
          <p:cNvSpPr/>
          <p:nvPr/>
        </p:nvSpPr>
        <p:spPr>
          <a:xfrm>
            <a:off x="320040" y="1737360"/>
            <a:ext cx="73152" cy="411480"/>
          </a:xfrm>
          <a:prstGeom prst="rect">
            <a:avLst/>
          </a:prstGeom>
          <a:solidFill>
            <a:srgbClr val="073FA8"/>
          </a:solidFill>
          <a:ln w="12700">
            <a:solidFill>
              <a:srgbClr val="073FA8"/>
            </a:solidFill>
            <a:prstDash val="solid"/>
          </a:ln>
        </p:spPr>
        <p:txBody>
          <a:bodyPr/>
          <a:lstStyle/>
          <a:p>
            <a:endParaRPr lang="en-US"/>
          </a:p>
        </p:txBody>
      </p:sp>
      <p:sp>
        <p:nvSpPr>
          <p:cNvPr id="21" name="Text 19"/>
          <p:cNvSpPr/>
          <p:nvPr/>
        </p:nvSpPr>
        <p:spPr>
          <a:xfrm>
            <a:off x="475488" y="1764792"/>
            <a:ext cx="2971800" cy="17373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Zelle Memo Intelligence</a:t>
            </a:r>
            <a:endParaRPr lang="en-US" sz="950" dirty="0"/>
          </a:p>
        </p:txBody>
      </p:sp>
      <p:sp>
        <p:nvSpPr>
          <p:cNvPr id="22" name="Text 20"/>
          <p:cNvSpPr/>
          <p:nvPr/>
        </p:nvSpPr>
        <p:spPr>
          <a:xfrm>
            <a:off x="475488" y="1956816"/>
            <a:ext cx="2971800" cy="164592"/>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NLP + compliance risk scoring on every Zelle transaction</a:t>
            </a:r>
            <a:endParaRPr lang="en-US" sz="750" dirty="0"/>
          </a:p>
        </p:txBody>
      </p:sp>
      <p:sp>
        <p:nvSpPr>
          <p:cNvPr id="23" name="Text 21"/>
          <p:cNvSpPr/>
          <p:nvPr/>
        </p:nvSpPr>
        <p:spPr>
          <a:xfrm>
            <a:off x="3520440" y="1773936"/>
            <a:ext cx="2743200" cy="338328"/>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60% reduction in manual SAR review hours · improved FinCEN defensibility</a:t>
            </a:r>
            <a:endParaRPr lang="en-US" sz="750" dirty="0"/>
          </a:p>
        </p:txBody>
      </p:sp>
      <p:sp>
        <p:nvSpPr>
          <p:cNvPr id="24" name="Text 22"/>
          <p:cNvSpPr/>
          <p:nvPr/>
        </p:nvSpPr>
        <p:spPr>
          <a:xfrm>
            <a:off x="6355080" y="1764792"/>
            <a:ext cx="1417320" cy="219456"/>
          </a:xfrm>
          <a:prstGeom prst="rect">
            <a:avLst/>
          </a:prstGeom>
          <a:noFill/>
          <a:ln/>
        </p:spPr>
        <p:txBody>
          <a:bodyPr wrap="square" lIns="0" tIns="0" rIns="0" bIns="0" rtlCol="0" anchor="ctr"/>
          <a:lstStyle/>
          <a:p>
            <a:pPr marL="0" indent="0" algn="ctr">
              <a:buNone/>
            </a:pPr>
            <a:r>
              <a:rPr lang="en-US" sz="1050" b="1" dirty="0">
                <a:solidFill>
                  <a:srgbClr val="085CE5"/>
                </a:solidFill>
                <a:latin typeface="Calibri" pitchFamily="34" charset="0"/>
                <a:ea typeface="Calibri" pitchFamily="34" charset="-122"/>
                <a:cs typeface="Calibri" pitchFamily="34" charset="-120"/>
              </a:rPr>
              <a:t>$400 – $1,200</a:t>
            </a:r>
            <a:endParaRPr lang="en-US" sz="1050" dirty="0"/>
          </a:p>
        </p:txBody>
      </p:sp>
      <p:sp>
        <p:nvSpPr>
          <p:cNvPr id="25" name="Text 23"/>
          <p:cNvSpPr/>
          <p:nvPr/>
        </p:nvSpPr>
        <p:spPr>
          <a:xfrm>
            <a:off x="6355080" y="2011680"/>
            <a:ext cx="1417320" cy="118872"/>
          </a:xfrm>
          <a:prstGeom prst="rect">
            <a:avLst/>
          </a:prstGeom>
          <a:noFill/>
          <a:ln/>
        </p:spPr>
        <p:txBody>
          <a:bodyPr wrap="square" lIns="0" tIns="0" rIns="0" bIns="0" rtlCol="0" anchor="ctr"/>
          <a:lstStyle/>
          <a:p>
            <a:pPr marL="0" indent="0" algn="ctr">
              <a:buNone/>
            </a:pPr>
            <a:r>
              <a:rPr lang="en-US" sz="650" dirty="0">
                <a:solidFill>
                  <a:srgbClr val="B6BBC0"/>
                </a:solidFill>
                <a:latin typeface="Calibri" pitchFamily="34" charset="0"/>
                <a:ea typeface="Calibri" pitchFamily="34" charset="-122"/>
                <a:cs typeface="Calibri" pitchFamily="34" charset="-120"/>
              </a:rPr>
              <a:t>/ month per FI</a:t>
            </a:r>
            <a:endParaRPr lang="en-US" sz="650" dirty="0"/>
          </a:p>
        </p:txBody>
      </p:sp>
      <p:sp>
        <p:nvSpPr>
          <p:cNvPr id="26" name="Shape 24"/>
          <p:cNvSpPr/>
          <p:nvPr/>
        </p:nvSpPr>
        <p:spPr>
          <a:xfrm>
            <a:off x="7845552" y="1847088"/>
            <a:ext cx="1170432" cy="192024"/>
          </a:xfrm>
          <a:prstGeom prst="roundRect">
            <a:avLst>
              <a:gd name="adj" fmla="val 19048"/>
            </a:avLst>
          </a:prstGeom>
          <a:solidFill>
            <a:srgbClr val="FFFFFF"/>
          </a:solidFill>
          <a:ln w="12700">
            <a:solidFill>
              <a:srgbClr val="085CE5"/>
            </a:solidFill>
            <a:prstDash val="solid"/>
          </a:ln>
        </p:spPr>
        <p:txBody>
          <a:bodyPr/>
          <a:lstStyle/>
          <a:p>
            <a:endParaRPr lang="en-US"/>
          </a:p>
        </p:txBody>
      </p:sp>
      <p:sp>
        <p:nvSpPr>
          <p:cNvPr id="27" name="Text 25"/>
          <p:cNvSpPr/>
          <p:nvPr/>
        </p:nvSpPr>
        <p:spPr>
          <a:xfrm>
            <a:off x="7845552" y="1847088"/>
            <a:ext cx="1170432" cy="192024"/>
          </a:xfrm>
          <a:prstGeom prst="rect">
            <a:avLst/>
          </a:prstGeom>
          <a:noFill/>
          <a:ln/>
        </p:spPr>
        <p:txBody>
          <a:bodyPr wrap="square" lIns="0" tIns="0" rIns="0" bIns="0" rtlCol="0" anchor="ctr"/>
          <a:lstStyle/>
          <a:p>
            <a:pPr marL="0" indent="0" algn="ctr">
              <a:buNone/>
            </a:pPr>
            <a:r>
              <a:rPr lang="en-US" sz="650" dirty="0">
                <a:solidFill>
                  <a:srgbClr val="085CE5"/>
                </a:solidFill>
                <a:latin typeface="Calibri" pitchFamily="34" charset="0"/>
                <a:ea typeface="Calibri" pitchFamily="34" charset="-122"/>
                <a:cs typeface="Calibri" pitchFamily="34" charset="-120"/>
              </a:rPr>
              <a:t>Included in Intelligence+</a:t>
            </a:r>
            <a:endParaRPr lang="en-US" sz="650" dirty="0"/>
          </a:p>
        </p:txBody>
      </p:sp>
      <p:sp>
        <p:nvSpPr>
          <p:cNvPr id="28" name="Shape 26"/>
          <p:cNvSpPr/>
          <p:nvPr/>
        </p:nvSpPr>
        <p:spPr>
          <a:xfrm>
            <a:off x="320040" y="2176272"/>
            <a:ext cx="8732520" cy="411480"/>
          </a:xfrm>
          <a:prstGeom prst="rect">
            <a:avLst/>
          </a:prstGeom>
          <a:solidFill>
            <a:srgbClr val="FFFFFF"/>
          </a:solidFill>
          <a:ln w="12700">
            <a:solidFill>
              <a:srgbClr val="E7ECF0"/>
            </a:solidFill>
            <a:prstDash val="solid"/>
          </a:ln>
        </p:spPr>
        <p:txBody>
          <a:bodyPr/>
          <a:lstStyle/>
          <a:p>
            <a:endParaRPr lang="en-US"/>
          </a:p>
        </p:txBody>
      </p:sp>
      <p:sp>
        <p:nvSpPr>
          <p:cNvPr id="29" name="Shape 27"/>
          <p:cNvSpPr/>
          <p:nvPr/>
        </p:nvSpPr>
        <p:spPr>
          <a:xfrm>
            <a:off x="320040" y="2176272"/>
            <a:ext cx="73152" cy="411480"/>
          </a:xfrm>
          <a:prstGeom prst="rect">
            <a:avLst/>
          </a:prstGeom>
          <a:solidFill>
            <a:srgbClr val="0D2E7A"/>
          </a:solidFill>
          <a:ln w="12700">
            <a:solidFill>
              <a:srgbClr val="0D2E7A"/>
            </a:solidFill>
            <a:prstDash val="solid"/>
          </a:ln>
        </p:spPr>
        <p:txBody>
          <a:bodyPr/>
          <a:lstStyle/>
          <a:p>
            <a:endParaRPr lang="en-US"/>
          </a:p>
        </p:txBody>
      </p:sp>
      <p:sp>
        <p:nvSpPr>
          <p:cNvPr id="30" name="Text 28"/>
          <p:cNvSpPr/>
          <p:nvPr/>
        </p:nvSpPr>
        <p:spPr>
          <a:xfrm>
            <a:off x="475488" y="2203704"/>
            <a:ext cx="2971800" cy="17373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Anomaly Detection</a:t>
            </a:r>
            <a:endParaRPr lang="en-US" sz="950" dirty="0"/>
          </a:p>
        </p:txBody>
      </p:sp>
      <p:sp>
        <p:nvSpPr>
          <p:cNvPr id="31" name="Text 29"/>
          <p:cNvSpPr/>
          <p:nvPr/>
        </p:nvSpPr>
        <p:spPr>
          <a:xfrm>
            <a:off x="475488" y="2395728"/>
            <a:ext cx="2971800" cy="164592"/>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Real-time fraud + operational anomaly alerting across channels</a:t>
            </a:r>
            <a:endParaRPr lang="en-US" sz="750" dirty="0"/>
          </a:p>
        </p:txBody>
      </p:sp>
      <p:sp>
        <p:nvSpPr>
          <p:cNvPr id="32" name="Text 30"/>
          <p:cNvSpPr/>
          <p:nvPr/>
        </p:nvSpPr>
        <p:spPr>
          <a:xfrm>
            <a:off x="3520440" y="2212848"/>
            <a:ext cx="2743200" cy="338328"/>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70%+ false-positive reduction · analyst hours recaptured from alert triage</a:t>
            </a:r>
            <a:endParaRPr lang="en-US" sz="750" dirty="0"/>
          </a:p>
        </p:txBody>
      </p:sp>
      <p:sp>
        <p:nvSpPr>
          <p:cNvPr id="33" name="Text 31"/>
          <p:cNvSpPr/>
          <p:nvPr/>
        </p:nvSpPr>
        <p:spPr>
          <a:xfrm>
            <a:off x="6355080" y="2203704"/>
            <a:ext cx="1417320" cy="219456"/>
          </a:xfrm>
          <a:prstGeom prst="rect">
            <a:avLst/>
          </a:prstGeom>
          <a:noFill/>
          <a:ln/>
        </p:spPr>
        <p:txBody>
          <a:bodyPr wrap="square" lIns="0" tIns="0" rIns="0" bIns="0" rtlCol="0" anchor="ctr"/>
          <a:lstStyle/>
          <a:p>
            <a:pPr marL="0" indent="0" algn="ctr">
              <a:buNone/>
            </a:pPr>
            <a:r>
              <a:rPr lang="en-US" sz="1050" b="1" dirty="0">
                <a:solidFill>
                  <a:srgbClr val="085CE5"/>
                </a:solidFill>
                <a:latin typeface="Calibri" pitchFamily="34" charset="0"/>
                <a:ea typeface="Calibri" pitchFamily="34" charset="-122"/>
                <a:cs typeface="Calibri" pitchFamily="34" charset="-120"/>
              </a:rPr>
              <a:t>$600 – $2,000</a:t>
            </a:r>
            <a:endParaRPr lang="en-US" sz="1050" dirty="0"/>
          </a:p>
        </p:txBody>
      </p:sp>
      <p:sp>
        <p:nvSpPr>
          <p:cNvPr id="34" name="Text 32"/>
          <p:cNvSpPr/>
          <p:nvPr/>
        </p:nvSpPr>
        <p:spPr>
          <a:xfrm>
            <a:off x="6355080" y="2450592"/>
            <a:ext cx="1417320" cy="118872"/>
          </a:xfrm>
          <a:prstGeom prst="rect">
            <a:avLst/>
          </a:prstGeom>
          <a:noFill/>
          <a:ln/>
        </p:spPr>
        <p:txBody>
          <a:bodyPr wrap="square" lIns="0" tIns="0" rIns="0" bIns="0" rtlCol="0" anchor="ctr"/>
          <a:lstStyle/>
          <a:p>
            <a:pPr marL="0" indent="0" algn="ctr">
              <a:buNone/>
            </a:pPr>
            <a:r>
              <a:rPr lang="en-US" sz="650" dirty="0">
                <a:solidFill>
                  <a:srgbClr val="B6BBC0"/>
                </a:solidFill>
                <a:latin typeface="Calibri" pitchFamily="34" charset="0"/>
                <a:ea typeface="Calibri" pitchFamily="34" charset="-122"/>
                <a:cs typeface="Calibri" pitchFamily="34" charset="-120"/>
              </a:rPr>
              <a:t>/ month per FI</a:t>
            </a:r>
            <a:endParaRPr lang="en-US" sz="650" dirty="0"/>
          </a:p>
        </p:txBody>
      </p:sp>
      <p:sp>
        <p:nvSpPr>
          <p:cNvPr id="35" name="Shape 33"/>
          <p:cNvSpPr/>
          <p:nvPr/>
        </p:nvSpPr>
        <p:spPr>
          <a:xfrm>
            <a:off x="7845552" y="2286000"/>
            <a:ext cx="1170432" cy="192024"/>
          </a:xfrm>
          <a:prstGeom prst="roundRect">
            <a:avLst>
              <a:gd name="adj" fmla="val 19048"/>
            </a:avLst>
          </a:prstGeom>
          <a:solidFill>
            <a:srgbClr val="E8F7F7"/>
          </a:solidFill>
          <a:ln w="12700">
            <a:solidFill>
              <a:srgbClr val="085CE5"/>
            </a:solidFill>
            <a:prstDash val="solid"/>
          </a:ln>
        </p:spPr>
        <p:txBody>
          <a:bodyPr/>
          <a:lstStyle/>
          <a:p>
            <a:endParaRPr lang="en-US"/>
          </a:p>
        </p:txBody>
      </p:sp>
      <p:sp>
        <p:nvSpPr>
          <p:cNvPr id="36" name="Text 34"/>
          <p:cNvSpPr/>
          <p:nvPr/>
        </p:nvSpPr>
        <p:spPr>
          <a:xfrm>
            <a:off x="7845552" y="2286000"/>
            <a:ext cx="1170432" cy="192024"/>
          </a:xfrm>
          <a:prstGeom prst="rect">
            <a:avLst/>
          </a:prstGeom>
          <a:noFill/>
          <a:ln/>
        </p:spPr>
        <p:txBody>
          <a:bodyPr wrap="square" lIns="0" tIns="0" rIns="0" bIns="0" rtlCol="0" anchor="ctr"/>
          <a:lstStyle/>
          <a:p>
            <a:pPr marL="0" indent="0" algn="ctr">
              <a:buNone/>
            </a:pPr>
            <a:r>
              <a:rPr lang="en-US" sz="650" dirty="0">
                <a:solidFill>
                  <a:srgbClr val="085CE5"/>
                </a:solidFill>
                <a:latin typeface="Calibri" pitchFamily="34" charset="0"/>
                <a:ea typeface="Calibri" pitchFamily="34" charset="-122"/>
                <a:cs typeface="Calibri" pitchFamily="34" charset="-120"/>
              </a:rPr>
              <a:t>Included in Intelligence+</a:t>
            </a:r>
            <a:endParaRPr lang="en-US" sz="650" dirty="0"/>
          </a:p>
        </p:txBody>
      </p:sp>
      <p:sp>
        <p:nvSpPr>
          <p:cNvPr id="37" name="Shape 35"/>
          <p:cNvSpPr/>
          <p:nvPr/>
        </p:nvSpPr>
        <p:spPr>
          <a:xfrm>
            <a:off x="320040" y="2615184"/>
            <a:ext cx="8732520" cy="411480"/>
          </a:xfrm>
          <a:prstGeom prst="rect">
            <a:avLst/>
          </a:prstGeom>
          <a:solidFill>
            <a:srgbClr val="E7ECF0"/>
          </a:solidFill>
          <a:ln w="12700">
            <a:solidFill>
              <a:srgbClr val="E7ECF0"/>
            </a:solidFill>
            <a:prstDash val="solid"/>
          </a:ln>
        </p:spPr>
        <p:txBody>
          <a:bodyPr/>
          <a:lstStyle/>
          <a:p>
            <a:endParaRPr lang="en-US"/>
          </a:p>
        </p:txBody>
      </p:sp>
      <p:sp>
        <p:nvSpPr>
          <p:cNvPr id="38" name="Shape 36"/>
          <p:cNvSpPr/>
          <p:nvPr/>
        </p:nvSpPr>
        <p:spPr>
          <a:xfrm>
            <a:off x="320040" y="2615184"/>
            <a:ext cx="73152" cy="411480"/>
          </a:xfrm>
          <a:prstGeom prst="rect">
            <a:avLst/>
          </a:prstGeom>
          <a:solidFill>
            <a:srgbClr val="0D2E7A"/>
          </a:solidFill>
          <a:ln w="12700">
            <a:solidFill>
              <a:srgbClr val="0D2E7A"/>
            </a:solidFill>
            <a:prstDash val="solid"/>
          </a:ln>
        </p:spPr>
        <p:txBody>
          <a:bodyPr/>
          <a:lstStyle/>
          <a:p>
            <a:endParaRPr lang="en-US"/>
          </a:p>
        </p:txBody>
      </p:sp>
      <p:sp>
        <p:nvSpPr>
          <p:cNvPr id="39" name="Text 37"/>
          <p:cNvSpPr/>
          <p:nvPr/>
        </p:nvSpPr>
        <p:spPr>
          <a:xfrm>
            <a:off x="475488" y="2642616"/>
            <a:ext cx="2971800" cy="17373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FI Decision Studio</a:t>
            </a:r>
            <a:endParaRPr lang="en-US" sz="950" dirty="0"/>
          </a:p>
        </p:txBody>
      </p:sp>
      <p:sp>
        <p:nvSpPr>
          <p:cNvPr id="40" name="Text 38"/>
          <p:cNvSpPr/>
          <p:nvPr/>
        </p:nvSpPr>
        <p:spPr>
          <a:xfrm>
            <a:off x="475488" y="2834640"/>
            <a:ext cx="2971800" cy="164592"/>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No-code AutoML — unsupervised → supervised + rule authoring + API deploy</a:t>
            </a:r>
            <a:endParaRPr lang="en-US" sz="750" dirty="0"/>
          </a:p>
        </p:txBody>
      </p:sp>
      <p:sp>
        <p:nvSpPr>
          <p:cNvPr id="41" name="Text 39"/>
          <p:cNvSpPr/>
          <p:nvPr/>
        </p:nvSpPr>
        <p:spPr>
          <a:xfrm>
            <a:off x="3520440" y="2651760"/>
            <a:ext cx="2743200" cy="338328"/>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SR 11-7 defensible SHAP explainability · custom models on FI's own data · no ML team required</a:t>
            </a:r>
            <a:endParaRPr lang="en-US" sz="750" dirty="0"/>
          </a:p>
        </p:txBody>
      </p:sp>
      <p:sp>
        <p:nvSpPr>
          <p:cNvPr id="42" name="Text 40"/>
          <p:cNvSpPr/>
          <p:nvPr/>
        </p:nvSpPr>
        <p:spPr>
          <a:xfrm>
            <a:off x="6355080" y="2642616"/>
            <a:ext cx="1417320" cy="219456"/>
          </a:xfrm>
          <a:prstGeom prst="rect">
            <a:avLst/>
          </a:prstGeom>
          <a:noFill/>
          <a:ln/>
        </p:spPr>
        <p:txBody>
          <a:bodyPr wrap="square" lIns="0" tIns="0" rIns="0" bIns="0" rtlCol="0" anchor="ctr"/>
          <a:lstStyle/>
          <a:p>
            <a:pPr marL="0" indent="0" algn="ctr">
              <a:buNone/>
            </a:pPr>
            <a:r>
              <a:rPr lang="en-US" sz="1050" b="1" dirty="0">
                <a:solidFill>
                  <a:srgbClr val="085CE5"/>
                </a:solidFill>
                <a:latin typeface="Calibri" pitchFamily="34" charset="0"/>
                <a:ea typeface="Calibri" pitchFamily="34" charset="-122"/>
                <a:cs typeface="Calibri" pitchFamily="34" charset="-120"/>
              </a:rPr>
              <a:t>$1,000 – $3,500</a:t>
            </a:r>
            <a:endParaRPr lang="en-US" sz="1050" dirty="0"/>
          </a:p>
        </p:txBody>
      </p:sp>
      <p:sp>
        <p:nvSpPr>
          <p:cNvPr id="43" name="Text 41"/>
          <p:cNvSpPr/>
          <p:nvPr/>
        </p:nvSpPr>
        <p:spPr>
          <a:xfrm>
            <a:off x="6355080" y="2889504"/>
            <a:ext cx="1417320" cy="118872"/>
          </a:xfrm>
          <a:prstGeom prst="rect">
            <a:avLst/>
          </a:prstGeom>
          <a:noFill/>
          <a:ln/>
        </p:spPr>
        <p:txBody>
          <a:bodyPr wrap="square" lIns="0" tIns="0" rIns="0" bIns="0" rtlCol="0" anchor="ctr"/>
          <a:lstStyle/>
          <a:p>
            <a:pPr marL="0" indent="0" algn="ctr">
              <a:buNone/>
            </a:pPr>
            <a:r>
              <a:rPr lang="en-US" sz="650" dirty="0">
                <a:solidFill>
                  <a:srgbClr val="B6BBC0"/>
                </a:solidFill>
                <a:latin typeface="Calibri" pitchFamily="34" charset="0"/>
                <a:ea typeface="Calibri" pitchFamily="34" charset="-122"/>
                <a:cs typeface="Calibri" pitchFamily="34" charset="-120"/>
              </a:rPr>
              <a:t>/ month per FI</a:t>
            </a:r>
            <a:endParaRPr lang="en-US" sz="650" dirty="0"/>
          </a:p>
        </p:txBody>
      </p:sp>
      <p:sp>
        <p:nvSpPr>
          <p:cNvPr id="44" name="Shape 42"/>
          <p:cNvSpPr/>
          <p:nvPr/>
        </p:nvSpPr>
        <p:spPr>
          <a:xfrm>
            <a:off x="7845552" y="2724912"/>
            <a:ext cx="1170432" cy="192024"/>
          </a:xfrm>
          <a:prstGeom prst="roundRect">
            <a:avLst>
              <a:gd name="adj" fmla="val 19048"/>
            </a:avLst>
          </a:prstGeom>
          <a:solidFill>
            <a:srgbClr val="FFFFFF"/>
          </a:solidFill>
          <a:ln w="12700">
            <a:solidFill>
              <a:srgbClr val="085CE5"/>
            </a:solidFill>
            <a:prstDash val="solid"/>
          </a:ln>
        </p:spPr>
        <p:txBody>
          <a:bodyPr/>
          <a:lstStyle/>
          <a:p>
            <a:endParaRPr lang="en-US"/>
          </a:p>
        </p:txBody>
      </p:sp>
      <p:sp>
        <p:nvSpPr>
          <p:cNvPr id="45" name="Text 43"/>
          <p:cNvSpPr/>
          <p:nvPr/>
        </p:nvSpPr>
        <p:spPr>
          <a:xfrm>
            <a:off x="7845552" y="2724912"/>
            <a:ext cx="1170432" cy="192024"/>
          </a:xfrm>
          <a:prstGeom prst="rect">
            <a:avLst/>
          </a:prstGeom>
          <a:noFill/>
          <a:ln/>
        </p:spPr>
        <p:txBody>
          <a:bodyPr wrap="square" lIns="0" tIns="0" rIns="0" bIns="0" rtlCol="0" anchor="ctr"/>
          <a:lstStyle/>
          <a:p>
            <a:pPr marL="0" indent="0" algn="ctr">
              <a:buNone/>
            </a:pPr>
            <a:r>
              <a:rPr lang="en-US" sz="650" dirty="0">
                <a:solidFill>
                  <a:srgbClr val="085CE5"/>
                </a:solidFill>
                <a:latin typeface="Calibri" pitchFamily="34" charset="0"/>
                <a:ea typeface="Calibri" pitchFamily="34" charset="-122"/>
                <a:cs typeface="Calibri" pitchFamily="34" charset="-120"/>
              </a:rPr>
              <a:t>Enterprise tier only</a:t>
            </a:r>
            <a:endParaRPr lang="en-US" sz="650" dirty="0"/>
          </a:p>
        </p:txBody>
      </p:sp>
      <p:sp>
        <p:nvSpPr>
          <p:cNvPr id="46" name="Shape 44"/>
          <p:cNvSpPr/>
          <p:nvPr/>
        </p:nvSpPr>
        <p:spPr>
          <a:xfrm>
            <a:off x="320040" y="3054096"/>
            <a:ext cx="8732520" cy="411480"/>
          </a:xfrm>
          <a:prstGeom prst="rect">
            <a:avLst/>
          </a:prstGeom>
          <a:solidFill>
            <a:srgbClr val="FFFFFF"/>
          </a:solidFill>
          <a:ln w="12700">
            <a:solidFill>
              <a:srgbClr val="E7ECF0"/>
            </a:solidFill>
            <a:prstDash val="solid"/>
          </a:ln>
        </p:spPr>
        <p:txBody>
          <a:bodyPr/>
          <a:lstStyle/>
          <a:p>
            <a:endParaRPr lang="en-US"/>
          </a:p>
        </p:txBody>
      </p:sp>
      <p:sp>
        <p:nvSpPr>
          <p:cNvPr id="47" name="Shape 45"/>
          <p:cNvSpPr/>
          <p:nvPr/>
        </p:nvSpPr>
        <p:spPr>
          <a:xfrm>
            <a:off x="320040" y="3054096"/>
            <a:ext cx="73152" cy="411480"/>
          </a:xfrm>
          <a:prstGeom prst="rect">
            <a:avLst/>
          </a:prstGeom>
          <a:solidFill>
            <a:srgbClr val="0A52C4"/>
          </a:solidFill>
          <a:ln w="12700">
            <a:solidFill>
              <a:srgbClr val="0A52C4"/>
            </a:solidFill>
            <a:prstDash val="solid"/>
          </a:ln>
        </p:spPr>
        <p:txBody>
          <a:bodyPr/>
          <a:lstStyle/>
          <a:p>
            <a:endParaRPr lang="en-US"/>
          </a:p>
        </p:txBody>
      </p:sp>
      <p:sp>
        <p:nvSpPr>
          <p:cNvPr id="48" name="Text 46"/>
          <p:cNvSpPr/>
          <p:nvPr/>
        </p:nvSpPr>
        <p:spPr>
          <a:xfrm>
            <a:off x="475488" y="3081528"/>
            <a:ext cx="2971800" cy="17373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CommercialSignal</a:t>
            </a:r>
            <a:endParaRPr lang="en-US" sz="950" dirty="0"/>
          </a:p>
        </p:txBody>
      </p:sp>
      <p:sp>
        <p:nvSpPr>
          <p:cNvPr id="49" name="Text 47"/>
          <p:cNvSpPr/>
          <p:nvPr/>
        </p:nvSpPr>
        <p:spPr>
          <a:xfrm>
            <a:off x="475488" y="3273552"/>
            <a:ext cx="2971800" cy="164592"/>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ML scoring of personal accounts exhibiting commercial transaction signatures</a:t>
            </a:r>
            <a:endParaRPr lang="en-US" sz="750" dirty="0"/>
          </a:p>
        </p:txBody>
      </p:sp>
      <p:sp>
        <p:nvSpPr>
          <p:cNvPr id="50" name="Text 48"/>
          <p:cNvSpPr/>
          <p:nvPr/>
        </p:nvSpPr>
        <p:spPr>
          <a:xfrm>
            <a:off x="3520440" y="3090672"/>
            <a:ext cx="2743200" cy="338328"/>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Converts hidden SMB accounts to business banking — fee income, treasury products, SBA loans</a:t>
            </a:r>
            <a:endParaRPr lang="en-US" sz="750" dirty="0"/>
          </a:p>
        </p:txBody>
      </p:sp>
      <p:sp>
        <p:nvSpPr>
          <p:cNvPr id="51" name="Text 49"/>
          <p:cNvSpPr/>
          <p:nvPr/>
        </p:nvSpPr>
        <p:spPr>
          <a:xfrm>
            <a:off x="6355080" y="3081528"/>
            <a:ext cx="1417320" cy="219456"/>
          </a:xfrm>
          <a:prstGeom prst="rect">
            <a:avLst/>
          </a:prstGeom>
          <a:noFill/>
          <a:ln/>
        </p:spPr>
        <p:txBody>
          <a:bodyPr wrap="square" lIns="0" tIns="0" rIns="0" bIns="0" rtlCol="0" anchor="ctr"/>
          <a:lstStyle/>
          <a:p>
            <a:pPr marL="0" indent="0" algn="ctr">
              <a:buNone/>
            </a:pPr>
            <a:r>
              <a:rPr lang="en-US" sz="1050" b="1" dirty="0">
                <a:solidFill>
                  <a:srgbClr val="085CE5"/>
                </a:solidFill>
                <a:latin typeface="Calibri" pitchFamily="34" charset="0"/>
                <a:ea typeface="Calibri" pitchFamily="34" charset="-122"/>
                <a:cs typeface="Calibri" pitchFamily="34" charset="-120"/>
              </a:rPr>
              <a:t>$400 – $1,200</a:t>
            </a:r>
            <a:endParaRPr lang="en-US" sz="1050" dirty="0"/>
          </a:p>
        </p:txBody>
      </p:sp>
      <p:sp>
        <p:nvSpPr>
          <p:cNvPr id="52" name="Text 50"/>
          <p:cNvSpPr/>
          <p:nvPr/>
        </p:nvSpPr>
        <p:spPr>
          <a:xfrm>
            <a:off x="6355080" y="3328416"/>
            <a:ext cx="1417320" cy="118872"/>
          </a:xfrm>
          <a:prstGeom prst="rect">
            <a:avLst/>
          </a:prstGeom>
          <a:noFill/>
          <a:ln/>
        </p:spPr>
        <p:txBody>
          <a:bodyPr wrap="square" lIns="0" tIns="0" rIns="0" bIns="0" rtlCol="0" anchor="ctr"/>
          <a:lstStyle/>
          <a:p>
            <a:pPr marL="0" indent="0" algn="ctr">
              <a:buNone/>
            </a:pPr>
            <a:r>
              <a:rPr lang="en-US" sz="650" dirty="0">
                <a:solidFill>
                  <a:srgbClr val="B6BBC0"/>
                </a:solidFill>
                <a:latin typeface="Calibri" pitchFamily="34" charset="0"/>
                <a:ea typeface="Calibri" pitchFamily="34" charset="-122"/>
                <a:cs typeface="Calibri" pitchFamily="34" charset="-120"/>
              </a:rPr>
              <a:t>/ month per FI</a:t>
            </a:r>
            <a:endParaRPr lang="en-US" sz="650" dirty="0"/>
          </a:p>
        </p:txBody>
      </p:sp>
      <p:sp>
        <p:nvSpPr>
          <p:cNvPr id="53" name="Shape 51"/>
          <p:cNvSpPr/>
          <p:nvPr/>
        </p:nvSpPr>
        <p:spPr>
          <a:xfrm>
            <a:off x="7845552" y="3163824"/>
            <a:ext cx="1170432" cy="192024"/>
          </a:xfrm>
          <a:prstGeom prst="roundRect">
            <a:avLst>
              <a:gd name="adj" fmla="val 19048"/>
            </a:avLst>
          </a:prstGeom>
          <a:solidFill>
            <a:srgbClr val="E8F7F7"/>
          </a:solidFill>
          <a:ln w="12700">
            <a:solidFill>
              <a:srgbClr val="085CE5"/>
            </a:solidFill>
            <a:prstDash val="solid"/>
          </a:ln>
        </p:spPr>
        <p:txBody>
          <a:bodyPr/>
          <a:lstStyle/>
          <a:p>
            <a:endParaRPr lang="en-US"/>
          </a:p>
        </p:txBody>
      </p:sp>
      <p:sp>
        <p:nvSpPr>
          <p:cNvPr id="54" name="Text 52"/>
          <p:cNvSpPr/>
          <p:nvPr/>
        </p:nvSpPr>
        <p:spPr>
          <a:xfrm>
            <a:off x="7845552" y="3163824"/>
            <a:ext cx="1170432" cy="192024"/>
          </a:xfrm>
          <a:prstGeom prst="rect">
            <a:avLst/>
          </a:prstGeom>
          <a:noFill/>
          <a:ln/>
        </p:spPr>
        <p:txBody>
          <a:bodyPr wrap="square" lIns="0" tIns="0" rIns="0" bIns="0" rtlCol="0" anchor="ctr"/>
          <a:lstStyle/>
          <a:p>
            <a:pPr marL="0" indent="0" algn="ctr">
              <a:buNone/>
            </a:pPr>
            <a:r>
              <a:rPr lang="en-US" sz="650" dirty="0">
                <a:solidFill>
                  <a:srgbClr val="085CE5"/>
                </a:solidFill>
                <a:latin typeface="Calibri" pitchFamily="34" charset="0"/>
                <a:ea typeface="Calibri" pitchFamily="34" charset="-122"/>
                <a:cs typeface="Calibri" pitchFamily="34" charset="-120"/>
              </a:rPr>
              <a:t>Included in Intelligence+</a:t>
            </a:r>
            <a:endParaRPr lang="en-US" sz="650" dirty="0"/>
          </a:p>
        </p:txBody>
      </p:sp>
      <p:sp>
        <p:nvSpPr>
          <p:cNvPr id="55" name="Shape 53"/>
          <p:cNvSpPr/>
          <p:nvPr/>
        </p:nvSpPr>
        <p:spPr>
          <a:xfrm>
            <a:off x="320040" y="3493008"/>
            <a:ext cx="8732520" cy="411480"/>
          </a:xfrm>
          <a:prstGeom prst="rect">
            <a:avLst/>
          </a:prstGeom>
          <a:solidFill>
            <a:srgbClr val="E7ECF0"/>
          </a:solidFill>
          <a:ln w="12700">
            <a:solidFill>
              <a:srgbClr val="E7ECF0"/>
            </a:solidFill>
            <a:prstDash val="solid"/>
          </a:ln>
        </p:spPr>
        <p:txBody>
          <a:bodyPr/>
          <a:lstStyle/>
          <a:p>
            <a:endParaRPr lang="en-US"/>
          </a:p>
        </p:txBody>
      </p:sp>
      <p:sp>
        <p:nvSpPr>
          <p:cNvPr id="56" name="Shape 54"/>
          <p:cNvSpPr/>
          <p:nvPr/>
        </p:nvSpPr>
        <p:spPr>
          <a:xfrm>
            <a:off x="320040" y="3493008"/>
            <a:ext cx="73152" cy="411480"/>
          </a:xfrm>
          <a:prstGeom prst="rect">
            <a:avLst/>
          </a:prstGeom>
          <a:solidFill>
            <a:srgbClr val="0F3D8A"/>
          </a:solidFill>
          <a:ln w="12700">
            <a:solidFill>
              <a:srgbClr val="0F3D8A"/>
            </a:solidFill>
            <a:prstDash val="solid"/>
          </a:ln>
        </p:spPr>
        <p:txBody>
          <a:bodyPr/>
          <a:lstStyle/>
          <a:p>
            <a:endParaRPr lang="en-US"/>
          </a:p>
        </p:txBody>
      </p:sp>
      <p:sp>
        <p:nvSpPr>
          <p:cNvPr id="57" name="Text 55"/>
          <p:cNvSpPr/>
          <p:nvPr/>
        </p:nvSpPr>
        <p:spPr>
          <a:xfrm>
            <a:off x="475488" y="3520440"/>
            <a:ext cx="2971800" cy="17373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Generational Wealth Deflection</a:t>
            </a:r>
            <a:endParaRPr lang="en-US" sz="950" dirty="0"/>
          </a:p>
        </p:txBody>
      </p:sp>
      <p:sp>
        <p:nvSpPr>
          <p:cNvPr id="58" name="Text 56"/>
          <p:cNvSpPr/>
          <p:nvPr/>
        </p:nvSpPr>
        <p:spPr>
          <a:xfrm>
            <a:off x="475488" y="3712464"/>
            <a:ext cx="2971800" cy="164592"/>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Household coverage scoring · next-gen relationship expansion before wealth transfers</a:t>
            </a:r>
            <a:endParaRPr lang="en-US" sz="750" dirty="0"/>
          </a:p>
        </p:txBody>
      </p:sp>
      <p:sp>
        <p:nvSpPr>
          <p:cNvPr id="59" name="Text 57"/>
          <p:cNvSpPr/>
          <p:nvPr/>
        </p:nvSpPr>
        <p:spPr>
          <a:xfrm>
            <a:off x="3520440" y="3529584"/>
            <a:ext cx="2743200" cy="338328"/>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AUM retained at generational transition · multi-generational household relationships built proactively</a:t>
            </a:r>
            <a:endParaRPr lang="en-US" sz="750" dirty="0"/>
          </a:p>
        </p:txBody>
      </p:sp>
      <p:sp>
        <p:nvSpPr>
          <p:cNvPr id="60" name="Text 58"/>
          <p:cNvSpPr/>
          <p:nvPr/>
        </p:nvSpPr>
        <p:spPr>
          <a:xfrm>
            <a:off x="6355080" y="3520440"/>
            <a:ext cx="1417320" cy="219456"/>
          </a:xfrm>
          <a:prstGeom prst="rect">
            <a:avLst/>
          </a:prstGeom>
          <a:noFill/>
          <a:ln/>
        </p:spPr>
        <p:txBody>
          <a:bodyPr wrap="square" lIns="0" tIns="0" rIns="0" bIns="0" rtlCol="0" anchor="ctr"/>
          <a:lstStyle/>
          <a:p>
            <a:pPr marL="0" indent="0" algn="ctr">
              <a:buNone/>
            </a:pPr>
            <a:r>
              <a:rPr lang="en-US" sz="1050" b="1" dirty="0">
                <a:solidFill>
                  <a:srgbClr val="085CE5"/>
                </a:solidFill>
                <a:latin typeface="Calibri" pitchFamily="34" charset="0"/>
                <a:ea typeface="Calibri" pitchFamily="34" charset="-122"/>
                <a:cs typeface="Calibri" pitchFamily="34" charset="-120"/>
              </a:rPr>
              <a:t>$500 – $1,500</a:t>
            </a:r>
            <a:endParaRPr lang="en-US" sz="1050" dirty="0"/>
          </a:p>
        </p:txBody>
      </p:sp>
      <p:sp>
        <p:nvSpPr>
          <p:cNvPr id="61" name="Text 59"/>
          <p:cNvSpPr/>
          <p:nvPr/>
        </p:nvSpPr>
        <p:spPr>
          <a:xfrm>
            <a:off x="6355080" y="3767328"/>
            <a:ext cx="1417320" cy="118872"/>
          </a:xfrm>
          <a:prstGeom prst="rect">
            <a:avLst/>
          </a:prstGeom>
          <a:noFill/>
          <a:ln/>
        </p:spPr>
        <p:txBody>
          <a:bodyPr wrap="square" lIns="0" tIns="0" rIns="0" bIns="0" rtlCol="0" anchor="ctr"/>
          <a:lstStyle/>
          <a:p>
            <a:pPr marL="0" indent="0" algn="ctr">
              <a:buNone/>
            </a:pPr>
            <a:r>
              <a:rPr lang="en-US" sz="650" dirty="0">
                <a:solidFill>
                  <a:srgbClr val="B6BBC0"/>
                </a:solidFill>
                <a:latin typeface="Calibri" pitchFamily="34" charset="0"/>
                <a:ea typeface="Calibri" pitchFamily="34" charset="-122"/>
                <a:cs typeface="Calibri" pitchFamily="34" charset="-120"/>
              </a:rPr>
              <a:t>/ month per FI</a:t>
            </a:r>
            <a:endParaRPr lang="en-US" sz="650" dirty="0"/>
          </a:p>
        </p:txBody>
      </p:sp>
      <p:sp>
        <p:nvSpPr>
          <p:cNvPr id="62" name="Shape 60"/>
          <p:cNvSpPr/>
          <p:nvPr/>
        </p:nvSpPr>
        <p:spPr>
          <a:xfrm>
            <a:off x="7845552" y="3602736"/>
            <a:ext cx="1170432" cy="192024"/>
          </a:xfrm>
          <a:prstGeom prst="roundRect">
            <a:avLst>
              <a:gd name="adj" fmla="val 19048"/>
            </a:avLst>
          </a:prstGeom>
          <a:solidFill>
            <a:srgbClr val="FFFFFF"/>
          </a:solidFill>
          <a:ln w="12700">
            <a:solidFill>
              <a:srgbClr val="085CE5"/>
            </a:solidFill>
            <a:prstDash val="solid"/>
          </a:ln>
        </p:spPr>
        <p:txBody>
          <a:bodyPr/>
          <a:lstStyle/>
          <a:p>
            <a:endParaRPr lang="en-US"/>
          </a:p>
        </p:txBody>
      </p:sp>
      <p:sp>
        <p:nvSpPr>
          <p:cNvPr id="63" name="Text 61"/>
          <p:cNvSpPr/>
          <p:nvPr/>
        </p:nvSpPr>
        <p:spPr>
          <a:xfrm>
            <a:off x="7845552" y="3602736"/>
            <a:ext cx="1170432" cy="192024"/>
          </a:xfrm>
          <a:prstGeom prst="rect">
            <a:avLst/>
          </a:prstGeom>
          <a:noFill/>
          <a:ln/>
        </p:spPr>
        <p:txBody>
          <a:bodyPr wrap="square" lIns="0" tIns="0" rIns="0" bIns="0" rtlCol="0" anchor="ctr"/>
          <a:lstStyle/>
          <a:p>
            <a:pPr marL="0" indent="0" algn="ctr">
              <a:buNone/>
            </a:pPr>
            <a:r>
              <a:rPr lang="en-US" sz="650" dirty="0">
                <a:solidFill>
                  <a:srgbClr val="085CE5"/>
                </a:solidFill>
                <a:latin typeface="Calibri" pitchFamily="34" charset="0"/>
                <a:ea typeface="Calibri" pitchFamily="34" charset="-122"/>
                <a:cs typeface="Calibri" pitchFamily="34" charset="-120"/>
              </a:rPr>
              <a:t>Included in Intelligence+</a:t>
            </a:r>
            <a:endParaRPr lang="en-US" sz="650" dirty="0"/>
          </a:p>
        </p:txBody>
      </p:sp>
      <p:sp>
        <p:nvSpPr>
          <p:cNvPr id="64" name="Shape 62"/>
          <p:cNvSpPr/>
          <p:nvPr/>
        </p:nvSpPr>
        <p:spPr>
          <a:xfrm>
            <a:off x="320040" y="3931920"/>
            <a:ext cx="8732520" cy="292608"/>
          </a:xfrm>
          <a:prstGeom prst="rect">
            <a:avLst/>
          </a:prstGeom>
          <a:solidFill>
            <a:srgbClr val="06185F"/>
          </a:solidFill>
          <a:ln w="12700">
            <a:solidFill>
              <a:srgbClr val="06185F"/>
            </a:solidFill>
            <a:prstDash val="solid"/>
          </a:ln>
        </p:spPr>
        <p:txBody>
          <a:bodyPr/>
          <a:lstStyle/>
          <a:p>
            <a:endParaRPr lang="en-US"/>
          </a:p>
        </p:txBody>
      </p:sp>
      <p:sp>
        <p:nvSpPr>
          <p:cNvPr id="65" name="Text 63"/>
          <p:cNvSpPr/>
          <p:nvPr/>
        </p:nvSpPr>
        <p:spPr>
          <a:xfrm>
            <a:off x="475488" y="3959352"/>
            <a:ext cx="4114800"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STANDALONE TOTAL — ALL SIX APPS (MID-MARKET FI)</a:t>
            </a:r>
            <a:endParaRPr lang="en-US" sz="900" dirty="0"/>
          </a:p>
        </p:txBody>
      </p:sp>
      <p:sp>
        <p:nvSpPr>
          <p:cNvPr id="66" name="Text 64"/>
          <p:cNvSpPr/>
          <p:nvPr/>
        </p:nvSpPr>
        <p:spPr>
          <a:xfrm>
            <a:off x="6355080" y="3959352"/>
            <a:ext cx="1417320" cy="237744"/>
          </a:xfrm>
          <a:prstGeom prst="rect">
            <a:avLst/>
          </a:prstGeom>
          <a:noFill/>
          <a:ln/>
        </p:spPr>
        <p:txBody>
          <a:bodyPr wrap="square" lIns="0" tIns="0" rIns="0" bIns="0" rtlCol="0" anchor="ctr"/>
          <a:lstStyle/>
          <a:p>
            <a:pPr marL="0" indent="0" algn="ctr">
              <a:buNone/>
            </a:pPr>
            <a:r>
              <a:rPr lang="en-US" sz="1200" b="1" dirty="0">
                <a:solidFill>
                  <a:srgbClr val="76DCFD"/>
                </a:solidFill>
                <a:latin typeface="Calibri" pitchFamily="34" charset="0"/>
                <a:ea typeface="Calibri" pitchFamily="34" charset="-122"/>
                <a:cs typeface="Calibri" pitchFamily="34" charset="-120"/>
              </a:rPr>
              <a:t>~$6,300 / mo</a:t>
            </a:r>
            <a:endParaRPr lang="en-US" sz="1200" dirty="0"/>
          </a:p>
        </p:txBody>
      </p:sp>
      <p:sp>
        <p:nvSpPr>
          <p:cNvPr id="67" name="Text 65"/>
          <p:cNvSpPr/>
          <p:nvPr/>
        </p:nvSpPr>
        <p:spPr>
          <a:xfrm>
            <a:off x="7635240" y="3968496"/>
            <a:ext cx="1389888" cy="201168"/>
          </a:xfrm>
          <a:prstGeom prst="rect">
            <a:avLst/>
          </a:prstGeom>
          <a:noFill/>
          <a:ln/>
        </p:spPr>
        <p:txBody>
          <a:bodyPr wrap="square" lIns="0" tIns="0" rIns="0" bIns="0" rtlCol="0" anchor="ctr"/>
          <a:lstStyle/>
          <a:p>
            <a:pPr marL="0" indent="0" algn="ctr">
              <a:buNone/>
            </a:pPr>
            <a:r>
              <a:rPr lang="en-US" sz="850" dirty="0">
                <a:solidFill>
                  <a:srgbClr val="76DCFD"/>
                </a:solidFill>
                <a:latin typeface="Calibri" pitchFamily="34" charset="0"/>
                <a:ea typeface="Calibri" pitchFamily="34" charset="-122"/>
                <a:cs typeface="Calibri" pitchFamily="34" charset="-120"/>
              </a:rPr>
              <a:t>bundling option in Year 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txBody>
          <a:bodyPr/>
          <a:lstStyle/>
          <a:p>
            <a:endParaRPr lang="en-US"/>
          </a:p>
        </p:txBody>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Revenue Scales With Every Data Source We Add</a:t>
            </a:r>
            <a:endParaRPr lang="en-US" sz="2200" dirty="0"/>
          </a:p>
        </p:txBody>
      </p:sp>
      <p:sp>
        <p:nvSpPr>
          <p:cNvPr id="4" name="Text 2"/>
          <p:cNvSpPr/>
          <p:nvPr/>
        </p:nvSpPr>
        <p:spPr>
          <a:xfrm>
            <a:off x="365760" y="768096"/>
            <a:ext cx="8412480" cy="347472"/>
          </a:xfrm>
          <a:prstGeom prst="rect">
            <a:avLst/>
          </a:prstGeom>
          <a:noFill/>
          <a:ln/>
        </p:spPr>
        <p:txBody>
          <a:bodyPr wrap="square" lIns="0" tIns="0" rIns="0" bIns="0" rtlCol="0" anchor="ctr"/>
          <a:lstStyle/>
          <a:p>
            <a:pPr marL="0" indent="0">
              <a:buNone/>
            </a:pPr>
            <a:r>
              <a:rPr lang="en-US" sz="1200" dirty="0">
                <a:solidFill>
                  <a:srgbClr val="575A5D"/>
                </a:solidFill>
                <a:latin typeface="Calibri" pitchFamily="34" charset="0"/>
                <a:ea typeface="Calibri" pitchFamily="34" charset="-122"/>
                <a:cs typeface="Calibri" pitchFamily="34" charset="-120"/>
              </a:rPr>
              <a:t>The JH Intelligence Platform is a modular expansion engine. Each new data source (Core, Payments, Digital) unlocks new applications and deepens revenue per FI client.</a:t>
            </a:r>
            <a:endParaRPr lang="en-US" sz="1200" dirty="0"/>
          </a:p>
        </p:txBody>
      </p:sp>
      <p:sp>
        <p:nvSpPr>
          <p:cNvPr id="5" name="Text 3"/>
          <p:cNvSpPr/>
          <p:nvPr/>
        </p:nvSpPr>
        <p:spPr>
          <a:xfrm>
            <a:off x="320040" y="1188720"/>
            <a:ext cx="4480560" cy="256032"/>
          </a:xfrm>
          <a:prstGeom prst="rect">
            <a:avLst/>
          </a:prstGeom>
          <a:noFill/>
          <a:ln/>
        </p:spPr>
        <p:txBody>
          <a:bodyPr wrap="square" lIns="0" tIns="0" rIns="0" bIns="0" rtlCol="0" anchor="ctr"/>
          <a:lstStyle/>
          <a:p>
            <a:pPr marL="0" indent="0">
              <a:buNone/>
            </a:pPr>
            <a:r>
              <a:rPr lang="en-US" sz="900" b="1" kern="0" spc="100" dirty="0">
                <a:solidFill>
                  <a:srgbClr val="B6BBC0"/>
                </a:solidFill>
                <a:latin typeface="Calibri" pitchFamily="34" charset="0"/>
                <a:ea typeface="Calibri" pitchFamily="34" charset="-122"/>
                <a:cs typeface="Calibri" pitchFamily="34" charset="-120"/>
              </a:rPr>
              <a:t>MODULE</a:t>
            </a:r>
            <a:endParaRPr lang="en-US" sz="900" dirty="0"/>
          </a:p>
        </p:txBody>
      </p:sp>
      <p:sp>
        <p:nvSpPr>
          <p:cNvPr id="6" name="Text 4"/>
          <p:cNvSpPr/>
          <p:nvPr/>
        </p:nvSpPr>
        <p:spPr>
          <a:xfrm>
            <a:off x="4919472" y="1188720"/>
            <a:ext cx="1298448" cy="256032"/>
          </a:xfrm>
          <a:prstGeom prst="rect">
            <a:avLst/>
          </a:prstGeom>
          <a:noFill/>
          <a:ln/>
        </p:spPr>
        <p:txBody>
          <a:bodyPr wrap="square" lIns="0" tIns="0" rIns="0" bIns="0" rtlCol="0" anchor="ctr"/>
          <a:lstStyle/>
          <a:p>
            <a:pPr marL="0" indent="0" algn="ctr">
              <a:buNone/>
            </a:pPr>
            <a:r>
              <a:rPr lang="en-US" sz="900" b="1" kern="0" spc="50" dirty="0">
                <a:solidFill>
                  <a:srgbClr val="B6BBC0"/>
                </a:solidFill>
                <a:latin typeface="Calibri" pitchFamily="34" charset="0"/>
                <a:ea typeface="Calibri" pitchFamily="34" charset="-122"/>
                <a:cs typeface="Calibri" pitchFamily="34" charset="-120"/>
              </a:rPr>
              <a:t>ARR @ 500 FIs</a:t>
            </a:r>
            <a:endParaRPr lang="en-US" sz="900" dirty="0"/>
          </a:p>
        </p:txBody>
      </p:sp>
      <p:sp>
        <p:nvSpPr>
          <p:cNvPr id="7" name="Text 5"/>
          <p:cNvSpPr/>
          <p:nvPr/>
        </p:nvSpPr>
        <p:spPr>
          <a:xfrm>
            <a:off x="6291072" y="1188720"/>
            <a:ext cx="1371600" cy="256032"/>
          </a:xfrm>
          <a:prstGeom prst="rect">
            <a:avLst/>
          </a:prstGeom>
          <a:noFill/>
          <a:ln/>
        </p:spPr>
        <p:txBody>
          <a:bodyPr wrap="square" lIns="0" tIns="0" rIns="0" bIns="0" rtlCol="0" anchor="ctr"/>
          <a:lstStyle/>
          <a:p>
            <a:pPr marL="0" indent="0" algn="ctr">
              <a:buNone/>
            </a:pPr>
            <a:r>
              <a:rPr lang="en-US" sz="900" b="1" kern="0" spc="50" dirty="0">
                <a:solidFill>
                  <a:srgbClr val="B6BBC0"/>
                </a:solidFill>
                <a:latin typeface="Calibri" pitchFamily="34" charset="0"/>
                <a:ea typeface="Calibri" pitchFamily="34" charset="-122"/>
                <a:cs typeface="Calibri" pitchFamily="34" charset="-120"/>
              </a:rPr>
              <a:t>ARR @ 1,000 FIs</a:t>
            </a:r>
            <a:endParaRPr lang="en-US" sz="900" dirty="0"/>
          </a:p>
        </p:txBody>
      </p:sp>
      <p:sp>
        <p:nvSpPr>
          <p:cNvPr id="8" name="Text 6"/>
          <p:cNvSpPr/>
          <p:nvPr/>
        </p:nvSpPr>
        <p:spPr>
          <a:xfrm>
            <a:off x="7726680" y="1188720"/>
            <a:ext cx="1325880" cy="256032"/>
          </a:xfrm>
          <a:prstGeom prst="rect">
            <a:avLst/>
          </a:prstGeom>
          <a:noFill/>
          <a:ln/>
        </p:spPr>
        <p:txBody>
          <a:bodyPr wrap="square" lIns="0" tIns="0" rIns="0" bIns="0" rtlCol="0" anchor="ctr"/>
          <a:lstStyle/>
          <a:p>
            <a:pPr marL="0" indent="0" algn="ctr">
              <a:buNone/>
            </a:pPr>
            <a:r>
              <a:rPr lang="en-US" sz="900" b="1" kern="0" spc="50" dirty="0">
                <a:solidFill>
                  <a:srgbClr val="B6BBC0"/>
                </a:solidFill>
                <a:latin typeface="Calibri" pitchFamily="34" charset="0"/>
                <a:ea typeface="Calibri" pitchFamily="34" charset="-122"/>
                <a:cs typeface="Calibri" pitchFamily="34" charset="-120"/>
              </a:rPr>
              <a:t>ARR @ 1,660 FIs</a:t>
            </a:r>
            <a:endParaRPr lang="en-US" sz="900" dirty="0"/>
          </a:p>
        </p:txBody>
      </p:sp>
      <p:sp>
        <p:nvSpPr>
          <p:cNvPr id="9" name="Shape 7"/>
          <p:cNvSpPr/>
          <p:nvPr/>
        </p:nvSpPr>
        <p:spPr>
          <a:xfrm>
            <a:off x="320040" y="1463040"/>
            <a:ext cx="8732520" cy="713232"/>
          </a:xfrm>
          <a:prstGeom prst="rect">
            <a:avLst/>
          </a:prstGeom>
          <a:solidFill>
            <a:srgbClr val="FFFFFF"/>
          </a:solidFill>
          <a:ln w="12700">
            <a:solidFill>
              <a:srgbClr val="E7ECF0"/>
            </a:solidFill>
            <a:prstDash val="solid"/>
          </a:ln>
        </p:spPr>
        <p:txBody>
          <a:bodyPr/>
          <a:lstStyle/>
          <a:p>
            <a:endParaRPr lang="en-US"/>
          </a:p>
        </p:txBody>
      </p:sp>
      <p:sp>
        <p:nvSpPr>
          <p:cNvPr id="10" name="Shape 8"/>
          <p:cNvSpPr/>
          <p:nvPr/>
        </p:nvSpPr>
        <p:spPr>
          <a:xfrm>
            <a:off x="320040" y="1463040"/>
            <a:ext cx="91440" cy="713232"/>
          </a:xfrm>
          <a:prstGeom prst="rect">
            <a:avLst/>
          </a:prstGeom>
          <a:solidFill>
            <a:srgbClr val="085CE5"/>
          </a:solidFill>
          <a:ln w="12700">
            <a:solidFill>
              <a:srgbClr val="085CE5"/>
            </a:solidFill>
            <a:prstDash val="solid"/>
          </a:ln>
        </p:spPr>
        <p:txBody>
          <a:bodyPr/>
          <a:lstStyle/>
          <a:p>
            <a:endParaRPr lang="en-US"/>
          </a:p>
        </p:txBody>
      </p:sp>
      <p:sp>
        <p:nvSpPr>
          <p:cNvPr id="11" name="Shape 9"/>
          <p:cNvSpPr/>
          <p:nvPr/>
        </p:nvSpPr>
        <p:spPr>
          <a:xfrm>
            <a:off x="475488" y="1572768"/>
            <a:ext cx="475488" cy="182880"/>
          </a:xfrm>
          <a:prstGeom prst="rect">
            <a:avLst/>
          </a:prstGeom>
          <a:solidFill>
            <a:srgbClr val="085CE5"/>
          </a:solidFill>
          <a:ln w="12700">
            <a:solidFill>
              <a:srgbClr val="085CE5"/>
            </a:solidFill>
            <a:prstDash val="solid"/>
          </a:ln>
        </p:spPr>
        <p:txBody>
          <a:bodyPr/>
          <a:lstStyle/>
          <a:p>
            <a:endParaRPr lang="en-US"/>
          </a:p>
        </p:txBody>
      </p:sp>
      <p:sp>
        <p:nvSpPr>
          <p:cNvPr id="12" name="Text 10"/>
          <p:cNvSpPr/>
          <p:nvPr/>
        </p:nvSpPr>
        <p:spPr>
          <a:xfrm>
            <a:off x="475488" y="1572768"/>
            <a:ext cx="475488"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NOW</a:t>
            </a:r>
            <a:endParaRPr lang="en-US" sz="750" dirty="0"/>
          </a:p>
        </p:txBody>
      </p:sp>
      <p:sp>
        <p:nvSpPr>
          <p:cNvPr id="13" name="Text 11"/>
          <p:cNvSpPr/>
          <p:nvPr/>
        </p:nvSpPr>
        <p:spPr>
          <a:xfrm>
            <a:off x="1024128" y="1517904"/>
            <a:ext cx="3749040" cy="237744"/>
          </a:xfrm>
          <a:prstGeom prst="rect">
            <a:avLst/>
          </a:prstGeom>
          <a:noFill/>
          <a:ln/>
        </p:spPr>
        <p:txBody>
          <a:bodyPr wrap="square" lIns="0" tIns="0" rIns="0" bIns="0" rtlCol="0" anchor="ctr"/>
          <a:lstStyle/>
          <a:p>
            <a:pPr marL="0" indent="0">
              <a:buNone/>
            </a:pPr>
            <a:r>
              <a:rPr lang="en-US" sz="1100" b="1" dirty="0">
                <a:solidFill>
                  <a:srgbClr val="06185F"/>
                </a:solidFill>
                <a:latin typeface="Calibri" pitchFamily="34" charset="0"/>
                <a:ea typeface="Calibri" pitchFamily="34" charset="-122"/>
                <a:cs typeface="Calibri" pitchFamily="34" charset="-120"/>
              </a:rPr>
              <a:t>Regulatory Intelligence</a:t>
            </a:r>
            <a:endParaRPr lang="en-US" sz="1100" dirty="0"/>
          </a:p>
        </p:txBody>
      </p:sp>
      <p:sp>
        <p:nvSpPr>
          <p:cNvPr id="14" name="Text 12"/>
          <p:cNvSpPr/>
          <p:nvPr/>
        </p:nvSpPr>
        <p:spPr>
          <a:xfrm>
            <a:off x="1024128" y="1746504"/>
            <a:ext cx="3749040" cy="182880"/>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JHA PayCenter  ·  ACH / Zelle transaction feeds</a:t>
            </a:r>
            <a:endParaRPr lang="en-US" sz="850" dirty="0"/>
          </a:p>
        </p:txBody>
      </p:sp>
      <p:sp>
        <p:nvSpPr>
          <p:cNvPr id="15" name="Text 13"/>
          <p:cNvSpPr/>
          <p:nvPr/>
        </p:nvSpPr>
        <p:spPr>
          <a:xfrm>
            <a:off x="1024128" y="1920240"/>
            <a:ext cx="3749040" cy="182880"/>
          </a:xfrm>
          <a:prstGeom prst="rect">
            <a:avLst/>
          </a:prstGeom>
          <a:noFill/>
          <a:ln/>
        </p:spPr>
        <p:txBody>
          <a:bodyPr wrap="square" lIns="0" tIns="0" rIns="0" bIns="0" rtlCol="0" anchor="ctr"/>
          <a:lstStyle/>
          <a:p>
            <a:pPr marL="0" indent="0">
              <a:buNone/>
            </a:pPr>
            <a:r>
              <a:rPr lang="en-US" sz="850" i="1" dirty="0">
                <a:solidFill>
                  <a:srgbClr val="085CE5"/>
                </a:solidFill>
                <a:latin typeface="Calibri" pitchFamily="34" charset="0"/>
                <a:ea typeface="Calibri" pitchFamily="34" charset="-122"/>
                <a:cs typeface="Calibri" pitchFamily="34" charset="-120"/>
              </a:rPr>
              <a:t>Zelle Memo Intelligence  ·  Compliance Monitoring</a:t>
            </a:r>
            <a:endParaRPr lang="en-US" sz="850" dirty="0"/>
          </a:p>
        </p:txBody>
      </p:sp>
      <p:sp>
        <p:nvSpPr>
          <p:cNvPr id="16" name="Text 14"/>
          <p:cNvSpPr/>
          <p:nvPr/>
        </p:nvSpPr>
        <p:spPr>
          <a:xfrm>
            <a:off x="4919472" y="1627632"/>
            <a:ext cx="1298448" cy="347472"/>
          </a:xfrm>
          <a:prstGeom prst="rect">
            <a:avLst/>
          </a:prstGeom>
          <a:noFill/>
          <a:ln/>
        </p:spPr>
        <p:txBody>
          <a:bodyPr wrap="square" lIns="0" tIns="0" rIns="0" bIns="0" rtlCol="0" anchor="ctr"/>
          <a:lstStyle/>
          <a:p>
            <a:pPr marL="0" indent="0" algn="ctr">
              <a:buNone/>
            </a:pPr>
            <a:r>
              <a:rPr lang="en-US" sz="1700" b="1" dirty="0">
                <a:solidFill>
                  <a:srgbClr val="085CE5"/>
                </a:solidFill>
                <a:latin typeface="Calibri" pitchFamily="34" charset="0"/>
                <a:ea typeface="Calibri" pitchFamily="34" charset="-122"/>
                <a:cs typeface="Calibri" pitchFamily="34" charset="-120"/>
              </a:rPr>
              <a:t>$4.5M</a:t>
            </a:r>
            <a:endParaRPr lang="en-US" sz="1700" dirty="0"/>
          </a:p>
        </p:txBody>
      </p:sp>
      <p:sp>
        <p:nvSpPr>
          <p:cNvPr id="17" name="Text 15"/>
          <p:cNvSpPr/>
          <p:nvPr/>
        </p:nvSpPr>
        <p:spPr>
          <a:xfrm>
            <a:off x="6291072" y="1627632"/>
            <a:ext cx="1371600" cy="347472"/>
          </a:xfrm>
          <a:prstGeom prst="rect">
            <a:avLst/>
          </a:prstGeom>
          <a:noFill/>
          <a:ln/>
        </p:spPr>
        <p:txBody>
          <a:bodyPr wrap="square" lIns="0" tIns="0" rIns="0" bIns="0" rtlCol="0" anchor="ctr"/>
          <a:lstStyle/>
          <a:p>
            <a:pPr marL="0" indent="0" algn="ctr">
              <a:buNone/>
            </a:pPr>
            <a:r>
              <a:rPr lang="en-US" sz="1700" b="1" dirty="0">
                <a:solidFill>
                  <a:srgbClr val="085CE5"/>
                </a:solidFill>
                <a:latin typeface="Calibri" pitchFamily="34" charset="0"/>
                <a:ea typeface="Calibri" pitchFamily="34" charset="-122"/>
                <a:cs typeface="Calibri" pitchFamily="34" charset="-120"/>
              </a:rPr>
              <a:t>$9M</a:t>
            </a:r>
            <a:endParaRPr lang="en-US" sz="1700" dirty="0"/>
          </a:p>
        </p:txBody>
      </p:sp>
      <p:sp>
        <p:nvSpPr>
          <p:cNvPr id="18" name="Text 16"/>
          <p:cNvSpPr/>
          <p:nvPr/>
        </p:nvSpPr>
        <p:spPr>
          <a:xfrm>
            <a:off x="7726680" y="1627632"/>
            <a:ext cx="1325880" cy="347472"/>
          </a:xfrm>
          <a:prstGeom prst="rect">
            <a:avLst/>
          </a:prstGeom>
          <a:noFill/>
          <a:ln/>
        </p:spPr>
        <p:txBody>
          <a:bodyPr wrap="square" lIns="0" tIns="0" rIns="0" bIns="0" rtlCol="0" anchor="ctr"/>
          <a:lstStyle/>
          <a:p>
            <a:pPr marL="0" indent="0" algn="ctr">
              <a:buNone/>
            </a:pPr>
            <a:r>
              <a:rPr lang="en-US" sz="1700" b="1" dirty="0">
                <a:solidFill>
                  <a:srgbClr val="085CE5"/>
                </a:solidFill>
                <a:latin typeface="Calibri" pitchFamily="34" charset="0"/>
                <a:ea typeface="Calibri" pitchFamily="34" charset="-122"/>
                <a:cs typeface="Calibri" pitchFamily="34" charset="-120"/>
              </a:rPr>
              <a:t>$15M</a:t>
            </a:r>
            <a:endParaRPr lang="en-US" sz="1700" dirty="0"/>
          </a:p>
        </p:txBody>
      </p:sp>
      <p:sp>
        <p:nvSpPr>
          <p:cNvPr id="19" name="Shape 17"/>
          <p:cNvSpPr/>
          <p:nvPr/>
        </p:nvSpPr>
        <p:spPr>
          <a:xfrm>
            <a:off x="320040" y="2231136"/>
            <a:ext cx="8732520" cy="713232"/>
          </a:xfrm>
          <a:prstGeom prst="rect">
            <a:avLst/>
          </a:prstGeom>
          <a:solidFill>
            <a:srgbClr val="E7ECF0"/>
          </a:solidFill>
          <a:ln w="12700">
            <a:solidFill>
              <a:srgbClr val="E7ECF0"/>
            </a:solidFill>
            <a:prstDash val="solid"/>
          </a:ln>
        </p:spPr>
        <p:txBody>
          <a:bodyPr/>
          <a:lstStyle/>
          <a:p>
            <a:endParaRPr lang="en-US"/>
          </a:p>
        </p:txBody>
      </p:sp>
      <p:sp>
        <p:nvSpPr>
          <p:cNvPr id="20" name="Shape 18"/>
          <p:cNvSpPr/>
          <p:nvPr/>
        </p:nvSpPr>
        <p:spPr>
          <a:xfrm>
            <a:off x="320040" y="2231136"/>
            <a:ext cx="91440" cy="713232"/>
          </a:xfrm>
          <a:prstGeom prst="rect">
            <a:avLst/>
          </a:prstGeom>
          <a:solidFill>
            <a:srgbClr val="073FA8"/>
          </a:solidFill>
          <a:ln w="12700">
            <a:solidFill>
              <a:srgbClr val="073FA8"/>
            </a:solidFill>
            <a:prstDash val="solid"/>
          </a:ln>
        </p:spPr>
        <p:txBody>
          <a:bodyPr/>
          <a:lstStyle/>
          <a:p>
            <a:endParaRPr lang="en-US"/>
          </a:p>
        </p:txBody>
      </p:sp>
      <p:sp>
        <p:nvSpPr>
          <p:cNvPr id="21" name="Shape 19"/>
          <p:cNvSpPr/>
          <p:nvPr/>
        </p:nvSpPr>
        <p:spPr>
          <a:xfrm>
            <a:off x="475488" y="2340864"/>
            <a:ext cx="475488" cy="182880"/>
          </a:xfrm>
          <a:prstGeom prst="rect">
            <a:avLst/>
          </a:prstGeom>
          <a:solidFill>
            <a:srgbClr val="073FA8"/>
          </a:solidFill>
          <a:ln w="12700">
            <a:solidFill>
              <a:srgbClr val="073FA8"/>
            </a:solidFill>
            <a:prstDash val="solid"/>
          </a:ln>
        </p:spPr>
        <p:txBody>
          <a:bodyPr/>
          <a:lstStyle/>
          <a:p>
            <a:endParaRPr lang="en-US"/>
          </a:p>
        </p:txBody>
      </p:sp>
      <p:sp>
        <p:nvSpPr>
          <p:cNvPr id="22" name="Text 20"/>
          <p:cNvSpPr/>
          <p:nvPr/>
        </p:nvSpPr>
        <p:spPr>
          <a:xfrm>
            <a:off x="475488" y="2340864"/>
            <a:ext cx="475488"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NEXT</a:t>
            </a:r>
            <a:endParaRPr lang="en-US" sz="750" dirty="0"/>
          </a:p>
        </p:txBody>
      </p:sp>
      <p:sp>
        <p:nvSpPr>
          <p:cNvPr id="23" name="Text 21"/>
          <p:cNvSpPr/>
          <p:nvPr/>
        </p:nvSpPr>
        <p:spPr>
          <a:xfrm>
            <a:off x="1024128" y="2286000"/>
            <a:ext cx="3749040" cy="237744"/>
          </a:xfrm>
          <a:prstGeom prst="rect">
            <a:avLst/>
          </a:prstGeom>
          <a:noFill/>
          <a:ln/>
        </p:spPr>
        <p:txBody>
          <a:bodyPr wrap="square" lIns="0" tIns="0" rIns="0" bIns="0" rtlCol="0" anchor="ctr"/>
          <a:lstStyle/>
          <a:p>
            <a:pPr marL="0" indent="0">
              <a:buNone/>
            </a:pPr>
            <a:r>
              <a:rPr lang="en-US" sz="1100" b="1" dirty="0">
                <a:solidFill>
                  <a:srgbClr val="06185F"/>
                </a:solidFill>
                <a:latin typeface="Calibri" pitchFamily="34" charset="0"/>
                <a:ea typeface="Calibri" pitchFamily="34" charset="-122"/>
                <a:cs typeface="Calibri" pitchFamily="34" charset="-120"/>
              </a:rPr>
              <a:t>+ Core Banking Intelligence</a:t>
            </a:r>
            <a:endParaRPr lang="en-US" sz="1100" dirty="0"/>
          </a:p>
        </p:txBody>
      </p:sp>
      <p:sp>
        <p:nvSpPr>
          <p:cNvPr id="24" name="Text 22"/>
          <p:cNvSpPr/>
          <p:nvPr/>
        </p:nvSpPr>
        <p:spPr>
          <a:xfrm>
            <a:off x="1024128" y="2514600"/>
            <a:ext cx="3749040" cy="182880"/>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jhaEnterprise  ·  Symitar  ·  Core Transactions</a:t>
            </a:r>
            <a:endParaRPr lang="en-US" sz="850" dirty="0"/>
          </a:p>
        </p:txBody>
      </p:sp>
      <p:sp>
        <p:nvSpPr>
          <p:cNvPr id="25" name="Text 23"/>
          <p:cNvSpPr/>
          <p:nvPr/>
        </p:nvSpPr>
        <p:spPr>
          <a:xfrm>
            <a:off x="1024128" y="2688336"/>
            <a:ext cx="3749040" cy="182880"/>
          </a:xfrm>
          <a:prstGeom prst="rect">
            <a:avLst/>
          </a:prstGeom>
          <a:noFill/>
          <a:ln/>
        </p:spPr>
        <p:txBody>
          <a:bodyPr wrap="square" lIns="0" tIns="0" rIns="0" bIns="0" rtlCol="0" anchor="ctr"/>
          <a:lstStyle/>
          <a:p>
            <a:pPr marL="0" indent="0">
              <a:buNone/>
            </a:pPr>
            <a:r>
              <a:rPr lang="en-US" sz="850" i="1" dirty="0">
                <a:solidFill>
                  <a:srgbClr val="073FA8"/>
                </a:solidFill>
                <a:latin typeface="Calibri" pitchFamily="34" charset="0"/>
                <a:ea typeface="Calibri" pitchFamily="34" charset="-122"/>
                <a:cs typeface="Calibri" pitchFamily="34" charset="-120"/>
              </a:rPr>
              <a:t>Churn Sentinel  ·  Cross-Sell Propensity</a:t>
            </a:r>
            <a:endParaRPr lang="en-US" sz="850" dirty="0"/>
          </a:p>
        </p:txBody>
      </p:sp>
      <p:sp>
        <p:nvSpPr>
          <p:cNvPr id="26" name="Text 24"/>
          <p:cNvSpPr/>
          <p:nvPr/>
        </p:nvSpPr>
        <p:spPr>
          <a:xfrm>
            <a:off x="4919472" y="2395728"/>
            <a:ext cx="1298448" cy="347472"/>
          </a:xfrm>
          <a:prstGeom prst="rect">
            <a:avLst/>
          </a:prstGeom>
          <a:noFill/>
          <a:ln/>
        </p:spPr>
        <p:txBody>
          <a:bodyPr wrap="square" lIns="0" tIns="0" rIns="0" bIns="0" rtlCol="0" anchor="ctr"/>
          <a:lstStyle/>
          <a:p>
            <a:pPr marL="0" indent="0" algn="ctr">
              <a:buNone/>
            </a:pPr>
            <a:r>
              <a:rPr lang="en-US" sz="1700" b="1" dirty="0">
                <a:solidFill>
                  <a:srgbClr val="073FA8"/>
                </a:solidFill>
                <a:latin typeface="Calibri" pitchFamily="34" charset="0"/>
                <a:ea typeface="Calibri" pitchFamily="34" charset="-122"/>
                <a:cs typeface="Calibri" pitchFamily="34" charset="-120"/>
              </a:rPr>
              <a:t>+$6M</a:t>
            </a:r>
            <a:endParaRPr lang="en-US" sz="1700" dirty="0"/>
          </a:p>
        </p:txBody>
      </p:sp>
      <p:sp>
        <p:nvSpPr>
          <p:cNvPr id="27" name="Text 25"/>
          <p:cNvSpPr/>
          <p:nvPr/>
        </p:nvSpPr>
        <p:spPr>
          <a:xfrm>
            <a:off x="6291072" y="2395728"/>
            <a:ext cx="1371600" cy="347472"/>
          </a:xfrm>
          <a:prstGeom prst="rect">
            <a:avLst/>
          </a:prstGeom>
          <a:noFill/>
          <a:ln/>
        </p:spPr>
        <p:txBody>
          <a:bodyPr wrap="square" lIns="0" tIns="0" rIns="0" bIns="0" rtlCol="0" anchor="ctr"/>
          <a:lstStyle/>
          <a:p>
            <a:pPr marL="0" indent="0" algn="ctr">
              <a:buNone/>
            </a:pPr>
            <a:r>
              <a:rPr lang="en-US" sz="1700" b="1" dirty="0">
                <a:solidFill>
                  <a:srgbClr val="073FA8"/>
                </a:solidFill>
                <a:latin typeface="Calibri" pitchFamily="34" charset="0"/>
                <a:ea typeface="Calibri" pitchFamily="34" charset="-122"/>
                <a:cs typeface="Calibri" pitchFamily="34" charset="-120"/>
              </a:rPr>
              <a:t>+$12M</a:t>
            </a:r>
            <a:endParaRPr lang="en-US" sz="1700" dirty="0"/>
          </a:p>
        </p:txBody>
      </p:sp>
      <p:sp>
        <p:nvSpPr>
          <p:cNvPr id="28" name="Text 26"/>
          <p:cNvSpPr/>
          <p:nvPr/>
        </p:nvSpPr>
        <p:spPr>
          <a:xfrm>
            <a:off x="7726680" y="2395728"/>
            <a:ext cx="1325880" cy="347472"/>
          </a:xfrm>
          <a:prstGeom prst="rect">
            <a:avLst/>
          </a:prstGeom>
          <a:noFill/>
          <a:ln/>
        </p:spPr>
        <p:txBody>
          <a:bodyPr wrap="square" lIns="0" tIns="0" rIns="0" bIns="0" rtlCol="0" anchor="ctr"/>
          <a:lstStyle/>
          <a:p>
            <a:pPr marL="0" indent="0" algn="ctr">
              <a:buNone/>
            </a:pPr>
            <a:r>
              <a:rPr lang="en-US" sz="1700" b="1" dirty="0">
                <a:solidFill>
                  <a:srgbClr val="073FA8"/>
                </a:solidFill>
                <a:latin typeface="Calibri" pitchFamily="34" charset="0"/>
                <a:ea typeface="Calibri" pitchFamily="34" charset="-122"/>
                <a:cs typeface="Calibri" pitchFamily="34" charset="-120"/>
              </a:rPr>
              <a:t>+$20M</a:t>
            </a:r>
            <a:endParaRPr lang="en-US" sz="1700" dirty="0"/>
          </a:p>
        </p:txBody>
      </p:sp>
      <p:sp>
        <p:nvSpPr>
          <p:cNvPr id="29" name="Shape 27"/>
          <p:cNvSpPr/>
          <p:nvPr/>
        </p:nvSpPr>
        <p:spPr>
          <a:xfrm>
            <a:off x="320040" y="2999232"/>
            <a:ext cx="8732520" cy="713232"/>
          </a:xfrm>
          <a:prstGeom prst="rect">
            <a:avLst/>
          </a:prstGeom>
          <a:solidFill>
            <a:srgbClr val="FFFFFF"/>
          </a:solidFill>
          <a:ln w="12700">
            <a:solidFill>
              <a:srgbClr val="E7ECF0"/>
            </a:solidFill>
            <a:prstDash val="solid"/>
          </a:ln>
        </p:spPr>
        <p:txBody>
          <a:bodyPr/>
          <a:lstStyle/>
          <a:p>
            <a:endParaRPr lang="en-US"/>
          </a:p>
        </p:txBody>
      </p:sp>
      <p:sp>
        <p:nvSpPr>
          <p:cNvPr id="30" name="Shape 28"/>
          <p:cNvSpPr/>
          <p:nvPr/>
        </p:nvSpPr>
        <p:spPr>
          <a:xfrm>
            <a:off x="320040" y="2999232"/>
            <a:ext cx="91440" cy="713232"/>
          </a:xfrm>
          <a:prstGeom prst="rect">
            <a:avLst/>
          </a:prstGeom>
          <a:solidFill>
            <a:srgbClr val="575A5D"/>
          </a:solidFill>
          <a:ln w="12700">
            <a:solidFill>
              <a:srgbClr val="575A5D"/>
            </a:solidFill>
            <a:prstDash val="solid"/>
          </a:ln>
        </p:spPr>
        <p:txBody>
          <a:bodyPr/>
          <a:lstStyle/>
          <a:p>
            <a:endParaRPr lang="en-US"/>
          </a:p>
        </p:txBody>
      </p:sp>
      <p:sp>
        <p:nvSpPr>
          <p:cNvPr id="31" name="Shape 29"/>
          <p:cNvSpPr/>
          <p:nvPr/>
        </p:nvSpPr>
        <p:spPr>
          <a:xfrm>
            <a:off x="475488" y="3108960"/>
            <a:ext cx="475488" cy="182880"/>
          </a:xfrm>
          <a:prstGeom prst="rect">
            <a:avLst/>
          </a:prstGeom>
          <a:solidFill>
            <a:srgbClr val="073FA8"/>
          </a:solidFill>
          <a:ln w="12700">
            <a:solidFill>
              <a:srgbClr val="073FA8"/>
            </a:solidFill>
            <a:prstDash val="solid"/>
          </a:ln>
        </p:spPr>
        <p:txBody>
          <a:bodyPr/>
          <a:lstStyle/>
          <a:p>
            <a:endParaRPr lang="en-US"/>
          </a:p>
        </p:txBody>
      </p:sp>
      <p:sp>
        <p:nvSpPr>
          <p:cNvPr id="32" name="Text 30"/>
          <p:cNvSpPr/>
          <p:nvPr/>
        </p:nvSpPr>
        <p:spPr>
          <a:xfrm>
            <a:off x="475488" y="3108960"/>
            <a:ext cx="475488"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NEXT</a:t>
            </a:r>
            <a:endParaRPr lang="en-US" sz="750" dirty="0"/>
          </a:p>
        </p:txBody>
      </p:sp>
      <p:sp>
        <p:nvSpPr>
          <p:cNvPr id="33" name="Text 31"/>
          <p:cNvSpPr/>
          <p:nvPr/>
        </p:nvSpPr>
        <p:spPr>
          <a:xfrm>
            <a:off x="1024128" y="3054096"/>
            <a:ext cx="3749040" cy="237744"/>
          </a:xfrm>
          <a:prstGeom prst="rect">
            <a:avLst/>
          </a:prstGeom>
          <a:noFill/>
          <a:ln/>
        </p:spPr>
        <p:txBody>
          <a:bodyPr wrap="square" lIns="0" tIns="0" rIns="0" bIns="0" rtlCol="0" anchor="ctr"/>
          <a:lstStyle/>
          <a:p>
            <a:pPr marL="0" indent="0">
              <a:buNone/>
            </a:pPr>
            <a:r>
              <a:rPr lang="en-US" sz="1100" b="1" dirty="0">
                <a:solidFill>
                  <a:srgbClr val="06185F"/>
                </a:solidFill>
                <a:latin typeface="Calibri" pitchFamily="34" charset="0"/>
                <a:ea typeface="Calibri" pitchFamily="34" charset="-122"/>
                <a:cs typeface="Calibri" pitchFamily="34" charset="-120"/>
              </a:rPr>
              <a:t>+ Payments Intelligence</a:t>
            </a:r>
            <a:endParaRPr lang="en-US" sz="1100" dirty="0"/>
          </a:p>
        </p:txBody>
      </p:sp>
      <p:sp>
        <p:nvSpPr>
          <p:cNvPr id="34" name="Text 32"/>
          <p:cNvSpPr/>
          <p:nvPr/>
        </p:nvSpPr>
        <p:spPr>
          <a:xfrm>
            <a:off x="1024128" y="3282696"/>
            <a:ext cx="3749040" cy="182880"/>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Zelle  ·  ACH  ·  Card  ·  Wire</a:t>
            </a:r>
            <a:endParaRPr lang="en-US" sz="850" dirty="0"/>
          </a:p>
        </p:txBody>
      </p:sp>
      <p:sp>
        <p:nvSpPr>
          <p:cNvPr id="35" name="Text 33"/>
          <p:cNvSpPr/>
          <p:nvPr/>
        </p:nvSpPr>
        <p:spPr>
          <a:xfrm>
            <a:off x="1024128" y="3456432"/>
            <a:ext cx="3749040" cy="182880"/>
          </a:xfrm>
          <a:prstGeom prst="rect">
            <a:avLst/>
          </a:prstGeom>
          <a:noFill/>
          <a:ln/>
        </p:spPr>
        <p:txBody>
          <a:bodyPr wrap="square" lIns="0" tIns="0" rIns="0" bIns="0" rtlCol="0" anchor="ctr"/>
          <a:lstStyle/>
          <a:p>
            <a:pPr marL="0" indent="0">
              <a:buNone/>
            </a:pPr>
            <a:r>
              <a:rPr lang="en-US" sz="850" i="1" dirty="0">
                <a:solidFill>
                  <a:srgbClr val="575A5D"/>
                </a:solidFill>
                <a:latin typeface="Calibri" pitchFamily="34" charset="0"/>
                <a:ea typeface="Calibri" pitchFamily="34" charset="-122"/>
                <a:cs typeface="Calibri" pitchFamily="34" charset="-120"/>
              </a:rPr>
              <a:t>Zelle Memo Intelligence  ·  Anomaly Detection  ·  Fraud Ring Detection</a:t>
            </a:r>
            <a:endParaRPr lang="en-US" sz="850" dirty="0"/>
          </a:p>
        </p:txBody>
      </p:sp>
      <p:sp>
        <p:nvSpPr>
          <p:cNvPr id="36" name="Text 34"/>
          <p:cNvSpPr/>
          <p:nvPr/>
        </p:nvSpPr>
        <p:spPr>
          <a:xfrm>
            <a:off x="4919472" y="3163824"/>
            <a:ext cx="1298448" cy="347472"/>
          </a:xfrm>
          <a:prstGeom prst="rect">
            <a:avLst/>
          </a:prstGeom>
          <a:noFill/>
          <a:ln/>
        </p:spPr>
        <p:txBody>
          <a:bodyPr wrap="square" lIns="0" tIns="0" rIns="0" bIns="0" rtlCol="0" anchor="ctr"/>
          <a:lstStyle/>
          <a:p>
            <a:pPr marL="0" indent="0" algn="ctr">
              <a:buNone/>
            </a:pPr>
            <a:r>
              <a:rPr lang="en-US" sz="1700" b="1" dirty="0">
                <a:solidFill>
                  <a:srgbClr val="073FA8"/>
                </a:solidFill>
                <a:latin typeface="Calibri" pitchFamily="34" charset="0"/>
                <a:ea typeface="Calibri" pitchFamily="34" charset="-122"/>
                <a:cs typeface="Calibri" pitchFamily="34" charset="-120"/>
              </a:rPr>
              <a:t>+$5M</a:t>
            </a:r>
            <a:endParaRPr lang="en-US" sz="1700" dirty="0"/>
          </a:p>
        </p:txBody>
      </p:sp>
      <p:sp>
        <p:nvSpPr>
          <p:cNvPr id="37" name="Text 35"/>
          <p:cNvSpPr/>
          <p:nvPr/>
        </p:nvSpPr>
        <p:spPr>
          <a:xfrm>
            <a:off x="6291072" y="3163824"/>
            <a:ext cx="1371600" cy="347472"/>
          </a:xfrm>
          <a:prstGeom prst="rect">
            <a:avLst/>
          </a:prstGeom>
          <a:noFill/>
          <a:ln/>
        </p:spPr>
        <p:txBody>
          <a:bodyPr wrap="square" lIns="0" tIns="0" rIns="0" bIns="0" rtlCol="0" anchor="ctr"/>
          <a:lstStyle/>
          <a:p>
            <a:pPr marL="0" indent="0" algn="ctr">
              <a:buNone/>
            </a:pPr>
            <a:r>
              <a:rPr lang="en-US" sz="1700" b="1" dirty="0">
                <a:solidFill>
                  <a:srgbClr val="073FA8"/>
                </a:solidFill>
                <a:latin typeface="Calibri" pitchFamily="34" charset="0"/>
                <a:ea typeface="Calibri" pitchFamily="34" charset="-122"/>
                <a:cs typeface="Calibri" pitchFamily="34" charset="-120"/>
              </a:rPr>
              <a:t>+$10M</a:t>
            </a:r>
            <a:endParaRPr lang="en-US" sz="1700" dirty="0"/>
          </a:p>
        </p:txBody>
      </p:sp>
      <p:sp>
        <p:nvSpPr>
          <p:cNvPr id="38" name="Text 36"/>
          <p:cNvSpPr/>
          <p:nvPr/>
        </p:nvSpPr>
        <p:spPr>
          <a:xfrm>
            <a:off x="7726680" y="3163824"/>
            <a:ext cx="1325880" cy="347472"/>
          </a:xfrm>
          <a:prstGeom prst="rect">
            <a:avLst/>
          </a:prstGeom>
          <a:noFill/>
          <a:ln/>
        </p:spPr>
        <p:txBody>
          <a:bodyPr wrap="square" lIns="0" tIns="0" rIns="0" bIns="0" rtlCol="0" anchor="ctr"/>
          <a:lstStyle/>
          <a:p>
            <a:pPr marL="0" indent="0" algn="ctr">
              <a:buNone/>
            </a:pPr>
            <a:r>
              <a:rPr lang="en-US" sz="1700" b="1" dirty="0">
                <a:solidFill>
                  <a:srgbClr val="073FA8"/>
                </a:solidFill>
                <a:latin typeface="Calibri" pitchFamily="34" charset="0"/>
                <a:ea typeface="Calibri" pitchFamily="34" charset="-122"/>
                <a:cs typeface="Calibri" pitchFamily="34" charset="-120"/>
              </a:rPr>
              <a:t>+$17M</a:t>
            </a:r>
            <a:endParaRPr lang="en-US" sz="1700" dirty="0"/>
          </a:p>
        </p:txBody>
      </p:sp>
      <p:sp>
        <p:nvSpPr>
          <p:cNvPr id="39" name="Shape 37"/>
          <p:cNvSpPr/>
          <p:nvPr/>
        </p:nvSpPr>
        <p:spPr>
          <a:xfrm>
            <a:off x="320040" y="3767328"/>
            <a:ext cx="8732520" cy="713232"/>
          </a:xfrm>
          <a:prstGeom prst="rect">
            <a:avLst/>
          </a:prstGeom>
          <a:solidFill>
            <a:srgbClr val="E7ECF0"/>
          </a:solidFill>
          <a:ln w="12700">
            <a:solidFill>
              <a:srgbClr val="E7ECF0"/>
            </a:solidFill>
            <a:prstDash val="solid"/>
          </a:ln>
        </p:spPr>
        <p:txBody>
          <a:bodyPr/>
          <a:lstStyle/>
          <a:p>
            <a:endParaRPr lang="en-US"/>
          </a:p>
        </p:txBody>
      </p:sp>
      <p:sp>
        <p:nvSpPr>
          <p:cNvPr id="40" name="Shape 38"/>
          <p:cNvSpPr/>
          <p:nvPr/>
        </p:nvSpPr>
        <p:spPr>
          <a:xfrm>
            <a:off x="320040" y="3767328"/>
            <a:ext cx="91440" cy="713232"/>
          </a:xfrm>
          <a:prstGeom prst="rect">
            <a:avLst/>
          </a:prstGeom>
          <a:solidFill>
            <a:srgbClr val="0B68D4"/>
          </a:solidFill>
          <a:ln w="12700">
            <a:solidFill>
              <a:srgbClr val="0B68D4"/>
            </a:solidFill>
            <a:prstDash val="solid"/>
          </a:ln>
        </p:spPr>
        <p:txBody>
          <a:bodyPr/>
          <a:lstStyle/>
          <a:p>
            <a:endParaRPr lang="en-US"/>
          </a:p>
        </p:txBody>
      </p:sp>
      <p:sp>
        <p:nvSpPr>
          <p:cNvPr id="41" name="Shape 39"/>
          <p:cNvSpPr/>
          <p:nvPr/>
        </p:nvSpPr>
        <p:spPr>
          <a:xfrm>
            <a:off x="475488" y="3877056"/>
            <a:ext cx="475488" cy="182880"/>
          </a:xfrm>
          <a:prstGeom prst="rect">
            <a:avLst/>
          </a:prstGeom>
          <a:solidFill>
            <a:srgbClr val="B6BBC0"/>
          </a:solidFill>
          <a:ln w="12700">
            <a:solidFill>
              <a:srgbClr val="B6BBC0"/>
            </a:solidFill>
            <a:prstDash val="solid"/>
          </a:ln>
        </p:spPr>
        <p:txBody>
          <a:bodyPr/>
          <a:lstStyle/>
          <a:p>
            <a:endParaRPr lang="en-US"/>
          </a:p>
        </p:txBody>
      </p:sp>
      <p:sp>
        <p:nvSpPr>
          <p:cNvPr id="42" name="Text 40"/>
          <p:cNvSpPr/>
          <p:nvPr/>
        </p:nvSpPr>
        <p:spPr>
          <a:xfrm>
            <a:off x="475488" y="3877056"/>
            <a:ext cx="475488"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FUTURE</a:t>
            </a:r>
            <a:endParaRPr lang="en-US" sz="750" dirty="0"/>
          </a:p>
        </p:txBody>
      </p:sp>
      <p:sp>
        <p:nvSpPr>
          <p:cNvPr id="43" name="Text 41"/>
          <p:cNvSpPr/>
          <p:nvPr/>
        </p:nvSpPr>
        <p:spPr>
          <a:xfrm>
            <a:off x="1024128" y="3822192"/>
            <a:ext cx="3749040" cy="237744"/>
          </a:xfrm>
          <a:prstGeom prst="rect">
            <a:avLst/>
          </a:prstGeom>
          <a:noFill/>
          <a:ln/>
        </p:spPr>
        <p:txBody>
          <a:bodyPr wrap="square" lIns="0" tIns="0" rIns="0" bIns="0" rtlCol="0" anchor="ctr"/>
          <a:lstStyle/>
          <a:p>
            <a:pPr marL="0" indent="0">
              <a:buNone/>
            </a:pPr>
            <a:r>
              <a:rPr lang="en-US" sz="1100" b="1" dirty="0">
                <a:solidFill>
                  <a:srgbClr val="06185F"/>
                </a:solidFill>
                <a:latin typeface="Calibri" pitchFamily="34" charset="0"/>
                <a:ea typeface="Calibri" pitchFamily="34" charset="-122"/>
                <a:cs typeface="Calibri" pitchFamily="34" charset="-120"/>
              </a:rPr>
              <a:t>+ Digital / Banno Intelligence</a:t>
            </a:r>
            <a:endParaRPr lang="en-US" sz="1100" dirty="0"/>
          </a:p>
        </p:txBody>
      </p:sp>
      <p:sp>
        <p:nvSpPr>
          <p:cNvPr id="44" name="Text 42"/>
          <p:cNvSpPr/>
          <p:nvPr/>
        </p:nvSpPr>
        <p:spPr>
          <a:xfrm>
            <a:off x="1024128" y="4050792"/>
            <a:ext cx="3749040" cy="182880"/>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Banno  ·  Digital Engagement  ·  Session Behavior</a:t>
            </a:r>
            <a:endParaRPr lang="en-US" sz="850" dirty="0"/>
          </a:p>
        </p:txBody>
      </p:sp>
      <p:sp>
        <p:nvSpPr>
          <p:cNvPr id="45" name="Text 43"/>
          <p:cNvSpPr/>
          <p:nvPr/>
        </p:nvSpPr>
        <p:spPr>
          <a:xfrm>
            <a:off x="1024128" y="4224528"/>
            <a:ext cx="3749040" cy="182880"/>
          </a:xfrm>
          <a:prstGeom prst="rect">
            <a:avLst/>
          </a:prstGeom>
          <a:noFill/>
          <a:ln/>
        </p:spPr>
        <p:txBody>
          <a:bodyPr wrap="square" lIns="0" tIns="0" rIns="0" bIns="0" rtlCol="0" anchor="ctr"/>
          <a:lstStyle/>
          <a:p>
            <a:pPr marL="0" indent="0">
              <a:buNone/>
            </a:pPr>
            <a:r>
              <a:rPr lang="en-US" sz="850" i="1" dirty="0">
                <a:solidFill>
                  <a:srgbClr val="0B68D4"/>
                </a:solidFill>
                <a:latin typeface="Calibri" pitchFamily="34" charset="0"/>
                <a:ea typeface="Calibri" pitchFamily="34" charset="-122"/>
                <a:cs typeface="Calibri" pitchFamily="34" charset="-120"/>
              </a:rPr>
              <a:t>Sentiment Engine  ·  Next Best Action  ·  Overdraft Prediction</a:t>
            </a:r>
            <a:endParaRPr lang="en-US" sz="850" dirty="0"/>
          </a:p>
        </p:txBody>
      </p:sp>
      <p:sp>
        <p:nvSpPr>
          <p:cNvPr id="46" name="Text 44"/>
          <p:cNvSpPr/>
          <p:nvPr/>
        </p:nvSpPr>
        <p:spPr>
          <a:xfrm>
            <a:off x="4919472" y="3931920"/>
            <a:ext cx="1298448" cy="347472"/>
          </a:xfrm>
          <a:prstGeom prst="rect">
            <a:avLst/>
          </a:prstGeom>
          <a:noFill/>
          <a:ln/>
        </p:spPr>
        <p:txBody>
          <a:bodyPr wrap="square" lIns="0" tIns="0" rIns="0" bIns="0" rtlCol="0" anchor="ctr"/>
          <a:lstStyle/>
          <a:p>
            <a:pPr marL="0" indent="0" algn="ctr">
              <a:buNone/>
            </a:pPr>
            <a:r>
              <a:rPr lang="en-US" sz="1700" b="1" dirty="0">
                <a:solidFill>
                  <a:srgbClr val="073FA8"/>
                </a:solidFill>
                <a:latin typeface="Calibri" pitchFamily="34" charset="0"/>
                <a:ea typeface="Calibri" pitchFamily="34" charset="-122"/>
                <a:cs typeface="Calibri" pitchFamily="34" charset="-120"/>
              </a:rPr>
              <a:t>+$4M</a:t>
            </a:r>
            <a:endParaRPr lang="en-US" sz="1700" dirty="0"/>
          </a:p>
        </p:txBody>
      </p:sp>
      <p:sp>
        <p:nvSpPr>
          <p:cNvPr id="47" name="Text 45"/>
          <p:cNvSpPr/>
          <p:nvPr/>
        </p:nvSpPr>
        <p:spPr>
          <a:xfrm>
            <a:off x="6291072" y="3931920"/>
            <a:ext cx="1371600" cy="347472"/>
          </a:xfrm>
          <a:prstGeom prst="rect">
            <a:avLst/>
          </a:prstGeom>
          <a:noFill/>
          <a:ln/>
        </p:spPr>
        <p:txBody>
          <a:bodyPr wrap="square" lIns="0" tIns="0" rIns="0" bIns="0" rtlCol="0" anchor="ctr"/>
          <a:lstStyle/>
          <a:p>
            <a:pPr marL="0" indent="0" algn="ctr">
              <a:buNone/>
            </a:pPr>
            <a:r>
              <a:rPr lang="en-US" sz="1700" b="1" dirty="0">
                <a:solidFill>
                  <a:srgbClr val="073FA8"/>
                </a:solidFill>
                <a:latin typeface="Calibri" pitchFamily="34" charset="0"/>
                <a:ea typeface="Calibri" pitchFamily="34" charset="-122"/>
                <a:cs typeface="Calibri" pitchFamily="34" charset="-120"/>
              </a:rPr>
              <a:t>+$8M</a:t>
            </a:r>
            <a:endParaRPr lang="en-US" sz="1700" dirty="0"/>
          </a:p>
        </p:txBody>
      </p:sp>
      <p:sp>
        <p:nvSpPr>
          <p:cNvPr id="48" name="Text 46"/>
          <p:cNvSpPr/>
          <p:nvPr/>
        </p:nvSpPr>
        <p:spPr>
          <a:xfrm>
            <a:off x="7726680" y="3931920"/>
            <a:ext cx="1325880" cy="347472"/>
          </a:xfrm>
          <a:prstGeom prst="rect">
            <a:avLst/>
          </a:prstGeom>
          <a:noFill/>
          <a:ln/>
        </p:spPr>
        <p:txBody>
          <a:bodyPr wrap="square" lIns="0" tIns="0" rIns="0" bIns="0" rtlCol="0" anchor="ctr"/>
          <a:lstStyle/>
          <a:p>
            <a:pPr marL="0" indent="0" algn="ctr">
              <a:buNone/>
            </a:pPr>
            <a:r>
              <a:rPr lang="en-US" sz="1700" b="1" dirty="0">
                <a:solidFill>
                  <a:srgbClr val="073FA8"/>
                </a:solidFill>
                <a:latin typeface="Calibri" pitchFamily="34" charset="0"/>
                <a:ea typeface="Calibri" pitchFamily="34" charset="-122"/>
                <a:cs typeface="Calibri" pitchFamily="34" charset="-120"/>
              </a:rPr>
              <a:t>+$13M</a:t>
            </a:r>
            <a:endParaRPr lang="en-US" sz="1700" dirty="0"/>
          </a:p>
        </p:txBody>
      </p:sp>
      <p:sp>
        <p:nvSpPr>
          <p:cNvPr id="49" name="Shape 47"/>
          <p:cNvSpPr/>
          <p:nvPr/>
        </p:nvSpPr>
        <p:spPr>
          <a:xfrm>
            <a:off x="320040" y="4535424"/>
            <a:ext cx="8732520" cy="402336"/>
          </a:xfrm>
          <a:prstGeom prst="rect">
            <a:avLst/>
          </a:prstGeom>
          <a:solidFill>
            <a:srgbClr val="06185F"/>
          </a:solidFill>
          <a:ln w="12700">
            <a:solidFill>
              <a:srgbClr val="06185F"/>
            </a:solidFill>
            <a:prstDash val="solid"/>
          </a:ln>
        </p:spPr>
        <p:txBody>
          <a:bodyPr/>
          <a:lstStyle/>
          <a:p>
            <a:endParaRPr lang="en-US"/>
          </a:p>
        </p:txBody>
      </p:sp>
      <p:sp>
        <p:nvSpPr>
          <p:cNvPr id="50" name="Text 48"/>
          <p:cNvSpPr/>
          <p:nvPr/>
        </p:nvSpPr>
        <p:spPr>
          <a:xfrm>
            <a:off x="475488" y="4562856"/>
            <a:ext cx="429768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FULL PLATFORM ARR POTENTIAL</a:t>
            </a:r>
            <a:endParaRPr lang="en-US" sz="1100" dirty="0"/>
          </a:p>
        </p:txBody>
      </p:sp>
      <p:sp>
        <p:nvSpPr>
          <p:cNvPr id="51" name="Text 49"/>
          <p:cNvSpPr/>
          <p:nvPr/>
        </p:nvSpPr>
        <p:spPr>
          <a:xfrm>
            <a:off x="4919472" y="4562856"/>
            <a:ext cx="1298448" cy="347472"/>
          </a:xfrm>
          <a:prstGeom prst="rect">
            <a:avLst/>
          </a:prstGeom>
          <a:noFill/>
          <a:ln/>
        </p:spPr>
        <p:txBody>
          <a:bodyPr wrap="square" lIns="0" tIns="0" rIns="0" bIns="0" rtlCol="0" anchor="ctr"/>
          <a:lstStyle/>
          <a:p>
            <a:pPr marL="0" indent="0" algn="ctr">
              <a:buNone/>
            </a:pPr>
            <a:r>
              <a:rPr lang="en-US" sz="1400" b="1" dirty="0">
                <a:solidFill>
                  <a:srgbClr val="76DCFD"/>
                </a:solidFill>
                <a:latin typeface="Calibri" pitchFamily="34" charset="0"/>
                <a:ea typeface="Calibri" pitchFamily="34" charset="-122"/>
                <a:cs typeface="Calibri" pitchFamily="34" charset="-120"/>
              </a:rPr>
              <a:t>$19.5M</a:t>
            </a:r>
            <a:endParaRPr lang="en-US" sz="1400" dirty="0"/>
          </a:p>
        </p:txBody>
      </p:sp>
      <p:sp>
        <p:nvSpPr>
          <p:cNvPr id="52" name="Text 50"/>
          <p:cNvSpPr/>
          <p:nvPr/>
        </p:nvSpPr>
        <p:spPr>
          <a:xfrm>
            <a:off x="6291072" y="4562856"/>
            <a:ext cx="1371600" cy="347472"/>
          </a:xfrm>
          <a:prstGeom prst="rect">
            <a:avLst/>
          </a:prstGeom>
          <a:noFill/>
          <a:ln/>
        </p:spPr>
        <p:txBody>
          <a:bodyPr wrap="square" lIns="0" tIns="0" rIns="0" bIns="0" rtlCol="0" anchor="ctr"/>
          <a:lstStyle/>
          <a:p>
            <a:pPr marL="0" indent="0" algn="ctr">
              <a:buNone/>
            </a:pPr>
            <a:r>
              <a:rPr lang="en-US" sz="1400" b="1" dirty="0">
                <a:solidFill>
                  <a:srgbClr val="76DCFD"/>
                </a:solidFill>
                <a:latin typeface="Calibri" pitchFamily="34" charset="0"/>
                <a:ea typeface="Calibri" pitchFamily="34" charset="-122"/>
                <a:cs typeface="Calibri" pitchFamily="34" charset="-120"/>
              </a:rPr>
              <a:t>$39M</a:t>
            </a:r>
            <a:endParaRPr lang="en-US" sz="1400" dirty="0"/>
          </a:p>
        </p:txBody>
      </p:sp>
      <p:sp>
        <p:nvSpPr>
          <p:cNvPr id="53" name="Text 51"/>
          <p:cNvSpPr/>
          <p:nvPr/>
        </p:nvSpPr>
        <p:spPr>
          <a:xfrm>
            <a:off x="7726680" y="4562856"/>
            <a:ext cx="1325880" cy="347472"/>
          </a:xfrm>
          <a:prstGeom prst="rect">
            <a:avLst/>
          </a:prstGeom>
          <a:noFill/>
          <a:ln/>
        </p:spPr>
        <p:txBody>
          <a:bodyPr wrap="square" lIns="0" tIns="0" rIns="0" bIns="0" rtlCol="0" anchor="ctr"/>
          <a:lstStyle/>
          <a:p>
            <a:pPr marL="0" indent="0" algn="ctr">
              <a:buNone/>
            </a:pPr>
            <a:r>
              <a:rPr lang="en-US" sz="1400" b="1" dirty="0">
                <a:solidFill>
                  <a:srgbClr val="76DCFD"/>
                </a:solidFill>
                <a:latin typeface="Calibri" pitchFamily="34" charset="0"/>
                <a:ea typeface="Calibri" pitchFamily="34" charset="-122"/>
                <a:cs typeface="Calibri" pitchFamily="34" charset="-120"/>
              </a:rPr>
              <a:t>$65M+</a:t>
            </a:r>
            <a:endParaRPr lang="en-US" sz="1400" dirty="0"/>
          </a:p>
        </p:txBody>
      </p:sp>
      <p:sp>
        <p:nvSpPr>
          <p:cNvPr id="54" name="Text 52"/>
          <p:cNvSpPr/>
          <p:nvPr/>
        </p:nvSpPr>
        <p:spPr>
          <a:xfrm>
            <a:off x="365760" y="4974336"/>
            <a:ext cx="8412480" cy="164592"/>
          </a:xfrm>
          <a:prstGeom prst="rect">
            <a:avLst/>
          </a:prstGeom>
          <a:noFill/>
          <a:ln/>
        </p:spPr>
        <p:txBody>
          <a:bodyPr wrap="square" lIns="0" tIns="0" rIns="0" bIns="0" rtlCol="0" anchor="ctr"/>
          <a:lstStyle/>
          <a:p>
            <a:pPr marL="0" indent="0">
              <a:buNone/>
            </a:pPr>
            <a:r>
              <a:rPr lang="en-US" sz="800" i="1" dirty="0">
                <a:solidFill>
                  <a:srgbClr val="B6BBC0"/>
                </a:solidFill>
                <a:latin typeface="Calibri" pitchFamily="34" charset="0"/>
                <a:ea typeface="Calibri" pitchFamily="34" charset="-122"/>
                <a:cs typeface="Calibri" pitchFamily="34" charset="-120"/>
              </a:rPr>
              <a:t>ARR estimates based on avg. subscription value across tiers. Columns reflect 30%, 60%, and 100% penetration of JH's 1,660 core FI clients (940 banks + 720 CUs). Source: JH 10-K FY2024.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txBody>
          <a:bodyPr/>
          <a:lstStyle/>
          <a:p>
            <a:endParaRPr lang="en-US"/>
          </a:p>
        </p:txBody>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Horizon Pipeline — Phase 2 &amp; Year 2 Platform Opportunities</a:t>
            </a:r>
            <a:endParaRPr lang="en-US" sz="2000" dirty="0"/>
          </a:p>
        </p:txBody>
      </p:sp>
      <p:sp>
        <p:nvSpPr>
          <p:cNvPr id="4" name="Shape 2"/>
          <p:cNvSpPr/>
          <p:nvPr/>
        </p:nvSpPr>
        <p:spPr>
          <a:xfrm>
            <a:off x="128016" y="786384"/>
            <a:ext cx="2798064" cy="193852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128016" y="786384"/>
            <a:ext cx="2798064" cy="73152"/>
          </a:xfrm>
          <a:prstGeom prst="rect">
            <a:avLst/>
          </a:prstGeom>
          <a:solidFill>
            <a:srgbClr val="085CE5"/>
          </a:solidFill>
          <a:ln w="12700">
            <a:solidFill>
              <a:srgbClr val="085CE5"/>
            </a:solidFill>
            <a:prstDash val="solid"/>
          </a:ln>
        </p:spPr>
        <p:txBody>
          <a:bodyPr/>
          <a:lstStyle/>
          <a:p>
            <a:endParaRPr lang="en-US"/>
          </a:p>
        </p:txBody>
      </p:sp>
      <p:sp>
        <p:nvSpPr>
          <p:cNvPr id="6" name="Shape 4"/>
          <p:cNvSpPr/>
          <p:nvPr/>
        </p:nvSpPr>
        <p:spPr>
          <a:xfrm>
            <a:off x="2322576" y="914400"/>
            <a:ext cx="548640" cy="182880"/>
          </a:xfrm>
          <a:prstGeom prst="rect">
            <a:avLst/>
          </a:prstGeom>
          <a:solidFill>
            <a:srgbClr val="085CE5"/>
          </a:solidFill>
          <a:ln w="12700">
            <a:solidFill>
              <a:srgbClr val="085CE5"/>
            </a:solidFill>
            <a:prstDash val="solid"/>
          </a:ln>
        </p:spPr>
        <p:txBody>
          <a:bodyPr/>
          <a:lstStyle/>
          <a:p>
            <a:endParaRPr lang="en-US"/>
          </a:p>
        </p:txBody>
      </p:sp>
      <p:sp>
        <p:nvSpPr>
          <p:cNvPr id="7" name="Text 5"/>
          <p:cNvSpPr/>
          <p:nvPr/>
        </p:nvSpPr>
        <p:spPr>
          <a:xfrm>
            <a:off x="2322576" y="914400"/>
            <a:ext cx="548640" cy="182880"/>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Year 2</a:t>
            </a:r>
            <a:endParaRPr lang="en-US" sz="650" dirty="0"/>
          </a:p>
        </p:txBody>
      </p:sp>
      <p:pic>
        <p:nvPicPr>
          <p:cNvPr id="8" name="Image 0" descr="preencoded.png"/>
          <p:cNvPicPr>
            <a:picLocks noChangeAspect="1"/>
          </p:cNvPicPr>
          <p:nvPr/>
        </p:nvPicPr>
        <p:blipFill>
          <a:blip r:embed="rId3"/>
          <a:stretch>
            <a:fillRect/>
          </a:stretch>
        </p:blipFill>
        <p:spPr>
          <a:xfrm>
            <a:off x="256032" y="969264"/>
            <a:ext cx="310896" cy="310896"/>
          </a:xfrm>
          <a:prstGeom prst="rect">
            <a:avLst/>
          </a:prstGeom>
        </p:spPr>
      </p:pic>
      <p:sp>
        <p:nvSpPr>
          <p:cNvPr id="9" name="Text 6"/>
          <p:cNvSpPr/>
          <p:nvPr/>
        </p:nvSpPr>
        <p:spPr>
          <a:xfrm>
            <a:off x="621792" y="914400"/>
            <a:ext cx="1645920" cy="40233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Cross-Sell Propensity</a:t>
            </a:r>
            <a:endParaRPr lang="en-US" sz="950" dirty="0"/>
          </a:p>
        </p:txBody>
      </p:sp>
      <p:sp>
        <p:nvSpPr>
          <p:cNvPr id="10" name="Text 7"/>
          <p:cNvSpPr/>
          <p:nvPr/>
        </p:nvSpPr>
        <p:spPr>
          <a:xfrm>
            <a:off x="237744" y="1389888"/>
            <a:ext cx="2578608" cy="1225296"/>
          </a:xfrm>
          <a:prstGeom prst="rect">
            <a:avLst/>
          </a:prstGeom>
          <a:noFill/>
          <a:ln/>
        </p:spPr>
        <p:txBody>
          <a:bodyPr wrap="square" lIns="0" tIns="0" rIns="0" bIns="0" rtlCol="0" anchor="ctr"/>
          <a:lstStyle/>
          <a:p>
            <a:pPr marL="0" indent="0">
              <a:buNone/>
            </a:pPr>
            <a:r>
              <a:rPr lang="en-US" sz="900" dirty="0">
                <a:solidFill>
                  <a:srgbClr val="575A5D"/>
                </a:solidFill>
                <a:latin typeface="Calibri" pitchFamily="34" charset="0"/>
                <a:ea typeface="Calibri" pitchFamily="34" charset="-122"/>
                <a:cs typeface="Calibri" pitchFamily="34" charset="-120"/>
              </a:rPr>
              <a:t>ML model scoring each FI customer's likelihood to open savings, CDs, credit cards, or mortgage — enabling timed, personalized offers embedded in Banno.</a:t>
            </a:r>
            <a:endParaRPr lang="en-US" sz="900" dirty="0"/>
          </a:p>
        </p:txBody>
      </p:sp>
      <p:sp>
        <p:nvSpPr>
          <p:cNvPr id="11" name="Shape 8"/>
          <p:cNvSpPr/>
          <p:nvPr/>
        </p:nvSpPr>
        <p:spPr>
          <a:xfrm>
            <a:off x="3072384" y="786384"/>
            <a:ext cx="2798064" cy="193852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2" name="Shape 9"/>
          <p:cNvSpPr/>
          <p:nvPr/>
        </p:nvSpPr>
        <p:spPr>
          <a:xfrm>
            <a:off x="3072384" y="786384"/>
            <a:ext cx="2798064" cy="73152"/>
          </a:xfrm>
          <a:prstGeom prst="rect">
            <a:avLst/>
          </a:prstGeom>
          <a:solidFill>
            <a:srgbClr val="06185F"/>
          </a:solidFill>
          <a:ln w="12700">
            <a:solidFill>
              <a:srgbClr val="06185F"/>
            </a:solidFill>
            <a:prstDash val="solid"/>
          </a:ln>
        </p:spPr>
        <p:txBody>
          <a:bodyPr/>
          <a:lstStyle/>
          <a:p>
            <a:endParaRPr lang="en-US"/>
          </a:p>
        </p:txBody>
      </p:sp>
      <p:sp>
        <p:nvSpPr>
          <p:cNvPr id="13" name="Shape 10"/>
          <p:cNvSpPr/>
          <p:nvPr/>
        </p:nvSpPr>
        <p:spPr>
          <a:xfrm>
            <a:off x="5266944" y="914400"/>
            <a:ext cx="548640" cy="182880"/>
          </a:xfrm>
          <a:prstGeom prst="rect">
            <a:avLst/>
          </a:prstGeom>
          <a:solidFill>
            <a:srgbClr val="06185F"/>
          </a:solidFill>
          <a:ln w="12700">
            <a:solidFill>
              <a:srgbClr val="06185F"/>
            </a:solidFill>
            <a:prstDash val="solid"/>
          </a:ln>
        </p:spPr>
        <p:txBody>
          <a:bodyPr/>
          <a:lstStyle/>
          <a:p>
            <a:endParaRPr lang="en-US"/>
          </a:p>
        </p:txBody>
      </p:sp>
      <p:sp>
        <p:nvSpPr>
          <p:cNvPr id="14" name="Text 11"/>
          <p:cNvSpPr/>
          <p:nvPr/>
        </p:nvSpPr>
        <p:spPr>
          <a:xfrm>
            <a:off x="5266944" y="914400"/>
            <a:ext cx="548640" cy="182880"/>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Year 2</a:t>
            </a:r>
            <a:endParaRPr lang="en-US" sz="650" dirty="0"/>
          </a:p>
        </p:txBody>
      </p:sp>
      <p:pic>
        <p:nvPicPr>
          <p:cNvPr id="15" name="Image 1" descr="preencoded.png"/>
          <p:cNvPicPr>
            <a:picLocks noChangeAspect="1"/>
          </p:cNvPicPr>
          <p:nvPr/>
        </p:nvPicPr>
        <p:blipFill>
          <a:blip r:embed="rId4"/>
          <a:stretch>
            <a:fillRect/>
          </a:stretch>
        </p:blipFill>
        <p:spPr>
          <a:xfrm>
            <a:off x="3200400" y="969264"/>
            <a:ext cx="310896" cy="310896"/>
          </a:xfrm>
          <a:prstGeom prst="rect">
            <a:avLst/>
          </a:prstGeom>
        </p:spPr>
      </p:pic>
      <p:sp>
        <p:nvSpPr>
          <p:cNvPr id="16" name="Text 12"/>
          <p:cNvSpPr/>
          <p:nvPr/>
        </p:nvSpPr>
        <p:spPr>
          <a:xfrm>
            <a:off x="3566160" y="914400"/>
            <a:ext cx="1645920" cy="40233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Fraud Ring Detection</a:t>
            </a:r>
            <a:endParaRPr lang="en-US" sz="950" dirty="0"/>
          </a:p>
        </p:txBody>
      </p:sp>
      <p:sp>
        <p:nvSpPr>
          <p:cNvPr id="17" name="Text 13"/>
          <p:cNvSpPr/>
          <p:nvPr/>
        </p:nvSpPr>
        <p:spPr>
          <a:xfrm>
            <a:off x="3182112" y="1389888"/>
            <a:ext cx="2578608" cy="1225296"/>
          </a:xfrm>
          <a:prstGeom prst="rect">
            <a:avLst/>
          </a:prstGeom>
          <a:noFill/>
          <a:ln/>
        </p:spPr>
        <p:txBody>
          <a:bodyPr wrap="square" lIns="0" tIns="0" rIns="0" bIns="0" rtlCol="0" anchor="ctr"/>
          <a:lstStyle/>
          <a:p>
            <a:pPr marL="0" indent="0">
              <a:buNone/>
            </a:pPr>
            <a:r>
              <a:rPr lang="en-US" sz="900" dirty="0">
                <a:solidFill>
                  <a:srgbClr val="575A5D"/>
                </a:solidFill>
                <a:latin typeface="Calibri" pitchFamily="34" charset="0"/>
                <a:ea typeface="Calibri" pitchFamily="34" charset="-122"/>
                <a:cs typeface="Calibri" pitchFamily="34" charset="-120"/>
              </a:rPr>
              <a:t>Graph-based ML to identify coordinated fraud across linked accounts, shared devices, and IP clusters — across the entire JH network for cross-institution signals.</a:t>
            </a:r>
            <a:endParaRPr lang="en-US" sz="900" dirty="0"/>
          </a:p>
        </p:txBody>
      </p:sp>
      <p:sp>
        <p:nvSpPr>
          <p:cNvPr id="18" name="Shape 14"/>
          <p:cNvSpPr/>
          <p:nvPr/>
        </p:nvSpPr>
        <p:spPr>
          <a:xfrm>
            <a:off x="6016752" y="786384"/>
            <a:ext cx="2798064" cy="193852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9" name="Shape 15"/>
          <p:cNvSpPr/>
          <p:nvPr/>
        </p:nvSpPr>
        <p:spPr>
          <a:xfrm>
            <a:off x="6016752" y="786384"/>
            <a:ext cx="2798064" cy="73152"/>
          </a:xfrm>
          <a:prstGeom prst="rect">
            <a:avLst/>
          </a:prstGeom>
          <a:solidFill>
            <a:srgbClr val="073FA8"/>
          </a:solidFill>
          <a:ln w="12700">
            <a:solidFill>
              <a:srgbClr val="073FA8"/>
            </a:solidFill>
            <a:prstDash val="solid"/>
          </a:ln>
        </p:spPr>
        <p:txBody>
          <a:bodyPr/>
          <a:lstStyle/>
          <a:p>
            <a:endParaRPr lang="en-US"/>
          </a:p>
        </p:txBody>
      </p:sp>
      <p:sp>
        <p:nvSpPr>
          <p:cNvPr id="20" name="Shape 16"/>
          <p:cNvSpPr/>
          <p:nvPr/>
        </p:nvSpPr>
        <p:spPr>
          <a:xfrm>
            <a:off x="8211312" y="914400"/>
            <a:ext cx="548640" cy="182880"/>
          </a:xfrm>
          <a:prstGeom prst="rect">
            <a:avLst/>
          </a:prstGeom>
          <a:solidFill>
            <a:srgbClr val="073FA8"/>
          </a:solidFill>
          <a:ln w="12700">
            <a:solidFill>
              <a:srgbClr val="073FA8"/>
            </a:solidFill>
            <a:prstDash val="solid"/>
          </a:ln>
        </p:spPr>
        <p:txBody>
          <a:bodyPr/>
          <a:lstStyle/>
          <a:p>
            <a:endParaRPr lang="en-US"/>
          </a:p>
        </p:txBody>
      </p:sp>
      <p:sp>
        <p:nvSpPr>
          <p:cNvPr id="21" name="Text 17"/>
          <p:cNvSpPr/>
          <p:nvPr/>
        </p:nvSpPr>
        <p:spPr>
          <a:xfrm>
            <a:off x="8211312" y="914400"/>
            <a:ext cx="548640" cy="182880"/>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Year 2</a:t>
            </a:r>
            <a:endParaRPr lang="en-US" sz="650" dirty="0"/>
          </a:p>
        </p:txBody>
      </p:sp>
      <p:pic>
        <p:nvPicPr>
          <p:cNvPr id="22" name="Image 2" descr="preencoded.png"/>
          <p:cNvPicPr>
            <a:picLocks noChangeAspect="1"/>
          </p:cNvPicPr>
          <p:nvPr/>
        </p:nvPicPr>
        <p:blipFill>
          <a:blip r:embed="rId5"/>
          <a:stretch>
            <a:fillRect/>
          </a:stretch>
        </p:blipFill>
        <p:spPr>
          <a:xfrm>
            <a:off x="6144768" y="969264"/>
            <a:ext cx="310896" cy="310896"/>
          </a:xfrm>
          <a:prstGeom prst="rect">
            <a:avLst/>
          </a:prstGeom>
        </p:spPr>
      </p:pic>
      <p:sp>
        <p:nvSpPr>
          <p:cNvPr id="23" name="Text 18"/>
          <p:cNvSpPr/>
          <p:nvPr/>
        </p:nvSpPr>
        <p:spPr>
          <a:xfrm>
            <a:off x="6510528" y="914400"/>
            <a:ext cx="1645920" cy="40233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Deposit Runoff Forecasting</a:t>
            </a:r>
            <a:endParaRPr lang="en-US" sz="950" dirty="0"/>
          </a:p>
        </p:txBody>
      </p:sp>
      <p:sp>
        <p:nvSpPr>
          <p:cNvPr id="24" name="Text 19"/>
          <p:cNvSpPr/>
          <p:nvPr/>
        </p:nvSpPr>
        <p:spPr>
          <a:xfrm>
            <a:off x="6126480" y="1389888"/>
            <a:ext cx="2578608" cy="1225296"/>
          </a:xfrm>
          <a:prstGeom prst="rect">
            <a:avLst/>
          </a:prstGeom>
          <a:noFill/>
          <a:ln/>
        </p:spPr>
        <p:txBody>
          <a:bodyPr wrap="square" lIns="0" tIns="0" rIns="0" bIns="0" rtlCol="0" anchor="ctr"/>
          <a:lstStyle/>
          <a:p>
            <a:pPr marL="0" indent="0">
              <a:buNone/>
            </a:pPr>
            <a:r>
              <a:rPr lang="en-US" sz="900" dirty="0">
                <a:solidFill>
                  <a:srgbClr val="575A5D"/>
                </a:solidFill>
                <a:latin typeface="Calibri" pitchFamily="34" charset="0"/>
                <a:ea typeface="Calibri" pitchFamily="34" charset="-122"/>
                <a:cs typeface="Calibri" pitchFamily="34" charset="-120"/>
              </a:rPr>
              <a:t>Portfolio-level deposit attrition prediction to support FI clients' ALM, liquidity stress testing, and treasury planning with 90-day forward visibility.</a:t>
            </a:r>
            <a:endParaRPr lang="en-US" sz="900" dirty="0"/>
          </a:p>
        </p:txBody>
      </p:sp>
      <p:sp>
        <p:nvSpPr>
          <p:cNvPr id="25" name="Shape 20"/>
          <p:cNvSpPr/>
          <p:nvPr/>
        </p:nvSpPr>
        <p:spPr>
          <a:xfrm>
            <a:off x="128016" y="2889504"/>
            <a:ext cx="2798064" cy="193852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26" name="Shape 21"/>
          <p:cNvSpPr/>
          <p:nvPr/>
        </p:nvSpPr>
        <p:spPr>
          <a:xfrm>
            <a:off x="128016" y="2889504"/>
            <a:ext cx="2798064" cy="73152"/>
          </a:xfrm>
          <a:prstGeom prst="rect">
            <a:avLst/>
          </a:prstGeom>
          <a:solidFill>
            <a:srgbClr val="575A5D"/>
          </a:solidFill>
          <a:ln w="12700">
            <a:solidFill>
              <a:srgbClr val="575A5D"/>
            </a:solidFill>
            <a:prstDash val="solid"/>
          </a:ln>
        </p:spPr>
        <p:txBody>
          <a:bodyPr/>
          <a:lstStyle/>
          <a:p>
            <a:endParaRPr lang="en-US"/>
          </a:p>
        </p:txBody>
      </p:sp>
      <p:sp>
        <p:nvSpPr>
          <p:cNvPr id="27" name="Shape 22"/>
          <p:cNvSpPr/>
          <p:nvPr/>
        </p:nvSpPr>
        <p:spPr>
          <a:xfrm>
            <a:off x="2322576" y="3017520"/>
            <a:ext cx="548640" cy="182880"/>
          </a:xfrm>
          <a:prstGeom prst="rect">
            <a:avLst/>
          </a:prstGeom>
          <a:solidFill>
            <a:srgbClr val="575A5D"/>
          </a:solidFill>
          <a:ln w="12700">
            <a:solidFill>
              <a:srgbClr val="575A5D"/>
            </a:solidFill>
            <a:prstDash val="solid"/>
          </a:ln>
        </p:spPr>
        <p:txBody>
          <a:bodyPr/>
          <a:lstStyle/>
          <a:p>
            <a:endParaRPr lang="en-US"/>
          </a:p>
        </p:txBody>
      </p:sp>
      <p:sp>
        <p:nvSpPr>
          <p:cNvPr id="28" name="Text 23"/>
          <p:cNvSpPr/>
          <p:nvPr/>
        </p:nvSpPr>
        <p:spPr>
          <a:xfrm>
            <a:off x="2322576" y="3017520"/>
            <a:ext cx="548640" cy="182880"/>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Year 2</a:t>
            </a:r>
            <a:endParaRPr lang="en-US" sz="650" dirty="0"/>
          </a:p>
        </p:txBody>
      </p:sp>
      <p:pic>
        <p:nvPicPr>
          <p:cNvPr id="29" name="Image 3" descr="preencoded.png"/>
          <p:cNvPicPr>
            <a:picLocks noChangeAspect="1"/>
          </p:cNvPicPr>
          <p:nvPr/>
        </p:nvPicPr>
        <p:blipFill>
          <a:blip r:embed="rId6"/>
          <a:stretch>
            <a:fillRect/>
          </a:stretch>
        </p:blipFill>
        <p:spPr>
          <a:xfrm>
            <a:off x="256032" y="3072384"/>
            <a:ext cx="310896" cy="310896"/>
          </a:xfrm>
          <a:prstGeom prst="rect">
            <a:avLst/>
          </a:prstGeom>
        </p:spPr>
      </p:pic>
      <p:sp>
        <p:nvSpPr>
          <p:cNvPr id="30" name="Text 24"/>
          <p:cNvSpPr/>
          <p:nvPr/>
        </p:nvSpPr>
        <p:spPr>
          <a:xfrm>
            <a:off x="621792" y="3017520"/>
            <a:ext cx="1645920" cy="40233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Overdraft Prediction</a:t>
            </a:r>
            <a:endParaRPr lang="en-US" sz="950" dirty="0"/>
          </a:p>
        </p:txBody>
      </p:sp>
      <p:sp>
        <p:nvSpPr>
          <p:cNvPr id="31" name="Text 25"/>
          <p:cNvSpPr/>
          <p:nvPr/>
        </p:nvSpPr>
        <p:spPr>
          <a:xfrm>
            <a:off x="237744" y="3493008"/>
            <a:ext cx="2578608" cy="1225296"/>
          </a:xfrm>
          <a:prstGeom prst="rect">
            <a:avLst/>
          </a:prstGeom>
          <a:noFill/>
          <a:ln/>
        </p:spPr>
        <p:txBody>
          <a:bodyPr wrap="square" lIns="0" tIns="0" rIns="0" bIns="0" rtlCol="0" anchor="ctr"/>
          <a:lstStyle/>
          <a:p>
            <a:pPr marL="0" indent="0">
              <a:buNone/>
            </a:pPr>
            <a:r>
              <a:rPr lang="en-US" sz="900" dirty="0">
                <a:solidFill>
                  <a:srgbClr val="575A5D"/>
                </a:solidFill>
                <a:latin typeface="Calibri" pitchFamily="34" charset="0"/>
                <a:ea typeface="Calibri" pitchFamily="34" charset="-122"/>
                <a:cs typeface="Calibri" pitchFamily="34" charset="-120"/>
              </a:rPr>
              <a:t>Anticipate overdraft events before they occur and surface proactive micro-loan offers or alerts in Banno — improving CX while reducing NSF fee risk for FIs.</a:t>
            </a:r>
            <a:endParaRPr lang="en-US" sz="900" dirty="0"/>
          </a:p>
        </p:txBody>
      </p:sp>
      <p:sp>
        <p:nvSpPr>
          <p:cNvPr id="32" name="Shape 26"/>
          <p:cNvSpPr/>
          <p:nvPr/>
        </p:nvSpPr>
        <p:spPr>
          <a:xfrm>
            <a:off x="3072384" y="2889504"/>
            <a:ext cx="2798064" cy="193852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33" name="Shape 27"/>
          <p:cNvSpPr/>
          <p:nvPr/>
        </p:nvSpPr>
        <p:spPr>
          <a:xfrm>
            <a:off x="3072384" y="2889504"/>
            <a:ext cx="2798064" cy="73152"/>
          </a:xfrm>
          <a:prstGeom prst="rect">
            <a:avLst/>
          </a:prstGeom>
          <a:solidFill>
            <a:srgbClr val="0B68D4"/>
          </a:solidFill>
          <a:ln w="12700">
            <a:solidFill>
              <a:srgbClr val="0B68D4"/>
            </a:solidFill>
            <a:prstDash val="solid"/>
          </a:ln>
        </p:spPr>
        <p:txBody>
          <a:bodyPr/>
          <a:lstStyle/>
          <a:p>
            <a:endParaRPr lang="en-US"/>
          </a:p>
        </p:txBody>
      </p:sp>
      <p:sp>
        <p:nvSpPr>
          <p:cNvPr id="34" name="Shape 28"/>
          <p:cNvSpPr/>
          <p:nvPr/>
        </p:nvSpPr>
        <p:spPr>
          <a:xfrm>
            <a:off x="5266944" y="3017520"/>
            <a:ext cx="548640" cy="182880"/>
          </a:xfrm>
          <a:prstGeom prst="rect">
            <a:avLst/>
          </a:prstGeom>
          <a:solidFill>
            <a:srgbClr val="0B68D4"/>
          </a:solidFill>
          <a:ln w="12700">
            <a:solidFill>
              <a:srgbClr val="0B68D4"/>
            </a:solidFill>
            <a:prstDash val="solid"/>
          </a:ln>
        </p:spPr>
        <p:txBody>
          <a:bodyPr/>
          <a:lstStyle/>
          <a:p>
            <a:endParaRPr lang="en-US"/>
          </a:p>
        </p:txBody>
      </p:sp>
      <p:sp>
        <p:nvSpPr>
          <p:cNvPr id="35" name="Text 29"/>
          <p:cNvSpPr/>
          <p:nvPr/>
        </p:nvSpPr>
        <p:spPr>
          <a:xfrm>
            <a:off x="5266944" y="3017520"/>
            <a:ext cx="548640" cy="182880"/>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Year 2</a:t>
            </a:r>
            <a:endParaRPr lang="en-US" sz="650" dirty="0"/>
          </a:p>
        </p:txBody>
      </p:sp>
      <p:pic>
        <p:nvPicPr>
          <p:cNvPr id="36" name="Image 4" descr="preencoded.png"/>
          <p:cNvPicPr>
            <a:picLocks noChangeAspect="1"/>
          </p:cNvPicPr>
          <p:nvPr/>
        </p:nvPicPr>
        <p:blipFill>
          <a:blip r:embed="rId7"/>
          <a:stretch>
            <a:fillRect/>
          </a:stretch>
        </p:blipFill>
        <p:spPr>
          <a:xfrm>
            <a:off x="3200400" y="3072384"/>
            <a:ext cx="310896" cy="310896"/>
          </a:xfrm>
          <a:prstGeom prst="rect">
            <a:avLst/>
          </a:prstGeom>
        </p:spPr>
      </p:pic>
      <p:sp>
        <p:nvSpPr>
          <p:cNvPr id="37" name="Text 30"/>
          <p:cNvSpPr/>
          <p:nvPr/>
        </p:nvSpPr>
        <p:spPr>
          <a:xfrm>
            <a:off x="3566160" y="3017520"/>
            <a:ext cx="1645920" cy="40233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Customer Sentiment Engine</a:t>
            </a:r>
            <a:endParaRPr lang="en-US" sz="950" dirty="0"/>
          </a:p>
        </p:txBody>
      </p:sp>
      <p:sp>
        <p:nvSpPr>
          <p:cNvPr id="38" name="Text 31"/>
          <p:cNvSpPr/>
          <p:nvPr/>
        </p:nvSpPr>
        <p:spPr>
          <a:xfrm>
            <a:off x="3182112" y="3493008"/>
            <a:ext cx="2578608" cy="1225296"/>
          </a:xfrm>
          <a:prstGeom prst="rect">
            <a:avLst/>
          </a:prstGeom>
          <a:noFill/>
          <a:ln/>
        </p:spPr>
        <p:txBody>
          <a:bodyPr wrap="square" lIns="0" tIns="0" rIns="0" bIns="0" rtlCol="0" anchor="ctr"/>
          <a:lstStyle/>
          <a:p>
            <a:pPr marL="0" indent="0">
              <a:buNone/>
            </a:pPr>
            <a:r>
              <a:rPr lang="en-US" sz="900" dirty="0">
                <a:solidFill>
                  <a:srgbClr val="575A5D"/>
                </a:solidFill>
                <a:latin typeface="Calibri" pitchFamily="34" charset="0"/>
                <a:ea typeface="Calibri" pitchFamily="34" charset="-122"/>
                <a:cs typeface="Calibri" pitchFamily="34" charset="-120"/>
              </a:rPr>
              <a:t>NLP analysis of call transcripts and CFPB complaints to generate real-time CX health scores — helping FIs identify and route at-risk relationships before escalation.</a:t>
            </a:r>
            <a:endParaRPr lang="en-US" sz="900" dirty="0"/>
          </a:p>
        </p:txBody>
      </p:sp>
      <p:sp>
        <p:nvSpPr>
          <p:cNvPr id="39" name="Shape 32"/>
          <p:cNvSpPr/>
          <p:nvPr/>
        </p:nvSpPr>
        <p:spPr>
          <a:xfrm>
            <a:off x="6016752" y="2889504"/>
            <a:ext cx="2798064" cy="193852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40" name="Shape 33"/>
          <p:cNvSpPr/>
          <p:nvPr/>
        </p:nvSpPr>
        <p:spPr>
          <a:xfrm>
            <a:off x="6016752" y="2889504"/>
            <a:ext cx="2798064" cy="73152"/>
          </a:xfrm>
          <a:prstGeom prst="rect">
            <a:avLst/>
          </a:prstGeom>
          <a:solidFill>
            <a:srgbClr val="0D2E7A"/>
          </a:solidFill>
          <a:ln w="12700">
            <a:solidFill>
              <a:srgbClr val="0D2E7A"/>
            </a:solidFill>
            <a:prstDash val="solid"/>
          </a:ln>
        </p:spPr>
        <p:txBody>
          <a:bodyPr/>
          <a:lstStyle/>
          <a:p>
            <a:endParaRPr lang="en-US"/>
          </a:p>
        </p:txBody>
      </p:sp>
      <p:sp>
        <p:nvSpPr>
          <p:cNvPr id="41" name="Shape 34"/>
          <p:cNvSpPr/>
          <p:nvPr/>
        </p:nvSpPr>
        <p:spPr>
          <a:xfrm>
            <a:off x="8211312" y="3017520"/>
            <a:ext cx="548640" cy="182880"/>
          </a:xfrm>
          <a:prstGeom prst="rect">
            <a:avLst/>
          </a:prstGeom>
          <a:solidFill>
            <a:srgbClr val="0D2E7A"/>
          </a:solidFill>
          <a:ln w="12700">
            <a:solidFill>
              <a:srgbClr val="0D2E7A"/>
            </a:solidFill>
            <a:prstDash val="solid"/>
          </a:ln>
        </p:spPr>
        <p:txBody>
          <a:bodyPr/>
          <a:lstStyle/>
          <a:p>
            <a:endParaRPr lang="en-US"/>
          </a:p>
        </p:txBody>
      </p:sp>
      <p:sp>
        <p:nvSpPr>
          <p:cNvPr id="42" name="Text 35"/>
          <p:cNvSpPr/>
          <p:nvPr/>
        </p:nvSpPr>
        <p:spPr>
          <a:xfrm>
            <a:off x="8211312" y="3017520"/>
            <a:ext cx="548640" cy="182880"/>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Year 2</a:t>
            </a:r>
            <a:endParaRPr lang="en-US" sz="650" dirty="0"/>
          </a:p>
        </p:txBody>
      </p:sp>
      <p:pic>
        <p:nvPicPr>
          <p:cNvPr id="43" name="Image 5" descr="preencoded.png"/>
          <p:cNvPicPr>
            <a:picLocks noChangeAspect="1"/>
          </p:cNvPicPr>
          <p:nvPr/>
        </p:nvPicPr>
        <p:blipFill>
          <a:blip r:embed="rId8"/>
          <a:stretch>
            <a:fillRect/>
          </a:stretch>
        </p:blipFill>
        <p:spPr>
          <a:xfrm>
            <a:off x="6144768" y="3072384"/>
            <a:ext cx="310896" cy="310896"/>
          </a:xfrm>
          <a:prstGeom prst="rect">
            <a:avLst/>
          </a:prstGeom>
        </p:spPr>
      </p:pic>
      <p:sp>
        <p:nvSpPr>
          <p:cNvPr id="44" name="Text 36"/>
          <p:cNvSpPr/>
          <p:nvPr/>
        </p:nvSpPr>
        <p:spPr>
          <a:xfrm>
            <a:off x="6510528" y="3017520"/>
            <a:ext cx="1645920" cy="40233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Next Best Action Platform</a:t>
            </a:r>
            <a:endParaRPr lang="en-US" sz="950" dirty="0"/>
          </a:p>
        </p:txBody>
      </p:sp>
      <p:sp>
        <p:nvSpPr>
          <p:cNvPr id="45" name="Text 37"/>
          <p:cNvSpPr/>
          <p:nvPr/>
        </p:nvSpPr>
        <p:spPr>
          <a:xfrm>
            <a:off x="6126480" y="3493008"/>
            <a:ext cx="2578608" cy="1225296"/>
          </a:xfrm>
          <a:prstGeom prst="rect">
            <a:avLst/>
          </a:prstGeom>
          <a:noFill/>
          <a:ln/>
        </p:spPr>
        <p:txBody>
          <a:bodyPr wrap="square" lIns="0" tIns="0" rIns="0" bIns="0" rtlCol="0" anchor="ctr"/>
          <a:lstStyle/>
          <a:p>
            <a:pPr marL="0" indent="0">
              <a:buNone/>
            </a:pPr>
            <a:r>
              <a:rPr lang="en-US" sz="900" dirty="0">
                <a:solidFill>
                  <a:srgbClr val="575A5D"/>
                </a:solidFill>
                <a:latin typeface="Calibri" pitchFamily="34" charset="0"/>
                <a:ea typeface="Calibri" pitchFamily="34" charset="-122"/>
                <a:cs typeface="Calibri" pitchFamily="34" charset="-120"/>
              </a:rPr>
              <a:t>Unified orchestration engine synthesizing all model outputs — churn score, LTV, propensity, sentiment — into a single ranked recommendation per customer per channel.</a:t>
            </a:r>
            <a:endParaRPr lang="en-US" sz="900" dirty="0"/>
          </a:p>
        </p:txBody>
      </p:sp>
      <p:sp>
        <p:nvSpPr>
          <p:cNvPr id="46" name="Text 38"/>
          <p:cNvSpPr/>
          <p:nvPr/>
        </p:nvSpPr>
        <p:spPr>
          <a:xfrm>
            <a:off x="365760" y="4773168"/>
            <a:ext cx="8412480" cy="256032"/>
          </a:xfrm>
          <a:prstGeom prst="rect">
            <a:avLst/>
          </a:prstGeom>
          <a:noFill/>
          <a:ln/>
        </p:spPr>
        <p:txBody>
          <a:bodyPr wrap="square" lIns="0" tIns="0" rIns="0" bIns="0" rtlCol="0" anchor="ctr"/>
          <a:lstStyle/>
          <a:p>
            <a:pPr marL="0" indent="0">
              <a:buNone/>
            </a:pPr>
            <a:r>
              <a:rPr lang="en-US" sz="900" i="1" dirty="0">
                <a:solidFill>
                  <a:srgbClr val="B6BBC0"/>
                </a:solidFill>
                <a:latin typeface="Calibri" pitchFamily="34" charset="0"/>
                <a:ea typeface="Calibri" pitchFamily="34" charset="-122"/>
                <a:cs typeface="Calibri" pitchFamily="34" charset="-120"/>
              </a:rPr>
              <a:t>Year 2 opportunities contingent on Phase 1 &amp; Phase 2 delivery and continued investment approval.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txBody>
          <a:bodyPr/>
          <a:lstStyle/>
          <a:p>
            <a:endParaRPr lang="en-US"/>
          </a:p>
        </p:txBody>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Four Investment Pillars — What We Are Building</a:t>
            </a:r>
            <a:endParaRPr lang="en-US" sz="2200" dirty="0"/>
          </a:p>
        </p:txBody>
      </p:sp>
      <p:sp>
        <p:nvSpPr>
          <p:cNvPr id="4" name="Shape 2"/>
          <p:cNvSpPr/>
          <p:nvPr/>
        </p:nvSpPr>
        <p:spPr>
          <a:xfrm>
            <a:off x="256032" y="749808"/>
            <a:ext cx="2048256" cy="422452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256032" y="749808"/>
            <a:ext cx="2048256" cy="475488"/>
          </a:xfrm>
          <a:prstGeom prst="rect">
            <a:avLst/>
          </a:prstGeom>
          <a:solidFill>
            <a:srgbClr val="085CE5"/>
          </a:solidFill>
          <a:ln w="12700">
            <a:solidFill>
              <a:srgbClr val="085CE5"/>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78992" y="795528"/>
            <a:ext cx="384048" cy="384048"/>
          </a:xfrm>
          <a:prstGeom prst="rect">
            <a:avLst/>
          </a:prstGeom>
        </p:spPr>
      </p:pic>
      <p:sp>
        <p:nvSpPr>
          <p:cNvPr id="7" name="Text 4"/>
          <p:cNvSpPr/>
          <p:nvPr/>
        </p:nvSpPr>
        <p:spPr>
          <a:xfrm>
            <a:off x="310896" y="1280160"/>
            <a:ext cx="1938528" cy="256032"/>
          </a:xfrm>
          <a:prstGeom prst="rect">
            <a:avLst/>
          </a:prstGeom>
          <a:noFill/>
          <a:ln/>
        </p:spPr>
        <p:txBody>
          <a:bodyPr wrap="square" lIns="0" tIns="0" rIns="0" bIns="0" rtlCol="0" anchor="ctr"/>
          <a:lstStyle/>
          <a:p>
            <a:pPr marL="0" indent="0" algn="ctr">
              <a:buNone/>
            </a:pPr>
            <a:r>
              <a:rPr lang="en-US" sz="750" b="1" kern="0" spc="120" dirty="0">
                <a:solidFill>
                  <a:srgbClr val="085CE5"/>
                </a:solidFill>
                <a:latin typeface="Calibri" pitchFamily="34" charset="0"/>
                <a:ea typeface="Calibri" pitchFamily="34" charset="-122"/>
                <a:cs typeface="Calibri" pitchFamily="34" charset="-120"/>
              </a:rPr>
              <a:t>THE FOUNDATION</a:t>
            </a:r>
            <a:endParaRPr lang="en-US" sz="750" dirty="0"/>
          </a:p>
        </p:txBody>
      </p:sp>
      <p:sp>
        <p:nvSpPr>
          <p:cNvPr id="8" name="Text 5"/>
          <p:cNvSpPr/>
          <p:nvPr/>
        </p:nvSpPr>
        <p:spPr>
          <a:xfrm>
            <a:off x="310896" y="1554480"/>
            <a:ext cx="1938528" cy="384048"/>
          </a:xfrm>
          <a:prstGeom prst="rect">
            <a:avLst/>
          </a:prstGeom>
          <a:noFill/>
          <a:ln/>
        </p:spPr>
        <p:txBody>
          <a:bodyPr wrap="square" lIns="0" tIns="0" rIns="0" bIns="0" rtlCol="0" anchor="ctr"/>
          <a:lstStyle/>
          <a:p>
            <a:pPr marL="0" indent="0" algn="ctr">
              <a:buNone/>
            </a:pPr>
            <a:r>
              <a:rPr lang="en-US" sz="1350" b="1" dirty="0">
                <a:solidFill>
                  <a:srgbClr val="06185F"/>
                </a:solidFill>
                <a:latin typeface="Calibri" pitchFamily="34" charset="0"/>
                <a:ea typeface="Calibri" pitchFamily="34" charset="-122"/>
                <a:cs typeface="Calibri" pitchFamily="34" charset="-120"/>
              </a:rPr>
              <a:t>Data Acquisition</a:t>
            </a:r>
            <a:endParaRPr lang="en-US" sz="1350" dirty="0"/>
          </a:p>
        </p:txBody>
      </p:sp>
      <p:sp>
        <p:nvSpPr>
          <p:cNvPr id="9" name="Shape 6"/>
          <p:cNvSpPr/>
          <p:nvPr/>
        </p:nvSpPr>
        <p:spPr>
          <a:xfrm>
            <a:off x="758952" y="1975104"/>
            <a:ext cx="1024128" cy="36576"/>
          </a:xfrm>
          <a:prstGeom prst="rect">
            <a:avLst/>
          </a:prstGeom>
          <a:solidFill>
            <a:srgbClr val="E7ECF0"/>
          </a:solidFill>
          <a:ln w="12700">
            <a:solidFill>
              <a:srgbClr val="E7ECF0"/>
            </a:solidFill>
            <a:prstDash val="solid"/>
          </a:ln>
        </p:spPr>
        <p:txBody>
          <a:bodyPr/>
          <a:lstStyle/>
          <a:p>
            <a:endParaRPr lang="en-US"/>
          </a:p>
        </p:txBody>
      </p:sp>
      <p:sp>
        <p:nvSpPr>
          <p:cNvPr id="10" name="Text 7"/>
          <p:cNvSpPr/>
          <p:nvPr/>
        </p:nvSpPr>
        <p:spPr>
          <a:xfrm>
            <a:off x="347472" y="2057400"/>
            <a:ext cx="1901952" cy="283464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FI behavioral data pipelines from JH core systems</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Pub/Sub streaming → BigQuery / Databricks Medallion architecture</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Data quality monitoring &amp; lineage tracking</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Alation data catalog — governed, discoverable, audit-ready</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Aggregated cross-FI benchmarking data (anonymized)</a:t>
            </a:r>
            <a:endParaRPr lang="en-US" sz="950" dirty="0"/>
          </a:p>
        </p:txBody>
      </p:sp>
      <p:sp>
        <p:nvSpPr>
          <p:cNvPr id="11" name="Shape 8"/>
          <p:cNvSpPr/>
          <p:nvPr/>
        </p:nvSpPr>
        <p:spPr>
          <a:xfrm>
            <a:off x="2432304" y="749808"/>
            <a:ext cx="2048256" cy="422452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2" name="Shape 9"/>
          <p:cNvSpPr/>
          <p:nvPr/>
        </p:nvSpPr>
        <p:spPr>
          <a:xfrm>
            <a:off x="2432304" y="749808"/>
            <a:ext cx="2048256" cy="475488"/>
          </a:xfrm>
          <a:prstGeom prst="rect">
            <a:avLst/>
          </a:prstGeom>
          <a:solidFill>
            <a:srgbClr val="073FA8"/>
          </a:solidFill>
          <a:ln w="12700">
            <a:solidFill>
              <a:srgbClr val="073FA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255264" y="795528"/>
            <a:ext cx="384048" cy="384048"/>
          </a:xfrm>
          <a:prstGeom prst="rect">
            <a:avLst/>
          </a:prstGeom>
        </p:spPr>
      </p:pic>
      <p:sp>
        <p:nvSpPr>
          <p:cNvPr id="14" name="Text 10"/>
          <p:cNvSpPr/>
          <p:nvPr/>
        </p:nvSpPr>
        <p:spPr>
          <a:xfrm>
            <a:off x="2487168" y="1280160"/>
            <a:ext cx="1938528" cy="256032"/>
          </a:xfrm>
          <a:prstGeom prst="rect">
            <a:avLst/>
          </a:prstGeom>
          <a:noFill/>
          <a:ln/>
        </p:spPr>
        <p:txBody>
          <a:bodyPr wrap="square" lIns="0" tIns="0" rIns="0" bIns="0" rtlCol="0" anchor="ctr"/>
          <a:lstStyle/>
          <a:p>
            <a:pPr marL="0" indent="0" algn="ctr">
              <a:buNone/>
            </a:pPr>
            <a:r>
              <a:rPr lang="en-US" sz="750" b="1" kern="0" spc="120" dirty="0">
                <a:solidFill>
                  <a:srgbClr val="073FA8"/>
                </a:solidFill>
                <a:latin typeface="Calibri" pitchFamily="34" charset="0"/>
                <a:ea typeface="Calibri" pitchFamily="34" charset="-122"/>
                <a:cs typeface="Calibri" pitchFamily="34" charset="-120"/>
              </a:rPr>
              <a:t>THE ENGINE</a:t>
            </a:r>
            <a:endParaRPr lang="en-US" sz="750" dirty="0"/>
          </a:p>
        </p:txBody>
      </p:sp>
      <p:sp>
        <p:nvSpPr>
          <p:cNvPr id="15" name="Text 11"/>
          <p:cNvSpPr/>
          <p:nvPr/>
        </p:nvSpPr>
        <p:spPr>
          <a:xfrm>
            <a:off x="2487168" y="1554480"/>
            <a:ext cx="1938528" cy="384048"/>
          </a:xfrm>
          <a:prstGeom prst="rect">
            <a:avLst/>
          </a:prstGeom>
          <a:noFill/>
          <a:ln/>
        </p:spPr>
        <p:txBody>
          <a:bodyPr wrap="square" lIns="0" tIns="0" rIns="0" bIns="0" rtlCol="0" anchor="ctr"/>
          <a:lstStyle/>
          <a:p>
            <a:pPr marL="0" indent="0" algn="ctr">
              <a:buNone/>
            </a:pPr>
            <a:r>
              <a:rPr lang="en-US" sz="1350" b="1" dirty="0">
                <a:solidFill>
                  <a:srgbClr val="06185F"/>
                </a:solidFill>
                <a:latin typeface="Calibri" pitchFamily="34" charset="0"/>
                <a:ea typeface="Calibri" pitchFamily="34" charset="-122"/>
                <a:cs typeface="Calibri" pitchFamily="34" charset="-120"/>
              </a:rPr>
              <a:t>DS Buildout</a:t>
            </a:r>
            <a:endParaRPr lang="en-US" sz="1350" dirty="0"/>
          </a:p>
        </p:txBody>
      </p:sp>
      <p:sp>
        <p:nvSpPr>
          <p:cNvPr id="16" name="Shape 12"/>
          <p:cNvSpPr/>
          <p:nvPr/>
        </p:nvSpPr>
        <p:spPr>
          <a:xfrm>
            <a:off x="2935224" y="1975104"/>
            <a:ext cx="1024128" cy="36576"/>
          </a:xfrm>
          <a:prstGeom prst="rect">
            <a:avLst/>
          </a:prstGeom>
          <a:solidFill>
            <a:srgbClr val="E7ECF0"/>
          </a:solidFill>
          <a:ln w="12700">
            <a:solidFill>
              <a:srgbClr val="E7ECF0"/>
            </a:solidFill>
            <a:prstDash val="solid"/>
          </a:ln>
        </p:spPr>
        <p:txBody>
          <a:bodyPr/>
          <a:lstStyle/>
          <a:p>
            <a:endParaRPr lang="en-US"/>
          </a:p>
        </p:txBody>
      </p:sp>
      <p:sp>
        <p:nvSpPr>
          <p:cNvPr id="17" name="Text 13"/>
          <p:cNvSpPr/>
          <p:nvPr/>
        </p:nvSpPr>
        <p:spPr>
          <a:xfrm>
            <a:off x="2523744" y="2057400"/>
            <a:ext cx="1901952" cy="283464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ML platform: feature store + experiment tracking</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AutoGluon, CatBoost, XGBoost model training at scale</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SHAP explainability layer across all deployed models</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MLOps: CI/CD, model registry, drift monitoring</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Model governance, bias review, and model card process</a:t>
            </a:r>
            <a:endParaRPr lang="en-US" sz="950" dirty="0"/>
          </a:p>
        </p:txBody>
      </p:sp>
      <p:sp>
        <p:nvSpPr>
          <p:cNvPr id="18" name="Shape 14"/>
          <p:cNvSpPr/>
          <p:nvPr/>
        </p:nvSpPr>
        <p:spPr>
          <a:xfrm>
            <a:off x="4608576" y="749808"/>
            <a:ext cx="2048256" cy="422452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19" name="Shape 15"/>
          <p:cNvSpPr/>
          <p:nvPr/>
        </p:nvSpPr>
        <p:spPr>
          <a:xfrm>
            <a:off x="4608576" y="749808"/>
            <a:ext cx="2048256" cy="475488"/>
          </a:xfrm>
          <a:prstGeom prst="rect">
            <a:avLst/>
          </a:prstGeom>
          <a:solidFill>
            <a:srgbClr val="0D2E7A"/>
          </a:solidFill>
          <a:ln w="12700">
            <a:solidFill>
              <a:srgbClr val="0D2E7A"/>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5431536" y="795528"/>
            <a:ext cx="384048" cy="384048"/>
          </a:xfrm>
          <a:prstGeom prst="rect">
            <a:avLst/>
          </a:prstGeom>
        </p:spPr>
      </p:pic>
      <p:sp>
        <p:nvSpPr>
          <p:cNvPr id="21" name="Text 16"/>
          <p:cNvSpPr/>
          <p:nvPr/>
        </p:nvSpPr>
        <p:spPr>
          <a:xfrm>
            <a:off x="4663440" y="1280160"/>
            <a:ext cx="1938528" cy="256032"/>
          </a:xfrm>
          <a:prstGeom prst="rect">
            <a:avLst/>
          </a:prstGeom>
          <a:noFill/>
          <a:ln/>
        </p:spPr>
        <p:txBody>
          <a:bodyPr wrap="square" lIns="0" tIns="0" rIns="0" bIns="0" rtlCol="0" anchor="ctr"/>
          <a:lstStyle/>
          <a:p>
            <a:pPr marL="0" indent="0" algn="ctr">
              <a:buNone/>
            </a:pPr>
            <a:r>
              <a:rPr lang="en-US" sz="750" b="1" kern="0" spc="120" dirty="0">
                <a:solidFill>
                  <a:srgbClr val="0D2E7A"/>
                </a:solidFill>
                <a:latin typeface="Calibri" pitchFamily="34" charset="0"/>
                <a:ea typeface="Calibri" pitchFamily="34" charset="-122"/>
                <a:cs typeface="Calibri" pitchFamily="34" charset="-120"/>
              </a:rPr>
              <a:t>THE LENS</a:t>
            </a:r>
            <a:endParaRPr lang="en-US" sz="750" dirty="0"/>
          </a:p>
        </p:txBody>
      </p:sp>
      <p:sp>
        <p:nvSpPr>
          <p:cNvPr id="22" name="Text 17"/>
          <p:cNvSpPr/>
          <p:nvPr/>
        </p:nvSpPr>
        <p:spPr>
          <a:xfrm>
            <a:off x="4663440" y="1554480"/>
            <a:ext cx="1938528" cy="384048"/>
          </a:xfrm>
          <a:prstGeom prst="rect">
            <a:avLst/>
          </a:prstGeom>
          <a:noFill/>
          <a:ln/>
        </p:spPr>
        <p:txBody>
          <a:bodyPr wrap="square" lIns="0" tIns="0" rIns="0" bIns="0" rtlCol="0" anchor="ctr"/>
          <a:lstStyle/>
          <a:p>
            <a:pPr marL="0" indent="0" algn="ctr">
              <a:buNone/>
            </a:pPr>
            <a:r>
              <a:rPr lang="en-US" sz="1350" b="1" dirty="0">
                <a:solidFill>
                  <a:srgbClr val="06185F"/>
                </a:solidFill>
                <a:latin typeface="Calibri" pitchFamily="34" charset="0"/>
                <a:ea typeface="Calibri" pitchFamily="34" charset="-122"/>
                <a:cs typeface="Calibri" pitchFamily="34" charset="-120"/>
              </a:rPr>
              <a:t>Visualizations</a:t>
            </a:r>
            <a:endParaRPr lang="en-US" sz="1350" dirty="0"/>
          </a:p>
        </p:txBody>
      </p:sp>
      <p:sp>
        <p:nvSpPr>
          <p:cNvPr id="23" name="Shape 18"/>
          <p:cNvSpPr/>
          <p:nvPr/>
        </p:nvSpPr>
        <p:spPr>
          <a:xfrm>
            <a:off x="5111496" y="1975104"/>
            <a:ext cx="1024128" cy="36576"/>
          </a:xfrm>
          <a:prstGeom prst="rect">
            <a:avLst/>
          </a:prstGeom>
          <a:solidFill>
            <a:srgbClr val="E7ECF0"/>
          </a:solidFill>
          <a:ln w="12700">
            <a:solidFill>
              <a:srgbClr val="E7ECF0"/>
            </a:solidFill>
            <a:prstDash val="solid"/>
          </a:ln>
        </p:spPr>
        <p:txBody>
          <a:bodyPr/>
          <a:lstStyle/>
          <a:p>
            <a:endParaRPr lang="en-US"/>
          </a:p>
        </p:txBody>
      </p:sp>
      <p:sp>
        <p:nvSpPr>
          <p:cNvPr id="24" name="Text 19"/>
          <p:cNvSpPr/>
          <p:nvPr/>
        </p:nvSpPr>
        <p:spPr>
          <a:xfrm>
            <a:off x="4700016" y="2057400"/>
            <a:ext cx="1901952" cy="283464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Executive KPI dashboards embedded in JH platform</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Model performance and drift monitoring views</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FI client-facing risk score explorer (banker tool)</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Anomaly alert investigation and triage interface</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Self-serve analytics surface for business stakeholders</a:t>
            </a:r>
            <a:endParaRPr lang="en-US" sz="950" dirty="0"/>
          </a:p>
        </p:txBody>
      </p:sp>
      <p:sp>
        <p:nvSpPr>
          <p:cNvPr id="25" name="Shape 20"/>
          <p:cNvSpPr/>
          <p:nvPr/>
        </p:nvSpPr>
        <p:spPr>
          <a:xfrm>
            <a:off x="6784848" y="749808"/>
            <a:ext cx="2048256" cy="422452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26" name="Shape 21"/>
          <p:cNvSpPr/>
          <p:nvPr/>
        </p:nvSpPr>
        <p:spPr>
          <a:xfrm>
            <a:off x="6784848" y="749808"/>
            <a:ext cx="2048256" cy="475488"/>
          </a:xfrm>
          <a:prstGeom prst="rect">
            <a:avLst/>
          </a:prstGeom>
          <a:solidFill>
            <a:srgbClr val="575A5D"/>
          </a:solidFill>
          <a:ln w="12700">
            <a:solidFill>
              <a:srgbClr val="575A5D"/>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7607808" y="795528"/>
            <a:ext cx="384048" cy="384048"/>
          </a:xfrm>
          <a:prstGeom prst="rect">
            <a:avLst/>
          </a:prstGeom>
        </p:spPr>
      </p:pic>
      <p:sp>
        <p:nvSpPr>
          <p:cNvPr id="28" name="Text 22"/>
          <p:cNvSpPr/>
          <p:nvPr/>
        </p:nvSpPr>
        <p:spPr>
          <a:xfrm>
            <a:off x="6839712" y="1280160"/>
            <a:ext cx="1938528" cy="256032"/>
          </a:xfrm>
          <a:prstGeom prst="rect">
            <a:avLst/>
          </a:prstGeom>
          <a:noFill/>
          <a:ln/>
        </p:spPr>
        <p:txBody>
          <a:bodyPr wrap="square" lIns="0" tIns="0" rIns="0" bIns="0" rtlCol="0" anchor="ctr"/>
          <a:lstStyle/>
          <a:p>
            <a:pPr marL="0" indent="0" algn="ctr">
              <a:buNone/>
            </a:pPr>
            <a:r>
              <a:rPr lang="en-US" sz="750" b="1" kern="0" spc="120" dirty="0">
                <a:solidFill>
                  <a:srgbClr val="575A5D"/>
                </a:solidFill>
                <a:latin typeface="Calibri" pitchFamily="34" charset="0"/>
                <a:ea typeface="Calibri" pitchFamily="34" charset="-122"/>
                <a:cs typeface="Calibri" pitchFamily="34" charset="-120"/>
              </a:rPr>
              <a:t>THE INTERFACE</a:t>
            </a:r>
            <a:endParaRPr lang="en-US" sz="750" dirty="0"/>
          </a:p>
        </p:txBody>
      </p:sp>
      <p:sp>
        <p:nvSpPr>
          <p:cNvPr id="29" name="Text 23"/>
          <p:cNvSpPr/>
          <p:nvPr/>
        </p:nvSpPr>
        <p:spPr>
          <a:xfrm>
            <a:off x="6839712" y="1554480"/>
            <a:ext cx="1938528" cy="384048"/>
          </a:xfrm>
          <a:prstGeom prst="rect">
            <a:avLst/>
          </a:prstGeom>
          <a:noFill/>
          <a:ln/>
        </p:spPr>
        <p:txBody>
          <a:bodyPr wrap="square" lIns="0" tIns="0" rIns="0" bIns="0" rtlCol="0" anchor="ctr"/>
          <a:lstStyle/>
          <a:p>
            <a:pPr marL="0" indent="0" algn="ctr">
              <a:buNone/>
            </a:pPr>
            <a:r>
              <a:rPr lang="en-US" sz="1350" b="1" dirty="0">
                <a:solidFill>
                  <a:srgbClr val="06185F"/>
                </a:solidFill>
                <a:latin typeface="Calibri" pitchFamily="34" charset="0"/>
                <a:ea typeface="Calibri" pitchFamily="34" charset="-122"/>
                <a:cs typeface="Calibri" pitchFamily="34" charset="-120"/>
              </a:rPr>
              <a:t>App / API Development</a:t>
            </a:r>
            <a:endParaRPr lang="en-US" sz="1350" dirty="0"/>
          </a:p>
        </p:txBody>
      </p:sp>
      <p:sp>
        <p:nvSpPr>
          <p:cNvPr id="30" name="Shape 24"/>
          <p:cNvSpPr/>
          <p:nvPr/>
        </p:nvSpPr>
        <p:spPr>
          <a:xfrm>
            <a:off x="7287768" y="1975104"/>
            <a:ext cx="1024128" cy="36576"/>
          </a:xfrm>
          <a:prstGeom prst="rect">
            <a:avLst/>
          </a:prstGeom>
          <a:solidFill>
            <a:srgbClr val="E7ECF0"/>
          </a:solidFill>
          <a:ln w="12700">
            <a:solidFill>
              <a:srgbClr val="E7ECF0"/>
            </a:solidFill>
            <a:prstDash val="solid"/>
          </a:ln>
        </p:spPr>
        <p:txBody>
          <a:bodyPr/>
          <a:lstStyle/>
          <a:p>
            <a:endParaRPr lang="en-US"/>
          </a:p>
        </p:txBody>
      </p:sp>
      <p:sp>
        <p:nvSpPr>
          <p:cNvPr id="31" name="Text 25"/>
          <p:cNvSpPr/>
          <p:nvPr/>
        </p:nvSpPr>
        <p:spPr>
          <a:xfrm>
            <a:off x="6876288" y="2057400"/>
            <a:ext cx="1901952" cy="283464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API-first architecture — model scores exposed as versioned REST APIs</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JHBI self-service FI portal: score explorer, thresholds, export</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Banno + JH Enterprise integration for real-time score consumption</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Alerting and workflow orchestration service layer</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Common component library shared across JH AI products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txBody>
          <a:bodyPr/>
          <a:lstStyle/>
          <a:p>
            <a:endParaRPr lang="en-US"/>
          </a:p>
        </p:txBody>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We're Asking For: JHBI Investment</a:t>
            </a:r>
            <a:endParaRPr lang="en-US" sz="2200" dirty="0"/>
          </a:p>
        </p:txBody>
      </p:sp>
      <p:sp>
        <p:nvSpPr>
          <p:cNvPr id="4" name="Text 2"/>
          <p:cNvSpPr/>
          <p:nvPr/>
        </p:nvSpPr>
        <p:spPr>
          <a:xfrm>
            <a:off x="365760" y="768096"/>
            <a:ext cx="8412480" cy="347472"/>
          </a:xfrm>
          <a:prstGeom prst="rect">
            <a:avLst/>
          </a:prstGeom>
          <a:noFill/>
          <a:ln/>
        </p:spPr>
        <p:txBody>
          <a:bodyPr wrap="square" lIns="0" tIns="0" rIns="0" bIns="0" rtlCol="0" anchor="ctr"/>
          <a:lstStyle/>
          <a:p>
            <a:pPr marL="0" indent="0">
              <a:buNone/>
            </a:pPr>
            <a:r>
              <a:rPr lang="en-US" sz="1250" dirty="0">
                <a:solidFill>
                  <a:srgbClr val="575A5D"/>
                </a:solidFill>
                <a:latin typeface="Calibri" pitchFamily="34" charset="0"/>
                <a:ea typeface="Calibri" pitchFamily="34" charset="-122"/>
                <a:cs typeface="Calibri" pitchFamily="34" charset="-120"/>
              </a:rPr>
              <a:t>To execute this roadmap and embed AI capabilities across the JH platform, we are requesting 13 FTEs (~$1.9M fully-loaded annual cost) plus infrastructure investment:</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170432"/>
          <a:ext cx="8412480" cy="914400"/>
        </p:xfrm>
        <a:graphic>
          <a:graphicData uri="http://schemas.openxmlformats.org/drawingml/2006/table">
            <a:tbl>
              <a:tblPr/>
              <a:tblGrid>
                <a:gridCol w="214884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1627632">
                  <a:extLst>
                    <a:ext uri="{9D8B030D-6E8A-4147-A177-3AD203B41FA5}">
                      <a16:colId xmlns:a16="http://schemas.microsoft.com/office/drawing/2014/main" val="20002"/>
                    </a:ext>
                  </a:extLst>
                </a:gridCol>
                <a:gridCol w="3794760">
                  <a:extLst>
                    <a:ext uri="{9D8B030D-6E8A-4147-A177-3AD203B41FA5}">
                      <a16:colId xmlns:a16="http://schemas.microsoft.com/office/drawing/2014/main" val="20003"/>
                    </a:ext>
                  </a:extLst>
                </a:gridCol>
              </a:tblGrid>
              <a:tr h="37490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06185F"/>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FTEs</a:t>
                      </a:r>
                      <a:endParaRPr lang="en-US" sz="115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06185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Pillar / Cost</a:t>
                      </a:r>
                      <a:endParaRPr lang="en-US" sz="115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06185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Rationale</a:t>
                      </a:r>
                      <a:endParaRPr lang="en-US" sz="115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06185F"/>
                    </a:solidFill>
                  </a:tcPr>
                </a:tc>
                <a:extLst>
                  <a:ext uri="{0D108BD9-81ED-4DB2-BD59-A6C34878D82A}">
                    <a16:rowId xmlns:a16="http://schemas.microsoft.com/office/drawing/2014/main" val="10000"/>
                  </a:ext>
                </a:extLst>
              </a:tr>
              <a:tr h="374904">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Data Engineer</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lgn="ctr">
                        <a:buNone/>
                      </a:pPr>
                      <a:r>
                        <a:rPr lang="en-US" sz="1100" dirty="0">
                          <a:solidFill>
                            <a:srgbClr val="575A5D"/>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Data Acquisition</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Build and maintain FI data pipelines from JH core banking systems</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extLst>
                  <a:ext uri="{0D108BD9-81ED-4DB2-BD59-A6C34878D82A}">
                    <a16:rowId xmlns:a16="http://schemas.microsoft.com/office/drawing/2014/main" val="10001"/>
                  </a:ext>
                </a:extLst>
              </a:tr>
              <a:tr h="374904">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ML Engineer</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lgn="ctr">
                        <a:buNone/>
                      </a:pPr>
                      <a:r>
                        <a:rPr lang="en-US" sz="1100" dirty="0">
                          <a:solidFill>
                            <a:srgbClr val="575A5D"/>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DS Buildout</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Model training, MLOps pipeline, feature store, drift monitoring</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extLst>
                  <a:ext uri="{0D108BD9-81ED-4DB2-BD59-A6C34878D82A}">
                    <a16:rowId xmlns:a16="http://schemas.microsoft.com/office/drawing/2014/main" val="10002"/>
                  </a:ext>
                </a:extLst>
              </a:tr>
              <a:tr h="374904">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Applied Data Scientist</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lgn="ctr">
                        <a:buNone/>
                      </a:pPr>
                      <a:r>
                        <a:rPr lang="en-US" sz="1100" dirty="0">
                          <a:solidFill>
                            <a:srgbClr val="575A5D"/>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DS Buildout</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Feature engineering, SHAP explainability, model research and validation</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extLst>
                  <a:ext uri="{0D108BD9-81ED-4DB2-BD59-A6C34878D82A}">
                    <a16:rowId xmlns:a16="http://schemas.microsoft.com/office/drawing/2014/main" val="10003"/>
                  </a:ext>
                </a:extLst>
              </a:tr>
              <a:tr h="374904">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Full-Stack / API Developer</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lgn="ctr">
                        <a:buNone/>
                      </a:pPr>
                      <a:r>
                        <a:rPr lang="en-US" sz="1100" dirty="0">
                          <a:solidFill>
                            <a:srgbClr val="575A5D"/>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App / API Dev</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JH platform AI app development and model API integration layer</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extLst>
                  <a:ext uri="{0D108BD9-81ED-4DB2-BD59-A6C34878D82A}">
                    <a16:rowId xmlns:a16="http://schemas.microsoft.com/office/drawing/2014/main" val="10004"/>
                  </a:ext>
                </a:extLst>
              </a:tr>
              <a:tr h="374904">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BI / Viz Developer</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lgn="ctr">
                        <a:buNone/>
                      </a:pPr>
                      <a:r>
                        <a:rPr lang="en-US" sz="1100" dirty="0">
                          <a:solidFill>
                            <a:srgbClr val="575A5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Visualizations</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Embedded analytics surfaces in JH platform and client-facing dashboards</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extLst>
                  <a:ext uri="{0D108BD9-81ED-4DB2-BD59-A6C34878D82A}">
                    <a16:rowId xmlns:a16="http://schemas.microsoft.com/office/drawing/2014/main" val="10005"/>
                  </a:ext>
                </a:extLst>
              </a:tr>
              <a:tr h="374904">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DS Product Manager</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lgn="ctr">
                        <a:buNone/>
                      </a:pPr>
                      <a:r>
                        <a:rPr lang="en-US" sz="1100" dirty="0">
                          <a:solidFill>
                            <a:srgbClr val="575A5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All Pillars</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Roadmap ownership, FI client discovery, stakeholder alignment</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extLst>
                  <a:ext uri="{0D108BD9-81ED-4DB2-BD59-A6C34878D82A}">
                    <a16:rowId xmlns:a16="http://schemas.microsoft.com/office/drawing/2014/main" val="10006"/>
                  </a:ext>
                </a:extLst>
              </a:tr>
              <a:tr h="374904">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DS Team Lead / Principal Scientist</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lgn="ctr">
                        <a:buNone/>
                      </a:pPr>
                      <a:r>
                        <a:rPr lang="en-US" sz="1100" dirty="0">
                          <a:solidFill>
                            <a:srgbClr val="575A5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DS Buildout</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Technical leadership, architecture decisions, cross-team model governance</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extLst>
                  <a:ext uri="{0D108BD9-81ED-4DB2-BD59-A6C34878D82A}">
                    <a16:rowId xmlns:a16="http://schemas.microsoft.com/office/drawing/2014/main" val="10007"/>
                  </a:ext>
                </a:extLst>
              </a:tr>
              <a:tr h="374904">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Data Governance / Quality Eng.</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lgn="ctr">
                        <a:buNone/>
                      </a:pPr>
                      <a:r>
                        <a:rPr lang="en-US" sz="1100" dirty="0">
                          <a:solidFill>
                            <a:srgbClr val="575A5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Data Acquisition</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marL="0" indent="0">
                        <a:buNone/>
                      </a:pPr>
                      <a:r>
                        <a:rPr lang="en-US" sz="1100" dirty="0">
                          <a:solidFill>
                            <a:srgbClr val="575A5D"/>
                          </a:solidFill>
                          <a:latin typeface="Calibri" pitchFamily="34" charset="0"/>
                          <a:ea typeface="Calibri" pitchFamily="34" charset="-122"/>
                          <a:cs typeface="Calibri" pitchFamily="34" charset="-120"/>
                        </a:rPr>
                        <a:t>Alation catalog ownership, data quality SLAs, lineage and audit compliance</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extLst>
                  <a:ext uri="{0D108BD9-81ED-4DB2-BD59-A6C34878D82A}">
                    <a16:rowId xmlns:a16="http://schemas.microsoft.com/office/drawing/2014/main" val="10008"/>
                  </a:ext>
                </a:extLst>
              </a:tr>
              <a:tr h="374904">
                <a:tc>
                  <a:txBody>
                    <a:bodyPr/>
                    <a:lstStyle/>
                    <a:p>
                      <a:pPr marL="0" indent="0">
                        <a:buNone/>
                      </a:pPr>
                      <a:r>
                        <a:rPr lang="en-US" sz="1150" b="1" dirty="0">
                          <a:solidFill>
                            <a:srgbClr val="575A5D"/>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E7ECF0"/>
                    </a:solidFill>
                  </a:tcPr>
                </a:tc>
                <a:tc>
                  <a:txBody>
                    <a:bodyPr/>
                    <a:lstStyle/>
                    <a:p>
                      <a:pPr marL="0" indent="0" algn="ctr">
                        <a:buNone/>
                      </a:pPr>
                      <a:r>
                        <a:rPr lang="en-US" sz="1200" b="1" dirty="0">
                          <a:solidFill>
                            <a:srgbClr val="06185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E7ECF0"/>
                    </a:solidFill>
                  </a:tcPr>
                </a:tc>
                <a:tc>
                  <a:txBody>
                    <a:bodyPr/>
                    <a:lstStyle/>
                    <a:p>
                      <a:pPr marL="0" indent="0" algn="ctr">
                        <a:buNone/>
                      </a:pPr>
                      <a:r>
                        <a:rPr lang="en-US" sz="1100" b="1" dirty="0">
                          <a:solidFill>
                            <a:srgbClr val="085CE5"/>
                          </a:solidFill>
                          <a:latin typeface="Calibri" pitchFamily="34" charset="0"/>
                          <a:ea typeface="Calibri" pitchFamily="34" charset="-122"/>
                          <a:cs typeface="Calibri" pitchFamily="34" charset="-120"/>
                        </a:rPr>
                        <a:t>~$1.9M / yr</a:t>
                      </a:r>
                      <a:endParaRPr lang="en-US" sz="110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E7ECF0"/>
                    </a:solidFill>
                  </a:tcPr>
                </a:tc>
                <a:tc>
                  <a:txBody>
                    <a:bodyPr/>
                    <a:lstStyle/>
                    <a:p>
                      <a:pPr marL="0" indent="0">
                        <a:buNone/>
                      </a:pPr>
                      <a:r>
                        <a:rPr lang="en-US" sz="1050" i="1" dirty="0">
                          <a:solidFill>
                            <a:srgbClr val="B6BBC0"/>
                          </a:solidFill>
                          <a:latin typeface="Calibri" pitchFamily="34" charset="0"/>
                          <a:ea typeface="Calibri" pitchFamily="34" charset="-122"/>
                          <a:cs typeface="Calibri" pitchFamily="34" charset="-120"/>
                        </a:rPr>
                        <a:t>Fully-loaded cost estimate · 13 FTEs across all four investment pillars</a:t>
                      </a:r>
                      <a:endParaRPr lang="en-US" sz="1050" dirty="0">
                        <a:latin typeface="Calibri" charset="0"/>
                        <a:ea typeface="Calibri" charset="0"/>
                        <a:cs typeface="Calibri" charset="0"/>
                      </a:endParaRPr>
                    </a:p>
                  </a:txBody>
                  <a:tcPr>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E7ECF0"/>
                    </a:solidFill>
                  </a:tcPr>
                </a:tc>
                <a:extLst>
                  <a:ext uri="{0D108BD9-81ED-4DB2-BD59-A6C34878D82A}">
                    <a16:rowId xmlns:a16="http://schemas.microsoft.com/office/drawing/2014/main" val="10009"/>
                  </a:ext>
                </a:extLst>
              </a:tr>
            </a:tbl>
          </a:graphicData>
        </a:graphic>
      </p:graphicFrame>
      <p:sp>
        <p:nvSpPr>
          <p:cNvPr id="6" name="Shape 3"/>
          <p:cNvSpPr/>
          <p:nvPr/>
        </p:nvSpPr>
        <p:spPr>
          <a:xfrm>
            <a:off x="365760" y="4617720"/>
            <a:ext cx="8412480" cy="402336"/>
          </a:xfrm>
          <a:prstGeom prst="rect">
            <a:avLst/>
          </a:prstGeom>
          <a:solidFill>
            <a:srgbClr val="E8F7F7"/>
          </a:solidFill>
          <a:ln w="12700">
            <a:solidFill>
              <a:srgbClr val="085CE5"/>
            </a:solidFill>
            <a:prstDash val="solid"/>
          </a:ln>
        </p:spPr>
        <p:txBody>
          <a:bodyPr/>
          <a:lstStyle/>
          <a:p>
            <a:endParaRPr lang="en-US"/>
          </a:p>
        </p:txBody>
      </p:sp>
      <p:sp>
        <p:nvSpPr>
          <p:cNvPr id="7" name="Text 4"/>
          <p:cNvSpPr/>
          <p:nvPr/>
        </p:nvSpPr>
        <p:spPr>
          <a:xfrm>
            <a:off x="502920" y="4645152"/>
            <a:ext cx="8138160" cy="347472"/>
          </a:xfrm>
          <a:prstGeom prst="rect">
            <a:avLst/>
          </a:prstGeom>
          <a:noFill/>
          <a:ln/>
        </p:spPr>
        <p:txBody>
          <a:bodyPr wrap="square" lIns="0" tIns="0" rIns="0" bIns="0" rtlCol="0" anchor="ctr"/>
          <a:lstStyle/>
          <a:p>
            <a:pPr marL="0" indent="0">
              <a:buNone/>
            </a:pPr>
            <a:r>
              <a:rPr lang="en-US" sz="1050" dirty="0">
                <a:solidFill>
                  <a:srgbClr val="06185F"/>
                </a:solidFill>
                <a:latin typeface="Calibri" pitchFamily="34" charset="0"/>
                <a:ea typeface="Calibri" pitchFamily="34" charset="-122"/>
                <a:cs typeface="Calibri" pitchFamily="34" charset="-120"/>
              </a:rPr>
              <a:t>Infrastructure ask (separate from headcount): Cloud data platform (Snowflake / Databricks), ML tooling (MLflow / SageMaker), BI licensing (Tableau / Power BI), DevOps / CI-CD environment.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EFD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txBody>
          <a:bodyPr/>
          <a:lstStyle/>
          <a:p>
            <a:endParaRPr lang="en-US"/>
          </a:p>
        </p:txBody>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Source Ingestion Roadmap — Payments First, Core &amp; Digital Next</a:t>
            </a:r>
            <a:endParaRPr lang="en-US" sz="2000" dirty="0"/>
          </a:p>
        </p:txBody>
      </p:sp>
      <p:sp>
        <p:nvSpPr>
          <p:cNvPr id="4" name="Text 2"/>
          <p:cNvSpPr/>
          <p:nvPr/>
        </p:nvSpPr>
        <p:spPr>
          <a:xfrm>
            <a:off x="365760" y="713232"/>
            <a:ext cx="8412480" cy="256032"/>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Phase 1 activates all JH payment rails (CPS excluded). Core banking, Banno digital, and lending data follow in Phase 2–3 once the pipeline is proven.</a:t>
            </a:r>
            <a:endParaRPr lang="en-US" sz="1000" dirty="0"/>
          </a:p>
        </p:txBody>
      </p:sp>
      <p:sp>
        <p:nvSpPr>
          <p:cNvPr id="5" name="Shape 3"/>
          <p:cNvSpPr/>
          <p:nvPr/>
        </p:nvSpPr>
        <p:spPr>
          <a:xfrm>
            <a:off x="2468880" y="1133856"/>
            <a:ext cx="1577340" cy="237744"/>
          </a:xfrm>
          <a:prstGeom prst="rect">
            <a:avLst/>
          </a:prstGeom>
          <a:solidFill>
            <a:srgbClr val="085CE5"/>
          </a:solidFill>
          <a:ln w="12700">
            <a:solidFill>
              <a:srgbClr val="085CE5"/>
            </a:solidFill>
            <a:prstDash val="solid"/>
          </a:ln>
        </p:spPr>
        <p:txBody>
          <a:bodyPr/>
          <a:lstStyle/>
          <a:p>
            <a:endParaRPr lang="en-US"/>
          </a:p>
        </p:txBody>
      </p:sp>
      <p:sp>
        <p:nvSpPr>
          <p:cNvPr id="6" name="Text 4"/>
          <p:cNvSpPr/>
          <p:nvPr/>
        </p:nvSpPr>
        <p:spPr>
          <a:xfrm>
            <a:off x="2514600" y="1133856"/>
            <a:ext cx="1485900" cy="237744"/>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PHASE 1 — All Payment Rails  (Q3–Q4 FY26)</a:t>
            </a:r>
            <a:endParaRPr lang="en-US" sz="750" dirty="0"/>
          </a:p>
        </p:txBody>
      </p:sp>
      <p:sp>
        <p:nvSpPr>
          <p:cNvPr id="7" name="Shape 5"/>
          <p:cNvSpPr/>
          <p:nvPr/>
        </p:nvSpPr>
        <p:spPr>
          <a:xfrm>
            <a:off x="4046220" y="1133856"/>
            <a:ext cx="1577340" cy="237744"/>
          </a:xfrm>
          <a:prstGeom prst="rect">
            <a:avLst/>
          </a:prstGeom>
          <a:solidFill>
            <a:srgbClr val="073FA8"/>
          </a:solidFill>
          <a:ln w="12700">
            <a:solidFill>
              <a:srgbClr val="073FA8"/>
            </a:solidFill>
            <a:prstDash val="solid"/>
          </a:ln>
        </p:spPr>
        <p:txBody>
          <a:bodyPr/>
          <a:lstStyle/>
          <a:p>
            <a:endParaRPr lang="en-US"/>
          </a:p>
        </p:txBody>
      </p:sp>
      <p:sp>
        <p:nvSpPr>
          <p:cNvPr id="8" name="Text 6"/>
          <p:cNvSpPr/>
          <p:nvPr/>
        </p:nvSpPr>
        <p:spPr>
          <a:xfrm>
            <a:off x="4091940" y="1133856"/>
            <a:ext cx="1485900" cy="237744"/>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PHASE 2 — Core Banking  (Q1–Q2 FY27)</a:t>
            </a:r>
            <a:endParaRPr lang="en-US" sz="750" dirty="0"/>
          </a:p>
        </p:txBody>
      </p:sp>
      <p:sp>
        <p:nvSpPr>
          <p:cNvPr id="9" name="Shape 7"/>
          <p:cNvSpPr/>
          <p:nvPr/>
        </p:nvSpPr>
        <p:spPr>
          <a:xfrm>
            <a:off x="5623560" y="1133856"/>
            <a:ext cx="3154680" cy="237744"/>
          </a:xfrm>
          <a:prstGeom prst="rect">
            <a:avLst/>
          </a:prstGeom>
          <a:solidFill>
            <a:srgbClr val="575A5D"/>
          </a:solidFill>
          <a:ln w="12700">
            <a:solidFill>
              <a:srgbClr val="575A5D"/>
            </a:solidFill>
            <a:prstDash val="solid"/>
          </a:ln>
        </p:spPr>
        <p:txBody>
          <a:bodyPr/>
          <a:lstStyle/>
          <a:p>
            <a:endParaRPr lang="en-US"/>
          </a:p>
        </p:txBody>
      </p:sp>
      <p:sp>
        <p:nvSpPr>
          <p:cNvPr id="10" name="Text 8"/>
          <p:cNvSpPr/>
          <p:nvPr/>
        </p:nvSpPr>
        <p:spPr>
          <a:xfrm>
            <a:off x="5669280" y="1133856"/>
            <a:ext cx="3063240" cy="237744"/>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PHASE 3 — Digital &amp; Lending  (Q3 FY27+)</a:t>
            </a:r>
            <a:endParaRPr lang="en-US" sz="750" dirty="0"/>
          </a:p>
        </p:txBody>
      </p:sp>
      <p:sp>
        <p:nvSpPr>
          <p:cNvPr id="11" name="Shape 9"/>
          <p:cNvSpPr/>
          <p:nvPr/>
        </p:nvSpPr>
        <p:spPr>
          <a:xfrm>
            <a:off x="2468880" y="1389888"/>
            <a:ext cx="6309360" cy="256032"/>
          </a:xfrm>
          <a:prstGeom prst="rect">
            <a:avLst/>
          </a:prstGeom>
          <a:solidFill>
            <a:srgbClr val="E7ECF0"/>
          </a:solidFill>
          <a:ln w="12700">
            <a:solidFill>
              <a:srgbClr val="E7ECF0"/>
            </a:solidFill>
            <a:prstDash val="solid"/>
          </a:ln>
        </p:spPr>
        <p:txBody>
          <a:bodyPr/>
          <a:lstStyle/>
          <a:p>
            <a:endParaRPr lang="en-US"/>
          </a:p>
        </p:txBody>
      </p:sp>
      <p:sp>
        <p:nvSpPr>
          <p:cNvPr id="12" name="Shape 10"/>
          <p:cNvSpPr/>
          <p:nvPr/>
        </p:nvSpPr>
        <p:spPr>
          <a:xfrm>
            <a:off x="2468880" y="1664208"/>
            <a:ext cx="788670" cy="3456432"/>
          </a:xfrm>
          <a:prstGeom prst="rect">
            <a:avLst/>
          </a:prstGeom>
          <a:solidFill>
            <a:srgbClr val="F4F6F8"/>
          </a:solidFill>
          <a:ln w="12700">
            <a:solidFill>
              <a:srgbClr val="F4F6F8"/>
            </a:solidFill>
            <a:prstDash val="solid"/>
          </a:ln>
        </p:spPr>
        <p:txBody>
          <a:bodyPr/>
          <a:lstStyle/>
          <a:p>
            <a:endParaRPr lang="en-US"/>
          </a:p>
        </p:txBody>
      </p:sp>
      <p:sp>
        <p:nvSpPr>
          <p:cNvPr id="13" name="Text 11"/>
          <p:cNvSpPr/>
          <p:nvPr/>
        </p:nvSpPr>
        <p:spPr>
          <a:xfrm>
            <a:off x="2468880" y="1389888"/>
            <a:ext cx="788670"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Q3 FY26</a:t>
            </a:r>
            <a:endParaRPr lang="en-US" sz="750" dirty="0"/>
          </a:p>
        </p:txBody>
      </p:sp>
      <p:sp>
        <p:nvSpPr>
          <p:cNvPr id="14" name="Shape 12"/>
          <p:cNvSpPr/>
          <p:nvPr/>
        </p:nvSpPr>
        <p:spPr>
          <a:xfrm>
            <a:off x="2468880" y="1133856"/>
            <a:ext cx="13716" cy="3986784"/>
          </a:xfrm>
          <a:prstGeom prst="rect">
            <a:avLst/>
          </a:prstGeom>
          <a:solidFill>
            <a:srgbClr val="B6BBC0"/>
          </a:solidFill>
          <a:ln w="12700">
            <a:solidFill>
              <a:srgbClr val="B6BBC0"/>
            </a:solidFill>
            <a:prstDash val="solid"/>
          </a:ln>
        </p:spPr>
        <p:txBody>
          <a:bodyPr/>
          <a:lstStyle/>
          <a:p>
            <a:endParaRPr lang="en-US"/>
          </a:p>
        </p:txBody>
      </p:sp>
      <p:sp>
        <p:nvSpPr>
          <p:cNvPr id="15" name="Text 13"/>
          <p:cNvSpPr/>
          <p:nvPr/>
        </p:nvSpPr>
        <p:spPr>
          <a:xfrm>
            <a:off x="3257550" y="1389888"/>
            <a:ext cx="788670"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Q4 FY26</a:t>
            </a:r>
            <a:endParaRPr lang="en-US" sz="750" dirty="0"/>
          </a:p>
        </p:txBody>
      </p:sp>
      <p:sp>
        <p:nvSpPr>
          <p:cNvPr id="16" name="Shape 14"/>
          <p:cNvSpPr/>
          <p:nvPr/>
        </p:nvSpPr>
        <p:spPr>
          <a:xfrm>
            <a:off x="3257550" y="1133856"/>
            <a:ext cx="13716" cy="3986784"/>
          </a:xfrm>
          <a:prstGeom prst="rect">
            <a:avLst/>
          </a:prstGeom>
          <a:solidFill>
            <a:srgbClr val="B6BBC0"/>
          </a:solidFill>
          <a:ln w="12700">
            <a:solidFill>
              <a:srgbClr val="B6BBC0"/>
            </a:solidFill>
            <a:prstDash val="solid"/>
          </a:ln>
        </p:spPr>
        <p:txBody>
          <a:bodyPr/>
          <a:lstStyle/>
          <a:p>
            <a:endParaRPr lang="en-US"/>
          </a:p>
        </p:txBody>
      </p:sp>
      <p:sp>
        <p:nvSpPr>
          <p:cNvPr id="17" name="Shape 15"/>
          <p:cNvSpPr/>
          <p:nvPr/>
        </p:nvSpPr>
        <p:spPr>
          <a:xfrm>
            <a:off x="4046220" y="1664208"/>
            <a:ext cx="788670" cy="3456432"/>
          </a:xfrm>
          <a:prstGeom prst="rect">
            <a:avLst/>
          </a:prstGeom>
          <a:solidFill>
            <a:srgbClr val="F4F6F8"/>
          </a:solidFill>
          <a:ln w="12700">
            <a:solidFill>
              <a:srgbClr val="F4F6F8"/>
            </a:solidFill>
            <a:prstDash val="solid"/>
          </a:ln>
        </p:spPr>
        <p:txBody>
          <a:bodyPr/>
          <a:lstStyle/>
          <a:p>
            <a:endParaRPr lang="en-US"/>
          </a:p>
        </p:txBody>
      </p:sp>
      <p:sp>
        <p:nvSpPr>
          <p:cNvPr id="18" name="Text 16"/>
          <p:cNvSpPr/>
          <p:nvPr/>
        </p:nvSpPr>
        <p:spPr>
          <a:xfrm>
            <a:off x="4046220" y="1389888"/>
            <a:ext cx="788670"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Q1 FY27</a:t>
            </a:r>
            <a:endParaRPr lang="en-US" sz="750" dirty="0"/>
          </a:p>
        </p:txBody>
      </p:sp>
      <p:sp>
        <p:nvSpPr>
          <p:cNvPr id="19" name="Shape 17"/>
          <p:cNvSpPr/>
          <p:nvPr/>
        </p:nvSpPr>
        <p:spPr>
          <a:xfrm>
            <a:off x="4046220" y="1133856"/>
            <a:ext cx="13716" cy="3986784"/>
          </a:xfrm>
          <a:prstGeom prst="rect">
            <a:avLst/>
          </a:prstGeom>
          <a:solidFill>
            <a:srgbClr val="B6BBC0"/>
          </a:solidFill>
          <a:ln w="12700">
            <a:solidFill>
              <a:srgbClr val="B6BBC0"/>
            </a:solidFill>
            <a:prstDash val="solid"/>
          </a:ln>
        </p:spPr>
        <p:txBody>
          <a:bodyPr/>
          <a:lstStyle/>
          <a:p>
            <a:endParaRPr lang="en-US"/>
          </a:p>
        </p:txBody>
      </p:sp>
      <p:sp>
        <p:nvSpPr>
          <p:cNvPr id="20" name="Text 18"/>
          <p:cNvSpPr/>
          <p:nvPr/>
        </p:nvSpPr>
        <p:spPr>
          <a:xfrm>
            <a:off x="4834890" y="1389888"/>
            <a:ext cx="788670"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Q2 FY27</a:t>
            </a:r>
            <a:endParaRPr lang="en-US" sz="750" dirty="0"/>
          </a:p>
        </p:txBody>
      </p:sp>
      <p:sp>
        <p:nvSpPr>
          <p:cNvPr id="21" name="Shape 19"/>
          <p:cNvSpPr/>
          <p:nvPr/>
        </p:nvSpPr>
        <p:spPr>
          <a:xfrm>
            <a:off x="4834890" y="1133856"/>
            <a:ext cx="13716" cy="3986784"/>
          </a:xfrm>
          <a:prstGeom prst="rect">
            <a:avLst/>
          </a:prstGeom>
          <a:solidFill>
            <a:srgbClr val="B6BBC0"/>
          </a:solidFill>
          <a:ln w="12700">
            <a:solidFill>
              <a:srgbClr val="B6BBC0"/>
            </a:solidFill>
            <a:prstDash val="solid"/>
          </a:ln>
        </p:spPr>
        <p:txBody>
          <a:bodyPr/>
          <a:lstStyle/>
          <a:p>
            <a:endParaRPr lang="en-US"/>
          </a:p>
        </p:txBody>
      </p:sp>
      <p:sp>
        <p:nvSpPr>
          <p:cNvPr id="22" name="Shape 20"/>
          <p:cNvSpPr/>
          <p:nvPr/>
        </p:nvSpPr>
        <p:spPr>
          <a:xfrm>
            <a:off x="5623560" y="1664208"/>
            <a:ext cx="788670" cy="3456432"/>
          </a:xfrm>
          <a:prstGeom prst="rect">
            <a:avLst/>
          </a:prstGeom>
          <a:solidFill>
            <a:srgbClr val="F4F6F8"/>
          </a:solidFill>
          <a:ln w="12700">
            <a:solidFill>
              <a:srgbClr val="F4F6F8"/>
            </a:solidFill>
            <a:prstDash val="solid"/>
          </a:ln>
        </p:spPr>
        <p:txBody>
          <a:bodyPr/>
          <a:lstStyle/>
          <a:p>
            <a:endParaRPr lang="en-US"/>
          </a:p>
        </p:txBody>
      </p:sp>
      <p:sp>
        <p:nvSpPr>
          <p:cNvPr id="23" name="Text 21"/>
          <p:cNvSpPr/>
          <p:nvPr/>
        </p:nvSpPr>
        <p:spPr>
          <a:xfrm>
            <a:off x="5623560" y="1389888"/>
            <a:ext cx="788670"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Q3 FY27</a:t>
            </a:r>
            <a:endParaRPr lang="en-US" sz="750" dirty="0"/>
          </a:p>
        </p:txBody>
      </p:sp>
      <p:sp>
        <p:nvSpPr>
          <p:cNvPr id="24" name="Shape 22"/>
          <p:cNvSpPr/>
          <p:nvPr/>
        </p:nvSpPr>
        <p:spPr>
          <a:xfrm>
            <a:off x="5623560" y="1133856"/>
            <a:ext cx="13716" cy="3986784"/>
          </a:xfrm>
          <a:prstGeom prst="rect">
            <a:avLst/>
          </a:prstGeom>
          <a:solidFill>
            <a:srgbClr val="B6BBC0"/>
          </a:solidFill>
          <a:ln w="12700">
            <a:solidFill>
              <a:srgbClr val="B6BBC0"/>
            </a:solidFill>
            <a:prstDash val="solid"/>
          </a:ln>
        </p:spPr>
        <p:txBody>
          <a:bodyPr/>
          <a:lstStyle/>
          <a:p>
            <a:endParaRPr lang="en-US"/>
          </a:p>
        </p:txBody>
      </p:sp>
      <p:sp>
        <p:nvSpPr>
          <p:cNvPr id="25" name="Text 23"/>
          <p:cNvSpPr/>
          <p:nvPr/>
        </p:nvSpPr>
        <p:spPr>
          <a:xfrm>
            <a:off x="6412230" y="1389888"/>
            <a:ext cx="788670"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Q4 FY27</a:t>
            </a:r>
            <a:endParaRPr lang="en-US" sz="750" dirty="0"/>
          </a:p>
        </p:txBody>
      </p:sp>
      <p:sp>
        <p:nvSpPr>
          <p:cNvPr id="26" name="Shape 24"/>
          <p:cNvSpPr/>
          <p:nvPr/>
        </p:nvSpPr>
        <p:spPr>
          <a:xfrm>
            <a:off x="6412230" y="1133856"/>
            <a:ext cx="13716" cy="3986784"/>
          </a:xfrm>
          <a:prstGeom prst="rect">
            <a:avLst/>
          </a:prstGeom>
          <a:solidFill>
            <a:srgbClr val="B6BBC0"/>
          </a:solidFill>
          <a:ln w="12700">
            <a:solidFill>
              <a:srgbClr val="B6BBC0"/>
            </a:solidFill>
            <a:prstDash val="solid"/>
          </a:ln>
        </p:spPr>
        <p:txBody>
          <a:bodyPr/>
          <a:lstStyle/>
          <a:p>
            <a:endParaRPr lang="en-US"/>
          </a:p>
        </p:txBody>
      </p:sp>
      <p:sp>
        <p:nvSpPr>
          <p:cNvPr id="27" name="Shape 25"/>
          <p:cNvSpPr/>
          <p:nvPr/>
        </p:nvSpPr>
        <p:spPr>
          <a:xfrm>
            <a:off x="7200900" y="1664208"/>
            <a:ext cx="788670" cy="3456432"/>
          </a:xfrm>
          <a:prstGeom prst="rect">
            <a:avLst/>
          </a:prstGeom>
          <a:solidFill>
            <a:srgbClr val="F4F6F8"/>
          </a:solidFill>
          <a:ln w="12700">
            <a:solidFill>
              <a:srgbClr val="F4F6F8"/>
            </a:solidFill>
            <a:prstDash val="solid"/>
          </a:ln>
        </p:spPr>
        <p:txBody>
          <a:bodyPr/>
          <a:lstStyle/>
          <a:p>
            <a:endParaRPr lang="en-US"/>
          </a:p>
        </p:txBody>
      </p:sp>
      <p:sp>
        <p:nvSpPr>
          <p:cNvPr id="28" name="Text 26"/>
          <p:cNvSpPr/>
          <p:nvPr/>
        </p:nvSpPr>
        <p:spPr>
          <a:xfrm>
            <a:off x="7200900" y="1389888"/>
            <a:ext cx="788670"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Q1 FY28</a:t>
            </a:r>
            <a:endParaRPr lang="en-US" sz="750" dirty="0"/>
          </a:p>
        </p:txBody>
      </p:sp>
      <p:sp>
        <p:nvSpPr>
          <p:cNvPr id="29" name="Shape 27"/>
          <p:cNvSpPr/>
          <p:nvPr/>
        </p:nvSpPr>
        <p:spPr>
          <a:xfrm>
            <a:off x="7200900" y="1133856"/>
            <a:ext cx="13716" cy="3986784"/>
          </a:xfrm>
          <a:prstGeom prst="rect">
            <a:avLst/>
          </a:prstGeom>
          <a:solidFill>
            <a:srgbClr val="B6BBC0"/>
          </a:solidFill>
          <a:ln w="12700">
            <a:solidFill>
              <a:srgbClr val="B6BBC0"/>
            </a:solidFill>
            <a:prstDash val="solid"/>
          </a:ln>
        </p:spPr>
        <p:txBody>
          <a:bodyPr/>
          <a:lstStyle/>
          <a:p>
            <a:endParaRPr lang="en-US"/>
          </a:p>
        </p:txBody>
      </p:sp>
      <p:sp>
        <p:nvSpPr>
          <p:cNvPr id="30" name="Text 28"/>
          <p:cNvSpPr/>
          <p:nvPr/>
        </p:nvSpPr>
        <p:spPr>
          <a:xfrm>
            <a:off x="7989570" y="1389888"/>
            <a:ext cx="788670"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Q2 FY28</a:t>
            </a:r>
            <a:endParaRPr lang="en-US" sz="750" dirty="0"/>
          </a:p>
        </p:txBody>
      </p:sp>
      <p:sp>
        <p:nvSpPr>
          <p:cNvPr id="31" name="Shape 29"/>
          <p:cNvSpPr/>
          <p:nvPr/>
        </p:nvSpPr>
        <p:spPr>
          <a:xfrm>
            <a:off x="7989570" y="1133856"/>
            <a:ext cx="13716" cy="3986784"/>
          </a:xfrm>
          <a:prstGeom prst="rect">
            <a:avLst/>
          </a:prstGeom>
          <a:solidFill>
            <a:srgbClr val="B6BBC0"/>
          </a:solidFill>
          <a:ln w="12700">
            <a:solidFill>
              <a:srgbClr val="B6BBC0"/>
            </a:solidFill>
            <a:prstDash val="solid"/>
          </a:ln>
        </p:spPr>
        <p:txBody>
          <a:bodyPr/>
          <a:lstStyle/>
          <a:p>
            <a:endParaRPr lang="en-US"/>
          </a:p>
        </p:txBody>
      </p:sp>
      <p:sp>
        <p:nvSpPr>
          <p:cNvPr id="32" name="Shape 30"/>
          <p:cNvSpPr/>
          <p:nvPr/>
        </p:nvSpPr>
        <p:spPr>
          <a:xfrm>
            <a:off x="274320" y="1664208"/>
            <a:ext cx="8503920" cy="356616"/>
          </a:xfrm>
          <a:prstGeom prst="rect">
            <a:avLst/>
          </a:prstGeom>
          <a:solidFill>
            <a:srgbClr val="FFFFFF"/>
          </a:solidFill>
          <a:ln w="12700">
            <a:solidFill>
              <a:srgbClr val="E7ECF0"/>
            </a:solidFill>
            <a:prstDash val="solid"/>
          </a:ln>
        </p:spPr>
        <p:txBody>
          <a:bodyPr/>
          <a:lstStyle/>
          <a:p>
            <a:endParaRPr lang="en-US"/>
          </a:p>
        </p:txBody>
      </p:sp>
      <p:sp>
        <p:nvSpPr>
          <p:cNvPr id="33" name="Shape 31"/>
          <p:cNvSpPr/>
          <p:nvPr/>
        </p:nvSpPr>
        <p:spPr>
          <a:xfrm>
            <a:off x="274320" y="1664208"/>
            <a:ext cx="54864" cy="356616"/>
          </a:xfrm>
          <a:prstGeom prst="rect">
            <a:avLst/>
          </a:prstGeom>
          <a:solidFill>
            <a:srgbClr val="085CE5"/>
          </a:solidFill>
          <a:ln w="12700">
            <a:solidFill>
              <a:srgbClr val="085CE5"/>
            </a:solidFill>
            <a:prstDash val="solid"/>
          </a:ln>
        </p:spPr>
        <p:txBody>
          <a:bodyPr/>
          <a:lstStyle/>
          <a:p>
            <a:endParaRPr lang="en-US"/>
          </a:p>
        </p:txBody>
      </p:sp>
      <p:sp>
        <p:nvSpPr>
          <p:cNvPr id="34" name="Text 32"/>
          <p:cNvSpPr/>
          <p:nvPr/>
        </p:nvSpPr>
        <p:spPr>
          <a:xfrm>
            <a:off x="384048" y="1691640"/>
            <a:ext cx="189280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ACH / EPS</a:t>
            </a:r>
            <a:endParaRPr lang="en-US" sz="850" dirty="0"/>
          </a:p>
        </p:txBody>
      </p:sp>
      <p:sp>
        <p:nvSpPr>
          <p:cNvPr id="35" name="Text 33"/>
          <p:cNvSpPr/>
          <p:nvPr/>
        </p:nvSpPr>
        <p:spPr>
          <a:xfrm>
            <a:off x="384048" y="1883664"/>
            <a:ext cx="189280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ACH credits, debits, RDC</a:t>
            </a:r>
            <a:endParaRPr lang="en-US" sz="750" dirty="0"/>
          </a:p>
        </p:txBody>
      </p:sp>
      <p:sp>
        <p:nvSpPr>
          <p:cNvPr id="36" name="Shape 34"/>
          <p:cNvSpPr/>
          <p:nvPr/>
        </p:nvSpPr>
        <p:spPr>
          <a:xfrm>
            <a:off x="2505456" y="1737360"/>
            <a:ext cx="1504188" cy="182880"/>
          </a:xfrm>
          <a:prstGeom prst="rect">
            <a:avLst/>
          </a:prstGeom>
          <a:solidFill>
            <a:srgbClr val="085CE5"/>
          </a:solidFill>
          <a:ln w="12700">
            <a:solidFill>
              <a:srgbClr val="085CE5"/>
            </a:solidFill>
            <a:prstDash val="solid"/>
          </a:ln>
        </p:spPr>
        <p:txBody>
          <a:bodyPr/>
          <a:lstStyle/>
          <a:p>
            <a:endParaRPr lang="en-US"/>
          </a:p>
        </p:txBody>
      </p:sp>
      <p:sp>
        <p:nvSpPr>
          <p:cNvPr id="37" name="Text 35"/>
          <p:cNvSpPr/>
          <p:nvPr/>
        </p:nvSpPr>
        <p:spPr>
          <a:xfrm>
            <a:off x="2569464" y="1737360"/>
            <a:ext cx="1394460"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Anomaly Detection</a:t>
            </a:r>
            <a:endParaRPr lang="en-US" sz="750" dirty="0"/>
          </a:p>
        </p:txBody>
      </p:sp>
      <p:sp>
        <p:nvSpPr>
          <p:cNvPr id="38" name="Shape 36"/>
          <p:cNvSpPr/>
          <p:nvPr/>
        </p:nvSpPr>
        <p:spPr>
          <a:xfrm>
            <a:off x="274320" y="2048256"/>
            <a:ext cx="8503920" cy="356616"/>
          </a:xfrm>
          <a:prstGeom prst="rect">
            <a:avLst/>
          </a:prstGeom>
          <a:solidFill>
            <a:srgbClr val="F8F9FA"/>
          </a:solidFill>
          <a:ln w="12700">
            <a:solidFill>
              <a:srgbClr val="E7ECF0"/>
            </a:solidFill>
            <a:prstDash val="solid"/>
          </a:ln>
        </p:spPr>
        <p:txBody>
          <a:bodyPr/>
          <a:lstStyle/>
          <a:p>
            <a:endParaRPr lang="en-US"/>
          </a:p>
        </p:txBody>
      </p:sp>
      <p:sp>
        <p:nvSpPr>
          <p:cNvPr id="39" name="Shape 37"/>
          <p:cNvSpPr/>
          <p:nvPr/>
        </p:nvSpPr>
        <p:spPr>
          <a:xfrm>
            <a:off x="274320" y="2048256"/>
            <a:ext cx="54864" cy="356616"/>
          </a:xfrm>
          <a:prstGeom prst="rect">
            <a:avLst/>
          </a:prstGeom>
          <a:solidFill>
            <a:srgbClr val="085CE5"/>
          </a:solidFill>
          <a:ln w="12700">
            <a:solidFill>
              <a:srgbClr val="085CE5"/>
            </a:solidFill>
            <a:prstDash val="solid"/>
          </a:ln>
        </p:spPr>
        <p:txBody>
          <a:bodyPr/>
          <a:lstStyle/>
          <a:p>
            <a:endParaRPr lang="en-US"/>
          </a:p>
        </p:txBody>
      </p:sp>
      <p:sp>
        <p:nvSpPr>
          <p:cNvPr id="40" name="Text 38"/>
          <p:cNvSpPr/>
          <p:nvPr/>
        </p:nvSpPr>
        <p:spPr>
          <a:xfrm>
            <a:off x="384048" y="2075688"/>
            <a:ext cx="189280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Zelle / JHA PayCenter</a:t>
            </a:r>
            <a:endParaRPr lang="en-US" sz="850" dirty="0"/>
          </a:p>
        </p:txBody>
      </p:sp>
      <p:sp>
        <p:nvSpPr>
          <p:cNvPr id="41" name="Text 39"/>
          <p:cNvSpPr/>
          <p:nvPr/>
        </p:nvSpPr>
        <p:spPr>
          <a:xfrm>
            <a:off x="384048" y="2267712"/>
            <a:ext cx="189280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P2P, Zelle, RTP, FedNow</a:t>
            </a:r>
            <a:endParaRPr lang="en-US" sz="750" dirty="0"/>
          </a:p>
        </p:txBody>
      </p:sp>
      <p:sp>
        <p:nvSpPr>
          <p:cNvPr id="42" name="Shape 40"/>
          <p:cNvSpPr/>
          <p:nvPr/>
        </p:nvSpPr>
        <p:spPr>
          <a:xfrm>
            <a:off x="2505456" y="2121408"/>
            <a:ext cx="1504188" cy="182880"/>
          </a:xfrm>
          <a:prstGeom prst="rect">
            <a:avLst/>
          </a:prstGeom>
          <a:solidFill>
            <a:srgbClr val="085CE5"/>
          </a:solidFill>
          <a:ln w="12700">
            <a:solidFill>
              <a:srgbClr val="085CE5"/>
            </a:solidFill>
            <a:prstDash val="solid"/>
          </a:ln>
        </p:spPr>
        <p:txBody>
          <a:bodyPr/>
          <a:lstStyle/>
          <a:p>
            <a:endParaRPr lang="en-US"/>
          </a:p>
        </p:txBody>
      </p:sp>
      <p:sp>
        <p:nvSpPr>
          <p:cNvPr id="43" name="Text 41"/>
          <p:cNvSpPr/>
          <p:nvPr/>
        </p:nvSpPr>
        <p:spPr>
          <a:xfrm>
            <a:off x="2569464" y="2121408"/>
            <a:ext cx="1394460"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Zelle Memo Intelligence · Anomaly</a:t>
            </a:r>
            <a:endParaRPr lang="en-US" sz="750" dirty="0"/>
          </a:p>
        </p:txBody>
      </p:sp>
      <p:sp>
        <p:nvSpPr>
          <p:cNvPr id="44" name="Shape 42"/>
          <p:cNvSpPr/>
          <p:nvPr/>
        </p:nvSpPr>
        <p:spPr>
          <a:xfrm>
            <a:off x="274320" y="2432304"/>
            <a:ext cx="8503920" cy="356616"/>
          </a:xfrm>
          <a:prstGeom prst="rect">
            <a:avLst/>
          </a:prstGeom>
          <a:solidFill>
            <a:srgbClr val="FFFFFF"/>
          </a:solidFill>
          <a:ln w="12700">
            <a:solidFill>
              <a:srgbClr val="E7ECF0"/>
            </a:solidFill>
            <a:prstDash val="solid"/>
          </a:ln>
        </p:spPr>
        <p:txBody>
          <a:bodyPr/>
          <a:lstStyle/>
          <a:p>
            <a:endParaRPr lang="en-US"/>
          </a:p>
        </p:txBody>
      </p:sp>
      <p:sp>
        <p:nvSpPr>
          <p:cNvPr id="45" name="Shape 43"/>
          <p:cNvSpPr/>
          <p:nvPr/>
        </p:nvSpPr>
        <p:spPr>
          <a:xfrm>
            <a:off x="274320" y="2432304"/>
            <a:ext cx="54864" cy="356616"/>
          </a:xfrm>
          <a:prstGeom prst="rect">
            <a:avLst/>
          </a:prstGeom>
          <a:solidFill>
            <a:srgbClr val="085CE5"/>
          </a:solidFill>
          <a:ln w="12700">
            <a:solidFill>
              <a:srgbClr val="085CE5"/>
            </a:solidFill>
            <a:prstDash val="solid"/>
          </a:ln>
        </p:spPr>
        <p:txBody>
          <a:bodyPr/>
          <a:lstStyle/>
          <a:p>
            <a:endParaRPr lang="en-US"/>
          </a:p>
        </p:txBody>
      </p:sp>
      <p:sp>
        <p:nvSpPr>
          <p:cNvPr id="46" name="Text 44"/>
          <p:cNvSpPr/>
          <p:nvPr/>
        </p:nvSpPr>
        <p:spPr>
          <a:xfrm>
            <a:off x="384048" y="2459736"/>
            <a:ext cx="189280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Jack Henry Wires</a:t>
            </a:r>
            <a:endParaRPr lang="en-US" sz="850" dirty="0"/>
          </a:p>
        </p:txBody>
      </p:sp>
      <p:sp>
        <p:nvSpPr>
          <p:cNvPr id="47" name="Text 45"/>
          <p:cNvSpPr/>
          <p:nvPr/>
        </p:nvSpPr>
        <p:spPr>
          <a:xfrm>
            <a:off x="384048" y="2651760"/>
            <a:ext cx="189280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Domestic FedWire + Intl</a:t>
            </a:r>
            <a:endParaRPr lang="en-US" sz="750" dirty="0"/>
          </a:p>
        </p:txBody>
      </p:sp>
      <p:sp>
        <p:nvSpPr>
          <p:cNvPr id="48" name="Shape 46"/>
          <p:cNvSpPr/>
          <p:nvPr/>
        </p:nvSpPr>
        <p:spPr>
          <a:xfrm>
            <a:off x="2505456" y="2505456"/>
            <a:ext cx="1504188" cy="182880"/>
          </a:xfrm>
          <a:prstGeom prst="rect">
            <a:avLst/>
          </a:prstGeom>
          <a:solidFill>
            <a:srgbClr val="085CE5"/>
          </a:solidFill>
          <a:ln w="12700">
            <a:solidFill>
              <a:srgbClr val="085CE5"/>
            </a:solidFill>
            <a:prstDash val="solid"/>
          </a:ln>
        </p:spPr>
        <p:txBody>
          <a:bodyPr/>
          <a:lstStyle/>
          <a:p>
            <a:endParaRPr lang="en-US"/>
          </a:p>
        </p:txBody>
      </p:sp>
      <p:sp>
        <p:nvSpPr>
          <p:cNvPr id="49" name="Text 47"/>
          <p:cNvSpPr/>
          <p:nvPr/>
        </p:nvSpPr>
        <p:spPr>
          <a:xfrm>
            <a:off x="2569464" y="2505456"/>
            <a:ext cx="1394460"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Anomaly Detection (wire fraud)</a:t>
            </a:r>
            <a:endParaRPr lang="en-US" sz="750" dirty="0"/>
          </a:p>
        </p:txBody>
      </p:sp>
      <p:sp>
        <p:nvSpPr>
          <p:cNvPr id="50" name="Shape 48"/>
          <p:cNvSpPr/>
          <p:nvPr/>
        </p:nvSpPr>
        <p:spPr>
          <a:xfrm>
            <a:off x="274320" y="2816352"/>
            <a:ext cx="8503920" cy="356616"/>
          </a:xfrm>
          <a:prstGeom prst="rect">
            <a:avLst/>
          </a:prstGeom>
          <a:solidFill>
            <a:srgbClr val="F8F9FA"/>
          </a:solidFill>
          <a:ln w="12700">
            <a:solidFill>
              <a:srgbClr val="E7ECF0"/>
            </a:solidFill>
            <a:prstDash val="solid"/>
          </a:ln>
        </p:spPr>
        <p:txBody>
          <a:bodyPr/>
          <a:lstStyle/>
          <a:p>
            <a:endParaRPr lang="en-US"/>
          </a:p>
        </p:txBody>
      </p:sp>
      <p:sp>
        <p:nvSpPr>
          <p:cNvPr id="51" name="Shape 49"/>
          <p:cNvSpPr/>
          <p:nvPr/>
        </p:nvSpPr>
        <p:spPr>
          <a:xfrm>
            <a:off x="274320" y="2816352"/>
            <a:ext cx="54864" cy="356616"/>
          </a:xfrm>
          <a:prstGeom prst="rect">
            <a:avLst/>
          </a:prstGeom>
          <a:solidFill>
            <a:srgbClr val="085CE5"/>
          </a:solidFill>
          <a:ln w="12700">
            <a:solidFill>
              <a:srgbClr val="085CE5"/>
            </a:solidFill>
            <a:prstDash val="solid"/>
          </a:ln>
        </p:spPr>
        <p:txBody>
          <a:bodyPr/>
          <a:lstStyle/>
          <a:p>
            <a:endParaRPr lang="en-US"/>
          </a:p>
        </p:txBody>
      </p:sp>
      <p:sp>
        <p:nvSpPr>
          <p:cNvPr id="52" name="Text 50"/>
          <p:cNvSpPr/>
          <p:nvPr/>
        </p:nvSpPr>
        <p:spPr>
          <a:xfrm>
            <a:off x="384048" y="2843784"/>
            <a:ext cx="189280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iPay Bill Pay</a:t>
            </a:r>
            <a:endParaRPr lang="en-US" sz="850" dirty="0"/>
          </a:p>
        </p:txBody>
      </p:sp>
      <p:sp>
        <p:nvSpPr>
          <p:cNvPr id="53" name="Text 51"/>
          <p:cNvSpPr/>
          <p:nvPr/>
        </p:nvSpPr>
        <p:spPr>
          <a:xfrm>
            <a:off x="384048" y="3035808"/>
            <a:ext cx="189280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Consumer + Business bill pay</a:t>
            </a:r>
            <a:endParaRPr lang="en-US" sz="750" dirty="0"/>
          </a:p>
        </p:txBody>
      </p:sp>
      <p:sp>
        <p:nvSpPr>
          <p:cNvPr id="54" name="Shape 52"/>
          <p:cNvSpPr/>
          <p:nvPr/>
        </p:nvSpPr>
        <p:spPr>
          <a:xfrm>
            <a:off x="2505456" y="2889504"/>
            <a:ext cx="1504188" cy="182880"/>
          </a:xfrm>
          <a:prstGeom prst="rect">
            <a:avLst/>
          </a:prstGeom>
          <a:solidFill>
            <a:srgbClr val="085CE5"/>
          </a:solidFill>
          <a:ln w="12700">
            <a:solidFill>
              <a:srgbClr val="085CE5"/>
            </a:solidFill>
            <a:prstDash val="solid"/>
          </a:ln>
        </p:spPr>
        <p:txBody>
          <a:bodyPr/>
          <a:lstStyle/>
          <a:p>
            <a:endParaRPr lang="en-US"/>
          </a:p>
        </p:txBody>
      </p:sp>
      <p:sp>
        <p:nvSpPr>
          <p:cNvPr id="55" name="Text 53"/>
          <p:cNvSpPr/>
          <p:nvPr/>
        </p:nvSpPr>
        <p:spPr>
          <a:xfrm>
            <a:off x="2569464" y="2889504"/>
            <a:ext cx="1394460"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Cross-Sell Propensity</a:t>
            </a:r>
            <a:endParaRPr lang="en-US" sz="750" dirty="0"/>
          </a:p>
        </p:txBody>
      </p:sp>
      <p:sp>
        <p:nvSpPr>
          <p:cNvPr id="56" name="Shape 54"/>
          <p:cNvSpPr/>
          <p:nvPr/>
        </p:nvSpPr>
        <p:spPr>
          <a:xfrm>
            <a:off x="274320" y="3200400"/>
            <a:ext cx="8503920" cy="356616"/>
          </a:xfrm>
          <a:prstGeom prst="rect">
            <a:avLst/>
          </a:prstGeom>
          <a:solidFill>
            <a:srgbClr val="FFFFFF"/>
          </a:solidFill>
          <a:ln w="12700">
            <a:solidFill>
              <a:srgbClr val="E7ECF0"/>
            </a:solidFill>
            <a:prstDash val="solid"/>
          </a:ln>
        </p:spPr>
        <p:txBody>
          <a:bodyPr/>
          <a:lstStyle/>
          <a:p>
            <a:endParaRPr lang="en-US"/>
          </a:p>
        </p:txBody>
      </p:sp>
      <p:sp>
        <p:nvSpPr>
          <p:cNvPr id="57" name="Shape 55"/>
          <p:cNvSpPr/>
          <p:nvPr/>
        </p:nvSpPr>
        <p:spPr>
          <a:xfrm>
            <a:off x="274320" y="3200400"/>
            <a:ext cx="54864" cy="356616"/>
          </a:xfrm>
          <a:prstGeom prst="rect">
            <a:avLst/>
          </a:prstGeom>
          <a:solidFill>
            <a:srgbClr val="085CE5"/>
          </a:solidFill>
          <a:ln w="12700">
            <a:solidFill>
              <a:srgbClr val="085CE5"/>
            </a:solidFill>
            <a:prstDash val="solid"/>
          </a:ln>
        </p:spPr>
        <p:txBody>
          <a:bodyPr/>
          <a:lstStyle/>
          <a:p>
            <a:endParaRPr lang="en-US"/>
          </a:p>
        </p:txBody>
      </p:sp>
      <p:sp>
        <p:nvSpPr>
          <p:cNvPr id="58" name="Text 56"/>
          <p:cNvSpPr/>
          <p:nvPr/>
        </p:nvSpPr>
        <p:spPr>
          <a:xfrm>
            <a:off x="384048" y="3227832"/>
            <a:ext cx="189280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JHA SmartPay / Biz Payments</a:t>
            </a:r>
            <a:endParaRPr lang="en-US" sz="850" dirty="0"/>
          </a:p>
        </p:txBody>
      </p:sp>
      <p:sp>
        <p:nvSpPr>
          <p:cNvPr id="59" name="Text 57"/>
          <p:cNvSpPr/>
          <p:nvPr/>
        </p:nvSpPr>
        <p:spPr>
          <a:xfrm>
            <a:off x="384048" y="3419856"/>
            <a:ext cx="189280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B2B ACH, vendor, remittance</a:t>
            </a:r>
            <a:endParaRPr lang="en-US" sz="750" dirty="0"/>
          </a:p>
        </p:txBody>
      </p:sp>
      <p:sp>
        <p:nvSpPr>
          <p:cNvPr id="60" name="Shape 58"/>
          <p:cNvSpPr/>
          <p:nvPr/>
        </p:nvSpPr>
        <p:spPr>
          <a:xfrm>
            <a:off x="2505456" y="3273552"/>
            <a:ext cx="1504188" cy="182880"/>
          </a:xfrm>
          <a:prstGeom prst="rect">
            <a:avLst/>
          </a:prstGeom>
          <a:solidFill>
            <a:srgbClr val="085CE5"/>
          </a:solidFill>
          <a:ln w="12700">
            <a:solidFill>
              <a:srgbClr val="085CE5"/>
            </a:solidFill>
            <a:prstDash val="solid"/>
          </a:ln>
        </p:spPr>
        <p:txBody>
          <a:bodyPr/>
          <a:lstStyle/>
          <a:p>
            <a:endParaRPr lang="en-US"/>
          </a:p>
        </p:txBody>
      </p:sp>
      <p:sp>
        <p:nvSpPr>
          <p:cNvPr id="61" name="Text 59"/>
          <p:cNvSpPr/>
          <p:nvPr/>
        </p:nvSpPr>
        <p:spPr>
          <a:xfrm>
            <a:off x="2569464" y="3273552"/>
            <a:ext cx="1394460"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Overdraft Prediction</a:t>
            </a:r>
            <a:endParaRPr lang="en-US" sz="750" dirty="0"/>
          </a:p>
        </p:txBody>
      </p:sp>
      <p:sp>
        <p:nvSpPr>
          <p:cNvPr id="62" name="Shape 60"/>
          <p:cNvSpPr/>
          <p:nvPr/>
        </p:nvSpPr>
        <p:spPr>
          <a:xfrm>
            <a:off x="274320" y="3584448"/>
            <a:ext cx="8503920" cy="356616"/>
          </a:xfrm>
          <a:prstGeom prst="rect">
            <a:avLst/>
          </a:prstGeom>
          <a:solidFill>
            <a:srgbClr val="F8F9FA"/>
          </a:solidFill>
          <a:ln w="12700">
            <a:solidFill>
              <a:srgbClr val="E7ECF0"/>
            </a:solidFill>
            <a:prstDash val="solid"/>
          </a:ln>
        </p:spPr>
        <p:txBody>
          <a:bodyPr/>
          <a:lstStyle/>
          <a:p>
            <a:endParaRPr lang="en-US"/>
          </a:p>
        </p:txBody>
      </p:sp>
      <p:sp>
        <p:nvSpPr>
          <p:cNvPr id="63" name="Shape 61"/>
          <p:cNvSpPr/>
          <p:nvPr/>
        </p:nvSpPr>
        <p:spPr>
          <a:xfrm>
            <a:off x="274320" y="3584448"/>
            <a:ext cx="54864" cy="356616"/>
          </a:xfrm>
          <a:prstGeom prst="rect">
            <a:avLst/>
          </a:prstGeom>
          <a:solidFill>
            <a:srgbClr val="085CE5"/>
          </a:solidFill>
          <a:ln w="12700">
            <a:solidFill>
              <a:srgbClr val="085CE5"/>
            </a:solidFill>
            <a:prstDash val="solid"/>
          </a:ln>
        </p:spPr>
        <p:txBody>
          <a:bodyPr/>
          <a:lstStyle/>
          <a:p>
            <a:endParaRPr lang="en-US"/>
          </a:p>
        </p:txBody>
      </p:sp>
      <p:sp>
        <p:nvSpPr>
          <p:cNvPr id="64" name="Text 62"/>
          <p:cNvSpPr/>
          <p:nvPr/>
        </p:nvSpPr>
        <p:spPr>
          <a:xfrm>
            <a:off x="384048" y="3611880"/>
            <a:ext cx="189280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Payrailz (P2P / A2A)</a:t>
            </a:r>
            <a:endParaRPr lang="en-US" sz="850" dirty="0"/>
          </a:p>
        </p:txBody>
      </p:sp>
      <p:sp>
        <p:nvSpPr>
          <p:cNvPr id="65" name="Text 63"/>
          <p:cNvSpPr/>
          <p:nvPr/>
        </p:nvSpPr>
        <p:spPr>
          <a:xfrm>
            <a:off x="384048" y="3803904"/>
            <a:ext cx="189280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Pay a Person, Transfer Money</a:t>
            </a:r>
            <a:endParaRPr lang="en-US" sz="750" dirty="0"/>
          </a:p>
        </p:txBody>
      </p:sp>
      <p:sp>
        <p:nvSpPr>
          <p:cNvPr id="66" name="Shape 64"/>
          <p:cNvSpPr/>
          <p:nvPr/>
        </p:nvSpPr>
        <p:spPr>
          <a:xfrm>
            <a:off x="2505456" y="3657600"/>
            <a:ext cx="1504188" cy="182880"/>
          </a:xfrm>
          <a:prstGeom prst="rect">
            <a:avLst/>
          </a:prstGeom>
          <a:solidFill>
            <a:srgbClr val="085CE5"/>
          </a:solidFill>
          <a:ln w="12700">
            <a:solidFill>
              <a:srgbClr val="085CE5"/>
            </a:solidFill>
            <a:prstDash val="solid"/>
          </a:ln>
        </p:spPr>
        <p:txBody>
          <a:bodyPr/>
          <a:lstStyle/>
          <a:p>
            <a:endParaRPr lang="en-US"/>
          </a:p>
        </p:txBody>
      </p:sp>
      <p:sp>
        <p:nvSpPr>
          <p:cNvPr id="67" name="Text 65"/>
          <p:cNvSpPr/>
          <p:nvPr/>
        </p:nvSpPr>
        <p:spPr>
          <a:xfrm>
            <a:off x="2569464" y="3657600"/>
            <a:ext cx="1394460"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Fraud Ring Detection</a:t>
            </a:r>
            <a:endParaRPr lang="en-US" sz="750" dirty="0"/>
          </a:p>
        </p:txBody>
      </p:sp>
      <p:sp>
        <p:nvSpPr>
          <p:cNvPr id="68" name="Shape 66"/>
          <p:cNvSpPr/>
          <p:nvPr/>
        </p:nvSpPr>
        <p:spPr>
          <a:xfrm>
            <a:off x="274320" y="3968496"/>
            <a:ext cx="8503920" cy="356616"/>
          </a:xfrm>
          <a:prstGeom prst="rect">
            <a:avLst/>
          </a:prstGeom>
          <a:solidFill>
            <a:srgbClr val="FFFFFF"/>
          </a:solidFill>
          <a:ln w="12700">
            <a:solidFill>
              <a:srgbClr val="E7ECF0"/>
            </a:solidFill>
            <a:prstDash val="solid"/>
          </a:ln>
        </p:spPr>
        <p:txBody>
          <a:bodyPr/>
          <a:lstStyle/>
          <a:p>
            <a:endParaRPr lang="en-US"/>
          </a:p>
        </p:txBody>
      </p:sp>
      <p:sp>
        <p:nvSpPr>
          <p:cNvPr id="69" name="Shape 67"/>
          <p:cNvSpPr/>
          <p:nvPr/>
        </p:nvSpPr>
        <p:spPr>
          <a:xfrm>
            <a:off x="274320" y="3968496"/>
            <a:ext cx="54864" cy="356616"/>
          </a:xfrm>
          <a:prstGeom prst="rect">
            <a:avLst/>
          </a:prstGeom>
          <a:solidFill>
            <a:srgbClr val="073FA8"/>
          </a:solidFill>
          <a:ln w="12700">
            <a:solidFill>
              <a:srgbClr val="073FA8"/>
            </a:solidFill>
            <a:prstDash val="solid"/>
          </a:ln>
        </p:spPr>
        <p:txBody>
          <a:bodyPr/>
          <a:lstStyle/>
          <a:p>
            <a:endParaRPr lang="en-US"/>
          </a:p>
        </p:txBody>
      </p:sp>
      <p:sp>
        <p:nvSpPr>
          <p:cNvPr id="70" name="Text 68"/>
          <p:cNvSpPr/>
          <p:nvPr/>
        </p:nvSpPr>
        <p:spPr>
          <a:xfrm>
            <a:off x="384048" y="3995928"/>
            <a:ext cx="189280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Core Banking (jhaEnterprise / Symitar)</a:t>
            </a:r>
            <a:endParaRPr lang="en-US" sz="850" dirty="0"/>
          </a:p>
        </p:txBody>
      </p:sp>
      <p:sp>
        <p:nvSpPr>
          <p:cNvPr id="71" name="Text 69"/>
          <p:cNvSpPr/>
          <p:nvPr/>
        </p:nvSpPr>
        <p:spPr>
          <a:xfrm>
            <a:off x="384048" y="4187952"/>
            <a:ext cx="189280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Core txns, deposits, loans</a:t>
            </a:r>
            <a:endParaRPr lang="en-US" sz="750" dirty="0"/>
          </a:p>
        </p:txBody>
      </p:sp>
      <p:sp>
        <p:nvSpPr>
          <p:cNvPr id="72" name="Shape 70"/>
          <p:cNvSpPr/>
          <p:nvPr/>
        </p:nvSpPr>
        <p:spPr>
          <a:xfrm>
            <a:off x="4082796" y="4041648"/>
            <a:ext cx="1504188" cy="182880"/>
          </a:xfrm>
          <a:prstGeom prst="rect">
            <a:avLst/>
          </a:prstGeom>
          <a:solidFill>
            <a:srgbClr val="073FA8"/>
          </a:solidFill>
          <a:ln w="12700">
            <a:solidFill>
              <a:srgbClr val="073FA8"/>
            </a:solidFill>
            <a:prstDash val="solid"/>
          </a:ln>
        </p:spPr>
        <p:txBody>
          <a:bodyPr/>
          <a:lstStyle/>
          <a:p>
            <a:endParaRPr lang="en-US"/>
          </a:p>
        </p:txBody>
      </p:sp>
      <p:sp>
        <p:nvSpPr>
          <p:cNvPr id="73" name="Text 71"/>
          <p:cNvSpPr/>
          <p:nvPr/>
        </p:nvSpPr>
        <p:spPr>
          <a:xfrm>
            <a:off x="4146804" y="4041648"/>
            <a:ext cx="1394460"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Churn Sentinel · Acct Opening LTV · CommercialSignal · Wealth Deflection</a:t>
            </a:r>
            <a:endParaRPr lang="en-US" sz="750" dirty="0"/>
          </a:p>
        </p:txBody>
      </p:sp>
      <p:sp>
        <p:nvSpPr>
          <p:cNvPr id="74" name="Shape 72"/>
          <p:cNvSpPr/>
          <p:nvPr/>
        </p:nvSpPr>
        <p:spPr>
          <a:xfrm>
            <a:off x="274320" y="4352544"/>
            <a:ext cx="8503920" cy="356616"/>
          </a:xfrm>
          <a:prstGeom prst="rect">
            <a:avLst/>
          </a:prstGeom>
          <a:solidFill>
            <a:srgbClr val="F8F9FA"/>
          </a:solidFill>
          <a:ln w="12700">
            <a:solidFill>
              <a:srgbClr val="E7ECF0"/>
            </a:solidFill>
            <a:prstDash val="solid"/>
          </a:ln>
        </p:spPr>
        <p:txBody>
          <a:bodyPr/>
          <a:lstStyle/>
          <a:p>
            <a:endParaRPr lang="en-US"/>
          </a:p>
        </p:txBody>
      </p:sp>
      <p:sp>
        <p:nvSpPr>
          <p:cNvPr id="75" name="Shape 73"/>
          <p:cNvSpPr/>
          <p:nvPr/>
        </p:nvSpPr>
        <p:spPr>
          <a:xfrm>
            <a:off x="274320" y="4352544"/>
            <a:ext cx="54864" cy="356616"/>
          </a:xfrm>
          <a:prstGeom prst="rect">
            <a:avLst/>
          </a:prstGeom>
          <a:solidFill>
            <a:srgbClr val="575A5D"/>
          </a:solidFill>
          <a:ln w="12700">
            <a:solidFill>
              <a:srgbClr val="575A5D"/>
            </a:solidFill>
            <a:prstDash val="solid"/>
          </a:ln>
        </p:spPr>
        <p:txBody>
          <a:bodyPr/>
          <a:lstStyle/>
          <a:p>
            <a:endParaRPr lang="en-US"/>
          </a:p>
        </p:txBody>
      </p:sp>
      <p:sp>
        <p:nvSpPr>
          <p:cNvPr id="76" name="Text 74"/>
          <p:cNvSpPr/>
          <p:nvPr/>
        </p:nvSpPr>
        <p:spPr>
          <a:xfrm>
            <a:off x="384048" y="4379976"/>
            <a:ext cx="189280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Banno Digital + Lending</a:t>
            </a:r>
            <a:endParaRPr lang="en-US" sz="850" dirty="0"/>
          </a:p>
        </p:txBody>
      </p:sp>
      <p:sp>
        <p:nvSpPr>
          <p:cNvPr id="77" name="Text 75"/>
          <p:cNvSpPr/>
          <p:nvPr/>
        </p:nvSpPr>
        <p:spPr>
          <a:xfrm>
            <a:off x="384048" y="4572000"/>
            <a:ext cx="189280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Session behavior, loan data</a:t>
            </a:r>
            <a:endParaRPr lang="en-US" sz="750" dirty="0"/>
          </a:p>
        </p:txBody>
      </p:sp>
      <p:sp>
        <p:nvSpPr>
          <p:cNvPr id="78" name="Shape 76"/>
          <p:cNvSpPr/>
          <p:nvPr/>
        </p:nvSpPr>
        <p:spPr>
          <a:xfrm>
            <a:off x="5660136" y="4425696"/>
            <a:ext cx="2292858" cy="182880"/>
          </a:xfrm>
          <a:prstGeom prst="rect">
            <a:avLst/>
          </a:prstGeom>
          <a:solidFill>
            <a:srgbClr val="575A5D"/>
          </a:solidFill>
          <a:ln w="12700">
            <a:solidFill>
              <a:srgbClr val="575A5D"/>
            </a:solidFill>
            <a:prstDash val="solid"/>
          </a:ln>
        </p:spPr>
        <p:txBody>
          <a:bodyPr/>
          <a:lstStyle/>
          <a:p>
            <a:endParaRPr lang="en-US"/>
          </a:p>
        </p:txBody>
      </p:sp>
      <p:sp>
        <p:nvSpPr>
          <p:cNvPr id="79" name="Text 77"/>
          <p:cNvSpPr/>
          <p:nvPr/>
        </p:nvSpPr>
        <p:spPr>
          <a:xfrm>
            <a:off x="5724144" y="4425696"/>
            <a:ext cx="2183130"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Sentiment · Next Best Action · FI Decision Studio</a:t>
            </a:r>
            <a:endParaRPr lang="en-US" sz="750" dirty="0"/>
          </a:p>
        </p:txBody>
      </p:sp>
      <p:sp>
        <p:nvSpPr>
          <p:cNvPr id="80" name="Shape 78"/>
          <p:cNvSpPr/>
          <p:nvPr/>
        </p:nvSpPr>
        <p:spPr>
          <a:xfrm>
            <a:off x="2482596" y="1115568"/>
            <a:ext cx="36576" cy="4005072"/>
          </a:xfrm>
          <a:prstGeom prst="rect">
            <a:avLst/>
          </a:prstGeom>
          <a:solidFill>
            <a:srgbClr val="76DCFD"/>
          </a:solidFill>
          <a:ln w="12700">
            <a:solidFill>
              <a:srgbClr val="76DCFD"/>
            </a:solidFill>
            <a:prstDash val="solid"/>
          </a:ln>
        </p:spPr>
        <p:txBody>
          <a:bodyPr/>
          <a:lstStyle/>
          <a:p>
            <a:endParaRPr lang="en-US"/>
          </a:p>
        </p:txBody>
      </p:sp>
      <p:sp>
        <p:nvSpPr>
          <p:cNvPr id="81" name="Text 79"/>
          <p:cNvSpPr/>
          <p:nvPr/>
        </p:nvSpPr>
        <p:spPr>
          <a:xfrm>
            <a:off x="2359152" y="1097280"/>
            <a:ext cx="502920" cy="219456"/>
          </a:xfrm>
          <a:prstGeom prst="rect">
            <a:avLst/>
          </a:prstGeom>
          <a:noFill/>
          <a:ln/>
        </p:spPr>
        <p:txBody>
          <a:bodyPr wrap="square" lIns="0" tIns="0" rIns="0" bIns="0" rtlCol="0" anchor="ctr"/>
          <a:lstStyle/>
          <a:p>
            <a:pPr marL="0" indent="0" algn="ctr">
              <a:buNone/>
            </a:pPr>
            <a:r>
              <a:rPr lang="en-US" sz="700" b="1" dirty="0">
                <a:solidFill>
                  <a:srgbClr val="76DCFD"/>
                </a:solidFill>
                <a:latin typeface="Calibri" pitchFamily="34" charset="0"/>
                <a:ea typeface="Calibri" pitchFamily="34" charset="-122"/>
                <a:cs typeface="Calibri" pitchFamily="34" charset="-120"/>
              </a:rPr>
              <a:t>NOW</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EFD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txBody>
          <a:bodyPr/>
          <a:lstStyle/>
          <a:p>
            <a:endParaRPr lang="en-US"/>
          </a:p>
        </p:txBody>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Application Delivery Roadmap — Build &amp; Launch Timeline</a:t>
            </a:r>
            <a:endParaRPr lang="en-US" sz="2000" dirty="0"/>
          </a:p>
        </p:txBody>
      </p:sp>
      <p:sp>
        <p:nvSpPr>
          <p:cNvPr id="4" name="Text 2"/>
          <p:cNvSpPr/>
          <p:nvPr/>
        </p:nvSpPr>
        <p:spPr>
          <a:xfrm>
            <a:off x="365760" y="713232"/>
            <a:ext cx="8412480" cy="256032"/>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Eight applications sequenced across three phases. Each bar spans the active build and validation window; wider bars reflect higher integration complexity.</a:t>
            </a:r>
            <a:endParaRPr lang="en-US" sz="1000" dirty="0"/>
          </a:p>
        </p:txBody>
      </p:sp>
      <p:sp>
        <p:nvSpPr>
          <p:cNvPr id="5" name="Shape 3"/>
          <p:cNvSpPr/>
          <p:nvPr/>
        </p:nvSpPr>
        <p:spPr>
          <a:xfrm>
            <a:off x="2505456" y="1133856"/>
            <a:ext cx="1568196" cy="237744"/>
          </a:xfrm>
          <a:prstGeom prst="rect">
            <a:avLst/>
          </a:prstGeom>
          <a:solidFill>
            <a:srgbClr val="085CE5"/>
          </a:solidFill>
          <a:ln w="12700">
            <a:solidFill>
              <a:srgbClr val="085CE5"/>
            </a:solidFill>
            <a:prstDash val="solid"/>
          </a:ln>
        </p:spPr>
        <p:txBody>
          <a:bodyPr/>
          <a:lstStyle/>
          <a:p>
            <a:endParaRPr lang="en-US"/>
          </a:p>
        </p:txBody>
      </p:sp>
      <p:sp>
        <p:nvSpPr>
          <p:cNvPr id="6" name="Text 4"/>
          <p:cNvSpPr/>
          <p:nvPr/>
        </p:nvSpPr>
        <p:spPr>
          <a:xfrm>
            <a:off x="2551176" y="1133856"/>
            <a:ext cx="1476756" cy="237744"/>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PHASE 1 — Foundation  (Q3–Q4 FY26)</a:t>
            </a:r>
            <a:endParaRPr lang="en-US" sz="750" dirty="0"/>
          </a:p>
        </p:txBody>
      </p:sp>
      <p:sp>
        <p:nvSpPr>
          <p:cNvPr id="7" name="Shape 5"/>
          <p:cNvSpPr/>
          <p:nvPr/>
        </p:nvSpPr>
        <p:spPr>
          <a:xfrm>
            <a:off x="4073652" y="1133856"/>
            <a:ext cx="1568196" cy="237744"/>
          </a:xfrm>
          <a:prstGeom prst="rect">
            <a:avLst/>
          </a:prstGeom>
          <a:solidFill>
            <a:srgbClr val="073FA8"/>
          </a:solidFill>
          <a:ln w="12700">
            <a:solidFill>
              <a:srgbClr val="073FA8"/>
            </a:solidFill>
            <a:prstDash val="solid"/>
          </a:ln>
        </p:spPr>
        <p:txBody>
          <a:bodyPr/>
          <a:lstStyle/>
          <a:p>
            <a:endParaRPr lang="en-US"/>
          </a:p>
        </p:txBody>
      </p:sp>
      <p:sp>
        <p:nvSpPr>
          <p:cNvPr id="8" name="Text 6"/>
          <p:cNvSpPr/>
          <p:nvPr/>
        </p:nvSpPr>
        <p:spPr>
          <a:xfrm>
            <a:off x="4119372" y="1133856"/>
            <a:ext cx="1476756" cy="237744"/>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PHASE 2 — Core Applications  (Q1–Q2 FY27)</a:t>
            </a:r>
            <a:endParaRPr lang="en-US" sz="750" dirty="0"/>
          </a:p>
        </p:txBody>
      </p:sp>
      <p:sp>
        <p:nvSpPr>
          <p:cNvPr id="9" name="Shape 7"/>
          <p:cNvSpPr/>
          <p:nvPr/>
        </p:nvSpPr>
        <p:spPr>
          <a:xfrm>
            <a:off x="5641848" y="1133856"/>
            <a:ext cx="3136392" cy="237744"/>
          </a:xfrm>
          <a:prstGeom prst="rect">
            <a:avLst/>
          </a:prstGeom>
          <a:solidFill>
            <a:srgbClr val="575A5D"/>
          </a:solidFill>
          <a:ln w="12700">
            <a:solidFill>
              <a:srgbClr val="575A5D"/>
            </a:solidFill>
            <a:prstDash val="solid"/>
          </a:ln>
        </p:spPr>
        <p:txBody>
          <a:bodyPr/>
          <a:lstStyle/>
          <a:p>
            <a:endParaRPr lang="en-US"/>
          </a:p>
        </p:txBody>
      </p:sp>
      <p:sp>
        <p:nvSpPr>
          <p:cNvPr id="10" name="Text 8"/>
          <p:cNvSpPr/>
          <p:nvPr/>
        </p:nvSpPr>
        <p:spPr>
          <a:xfrm>
            <a:off x="5687568" y="1133856"/>
            <a:ext cx="3044952" cy="237744"/>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PHASE 3 — Scale &amp; Expand  (Q3 FY27+)</a:t>
            </a:r>
            <a:endParaRPr lang="en-US" sz="750" dirty="0"/>
          </a:p>
        </p:txBody>
      </p:sp>
      <p:sp>
        <p:nvSpPr>
          <p:cNvPr id="11" name="Shape 9"/>
          <p:cNvSpPr/>
          <p:nvPr/>
        </p:nvSpPr>
        <p:spPr>
          <a:xfrm>
            <a:off x="2505456" y="1389888"/>
            <a:ext cx="6272784" cy="256032"/>
          </a:xfrm>
          <a:prstGeom prst="rect">
            <a:avLst/>
          </a:prstGeom>
          <a:solidFill>
            <a:srgbClr val="E7ECF0"/>
          </a:solidFill>
          <a:ln w="12700">
            <a:solidFill>
              <a:srgbClr val="E7ECF0"/>
            </a:solidFill>
            <a:prstDash val="solid"/>
          </a:ln>
        </p:spPr>
        <p:txBody>
          <a:bodyPr/>
          <a:lstStyle/>
          <a:p>
            <a:endParaRPr lang="en-US"/>
          </a:p>
        </p:txBody>
      </p:sp>
      <p:sp>
        <p:nvSpPr>
          <p:cNvPr id="12" name="Shape 10"/>
          <p:cNvSpPr/>
          <p:nvPr/>
        </p:nvSpPr>
        <p:spPr>
          <a:xfrm>
            <a:off x="2505456" y="1664208"/>
            <a:ext cx="784098" cy="3218688"/>
          </a:xfrm>
          <a:prstGeom prst="rect">
            <a:avLst/>
          </a:prstGeom>
          <a:solidFill>
            <a:srgbClr val="F4F6F8"/>
          </a:solidFill>
          <a:ln w="12700">
            <a:solidFill>
              <a:srgbClr val="F4F6F8"/>
            </a:solidFill>
            <a:prstDash val="solid"/>
          </a:ln>
        </p:spPr>
        <p:txBody>
          <a:bodyPr/>
          <a:lstStyle/>
          <a:p>
            <a:endParaRPr lang="en-US"/>
          </a:p>
        </p:txBody>
      </p:sp>
      <p:sp>
        <p:nvSpPr>
          <p:cNvPr id="13" name="Text 11"/>
          <p:cNvSpPr/>
          <p:nvPr/>
        </p:nvSpPr>
        <p:spPr>
          <a:xfrm>
            <a:off x="2505456" y="1389888"/>
            <a:ext cx="784098"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Q3 FY26</a:t>
            </a:r>
            <a:endParaRPr lang="en-US" sz="750" dirty="0"/>
          </a:p>
        </p:txBody>
      </p:sp>
      <p:sp>
        <p:nvSpPr>
          <p:cNvPr id="14" name="Shape 12"/>
          <p:cNvSpPr/>
          <p:nvPr/>
        </p:nvSpPr>
        <p:spPr>
          <a:xfrm>
            <a:off x="2505456" y="1133856"/>
            <a:ext cx="13716" cy="3749040"/>
          </a:xfrm>
          <a:prstGeom prst="rect">
            <a:avLst/>
          </a:prstGeom>
          <a:solidFill>
            <a:srgbClr val="B6BBC0"/>
          </a:solidFill>
          <a:ln w="12700">
            <a:solidFill>
              <a:srgbClr val="B6BBC0"/>
            </a:solidFill>
            <a:prstDash val="solid"/>
          </a:ln>
        </p:spPr>
        <p:txBody>
          <a:bodyPr/>
          <a:lstStyle/>
          <a:p>
            <a:endParaRPr lang="en-US"/>
          </a:p>
        </p:txBody>
      </p:sp>
      <p:sp>
        <p:nvSpPr>
          <p:cNvPr id="15" name="Text 13"/>
          <p:cNvSpPr/>
          <p:nvPr/>
        </p:nvSpPr>
        <p:spPr>
          <a:xfrm>
            <a:off x="3289554" y="1389888"/>
            <a:ext cx="784098"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Q4 FY26</a:t>
            </a:r>
            <a:endParaRPr lang="en-US" sz="750" dirty="0"/>
          </a:p>
        </p:txBody>
      </p:sp>
      <p:sp>
        <p:nvSpPr>
          <p:cNvPr id="16" name="Shape 14"/>
          <p:cNvSpPr/>
          <p:nvPr/>
        </p:nvSpPr>
        <p:spPr>
          <a:xfrm>
            <a:off x="3289554" y="1133856"/>
            <a:ext cx="13716" cy="3749040"/>
          </a:xfrm>
          <a:prstGeom prst="rect">
            <a:avLst/>
          </a:prstGeom>
          <a:solidFill>
            <a:srgbClr val="B6BBC0"/>
          </a:solidFill>
          <a:ln w="12700">
            <a:solidFill>
              <a:srgbClr val="B6BBC0"/>
            </a:solidFill>
            <a:prstDash val="solid"/>
          </a:ln>
        </p:spPr>
        <p:txBody>
          <a:bodyPr/>
          <a:lstStyle/>
          <a:p>
            <a:endParaRPr lang="en-US"/>
          </a:p>
        </p:txBody>
      </p:sp>
      <p:sp>
        <p:nvSpPr>
          <p:cNvPr id="17" name="Shape 15"/>
          <p:cNvSpPr/>
          <p:nvPr/>
        </p:nvSpPr>
        <p:spPr>
          <a:xfrm>
            <a:off x="4073652" y="1664208"/>
            <a:ext cx="784098" cy="3218688"/>
          </a:xfrm>
          <a:prstGeom prst="rect">
            <a:avLst/>
          </a:prstGeom>
          <a:solidFill>
            <a:srgbClr val="F4F6F8"/>
          </a:solidFill>
          <a:ln w="12700">
            <a:solidFill>
              <a:srgbClr val="F4F6F8"/>
            </a:solidFill>
            <a:prstDash val="solid"/>
          </a:ln>
        </p:spPr>
        <p:txBody>
          <a:bodyPr/>
          <a:lstStyle/>
          <a:p>
            <a:endParaRPr lang="en-US"/>
          </a:p>
        </p:txBody>
      </p:sp>
      <p:sp>
        <p:nvSpPr>
          <p:cNvPr id="18" name="Text 16"/>
          <p:cNvSpPr/>
          <p:nvPr/>
        </p:nvSpPr>
        <p:spPr>
          <a:xfrm>
            <a:off x="4073652" y="1389888"/>
            <a:ext cx="784098"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Q1 FY27</a:t>
            </a:r>
            <a:endParaRPr lang="en-US" sz="750" dirty="0"/>
          </a:p>
        </p:txBody>
      </p:sp>
      <p:sp>
        <p:nvSpPr>
          <p:cNvPr id="19" name="Shape 17"/>
          <p:cNvSpPr/>
          <p:nvPr/>
        </p:nvSpPr>
        <p:spPr>
          <a:xfrm>
            <a:off x="4073652" y="1133856"/>
            <a:ext cx="13716" cy="3749040"/>
          </a:xfrm>
          <a:prstGeom prst="rect">
            <a:avLst/>
          </a:prstGeom>
          <a:solidFill>
            <a:srgbClr val="B6BBC0"/>
          </a:solidFill>
          <a:ln w="12700">
            <a:solidFill>
              <a:srgbClr val="B6BBC0"/>
            </a:solidFill>
            <a:prstDash val="solid"/>
          </a:ln>
        </p:spPr>
        <p:txBody>
          <a:bodyPr/>
          <a:lstStyle/>
          <a:p>
            <a:endParaRPr lang="en-US"/>
          </a:p>
        </p:txBody>
      </p:sp>
      <p:sp>
        <p:nvSpPr>
          <p:cNvPr id="20" name="Text 18"/>
          <p:cNvSpPr/>
          <p:nvPr/>
        </p:nvSpPr>
        <p:spPr>
          <a:xfrm>
            <a:off x="4857750" y="1389888"/>
            <a:ext cx="784098"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Q2 FY27</a:t>
            </a:r>
            <a:endParaRPr lang="en-US" sz="750" dirty="0"/>
          </a:p>
        </p:txBody>
      </p:sp>
      <p:sp>
        <p:nvSpPr>
          <p:cNvPr id="21" name="Shape 19"/>
          <p:cNvSpPr/>
          <p:nvPr/>
        </p:nvSpPr>
        <p:spPr>
          <a:xfrm>
            <a:off x="4857750" y="1133856"/>
            <a:ext cx="13716" cy="3749040"/>
          </a:xfrm>
          <a:prstGeom prst="rect">
            <a:avLst/>
          </a:prstGeom>
          <a:solidFill>
            <a:srgbClr val="B6BBC0"/>
          </a:solidFill>
          <a:ln w="12700">
            <a:solidFill>
              <a:srgbClr val="B6BBC0"/>
            </a:solidFill>
            <a:prstDash val="solid"/>
          </a:ln>
        </p:spPr>
        <p:txBody>
          <a:bodyPr/>
          <a:lstStyle/>
          <a:p>
            <a:endParaRPr lang="en-US"/>
          </a:p>
        </p:txBody>
      </p:sp>
      <p:sp>
        <p:nvSpPr>
          <p:cNvPr id="22" name="Shape 20"/>
          <p:cNvSpPr/>
          <p:nvPr/>
        </p:nvSpPr>
        <p:spPr>
          <a:xfrm>
            <a:off x="5641848" y="1664208"/>
            <a:ext cx="784098" cy="3218688"/>
          </a:xfrm>
          <a:prstGeom prst="rect">
            <a:avLst/>
          </a:prstGeom>
          <a:solidFill>
            <a:srgbClr val="F4F6F8"/>
          </a:solidFill>
          <a:ln w="12700">
            <a:solidFill>
              <a:srgbClr val="F4F6F8"/>
            </a:solidFill>
            <a:prstDash val="solid"/>
          </a:ln>
        </p:spPr>
        <p:txBody>
          <a:bodyPr/>
          <a:lstStyle/>
          <a:p>
            <a:endParaRPr lang="en-US"/>
          </a:p>
        </p:txBody>
      </p:sp>
      <p:sp>
        <p:nvSpPr>
          <p:cNvPr id="23" name="Text 21"/>
          <p:cNvSpPr/>
          <p:nvPr/>
        </p:nvSpPr>
        <p:spPr>
          <a:xfrm>
            <a:off x="5641848" y="1389888"/>
            <a:ext cx="784098"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Q3 FY27</a:t>
            </a:r>
            <a:endParaRPr lang="en-US" sz="750" dirty="0"/>
          </a:p>
        </p:txBody>
      </p:sp>
      <p:sp>
        <p:nvSpPr>
          <p:cNvPr id="24" name="Shape 22"/>
          <p:cNvSpPr/>
          <p:nvPr/>
        </p:nvSpPr>
        <p:spPr>
          <a:xfrm>
            <a:off x="5641848" y="1133856"/>
            <a:ext cx="13716" cy="3749040"/>
          </a:xfrm>
          <a:prstGeom prst="rect">
            <a:avLst/>
          </a:prstGeom>
          <a:solidFill>
            <a:srgbClr val="B6BBC0"/>
          </a:solidFill>
          <a:ln w="12700">
            <a:solidFill>
              <a:srgbClr val="B6BBC0"/>
            </a:solidFill>
            <a:prstDash val="solid"/>
          </a:ln>
        </p:spPr>
        <p:txBody>
          <a:bodyPr/>
          <a:lstStyle/>
          <a:p>
            <a:endParaRPr lang="en-US"/>
          </a:p>
        </p:txBody>
      </p:sp>
      <p:sp>
        <p:nvSpPr>
          <p:cNvPr id="25" name="Text 23"/>
          <p:cNvSpPr/>
          <p:nvPr/>
        </p:nvSpPr>
        <p:spPr>
          <a:xfrm>
            <a:off x="6425946" y="1389888"/>
            <a:ext cx="784098"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Q4 FY27</a:t>
            </a:r>
            <a:endParaRPr lang="en-US" sz="750" dirty="0"/>
          </a:p>
        </p:txBody>
      </p:sp>
      <p:sp>
        <p:nvSpPr>
          <p:cNvPr id="26" name="Shape 24"/>
          <p:cNvSpPr/>
          <p:nvPr/>
        </p:nvSpPr>
        <p:spPr>
          <a:xfrm>
            <a:off x="6425946" y="1133856"/>
            <a:ext cx="13716" cy="3749040"/>
          </a:xfrm>
          <a:prstGeom prst="rect">
            <a:avLst/>
          </a:prstGeom>
          <a:solidFill>
            <a:srgbClr val="B6BBC0"/>
          </a:solidFill>
          <a:ln w="12700">
            <a:solidFill>
              <a:srgbClr val="B6BBC0"/>
            </a:solidFill>
            <a:prstDash val="solid"/>
          </a:ln>
        </p:spPr>
        <p:txBody>
          <a:bodyPr/>
          <a:lstStyle/>
          <a:p>
            <a:endParaRPr lang="en-US"/>
          </a:p>
        </p:txBody>
      </p:sp>
      <p:sp>
        <p:nvSpPr>
          <p:cNvPr id="27" name="Shape 25"/>
          <p:cNvSpPr/>
          <p:nvPr/>
        </p:nvSpPr>
        <p:spPr>
          <a:xfrm>
            <a:off x="7210044" y="1664208"/>
            <a:ext cx="784098" cy="3218688"/>
          </a:xfrm>
          <a:prstGeom prst="rect">
            <a:avLst/>
          </a:prstGeom>
          <a:solidFill>
            <a:srgbClr val="F4F6F8"/>
          </a:solidFill>
          <a:ln w="12700">
            <a:solidFill>
              <a:srgbClr val="F4F6F8"/>
            </a:solidFill>
            <a:prstDash val="solid"/>
          </a:ln>
        </p:spPr>
        <p:txBody>
          <a:bodyPr/>
          <a:lstStyle/>
          <a:p>
            <a:endParaRPr lang="en-US"/>
          </a:p>
        </p:txBody>
      </p:sp>
      <p:sp>
        <p:nvSpPr>
          <p:cNvPr id="28" name="Text 26"/>
          <p:cNvSpPr/>
          <p:nvPr/>
        </p:nvSpPr>
        <p:spPr>
          <a:xfrm>
            <a:off x="7210044" y="1389888"/>
            <a:ext cx="784098"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Q1 FY28</a:t>
            </a:r>
            <a:endParaRPr lang="en-US" sz="750" dirty="0"/>
          </a:p>
        </p:txBody>
      </p:sp>
      <p:sp>
        <p:nvSpPr>
          <p:cNvPr id="29" name="Shape 27"/>
          <p:cNvSpPr/>
          <p:nvPr/>
        </p:nvSpPr>
        <p:spPr>
          <a:xfrm>
            <a:off x="7210044" y="1133856"/>
            <a:ext cx="13716" cy="3749040"/>
          </a:xfrm>
          <a:prstGeom prst="rect">
            <a:avLst/>
          </a:prstGeom>
          <a:solidFill>
            <a:srgbClr val="B6BBC0"/>
          </a:solidFill>
          <a:ln w="12700">
            <a:solidFill>
              <a:srgbClr val="B6BBC0"/>
            </a:solidFill>
            <a:prstDash val="solid"/>
          </a:ln>
        </p:spPr>
        <p:txBody>
          <a:bodyPr/>
          <a:lstStyle/>
          <a:p>
            <a:endParaRPr lang="en-US"/>
          </a:p>
        </p:txBody>
      </p:sp>
      <p:sp>
        <p:nvSpPr>
          <p:cNvPr id="30" name="Text 28"/>
          <p:cNvSpPr/>
          <p:nvPr/>
        </p:nvSpPr>
        <p:spPr>
          <a:xfrm>
            <a:off x="7994142" y="1389888"/>
            <a:ext cx="784098" cy="237744"/>
          </a:xfrm>
          <a:prstGeom prst="rect">
            <a:avLst/>
          </a:prstGeom>
          <a:noFill/>
          <a:ln/>
        </p:spPr>
        <p:txBody>
          <a:bodyPr wrap="square" lIns="0" tIns="0" rIns="0" bIns="0" rtlCol="0" anchor="ctr"/>
          <a:lstStyle/>
          <a:p>
            <a:pPr marL="0" indent="0" algn="ctr">
              <a:buNone/>
            </a:pPr>
            <a:r>
              <a:rPr lang="en-US" sz="750" b="1" dirty="0">
                <a:solidFill>
                  <a:srgbClr val="575A5D"/>
                </a:solidFill>
                <a:latin typeface="Calibri" pitchFamily="34" charset="0"/>
                <a:ea typeface="Calibri" pitchFamily="34" charset="-122"/>
                <a:cs typeface="Calibri" pitchFamily="34" charset="-120"/>
              </a:rPr>
              <a:t>Q2 FY28</a:t>
            </a:r>
            <a:endParaRPr lang="en-US" sz="750" dirty="0"/>
          </a:p>
        </p:txBody>
      </p:sp>
      <p:sp>
        <p:nvSpPr>
          <p:cNvPr id="31" name="Shape 29"/>
          <p:cNvSpPr/>
          <p:nvPr/>
        </p:nvSpPr>
        <p:spPr>
          <a:xfrm>
            <a:off x="7994142" y="1133856"/>
            <a:ext cx="13716" cy="3749040"/>
          </a:xfrm>
          <a:prstGeom prst="rect">
            <a:avLst/>
          </a:prstGeom>
          <a:solidFill>
            <a:srgbClr val="B6BBC0"/>
          </a:solidFill>
          <a:ln w="12700">
            <a:solidFill>
              <a:srgbClr val="B6BBC0"/>
            </a:solidFill>
            <a:prstDash val="solid"/>
          </a:ln>
        </p:spPr>
        <p:txBody>
          <a:bodyPr/>
          <a:lstStyle/>
          <a:p>
            <a:endParaRPr lang="en-US"/>
          </a:p>
        </p:txBody>
      </p:sp>
      <p:sp>
        <p:nvSpPr>
          <p:cNvPr id="32" name="Shape 30"/>
          <p:cNvSpPr/>
          <p:nvPr/>
        </p:nvSpPr>
        <p:spPr>
          <a:xfrm>
            <a:off x="274320" y="1664208"/>
            <a:ext cx="8503920" cy="374904"/>
          </a:xfrm>
          <a:prstGeom prst="rect">
            <a:avLst/>
          </a:prstGeom>
          <a:solidFill>
            <a:srgbClr val="FFFFFF"/>
          </a:solidFill>
          <a:ln w="12700">
            <a:solidFill>
              <a:srgbClr val="E7ECF0"/>
            </a:solidFill>
            <a:prstDash val="solid"/>
          </a:ln>
        </p:spPr>
        <p:txBody>
          <a:bodyPr/>
          <a:lstStyle/>
          <a:p>
            <a:endParaRPr lang="en-US"/>
          </a:p>
        </p:txBody>
      </p:sp>
      <p:sp>
        <p:nvSpPr>
          <p:cNvPr id="33" name="Shape 31"/>
          <p:cNvSpPr/>
          <p:nvPr/>
        </p:nvSpPr>
        <p:spPr>
          <a:xfrm>
            <a:off x="274320" y="1664208"/>
            <a:ext cx="54864" cy="374904"/>
          </a:xfrm>
          <a:prstGeom prst="rect">
            <a:avLst/>
          </a:prstGeom>
          <a:solidFill>
            <a:srgbClr val="085CE5"/>
          </a:solidFill>
          <a:ln w="12700">
            <a:solidFill>
              <a:srgbClr val="085CE5"/>
            </a:solidFill>
            <a:prstDash val="solid"/>
          </a:ln>
        </p:spPr>
        <p:txBody>
          <a:bodyPr/>
          <a:lstStyle/>
          <a:p>
            <a:endParaRPr lang="en-US"/>
          </a:p>
        </p:txBody>
      </p:sp>
      <p:sp>
        <p:nvSpPr>
          <p:cNvPr id="34" name="Text 32"/>
          <p:cNvSpPr/>
          <p:nvPr/>
        </p:nvSpPr>
        <p:spPr>
          <a:xfrm>
            <a:off x="384048" y="1691640"/>
            <a:ext cx="193852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Churn Sentinel</a:t>
            </a:r>
            <a:endParaRPr lang="en-US" sz="850" dirty="0"/>
          </a:p>
        </p:txBody>
      </p:sp>
      <p:sp>
        <p:nvSpPr>
          <p:cNvPr id="35" name="Text 33"/>
          <p:cNvSpPr/>
          <p:nvPr/>
        </p:nvSpPr>
        <p:spPr>
          <a:xfrm>
            <a:off x="384048" y="1892808"/>
            <a:ext cx="193852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ACH signals  ·  Phase 1</a:t>
            </a:r>
            <a:endParaRPr lang="en-US" sz="750" dirty="0"/>
          </a:p>
        </p:txBody>
      </p:sp>
      <p:sp>
        <p:nvSpPr>
          <p:cNvPr id="36" name="Shape 34"/>
          <p:cNvSpPr/>
          <p:nvPr/>
        </p:nvSpPr>
        <p:spPr>
          <a:xfrm>
            <a:off x="2542032" y="1755648"/>
            <a:ext cx="1495044" cy="182880"/>
          </a:xfrm>
          <a:prstGeom prst="rect">
            <a:avLst/>
          </a:prstGeom>
          <a:solidFill>
            <a:srgbClr val="085CE5">
              <a:alpha val="70000"/>
            </a:srgbClr>
          </a:solidFill>
          <a:ln w="12700">
            <a:solidFill>
              <a:srgbClr val="085CE5">
                <a:alpha val="90000"/>
              </a:srgbClr>
            </a:solidFill>
            <a:prstDash val="solid"/>
          </a:ln>
        </p:spPr>
        <p:txBody>
          <a:bodyPr/>
          <a:lstStyle/>
          <a:p>
            <a:endParaRPr lang="en-US"/>
          </a:p>
        </p:txBody>
      </p:sp>
      <p:sp>
        <p:nvSpPr>
          <p:cNvPr id="37" name="Shape 35"/>
          <p:cNvSpPr/>
          <p:nvPr/>
        </p:nvSpPr>
        <p:spPr>
          <a:xfrm>
            <a:off x="3618464" y="1755648"/>
            <a:ext cx="418612" cy="182880"/>
          </a:xfrm>
          <a:prstGeom prst="rect">
            <a:avLst/>
          </a:prstGeom>
          <a:solidFill>
            <a:srgbClr val="085CE5"/>
          </a:solidFill>
          <a:ln w="12700">
            <a:solidFill>
              <a:srgbClr val="085CE5"/>
            </a:solidFill>
            <a:prstDash val="solid"/>
          </a:ln>
        </p:spPr>
        <p:txBody>
          <a:bodyPr/>
          <a:lstStyle/>
          <a:p>
            <a:endParaRPr lang="en-US"/>
          </a:p>
        </p:txBody>
      </p:sp>
      <p:sp>
        <p:nvSpPr>
          <p:cNvPr id="38" name="Text 36"/>
          <p:cNvSpPr/>
          <p:nvPr/>
        </p:nvSpPr>
        <p:spPr>
          <a:xfrm>
            <a:off x="2606040" y="1755648"/>
            <a:ext cx="1367028"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ACH Sentinel  ·  Phase 1 launch</a:t>
            </a:r>
            <a:endParaRPr lang="en-US" sz="750" dirty="0"/>
          </a:p>
        </p:txBody>
      </p:sp>
      <p:sp>
        <p:nvSpPr>
          <p:cNvPr id="39" name="Shape 37"/>
          <p:cNvSpPr/>
          <p:nvPr/>
        </p:nvSpPr>
        <p:spPr>
          <a:xfrm>
            <a:off x="274320" y="2066544"/>
            <a:ext cx="8503920" cy="374904"/>
          </a:xfrm>
          <a:prstGeom prst="rect">
            <a:avLst/>
          </a:prstGeom>
          <a:solidFill>
            <a:srgbClr val="F8F9FA"/>
          </a:solidFill>
          <a:ln w="12700">
            <a:solidFill>
              <a:srgbClr val="E7ECF0"/>
            </a:solidFill>
            <a:prstDash val="solid"/>
          </a:ln>
        </p:spPr>
        <p:txBody>
          <a:bodyPr/>
          <a:lstStyle/>
          <a:p>
            <a:endParaRPr lang="en-US"/>
          </a:p>
        </p:txBody>
      </p:sp>
      <p:sp>
        <p:nvSpPr>
          <p:cNvPr id="40" name="Shape 38"/>
          <p:cNvSpPr/>
          <p:nvPr/>
        </p:nvSpPr>
        <p:spPr>
          <a:xfrm>
            <a:off x="274320" y="2066544"/>
            <a:ext cx="54864" cy="374904"/>
          </a:xfrm>
          <a:prstGeom prst="rect">
            <a:avLst/>
          </a:prstGeom>
          <a:solidFill>
            <a:srgbClr val="085CE5"/>
          </a:solidFill>
          <a:ln w="12700">
            <a:solidFill>
              <a:srgbClr val="085CE5"/>
            </a:solidFill>
            <a:prstDash val="solid"/>
          </a:ln>
        </p:spPr>
        <p:txBody>
          <a:bodyPr/>
          <a:lstStyle/>
          <a:p>
            <a:endParaRPr lang="en-US"/>
          </a:p>
        </p:txBody>
      </p:sp>
      <p:sp>
        <p:nvSpPr>
          <p:cNvPr id="41" name="Text 39"/>
          <p:cNvSpPr/>
          <p:nvPr/>
        </p:nvSpPr>
        <p:spPr>
          <a:xfrm>
            <a:off x="384048" y="2093976"/>
            <a:ext cx="193852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Churn Sentinel +</a:t>
            </a:r>
            <a:endParaRPr lang="en-US" sz="850" dirty="0"/>
          </a:p>
        </p:txBody>
      </p:sp>
      <p:sp>
        <p:nvSpPr>
          <p:cNvPr id="42" name="Text 40"/>
          <p:cNvSpPr/>
          <p:nvPr/>
        </p:nvSpPr>
        <p:spPr>
          <a:xfrm>
            <a:off x="384048" y="2295144"/>
            <a:ext cx="193852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Core + digital enrichment</a:t>
            </a:r>
            <a:endParaRPr lang="en-US" sz="750" dirty="0"/>
          </a:p>
        </p:txBody>
      </p:sp>
      <p:sp>
        <p:nvSpPr>
          <p:cNvPr id="43" name="Shape 41"/>
          <p:cNvSpPr/>
          <p:nvPr/>
        </p:nvSpPr>
        <p:spPr>
          <a:xfrm>
            <a:off x="4110228" y="2157984"/>
            <a:ext cx="1495044" cy="182880"/>
          </a:xfrm>
          <a:prstGeom prst="rect">
            <a:avLst/>
          </a:prstGeom>
          <a:solidFill>
            <a:srgbClr val="085CE5">
              <a:alpha val="70000"/>
            </a:srgbClr>
          </a:solidFill>
          <a:ln w="12700">
            <a:solidFill>
              <a:srgbClr val="085CE5">
                <a:alpha val="90000"/>
              </a:srgbClr>
            </a:solidFill>
            <a:prstDash val="solid"/>
          </a:ln>
        </p:spPr>
        <p:txBody>
          <a:bodyPr/>
          <a:lstStyle/>
          <a:p>
            <a:endParaRPr lang="en-US"/>
          </a:p>
        </p:txBody>
      </p:sp>
      <p:sp>
        <p:nvSpPr>
          <p:cNvPr id="44" name="Shape 42"/>
          <p:cNvSpPr/>
          <p:nvPr/>
        </p:nvSpPr>
        <p:spPr>
          <a:xfrm>
            <a:off x="5186660" y="2157984"/>
            <a:ext cx="418612" cy="182880"/>
          </a:xfrm>
          <a:prstGeom prst="rect">
            <a:avLst/>
          </a:prstGeom>
          <a:solidFill>
            <a:srgbClr val="085CE5"/>
          </a:solidFill>
          <a:ln w="12700">
            <a:solidFill>
              <a:srgbClr val="085CE5"/>
            </a:solidFill>
            <a:prstDash val="solid"/>
          </a:ln>
        </p:spPr>
        <p:txBody>
          <a:bodyPr/>
          <a:lstStyle/>
          <a:p>
            <a:endParaRPr lang="en-US"/>
          </a:p>
        </p:txBody>
      </p:sp>
      <p:sp>
        <p:nvSpPr>
          <p:cNvPr id="45" name="Text 43"/>
          <p:cNvSpPr/>
          <p:nvPr/>
        </p:nvSpPr>
        <p:spPr>
          <a:xfrm>
            <a:off x="4174236" y="2157984"/>
            <a:ext cx="1367028"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Core &amp; Banno signals  →  Phase 2</a:t>
            </a:r>
            <a:endParaRPr lang="en-US" sz="750" dirty="0"/>
          </a:p>
        </p:txBody>
      </p:sp>
      <p:sp>
        <p:nvSpPr>
          <p:cNvPr id="46" name="Shape 44"/>
          <p:cNvSpPr/>
          <p:nvPr/>
        </p:nvSpPr>
        <p:spPr>
          <a:xfrm>
            <a:off x="274320" y="2468880"/>
            <a:ext cx="8503920" cy="374904"/>
          </a:xfrm>
          <a:prstGeom prst="rect">
            <a:avLst/>
          </a:prstGeom>
          <a:solidFill>
            <a:srgbClr val="FFFFFF"/>
          </a:solidFill>
          <a:ln w="12700">
            <a:solidFill>
              <a:srgbClr val="E7ECF0"/>
            </a:solidFill>
            <a:prstDash val="solid"/>
          </a:ln>
        </p:spPr>
        <p:txBody>
          <a:bodyPr/>
          <a:lstStyle/>
          <a:p>
            <a:endParaRPr lang="en-US"/>
          </a:p>
        </p:txBody>
      </p:sp>
      <p:sp>
        <p:nvSpPr>
          <p:cNvPr id="47" name="Shape 45"/>
          <p:cNvSpPr/>
          <p:nvPr/>
        </p:nvSpPr>
        <p:spPr>
          <a:xfrm>
            <a:off x="274320" y="2468880"/>
            <a:ext cx="54864" cy="374904"/>
          </a:xfrm>
          <a:prstGeom prst="rect">
            <a:avLst/>
          </a:prstGeom>
          <a:solidFill>
            <a:srgbClr val="06185F"/>
          </a:solidFill>
          <a:ln w="12700">
            <a:solidFill>
              <a:srgbClr val="06185F"/>
            </a:solidFill>
            <a:prstDash val="solid"/>
          </a:ln>
        </p:spPr>
        <p:txBody>
          <a:bodyPr/>
          <a:lstStyle/>
          <a:p>
            <a:endParaRPr lang="en-US"/>
          </a:p>
        </p:txBody>
      </p:sp>
      <p:sp>
        <p:nvSpPr>
          <p:cNvPr id="48" name="Text 46"/>
          <p:cNvSpPr/>
          <p:nvPr/>
        </p:nvSpPr>
        <p:spPr>
          <a:xfrm>
            <a:off x="384048" y="2496312"/>
            <a:ext cx="193852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Zelle Memo Intelligence</a:t>
            </a:r>
            <a:endParaRPr lang="en-US" sz="850" dirty="0"/>
          </a:p>
        </p:txBody>
      </p:sp>
      <p:sp>
        <p:nvSpPr>
          <p:cNvPr id="49" name="Text 47"/>
          <p:cNvSpPr/>
          <p:nvPr/>
        </p:nvSpPr>
        <p:spPr>
          <a:xfrm>
            <a:off x="384048" y="2697480"/>
            <a:ext cx="193852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NLP compliance pipeline</a:t>
            </a:r>
            <a:endParaRPr lang="en-US" sz="750" dirty="0"/>
          </a:p>
        </p:txBody>
      </p:sp>
      <p:sp>
        <p:nvSpPr>
          <p:cNvPr id="50" name="Shape 48"/>
          <p:cNvSpPr/>
          <p:nvPr/>
        </p:nvSpPr>
        <p:spPr>
          <a:xfrm>
            <a:off x="4110228" y="2560320"/>
            <a:ext cx="1495044" cy="182880"/>
          </a:xfrm>
          <a:prstGeom prst="rect">
            <a:avLst/>
          </a:prstGeom>
          <a:solidFill>
            <a:srgbClr val="06185F">
              <a:alpha val="70000"/>
            </a:srgbClr>
          </a:solidFill>
          <a:ln w="12700">
            <a:solidFill>
              <a:srgbClr val="06185F">
                <a:alpha val="90000"/>
              </a:srgbClr>
            </a:solidFill>
            <a:prstDash val="solid"/>
          </a:ln>
        </p:spPr>
        <p:txBody>
          <a:bodyPr/>
          <a:lstStyle/>
          <a:p>
            <a:endParaRPr lang="en-US"/>
          </a:p>
        </p:txBody>
      </p:sp>
      <p:sp>
        <p:nvSpPr>
          <p:cNvPr id="51" name="Shape 49"/>
          <p:cNvSpPr/>
          <p:nvPr/>
        </p:nvSpPr>
        <p:spPr>
          <a:xfrm>
            <a:off x="5186660" y="2560320"/>
            <a:ext cx="418612" cy="182880"/>
          </a:xfrm>
          <a:prstGeom prst="rect">
            <a:avLst/>
          </a:prstGeom>
          <a:solidFill>
            <a:srgbClr val="06185F"/>
          </a:solidFill>
          <a:ln w="12700">
            <a:solidFill>
              <a:srgbClr val="06185F"/>
            </a:solidFill>
            <a:prstDash val="solid"/>
          </a:ln>
        </p:spPr>
        <p:txBody>
          <a:bodyPr/>
          <a:lstStyle/>
          <a:p>
            <a:endParaRPr lang="en-US"/>
          </a:p>
        </p:txBody>
      </p:sp>
      <p:sp>
        <p:nvSpPr>
          <p:cNvPr id="52" name="Text 50"/>
          <p:cNvSpPr/>
          <p:nvPr/>
        </p:nvSpPr>
        <p:spPr>
          <a:xfrm>
            <a:off x="4174236" y="2560320"/>
            <a:ext cx="1367028"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Build  →  Phase 2 launch</a:t>
            </a:r>
            <a:endParaRPr lang="en-US" sz="750" dirty="0"/>
          </a:p>
        </p:txBody>
      </p:sp>
      <p:sp>
        <p:nvSpPr>
          <p:cNvPr id="53" name="Shape 51"/>
          <p:cNvSpPr/>
          <p:nvPr/>
        </p:nvSpPr>
        <p:spPr>
          <a:xfrm>
            <a:off x="274320" y="2871216"/>
            <a:ext cx="8503920" cy="374904"/>
          </a:xfrm>
          <a:prstGeom prst="rect">
            <a:avLst/>
          </a:prstGeom>
          <a:solidFill>
            <a:srgbClr val="F8F9FA"/>
          </a:solidFill>
          <a:ln w="12700">
            <a:solidFill>
              <a:srgbClr val="E7ECF0"/>
            </a:solidFill>
            <a:prstDash val="solid"/>
          </a:ln>
        </p:spPr>
        <p:txBody>
          <a:bodyPr/>
          <a:lstStyle/>
          <a:p>
            <a:endParaRPr lang="en-US"/>
          </a:p>
        </p:txBody>
      </p:sp>
      <p:sp>
        <p:nvSpPr>
          <p:cNvPr id="54" name="Shape 52"/>
          <p:cNvSpPr/>
          <p:nvPr/>
        </p:nvSpPr>
        <p:spPr>
          <a:xfrm>
            <a:off x="274320" y="2871216"/>
            <a:ext cx="54864" cy="374904"/>
          </a:xfrm>
          <a:prstGeom prst="rect">
            <a:avLst/>
          </a:prstGeom>
          <a:solidFill>
            <a:srgbClr val="0A52C4"/>
          </a:solidFill>
          <a:ln w="12700">
            <a:solidFill>
              <a:srgbClr val="0A52C4"/>
            </a:solidFill>
            <a:prstDash val="solid"/>
          </a:ln>
        </p:spPr>
        <p:txBody>
          <a:bodyPr/>
          <a:lstStyle/>
          <a:p>
            <a:endParaRPr lang="en-US"/>
          </a:p>
        </p:txBody>
      </p:sp>
      <p:sp>
        <p:nvSpPr>
          <p:cNvPr id="55" name="Text 53"/>
          <p:cNvSpPr/>
          <p:nvPr/>
        </p:nvSpPr>
        <p:spPr>
          <a:xfrm>
            <a:off x="384048" y="2898648"/>
            <a:ext cx="193852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CommercialSignal</a:t>
            </a:r>
            <a:endParaRPr lang="en-US" sz="850" dirty="0"/>
          </a:p>
        </p:txBody>
      </p:sp>
      <p:sp>
        <p:nvSpPr>
          <p:cNvPr id="56" name="Text 54"/>
          <p:cNvSpPr/>
          <p:nvPr/>
        </p:nvSpPr>
        <p:spPr>
          <a:xfrm>
            <a:off x="384048" y="3099816"/>
            <a:ext cx="193852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SMB conversion model</a:t>
            </a:r>
            <a:endParaRPr lang="en-US" sz="750" dirty="0"/>
          </a:p>
        </p:txBody>
      </p:sp>
      <p:sp>
        <p:nvSpPr>
          <p:cNvPr id="57" name="Shape 55"/>
          <p:cNvSpPr/>
          <p:nvPr/>
        </p:nvSpPr>
        <p:spPr>
          <a:xfrm>
            <a:off x="4110228" y="2962656"/>
            <a:ext cx="1495044" cy="182880"/>
          </a:xfrm>
          <a:prstGeom prst="rect">
            <a:avLst/>
          </a:prstGeom>
          <a:solidFill>
            <a:srgbClr val="0A52C4">
              <a:alpha val="70000"/>
            </a:srgbClr>
          </a:solidFill>
          <a:ln w="12700">
            <a:solidFill>
              <a:srgbClr val="0A52C4">
                <a:alpha val="90000"/>
              </a:srgbClr>
            </a:solidFill>
            <a:prstDash val="solid"/>
          </a:ln>
        </p:spPr>
        <p:txBody>
          <a:bodyPr/>
          <a:lstStyle/>
          <a:p>
            <a:endParaRPr lang="en-US"/>
          </a:p>
        </p:txBody>
      </p:sp>
      <p:sp>
        <p:nvSpPr>
          <p:cNvPr id="58" name="Shape 56"/>
          <p:cNvSpPr/>
          <p:nvPr/>
        </p:nvSpPr>
        <p:spPr>
          <a:xfrm>
            <a:off x="5186660" y="2962656"/>
            <a:ext cx="418612" cy="182880"/>
          </a:xfrm>
          <a:prstGeom prst="rect">
            <a:avLst/>
          </a:prstGeom>
          <a:solidFill>
            <a:srgbClr val="0A52C4"/>
          </a:solidFill>
          <a:ln w="12700">
            <a:solidFill>
              <a:srgbClr val="0A52C4"/>
            </a:solidFill>
            <a:prstDash val="solid"/>
          </a:ln>
        </p:spPr>
        <p:txBody>
          <a:bodyPr/>
          <a:lstStyle/>
          <a:p>
            <a:endParaRPr lang="en-US"/>
          </a:p>
        </p:txBody>
      </p:sp>
      <p:sp>
        <p:nvSpPr>
          <p:cNvPr id="59" name="Text 57"/>
          <p:cNvSpPr/>
          <p:nvPr/>
        </p:nvSpPr>
        <p:spPr>
          <a:xfrm>
            <a:off x="4174236" y="2962656"/>
            <a:ext cx="1367028"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Build  →  Phase 2 launch</a:t>
            </a:r>
            <a:endParaRPr lang="en-US" sz="750" dirty="0"/>
          </a:p>
        </p:txBody>
      </p:sp>
      <p:sp>
        <p:nvSpPr>
          <p:cNvPr id="60" name="Shape 58"/>
          <p:cNvSpPr/>
          <p:nvPr/>
        </p:nvSpPr>
        <p:spPr>
          <a:xfrm>
            <a:off x="274320" y="3273552"/>
            <a:ext cx="8503920" cy="374904"/>
          </a:xfrm>
          <a:prstGeom prst="rect">
            <a:avLst/>
          </a:prstGeom>
          <a:solidFill>
            <a:srgbClr val="FFFFFF"/>
          </a:solidFill>
          <a:ln w="12700">
            <a:solidFill>
              <a:srgbClr val="E7ECF0"/>
            </a:solidFill>
            <a:prstDash val="solid"/>
          </a:ln>
        </p:spPr>
        <p:txBody>
          <a:bodyPr/>
          <a:lstStyle/>
          <a:p>
            <a:endParaRPr lang="en-US"/>
          </a:p>
        </p:txBody>
      </p:sp>
      <p:sp>
        <p:nvSpPr>
          <p:cNvPr id="61" name="Shape 59"/>
          <p:cNvSpPr/>
          <p:nvPr/>
        </p:nvSpPr>
        <p:spPr>
          <a:xfrm>
            <a:off x="274320" y="3273552"/>
            <a:ext cx="54864" cy="374904"/>
          </a:xfrm>
          <a:prstGeom prst="rect">
            <a:avLst/>
          </a:prstGeom>
          <a:solidFill>
            <a:srgbClr val="0F3D8A"/>
          </a:solidFill>
          <a:ln w="12700">
            <a:solidFill>
              <a:srgbClr val="0F3D8A"/>
            </a:solidFill>
            <a:prstDash val="solid"/>
          </a:ln>
        </p:spPr>
        <p:txBody>
          <a:bodyPr/>
          <a:lstStyle/>
          <a:p>
            <a:endParaRPr lang="en-US"/>
          </a:p>
        </p:txBody>
      </p:sp>
      <p:sp>
        <p:nvSpPr>
          <p:cNvPr id="62" name="Text 60"/>
          <p:cNvSpPr/>
          <p:nvPr/>
        </p:nvSpPr>
        <p:spPr>
          <a:xfrm>
            <a:off x="384048" y="3300984"/>
            <a:ext cx="193852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Gen. Wealth Deflection</a:t>
            </a:r>
            <a:endParaRPr lang="en-US" sz="850" dirty="0"/>
          </a:p>
        </p:txBody>
      </p:sp>
      <p:sp>
        <p:nvSpPr>
          <p:cNvPr id="63" name="Text 61"/>
          <p:cNvSpPr/>
          <p:nvPr/>
        </p:nvSpPr>
        <p:spPr>
          <a:xfrm>
            <a:off x="384048" y="3502152"/>
            <a:ext cx="193852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Household coverage model</a:t>
            </a:r>
            <a:endParaRPr lang="en-US" sz="750" dirty="0"/>
          </a:p>
        </p:txBody>
      </p:sp>
      <p:sp>
        <p:nvSpPr>
          <p:cNvPr id="64" name="Shape 62"/>
          <p:cNvSpPr/>
          <p:nvPr/>
        </p:nvSpPr>
        <p:spPr>
          <a:xfrm>
            <a:off x="4110228" y="3364992"/>
            <a:ext cx="2279142" cy="182880"/>
          </a:xfrm>
          <a:prstGeom prst="rect">
            <a:avLst/>
          </a:prstGeom>
          <a:solidFill>
            <a:srgbClr val="0F3D8A">
              <a:alpha val="70000"/>
            </a:srgbClr>
          </a:solidFill>
          <a:ln w="12700">
            <a:solidFill>
              <a:srgbClr val="0F3D8A">
                <a:alpha val="90000"/>
              </a:srgbClr>
            </a:solidFill>
            <a:prstDash val="solid"/>
          </a:ln>
        </p:spPr>
        <p:txBody>
          <a:bodyPr/>
          <a:lstStyle/>
          <a:p>
            <a:endParaRPr lang="en-US"/>
          </a:p>
        </p:txBody>
      </p:sp>
      <p:sp>
        <p:nvSpPr>
          <p:cNvPr id="65" name="Shape 63"/>
          <p:cNvSpPr/>
          <p:nvPr/>
        </p:nvSpPr>
        <p:spPr>
          <a:xfrm>
            <a:off x="5751210" y="3364992"/>
            <a:ext cx="638160" cy="182880"/>
          </a:xfrm>
          <a:prstGeom prst="rect">
            <a:avLst/>
          </a:prstGeom>
          <a:solidFill>
            <a:srgbClr val="0F3D8A"/>
          </a:solidFill>
          <a:ln w="12700">
            <a:solidFill>
              <a:srgbClr val="0F3D8A"/>
            </a:solidFill>
            <a:prstDash val="solid"/>
          </a:ln>
        </p:spPr>
        <p:txBody>
          <a:bodyPr/>
          <a:lstStyle/>
          <a:p>
            <a:endParaRPr lang="en-US"/>
          </a:p>
        </p:txBody>
      </p:sp>
      <p:sp>
        <p:nvSpPr>
          <p:cNvPr id="66" name="Text 64"/>
          <p:cNvSpPr/>
          <p:nvPr/>
        </p:nvSpPr>
        <p:spPr>
          <a:xfrm>
            <a:off x="4174236" y="3364992"/>
            <a:ext cx="2151126"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Phase 2 build  →  Phase 3</a:t>
            </a:r>
            <a:endParaRPr lang="en-US" sz="750" dirty="0"/>
          </a:p>
        </p:txBody>
      </p:sp>
      <p:sp>
        <p:nvSpPr>
          <p:cNvPr id="67" name="Shape 65"/>
          <p:cNvSpPr/>
          <p:nvPr/>
        </p:nvSpPr>
        <p:spPr>
          <a:xfrm>
            <a:off x="274320" y="3675888"/>
            <a:ext cx="8503920" cy="374904"/>
          </a:xfrm>
          <a:prstGeom prst="rect">
            <a:avLst/>
          </a:prstGeom>
          <a:solidFill>
            <a:srgbClr val="F8F9FA"/>
          </a:solidFill>
          <a:ln w="12700">
            <a:solidFill>
              <a:srgbClr val="E7ECF0"/>
            </a:solidFill>
            <a:prstDash val="solid"/>
          </a:ln>
        </p:spPr>
        <p:txBody>
          <a:bodyPr/>
          <a:lstStyle/>
          <a:p>
            <a:endParaRPr lang="en-US"/>
          </a:p>
        </p:txBody>
      </p:sp>
      <p:sp>
        <p:nvSpPr>
          <p:cNvPr id="68" name="Shape 66"/>
          <p:cNvSpPr/>
          <p:nvPr/>
        </p:nvSpPr>
        <p:spPr>
          <a:xfrm>
            <a:off x="274320" y="3675888"/>
            <a:ext cx="54864" cy="374904"/>
          </a:xfrm>
          <a:prstGeom prst="rect">
            <a:avLst/>
          </a:prstGeom>
          <a:solidFill>
            <a:srgbClr val="073FA8"/>
          </a:solidFill>
          <a:ln w="12700">
            <a:solidFill>
              <a:srgbClr val="073FA8"/>
            </a:solidFill>
            <a:prstDash val="solid"/>
          </a:ln>
        </p:spPr>
        <p:txBody>
          <a:bodyPr/>
          <a:lstStyle/>
          <a:p>
            <a:endParaRPr lang="en-US"/>
          </a:p>
        </p:txBody>
      </p:sp>
      <p:sp>
        <p:nvSpPr>
          <p:cNvPr id="69" name="Text 67"/>
          <p:cNvSpPr/>
          <p:nvPr/>
        </p:nvSpPr>
        <p:spPr>
          <a:xfrm>
            <a:off x="384048" y="3703320"/>
            <a:ext cx="193852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Anomaly Detection</a:t>
            </a:r>
            <a:endParaRPr lang="en-US" sz="850" dirty="0"/>
          </a:p>
        </p:txBody>
      </p:sp>
      <p:sp>
        <p:nvSpPr>
          <p:cNvPr id="70" name="Text 68"/>
          <p:cNvSpPr/>
          <p:nvPr/>
        </p:nvSpPr>
        <p:spPr>
          <a:xfrm>
            <a:off x="384048" y="3904488"/>
            <a:ext cx="193852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Real-time fraud engine</a:t>
            </a:r>
            <a:endParaRPr lang="en-US" sz="750" dirty="0"/>
          </a:p>
        </p:txBody>
      </p:sp>
      <p:sp>
        <p:nvSpPr>
          <p:cNvPr id="71" name="Shape 69"/>
          <p:cNvSpPr/>
          <p:nvPr/>
        </p:nvSpPr>
        <p:spPr>
          <a:xfrm>
            <a:off x="5678424" y="3767328"/>
            <a:ext cx="2279142" cy="182880"/>
          </a:xfrm>
          <a:prstGeom prst="rect">
            <a:avLst/>
          </a:prstGeom>
          <a:solidFill>
            <a:srgbClr val="073FA8">
              <a:alpha val="70000"/>
            </a:srgbClr>
          </a:solidFill>
          <a:ln w="12700">
            <a:solidFill>
              <a:srgbClr val="073FA8">
                <a:alpha val="90000"/>
              </a:srgbClr>
            </a:solidFill>
            <a:prstDash val="solid"/>
          </a:ln>
        </p:spPr>
        <p:txBody>
          <a:bodyPr/>
          <a:lstStyle/>
          <a:p>
            <a:endParaRPr lang="en-US"/>
          </a:p>
        </p:txBody>
      </p:sp>
      <p:sp>
        <p:nvSpPr>
          <p:cNvPr id="72" name="Shape 70"/>
          <p:cNvSpPr/>
          <p:nvPr/>
        </p:nvSpPr>
        <p:spPr>
          <a:xfrm>
            <a:off x="7319406" y="3767328"/>
            <a:ext cx="638160" cy="182880"/>
          </a:xfrm>
          <a:prstGeom prst="rect">
            <a:avLst/>
          </a:prstGeom>
          <a:solidFill>
            <a:srgbClr val="073FA8"/>
          </a:solidFill>
          <a:ln w="12700">
            <a:solidFill>
              <a:srgbClr val="073FA8"/>
            </a:solidFill>
            <a:prstDash val="solid"/>
          </a:ln>
        </p:spPr>
        <p:txBody>
          <a:bodyPr/>
          <a:lstStyle/>
          <a:p>
            <a:endParaRPr lang="en-US"/>
          </a:p>
        </p:txBody>
      </p:sp>
      <p:sp>
        <p:nvSpPr>
          <p:cNvPr id="73" name="Text 71"/>
          <p:cNvSpPr/>
          <p:nvPr/>
        </p:nvSpPr>
        <p:spPr>
          <a:xfrm>
            <a:off x="5742432" y="3767328"/>
            <a:ext cx="2151126"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Build  →  Phase 3 launch</a:t>
            </a:r>
            <a:endParaRPr lang="en-US" sz="750" dirty="0"/>
          </a:p>
        </p:txBody>
      </p:sp>
      <p:sp>
        <p:nvSpPr>
          <p:cNvPr id="74" name="Shape 72"/>
          <p:cNvSpPr/>
          <p:nvPr/>
        </p:nvSpPr>
        <p:spPr>
          <a:xfrm>
            <a:off x="274320" y="4078224"/>
            <a:ext cx="8503920" cy="374904"/>
          </a:xfrm>
          <a:prstGeom prst="rect">
            <a:avLst/>
          </a:prstGeom>
          <a:solidFill>
            <a:srgbClr val="FFFFFF"/>
          </a:solidFill>
          <a:ln w="12700">
            <a:solidFill>
              <a:srgbClr val="E7ECF0"/>
            </a:solidFill>
            <a:prstDash val="solid"/>
          </a:ln>
        </p:spPr>
        <p:txBody>
          <a:bodyPr/>
          <a:lstStyle/>
          <a:p>
            <a:endParaRPr lang="en-US"/>
          </a:p>
        </p:txBody>
      </p:sp>
      <p:sp>
        <p:nvSpPr>
          <p:cNvPr id="75" name="Shape 73"/>
          <p:cNvSpPr/>
          <p:nvPr/>
        </p:nvSpPr>
        <p:spPr>
          <a:xfrm>
            <a:off x="274320" y="4078224"/>
            <a:ext cx="54864" cy="374904"/>
          </a:xfrm>
          <a:prstGeom prst="rect">
            <a:avLst/>
          </a:prstGeom>
          <a:solidFill>
            <a:srgbClr val="0D2E7A"/>
          </a:solidFill>
          <a:ln w="12700">
            <a:solidFill>
              <a:srgbClr val="0D2E7A"/>
            </a:solidFill>
            <a:prstDash val="solid"/>
          </a:ln>
        </p:spPr>
        <p:txBody>
          <a:bodyPr/>
          <a:lstStyle/>
          <a:p>
            <a:endParaRPr lang="en-US"/>
          </a:p>
        </p:txBody>
      </p:sp>
      <p:sp>
        <p:nvSpPr>
          <p:cNvPr id="76" name="Text 74"/>
          <p:cNvSpPr/>
          <p:nvPr/>
        </p:nvSpPr>
        <p:spPr>
          <a:xfrm>
            <a:off x="384048" y="4105656"/>
            <a:ext cx="1938528" cy="201168"/>
          </a:xfrm>
          <a:prstGeom prst="rect">
            <a:avLst/>
          </a:prstGeom>
          <a:noFill/>
          <a:ln/>
        </p:spPr>
        <p:txBody>
          <a:bodyPr wrap="square" lIns="0" tIns="0" rIns="0" bIns="0" rtlCol="0" anchor="ctr"/>
          <a:lstStyle/>
          <a:p>
            <a:pPr marL="0" indent="0">
              <a:buNone/>
            </a:pPr>
            <a:r>
              <a:rPr lang="en-US" sz="850" b="1" dirty="0">
                <a:solidFill>
                  <a:srgbClr val="06185F"/>
                </a:solidFill>
                <a:latin typeface="Calibri" pitchFamily="34" charset="0"/>
                <a:ea typeface="Calibri" pitchFamily="34" charset="-122"/>
                <a:cs typeface="Calibri" pitchFamily="34" charset="-120"/>
              </a:rPr>
              <a:t>FI Decision Studio</a:t>
            </a:r>
            <a:endParaRPr lang="en-US" sz="850" dirty="0"/>
          </a:p>
        </p:txBody>
      </p:sp>
      <p:sp>
        <p:nvSpPr>
          <p:cNvPr id="77" name="Text 75"/>
          <p:cNvSpPr/>
          <p:nvPr/>
        </p:nvSpPr>
        <p:spPr>
          <a:xfrm>
            <a:off x="384048" y="4306824"/>
            <a:ext cx="1938528" cy="137160"/>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AutoML platform  ·  GA</a:t>
            </a:r>
            <a:endParaRPr lang="en-US" sz="750" dirty="0"/>
          </a:p>
        </p:txBody>
      </p:sp>
      <p:sp>
        <p:nvSpPr>
          <p:cNvPr id="78" name="Shape 76"/>
          <p:cNvSpPr/>
          <p:nvPr/>
        </p:nvSpPr>
        <p:spPr>
          <a:xfrm>
            <a:off x="5678424" y="4169664"/>
            <a:ext cx="3063240" cy="182880"/>
          </a:xfrm>
          <a:prstGeom prst="rect">
            <a:avLst/>
          </a:prstGeom>
          <a:solidFill>
            <a:srgbClr val="0D2E7A">
              <a:alpha val="70000"/>
            </a:srgbClr>
          </a:solidFill>
          <a:ln w="12700">
            <a:solidFill>
              <a:srgbClr val="0D2E7A">
                <a:alpha val="90000"/>
              </a:srgbClr>
            </a:solidFill>
            <a:prstDash val="solid"/>
          </a:ln>
        </p:spPr>
        <p:txBody>
          <a:bodyPr/>
          <a:lstStyle/>
          <a:p>
            <a:endParaRPr lang="en-US"/>
          </a:p>
        </p:txBody>
      </p:sp>
      <p:sp>
        <p:nvSpPr>
          <p:cNvPr id="79" name="Shape 77"/>
          <p:cNvSpPr/>
          <p:nvPr/>
        </p:nvSpPr>
        <p:spPr>
          <a:xfrm>
            <a:off x="8030718" y="4169664"/>
            <a:ext cx="710946" cy="182880"/>
          </a:xfrm>
          <a:prstGeom prst="rect">
            <a:avLst/>
          </a:prstGeom>
          <a:solidFill>
            <a:srgbClr val="0D2E7A"/>
          </a:solidFill>
          <a:ln w="12700">
            <a:solidFill>
              <a:srgbClr val="0D2E7A"/>
            </a:solidFill>
            <a:prstDash val="solid"/>
          </a:ln>
        </p:spPr>
        <p:txBody>
          <a:bodyPr/>
          <a:lstStyle/>
          <a:p>
            <a:endParaRPr lang="en-US"/>
          </a:p>
        </p:txBody>
      </p:sp>
      <p:sp>
        <p:nvSpPr>
          <p:cNvPr id="80" name="Text 78"/>
          <p:cNvSpPr/>
          <p:nvPr/>
        </p:nvSpPr>
        <p:spPr>
          <a:xfrm>
            <a:off x="5742432" y="4169664"/>
            <a:ext cx="2935224" cy="182880"/>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Platform build  →  Phase 3 GA</a:t>
            </a:r>
            <a:endParaRPr lang="en-US" sz="750" dirty="0"/>
          </a:p>
        </p:txBody>
      </p:sp>
      <p:sp>
        <p:nvSpPr>
          <p:cNvPr id="81" name="Shape 79"/>
          <p:cNvSpPr/>
          <p:nvPr/>
        </p:nvSpPr>
        <p:spPr>
          <a:xfrm>
            <a:off x="384048" y="4919472"/>
            <a:ext cx="457200" cy="128016"/>
          </a:xfrm>
          <a:prstGeom prst="rect">
            <a:avLst/>
          </a:prstGeom>
          <a:solidFill>
            <a:srgbClr val="085CE5">
              <a:alpha val="70000"/>
            </a:srgbClr>
          </a:solidFill>
          <a:ln w="12700">
            <a:solidFill>
              <a:srgbClr val="085CE5"/>
            </a:solidFill>
            <a:prstDash val="solid"/>
          </a:ln>
        </p:spPr>
        <p:txBody>
          <a:bodyPr/>
          <a:lstStyle/>
          <a:p>
            <a:endParaRPr lang="en-US"/>
          </a:p>
        </p:txBody>
      </p:sp>
      <p:sp>
        <p:nvSpPr>
          <p:cNvPr id="82" name="Text 80"/>
          <p:cNvSpPr/>
          <p:nvPr/>
        </p:nvSpPr>
        <p:spPr>
          <a:xfrm>
            <a:off x="896112" y="4919472"/>
            <a:ext cx="1280160" cy="128016"/>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Build / validate</a:t>
            </a:r>
            <a:endParaRPr lang="en-US" sz="750" dirty="0"/>
          </a:p>
        </p:txBody>
      </p:sp>
      <p:sp>
        <p:nvSpPr>
          <p:cNvPr id="83" name="Shape 81"/>
          <p:cNvSpPr/>
          <p:nvPr/>
        </p:nvSpPr>
        <p:spPr>
          <a:xfrm>
            <a:off x="2304288" y="4919472"/>
            <a:ext cx="457200" cy="128016"/>
          </a:xfrm>
          <a:prstGeom prst="rect">
            <a:avLst/>
          </a:prstGeom>
          <a:solidFill>
            <a:srgbClr val="085CE5"/>
          </a:solidFill>
          <a:ln w="12700">
            <a:solidFill>
              <a:srgbClr val="085CE5"/>
            </a:solidFill>
            <a:prstDash val="solid"/>
          </a:ln>
        </p:spPr>
        <p:txBody>
          <a:bodyPr/>
          <a:lstStyle/>
          <a:p>
            <a:endParaRPr lang="en-US"/>
          </a:p>
        </p:txBody>
      </p:sp>
      <p:sp>
        <p:nvSpPr>
          <p:cNvPr id="84" name="Text 82"/>
          <p:cNvSpPr/>
          <p:nvPr/>
        </p:nvSpPr>
        <p:spPr>
          <a:xfrm>
            <a:off x="2816352" y="4919472"/>
            <a:ext cx="1280160" cy="128016"/>
          </a:xfrm>
          <a:prstGeom prst="rect">
            <a:avLst/>
          </a:prstGeom>
          <a:noFill/>
          <a:ln/>
        </p:spPr>
        <p:txBody>
          <a:bodyPr wrap="square" lIns="0" tIns="0" rIns="0" bIns="0" rtlCol="0" anchor="ctr"/>
          <a:lstStyle/>
          <a:p>
            <a:pPr marL="0" indent="0">
              <a:buNone/>
            </a:pPr>
            <a:r>
              <a:rPr lang="en-US" sz="750" dirty="0">
                <a:solidFill>
                  <a:srgbClr val="575A5D"/>
                </a:solidFill>
                <a:latin typeface="Calibri" pitchFamily="34" charset="0"/>
                <a:ea typeface="Calibri" pitchFamily="34" charset="-122"/>
                <a:cs typeface="Calibri" pitchFamily="34" charset="-120"/>
              </a:rPr>
              <a:t>Launch window</a:t>
            </a:r>
            <a:endParaRPr lang="en-US" sz="750" dirty="0"/>
          </a:p>
        </p:txBody>
      </p:sp>
      <p:sp>
        <p:nvSpPr>
          <p:cNvPr id="85" name="Shape 83"/>
          <p:cNvSpPr/>
          <p:nvPr/>
        </p:nvSpPr>
        <p:spPr>
          <a:xfrm>
            <a:off x="2519172" y="1115568"/>
            <a:ext cx="36576" cy="3767328"/>
          </a:xfrm>
          <a:prstGeom prst="rect">
            <a:avLst/>
          </a:prstGeom>
          <a:solidFill>
            <a:srgbClr val="76DCFD"/>
          </a:solidFill>
          <a:ln w="12700">
            <a:solidFill>
              <a:srgbClr val="76DCFD"/>
            </a:solidFill>
            <a:prstDash val="solid"/>
          </a:ln>
        </p:spPr>
        <p:txBody>
          <a:bodyPr/>
          <a:lstStyle/>
          <a:p>
            <a:endParaRPr lang="en-US"/>
          </a:p>
        </p:txBody>
      </p:sp>
      <p:sp>
        <p:nvSpPr>
          <p:cNvPr id="86" name="Text 84"/>
          <p:cNvSpPr/>
          <p:nvPr/>
        </p:nvSpPr>
        <p:spPr>
          <a:xfrm>
            <a:off x="2395728" y="1097280"/>
            <a:ext cx="502920" cy="219456"/>
          </a:xfrm>
          <a:prstGeom prst="rect">
            <a:avLst/>
          </a:prstGeom>
          <a:noFill/>
          <a:ln/>
        </p:spPr>
        <p:txBody>
          <a:bodyPr wrap="square" lIns="0" tIns="0" rIns="0" bIns="0" rtlCol="0" anchor="ctr"/>
          <a:lstStyle/>
          <a:p>
            <a:pPr marL="0" indent="0" algn="ctr">
              <a:buNone/>
            </a:pPr>
            <a:r>
              <a:rPr lang="en-US" sz="700" b="1" dirty="0">
                <a:solidFill>
                  <a:srgbClr val="76DCFD"/>
                </a:solidFill>
                <a:latin typeface="Calibri" pitchFamily="34" charset="0"/>
                <a:ea typeface="Calibri" pitchFamily="34" charset="-122"/>
                <a:cs typeface="Calibri" pitchFamily="34" charset="-120"/>
              </a:rPr>
              <a:t>NOW</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txBody>
          <a:bodyPr/>
          <a:lstStyle/>
          <a:p>
            <a:endParaRPr lang="en-US"/>
          </a:p>
        </p:txBody>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Phased Delivery Roadmap — FY26 Q3 through FY28 Q2</a:t>
            </a:r>
            <a:endParaRPr lang="en-US" sz="2200" dirty="0"/>
          </a:p>
        </p:txBody>
      </p:sp>
      <p:sp>
        <p:nvSpPr>
          <p:cNvPr id="4" name="Shape 2"/>
          <p:cNvSpPr/>
          <p:nvPr/>
        </p:nvSpPr>
        <p:spPr>
          <a:xfrm>
            <a:off x="256032" y="749808"/>
            <a:ext cx="2816352" cy="413308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256032" y="749808"/>
            <a:ext cx="2816352" cy="804672"/>
          </a:xfrm>
          <a:prstGeom prst="rect">
            <a:avLst/>
          </a:prstGeom>
          <a:solidFill>
            <a:srgbClr val="085CE5"/>
          </a:solidFill>
          <a:ln w="12700">
            <a:solidFill>
              <a:srgbClr val="085CE5"/>
            </a:solidFill>
            <a:prstDash val="solid"/>
          </a:ln>
        </p:spPr>
        <p:txBody>
          <a:bodyPr/>
          <a:lstStyle/>
          <a:p>
            <a:endParaRPr lang="en-US"/>
          </a:p>
        </p:txBody>
      </p:sp>
      <p:sp>
        <p:nvSpPr>
          <p:cNvPr id="6" name="Text 4"/>
          <p:cNvSpPr/>
          <p:nvPr/>
        </p:nvSpPr>
        <p:spPr>
          <a:xfrm>
            <a:off x="365760" y="804672"/>
            <a:ext cx="621792" cy="658368"/>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01</a:t>
            </a:r>
            <a:endParaRPr lang="en-US" sz="3600" dirty="0"/>
          </a:p>
        </p:txBody>
      </p:sp>
      <p:sp>
        <p:nvSpPr>
          <p:cNvPr id="7" name="Shape 5"/>
          <p:cNvSpPr/>
          <p:nvPr/>
        </p:nvSpPr>
        <p:spPr>
          <a:xfrm>
            <a:off x="1024128" y="896112"/>
            <a:ext cx="36576" cy="475488"/>
          </a:xfrm>
          <a:prstGeom prst="rect">
            <a:avLst/>
          </a:prstGeom>
          <a:solidFill>
            <a:srgbClr val="FFFFFF">
              <a:alpha val="60000"/>
            </a:srgbClr>
          </a:solidFill>
          <a:ln w="12700">
            <a:solidFill>
              <a:srgbClr val="FFFFFF">
                <a:alpha val="60000"/>
              </a:srgbClr>
            </a:solidFill>
            <a:prstDash val="solid"/>
          </a:ln>
        </p:spPr>
        <p:txBody>
          <a:bodyPr/>
          <a:lstStyle/>
          <a:p>
            <a:endParaRPr lang="en-US"/>
          </a:p>
        </p:txBody>
      </p:sp>
      <p:sp>
        <p:nvSpPr>
          <p:cNvPr id="8" name="Text 6"/>
          <p:cNvSpPr/>
          <p:nvPr/>
        </p:nvSpPr>
        <p:spPr>
          <a:xfrm>
            <a:off x="1133856" y="822960"/>
            <a:ext cx="182880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Foundation</a:t>
            </a:r>
            <a:endParaRPr lang="en-US" sz="1500" dirty="0"/>
          </a:p>
        </p:txBody>
      </p:sp>
      <p:sp>
        <p:nvSpPr>
          <p:cNvPr id="9" name="Text 7"/>
          <p:cNvSpPr/>
          <p:nvPr/>
        </p:nvSpPr>
        <p:spPr>
          <a:xfrm>
            <a:off x="1133856" y="1188720"/>
            <a:ext cx="1828800" cy="25603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Q3–Q4 FY26  (Jan–Jun 2026)</a:t>
            </a:r>
            <a:endParaRPr lang="en-US" sz="1000" dirty="0"/>
          </a:p>
        </p:txBody>
      </p:sp>
      <p:sp>
        <p:nvSpPr>
          <p:cNvPr id="10" name="Text 8"/>
          <p:cNvSpPr/>
          <p:nvPr/>
        </p:nvSpPr>
        <p:spPr>
          <a:xfrm>
            <a:off x="420624" y="1664208"/>
            <a:ext cx="2542032" cy="1938528"/>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Hire core team: Data Engineers + ML Engineers</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Stand up cloud data platform and ML infrastructure</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Ingest ACH payment rails — direct deposit monitoring live</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Churn Sentinel Phase 1: ACH cadence + originator change alerts</a:t>
            </a:r>
            <a:endParaRPr lang="en-US" sz="1000" dirty="0"/>
          </a:p>
        </p:txBody>
      </p:sp>
      <p:sp>
        <p:nvSpPr>
          <p:cNvPr id="11" name="Shape 9"/>
          <p:cNvSpPr/>
          <p:nvPr/>
        </p:nvSpPr>
        <p:spPr>
          <a:xfrm>
            <a:off x="256032" y="3675888"/>
            <a:ext cx="2816352" cy="237744"/>
          </a:xfrm>
          <a:prstGeom prst="rect">
            <a:avLst/>
          </a:prstGeom>
          <a:solidFill>
            <a:srgbClr val="085CE5">
              <a:alpha val="12000"/>
            </a:srgbClr>
          </a:solidFill>
          <a:ln w="12700">
            <a:solidFill>
              <a:srgbClr val="085CE5">
                <a:alpha val="30000"/>
              </a:srgbClr>
            </a:solidFill>
            <a:prstDash val="solid"/>
          </a:ln>
        </p:spPr>
        <p:txBody>
          <a:bodyPr/>
          <a:lstStyle/>
          <a:p>
            <a:endParaRPr lang="en-US"/>
          </a:p>
        </p:txBody>
      </p:sp>
      <p:sp>
        <p:nvSpPr>
          <p:cNvPr id="12" name="Shape 10"/>
          <p:cNvSpPr/>
          <p:nvPr/>
        </p:nvSpPr>
        <p:spPr>
          <a:xfrm>
            <a:off x="256032" y="3675888"/>
            <a:ext cx="54864" cy="237744"/>
          </a:xfrm>
          <a:prstGeom prst="rect">
            <a:avLst/>
          </a:prstGeom>
          <a:solidFill>
            <a:srgbClr val="085CE5"/>
          </a:solidFill>
          <a:ln w="12700">
            <a:solidFill>
              <a:srgbClr val="085CE5"/>
            </a:solidFill>
            <a:prstDash val="solid"/>
          </a:ln>
        </p:spPr>
        <p:txBody>
          <a:bodyPr/>
          <a:lstStyle/>
          <a:p>
            <a:endParaRPr lang="en-US"/>
          </a:p>
        </p:txBody>
      </p:sp>
      <p:sp>
        <p:nvSpPr>
          <p:cNvPr id="13" name="Text 11"/>
          <p:cNvSpPr/>
          <p:nvPr/>
        </p:nvSpPr>
        <p:spPr>
          <a:xfrm>
            <a:off x="384048" y="3675888"/>
            <a:ext cx="2651760" cy="237744"/>
          </a:xfrm>
          <a:prstGeom prst="rect">
            <a:avLst/>
          </a:prstGeom>
          <a:noFill/>
          <a:ln/>
        </p:spPr>
        <p:txBody>
          <a:bodyPr wrap="square" lIns="0" tIns="0" rIns="0" bIns="0" rtlCol="0" anchor="ctr"/>
          <a:lstStyle/>
          <a:p>
            <a:pPr marL="0" indent="0">
              <a:buNone/>
            </a:pPr>
            <a:r>
              <a:rPr lang="en-US" sz="750" b="1" kern="0" spc="50" dirty="0">
                <a:solidFill>
                  <a:srgbClr val="085CE5"/>
                </a:solidFill>
                <a:latin typeface="Calibri" pitchFamily="34" charset="0"/>
                <a:ea typeface="Calibri" pitchFamily="34" charset="-122"/>
                <a:cs typeface="Calibri" pitchFamily="34" charset="-120"/>
              </a:rPr>
              <a:t>APPS DELIVERING THIS PHASE</a:t>
            </a:r>
            <a:endParaRPr lang="en-US" sz="750" dirty="0"/>
          </a:p>
        </p:txBody>
      </p:sp>
      <p:sp>
        <p:nvSpPr>
          <p:cNvPr id="14" name="Shape 12"/>
          <p:cNvSpPr/>
          <p:nvPr/>
        </p:nvSpPr>
        <p:spPr>
          <a:xfrm>
            <a:off x="384048" y="3950208"/>
            <a:ext cx="2523744" cy="256032"/>
          </a:xfrm>
          <a:prstGeom prst="rect">
            <a:avLst/>
          </a:prstGeom>
          <a:solidFill>
            <a:srgbClr val="085CE5"/>
          </a:solidFill>
          <a:ln w="12700">
            <a:solidFill>
              <a:srgbClr val="085CE5"/>
            </a:solidFill>
            <a:prstDash val="solid"/>
          </a:ln>
        </p:spPr>
        <p:txBody>
          <a:bodyPr/>
          <a:lstStyle/>
          <a:p>
            <a:endParaRPr lang="en-US"/>
          </a:p>
        </p:txBody>
      </p:sp>
      <p:sp>
        <p:nvSpPr>
          <p:cNvPr id="15" name="Shape 13"/>
          <p:cNvSpPr/>
          <p:nvPr/>
        </p:nvSpPr>
        <p:spPr>
          <a:xfrm>
            <a:off x="438912" y="4014216"/>
            <a:ext cx="128016" cy="128016"/>
          </a:xfrm>
          <a:prstGeom prst="ellipse">
            <a:avLst/>
          </a:prstGeom>
          <a:solidFill>
            <a:srgbClr val="FFFFFF">
              <a:alpha val="70000"/>
            </a:srgbClr>
          </a:solidFill>
          <a:ln w="12700">
            <a:solidFill>
              <a:srgbClr val="FFFFFF">
                <a:alpha val="70000"/>
              </a:srgbClr>
            </a:solidFill>
            <a:prstDash val="solid"/>
          </a:ln>
        </p:spPr>
        <p:txBody>
          <a:bodyPr/>
          <a:lstStyle/>
          <a:p>
            <a:endParaRPr lang="en-US"/>
          </a:p>
        </p:txBody>
      </p:sp>
      <p:sp>
        <p:nvSpPr>
          <p:cNvPr id="16" name="Text 14"/>
          <p:cNvSpPr/>
          <p:nvPr/>
        </p:nvSpPr>
        <p:spPr>
          <a:xfrm>
            <a:off x="621792" y="3950208"/>
            <a:ext cx="155448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Churn Sentinel</a:t>
            </a:r>
            <a:endParaRPr lang="en-US" sz="900" dirty="0"/>
          </a:p>
        </p:txBody>
      </p:sp>
      <p:sp>
        <p:nvSpPr>
          <p:cNvPr id="17" name="Shape 15"/>
          <p:cNvSpPr/>
          <p:nvPr/>
        </p:nvSpPr>
        <p:spPr>
          <a:xfrm>
            <a:off x="2029968" y="3977640"/>
            <a:ext cx="749808" cy="201168"/>
          </a:xfrm>
          <a:prstGeom prst="rect">
            <a:avLst/>
          </a:prstGeom>
          <a:solidFill>
            <a:srgbClr val="FFFFFF">
              <a:alpha val="80000"/>
            </a:srgbClr>
          </a:solidFill>
          <a:ln w="12700">
            <a:solidFill>
              <a:srgbClr val="FFFFFF">
                <a:alpha val="60000"/>
              </a:srgbClr>
            </a:solidFill>
            <a:prstDash val="solid"/>
          </a:ln>
        </p:spPr>
        <p:txBody>
          <a:bodyPr/>
          <a:lstStyle/>
          <a:p>
            <a:endParaRPr lang="en-US"/>
          </a:p>
        </p:txBody>
      </p:sp>
      <p:sp>
        <p:nvSpPr>
          <p:cNvPr id="18" name="Text 16"/>
          <p:cNvSpPr/>
          <p:nvPr/>
        </p:nvSpPr>
        <p:spPr>
          <a:xfrm>
            <a:off x="2029968" y="3977640"/>
            <a:ext cx="749808"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ACH</a:t>
            </a:r>
            <a:endParaRPr lang="en-US" sz="700" dirty="0"/>
          </a:p>
        </p:txBody>
      </p:sp>
      <p:sp>
        <p:nvSpPr>
          <p:cNvPr id="19" name="Shape 17"/>
          <p:cNvSpPr/>
          <p:nvPr/>
        </p:nvSpPr>
        <p:spPr>
          <a:xfrm>
            <a:off x="3200400" y="749808"/>
            <a:ext cx="2816352" cy="413308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20" name="Shape 18"/>
          <p:cNvSpPr/>
          <p:nvPr/>
        </p:nvSpPr>
        <p:spPr>
          <a:xfrm>
            <a:off x="3200400" y="749808"/>
            <a:ext cx="2816352" cy="804672"/>
          </a:xfrm>
          <a:prstGeom prst="rect">
            <a:avLst/>
          </a:prstGeom>
          <a:solidFill>
            <a:srgbClr val="073FA8"/>
          </a:solidFill>
          <a:ln w="12700">
            <a:solidFill>
              <a:srgbClr val="073FA8"/>
            </a:solidFill>
            <a:prstDash val="solid"/>
          </a:ln>
        </p:spPr>
        <p:txBody>
          <a:bodyPr/>
          <a:lstStyle/>
          <a:p>
            <a:endParaRPr lang="en-US"/>
          </a:p>
        </p:txBody>
      </p:sp>
      <p:sp>
        <p:nvSpPr>
          <p:cNvPr id="21" name="Text 19"/>
          <p:cNvSpPr/>
          <p:nvPr/>
        </p:nvSpPr>
        <p:spPr>
          <a:xfrm>
            <a:off x="3310128" y="804672"/>
            <a:ext cx="621792" cy="658368"/>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02</a:t>
            </a:r>
            <a:endParaRPr lang="en-US" sz="3600" dirty="0"/>
          </a:p>
        </p:txBody>
      </p:sp>
      <p:sp>
        <p:nvSpPr>
          <p:cNvPr id="22" name="Shape 20"/>
          <p:cNvSpPr/>
          <p:nvPr/>
        </p:nvSpPr>
        <p:spPr>
          <a:xfrm>
            <a:off x="3968496" y="896112"/>
            <a:ext cx="36576" cy="475488"/>
          </a:xfrm>
          <a:prstGeom prst="rect">
            <a:avLst/>
          </a:prstGeom>
          <a:solidFill>
            <a:srgbClr val="FFFFFF">
              <a:alpha val="60000"/>
            </a:srgbClr>
          </a:solidFill>
          <a:ln w="12700">
            <a:solidFill>
              <a:srgbClr val="FFFFFF">
                <a:alpha val="60000"/>
              </a:srgbClr>
            </a:solidFill>
            <a:prstDash val="solid"/>
          </a:ln>
        </p:spPr>
        <p:txBody>
          <a:bodyPr/>
          <a:lstStyle/>
          <a:p>
            <a:endParaRPr lang="en-US"/>
          </a:p>
        </p:txBody>
      </p:sp>
      <p:sp>
        <p:nvSpPr>
          <p:cNvPr id="23" name="Text 21"/>
          <p:cNvSpPr/>
          <p:nvPr/>
        </p:nvSpPr>
        <p:spPr>
          <a:xfrm>
            <a:off x="4078224" y="822960"/>
            <a:ext cx="182880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Core Applications</a:t>
            </a:r>
            <a:endParaRPr lang="en-US" sz="1500" dirty="0"/>
          </a:p>
        </p:txBody>
      </p:sp>
      <p:sp>
        <p:nvSpPr>
          <p:cNvPr id="24" name="Text 22"/>
          <p:cNvSpPr/>
          <p:nvPr/>
        </p:nvSpPr>
        <p:spPr>
          <a:xfrm>
            <a:off x="4078224" y="1188720"/>
            <a:ext cx="1828800" cy="25603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Q1–Q2 FY27  (Jul–Dec 2026)</a:t>
            </a:r>
            <a:endParaRPr lang="en-US" sz="1000" dirty="0"/>
          </a:p>
        </p:txBody>
      </p:sp>
      <p:sp>
        <p:nvSpPr>
          <p:cNvPr id="25" name="Text 23"/>
          <p:cNvSpPr/>
          <p:nvPr/>
        </p:nvSpPr>
        <p:spPr>
          <a:xfrm>
            <a:off x="3364992" y="1664208"/>
            <a:ext cx="2542032" cy="1938528"/>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Churn Sentinel Phase 2: core banking + Banno digital signals</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CommercialSignal: personal-to-business conversion model</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Generational Wealth household relationship engine</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Exec dashboards + FI banker score explorer live</a:t>
            </a:r>
            <a:endParaRPr lang="en-US" sz="1000" dirty="0"/>
          </a:p>
        </p:txBody>
      </p:sp>
      <p:sp>
        <p:nvSpPr>
          <p:cNvPr id="26" name="Shape 24"/>
          <p:cNvSpPr/>
          <p:nvPr/>
        </p:nvSpPr>
        <p:spPr>
          <a:xfrm>
            <a:off x="3200400" y="3438144"/>
            <a:ext cx="2816352" cy="237744"/>
          </a:xfrm>
          <a:prstGeom prst="rect">
            <a:avLst/>
          </a:prstGeom>
          <a:solidFill>
            <a:srgbClr val="073FA8">
              <a:alpha val="12000"/>
            </a:srgbClr>
          </a:solidFill>
          <a:ln w="12700">
            <a:solidFill>
              <a:srgbClr val="073FA8">
                <a:alpha val="30000"/>
              </a:srgbClr>
            </a:solidFill>
            <a:prstDash val="solid"/>
          </a:ln>
        </p:spPr>
        <p:txBody>
          <a:bodyPr/>
          <a:lstStyle/>
          <a:p>
            <a:endParaRPr lang="en-US"/>
          </a:p>
        </p:txBody>
      </p:sp>
      <p:sp>
        <p:nvSpPr>
          <p:cNvPr id="27" name="Shape 25"/>
          <p:cNvSpPr/>
          <p:nvPr/>
        </p:nvSpPr>
        <p:spPr>
          <a:xfrm>
            <a:off x="3200400" y="3438144"/>
            <a:ext cx="54864" cy="237744"/>
          </a:xfrm>
          <a:prstGeom prst="rect">
            <a:avLst/>
          </a:prstGeom>
          <a:solidFill>
            <a:srgbClr val="073FA8"/>
          </a:solidFill>
          <a:ln w="12700">
            <a:solidFill>
              <a:srgbClr val="073FA8"/>
            </a:solidFill>
            <a:prstDash val="solid"/>
          </a:ln>
        </p:spPr>
        <p:txBody>
          <a:bodyPr/>
          <a:lstStyle/>
          <a:p>
            <a:endParaRPr lang="en-US"/>
          </a:p>
        </p:txBody>
      </p:sp>
      <p:sp>
        <p:nvSpPr>
          <p:cNvPr id="28" name="Text 26"/>
          <p:cNvSpPr/>
          <p:nvPr/>
        </p:nvSpPr>
        <p:spPr>
          <a:xfrm>
            <a:off x="3328416" y="3438144"/>
            <a:ext cx="2651760" cy="237744"/>
          </a:xfrm>
          <a:prstGeom prst="rect">
            <a:avLst/>
          </a:prstGeom>
          <a:noFill/>
          <a:ln/>
        </p:spPr>
        <p:txBody>
          <a:bodyPr wrap="square" lIns="0" tIns="0" rIns="0" bIns="0" rtlCol="0" anchor="ctr"/>
          <a:lstStyle/>
          <a:p>
            <a:pPr marL="0" indent="0">
              <a:buNone/>
            </a:pPr>
            <a:r>
              <a:rPr lang="en-US" sz="750" b="1" kern="0" spc="50" dirty="0">
                <a:solidFill>
                  <a:srgbClr val="073FA8"/>
                </a:solidFill>
                <a:latin typeface="Calibri" pitchFamily="34" charset="0"/>
                <a:ea typeface="Calibri" pitchFamily="34" charset="-122"/>
                <a:cs typeface="Calibri" pitchFamily="34" charset="-120"/>
              </a:rPr>
              <a:t>APPS DELIVERING THIS PHASE</a:t>
            </a:r>
            <a:endParaRPr lang="en-US" sz="750" dirty="0"/>
          </a:p>
        </p:txBody>
      </p:sp>
      <p:sp>
        <p:nvSpPr>
          <p:cNvPr id="29" name="Shape 27"/>
          <p:cNvSpPr/>
          <p:nvPr/>
        </p:nvSpPr>
        <p:spPr>
          <a:xfrm>
            <a:off x="3328416" y="3712464"/>
            <a:ext cx="2523744" cy="219456"/>
          </a:xfrm>
          <a:prstGeom prst="rect">
            <a:avLst/>
          </a:prstGeom>
          <a:solidFill>
            <a:srgbClr val="085CE5"/>
          </a:solidFill>
          <a:ln w="12700">
            <a:solidFill>
              <a:srgbClr val="085CE5"/>
            </a:solidFill>
            <a:prstDash val="solid"/>
          </a:ln>
        </p:spPr>
        <p:txBody>
          <a:bodyPr/>
          <a:lstStyle/>
          <a:p>
            <a:endParaRPr lang="en-US"/>
          </a:p>
        </p:txBody>
      </p:sp>
      <p:sp>
        <p:nvSpPr>
          <p:cNvPr id="30" name="Shape 28"/>
          <p:cNvSpPr/>
          <p:nvPr/>
        </p:nvSpPr>
        <p:spPr>
          <a:xfrm>
            <a:off x="3383280" y="3758184"/>
            <a:ext cx="128016" cy="128016"/>
          </a:xfrm>
          <a:prstGeom prst="ellipse">
            <a:avLst/>
          </a:prstGeom>
          <a:solidFill>
            <a:srgbClr val="FFFFFF">
              <a:alpha val="70000"/>
            </a:srgbClr>
          </a:solidFill>
          <a:ln w="12700">
            <a:solidFill>
              <a:srgbClr val="FFFFFF">
                <a:alpha val="70000"/>
              </a:srgbClr>
            </a:solidFill>
            <a:prstDash val="solid"/>
          </a:ln>
        </p:spPr>
        <p:txBody>
          <a:bodyPr/>
          <a:lstStyle/>
          <a:p>
            <a:endParaRPr lang="en-US"/>
          </a:p>
        </p:txBody>
      </p:sp>
      <p:sp>
        <p:nvSpPr>
          <p:cNvPr id="31" name="Text 29"/>
          <p:cNvSpPr/>
          <p:nvPr/>
        </p:nvSpPr>
        <p:spPr>
          <a:xfrm>
            <a:off x="3566160" y="3712464"/>
            <a:ext cx="1554480" cy="219456"/>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Churn Sentinel +</a:t>
            </a:r>
            <a:endParaRPr lang="en-US" sz="800" dirty="0"/>
          </a:p>
        </p:txBody>
      </p:sp>
      <p:sp>
        <p:nvSpPr>
          <p:cNvPr id="32" name="Shape 30"/>
          <p:cNvSpPr/>
          <p:nvPr/>
        </p:nvSpPr>
        <p:spPr>
          <a:xfrm>
            <a:off x="4974336" y="3739896"/>
            <a:ext cx="749808" cy="164592"/>
          </a:xfrm>
          <a:prstGeom prst="rect">
            <a:avLst/>
          </a:prstGeom>
          <a:solidFill>
            <a:srgbClr val="FFFFFF">
              <a:alpha val="80000"/>
            </a:srgbClr>
          </a:solidFill>
          <a:ln w="12700">
            <a:solidFill>
              <a:srgbClr val="FFFFFF">
                <a:alpha val="60000"/>
              </a:srgbClr>
            </a:solidFill>
            <a:prstDash val="solid"/>
          </a:ln>
        </p:spPr>
        <p:txBody>
          <a:bodyPr/>
          <a:lstStyle/>
          <a:p>
            <a:endParaRPr lang="en-US"/>
          </a:p>
        </p:txBody>
      </p:sp>
      <p:sp>
        <p:nvSpPr>
          <p:cNvPr id="33" name="Text 31"/>
          <p:cNvSpPr/>
          <p:nvPr/>
        </p:nvSpPr>
        <p:spPr>
          <a:xfrm>
            <a:off x="4974336" y="3739896"/>
            <a:ext cx="749808"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Core+Digital</a:t>
            </a:r>
            <a:endParaRPr lang="en-US" sz="700" dirty="0"/>
          </a:p>
        </p:txBody>
      </p:sp>
      <p:sp>
        <p:nvSpPr>
          <p:cNvPr id="34" name="Shape 32"/>
          <p:cNvSpPr/>
          <p:nvPr/>
        </p:nvSpPr>
        <p:spPr>
          <a:xfrm>
            <a:off x="3328416" y="3968496"/>
            <a:ext cx="2523744" cy="219456"/>
          </a:xfrm>
          <a:prstGeom prst="rect">
            <a:avLst/>
          </a:prstGeom>
          <a:solidFill>
            <a:srgbClr val="06185F"/>
          </a:solidFill>
          <a:ln w="12700">
            <a:solidFill>
              <a:srgbClr val="06185F"/>
            </a:solidFill>
            <a:prstDash val="solid"/>
          </a:ln>
        </p:spPr>
        <p:txBody>
          <a:bodyPr/>
          <a:lstStyle/>
          <a:p>
            <a:endParaRPr lang="en-US"/>
          </a:p>
        </p:txBody>
      </p:sp>
      <p:sp>
        <p:nvSpPr>
          <p:cNvPr id="35" name="Shape 33"/>
          <p:cNvSpPr/>
          <p:nvPr/>
        </p:nvSpPr>
        <p:spPr>
          <a:xfrm>
            <a:off x="3383280" y="4014216"/>
            <a:ext cx="128016" cy="128016"/>
          </a:xfrm>
          <a:prstGeom prst="ellipse">
            <a:avLst/>
          </a:prstGeom>
          <a:solidFill>
            <a:srgbClr val="FFFFFF">
              <a:alpha val="70000"/>
            </a:srgbClr>
          </a:solidFill>
          <a:ln w="12700">
            <a:solidFill>
              <a:srgbClr val="FFFFFF">
                <a:alpha val="70000"/>
              </a:srgbClr>
            </a:solidFill>
            <a:prstDash val="solid"/>
          </a:ln>
        </p:spPr>
        <p:txBody>
          <a:bodyPr/>
          <a:lstStyle/>
          <a:p>
            <a:endParaRPr lang="en-US"/>
          </a:p>
        </p:txBody>
      </p:sp>
      <p:sp>
        <p:nvSpPr>
          <p:cNvPr id="36" name="Text 34"/>
          <p:cNvSpPr/>
          <p:nvPr/>
        </p:nvSpPr>
        <p:spPr>
          <a:xfrm>
            <a:off x="3566160" y="3968496"/>
            <a:ext cx="2231136" cy="219456"/>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Zelle Memo Intelligence</a:t>
            </a:r>
            <a:endParaRPr lang="en-US" sz="800" dirty="0"/>
          </a:p>
        </p:txBody>
      </p:sp>
      <p:sp>
        <p:nvSpPr>
          <p:cNvPr id="37" name="Shape 35"/>
          <p:cNvSpPr/>
          <p:nvPr/>
        </p:nvSpPr>
        <p:spPr>
          <a:xfrm>
            <a:off x="3328416" y="4224528"/>
            <a:ext cx="2523744" cy="219456"/>
          </a:xfrm>
          <a:prstGeom prst="rect">
            <a:avLst/>
          </a:prstGeom>
          <a:solidFill>
            <a:srgbClr val="0A52C4"/>
          </a:solidFill>
          <a:ln w="12700">
            <a:solidFill>
              <a:srgbClr val="0A52C4"/>
            </a:solidFill>
            <a:prstDash val="solid"/>
          </a:ln>
        </p:spPr>
        <p:txBody>
          <a:bodyPr/>
          <a:lstStyle/>
          <a:p>
            <a:endParaRPr lang="en-US"/>
          </a:p>
        </p:txBody>
      </p:sp>
      <p:sp>
        <p:nvSpPr>
          <p:cNvPr id="38" name="Shape 36"/>
          <p:cNvSpPr/>
          <p:nvPr/>
        </p:nvSpPr>
        <p:spPr>
          <a:xfrm>
            <a:off x="3383280" y="4270248"/>
            <a:ext cx="128016" cy="128016"/>
          </a:xfrm>
          <a:prstGeom prst="ellipse">
            <a:avLst/>
          </a:prstGeom>
          <a:solidFill>
            <a:srgbClr val="FFFFFF">
              <a:alpha val="70000"/>
            </a:srgbClr>
          </a:solidFill>
          <a:ln w="12700">
            <a:solidFill>
              <a:srgbClr val="FFFFFF">
                <a:alpha val="70000"/>
              </a:srgbClr>
            </a:solidFill>
            <a:prstDash val="solid"/>
          </a:ln>
        </p:spPr>
        <p:txBody>
          <a:bodyPr/>
          <a:lstStyle/>
          <a:p>
            <a:endParaRPr lang="en-US"/>
          </a:p>
        </p:txBody>
      </p:sp>
      <p:sp>
        <p:nvSpPr>
          <p:cNvPr id="39" name="Text 37"/>
          <p:cNvSpPr/>
          <p:nvPr/>
        </p:nvSpPr>
        <p:spPr>
          <a:xfrm>
            <a:off x="3566160" y="4224528"/>
            <a:ext cx="2231136" cy="219456"/>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CommercialSignal</a:t>
            </a:r>
            <a:endParaRPr lang="en-US" sz="800" dirty="0"/>
          </a:p>
        </p:txBody>
      </p:sp>
      <p:sp>
        <p:nvSpPr>
          <p:cNvPr id="40" name="Shape 38"/>
          <p:cNvSpPr/>
          <p:nvPr/>
        </p:nvSpPr>
        <p:spPr>
          <a:xfrm>
            <a:off x="3328416" y="4480560"/>
            <a:ext cx="2523744" cy="219456"/>
          </a:xfrm>
          <a:prstGeom prst="rect">
            <a:avLst/>
          </a:prstGeom>
          <a:solidFill>
            <a:srgbClr val="0F3D8A"/>
          </a:solidFill>
          <a:ln w="12700">
            <a:solidFill>
              <a:srgbClr val="0F3D8A"/>
            </a:solidFill>
            <a:prstDash val="solid"/>
          </a:ln>
        </p:spPr>
        <p:txBody>
          <a:bodyPr/>
          <a:lstStyle/>
          <a:p>
            <a:endParaRPr lang="en-US"/>
          </a:p>
        </p:txBody>
      </p:sp>
      <p:sp>
        <p:nvSpPr>
          <p:cNvPr id="41" name="Shape 39"/>
          <p:cNvSpPr/>
          <p:nvPr/>
        </p:nvSpPr>
        <p:spPr>
          <a:xfrm>
            <a:off x="3383280" y="4526280"/>
            <a:ext cx="128016" cy="128016"/>
          </a:xfrm>
          <a:prstGeom prst="ellipse">
            <a:avLst/>
          </a:prstGeom>
          <a:solidFill>
            <a:srgbClr val="FFFFFF">
              <a:alpha val="70000"/>
            </a:srgbClr>
          </a:solidFill>
          <a:ln w="12700">
            <a:solidFill>
              <a:srgbClr val="FFFFFF">
                <a:alpha val="70000"/>
              </a:srgbClr>
            </a:solidFill>
            <a:prstDash val="solid"/>
          </a:ln>
        </p:spPr>
        <p:txBody>
          <a:bodyPr/>
          <a:lstStyle/>
          <a:p>
            <a:endParaRPr lang="en-US"/>
          </a:p>
        </p:txBody>
      </p:sp>
      <p:sp>
        <p:nvSpPr>
          <p:cNvPr id="42" name="Text 40"/>
          <p:cNvSpPr/>
          <p:nvPr/>
        </p:nvSpPr>
        <p:spPr>
          <a:xfrm>
            <a:off x="3566160" y="4480560"/>
            <a:ext cx="2231136" cy="219456"/>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Generational Wealth Deflection</a:t>
            </a:r>
            <a:endParaRPr lang="en-US" sz="800" dirty="0"/>
          </a:p>
        </p:txBody>
      </p:sp>
      <p:sp>
        <p:nvSpPr>
          <p:cNvPr id="43" name="Shape 41"/>
          <p:cNvSpPr/>
          <p:nvPr/>
        </p:nvSpPr>
        <p:spPr>
          <a:xfrm>
            <a:off x="6144768" y="749808"/>
            <a:ext cx="2816352" cy="4133088"/>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44" name="Shape 42"/>
          <p:cNvSpPr/>
          <p:nvPr/>
        </p:nvSpPr>
        <p:spPr>
          <a:xfrm>
            <a:off x="6144768" y="749808"/>
            <a:ext cx="2816352" cy="804672"/>
          </a:xfrm>
          <a:prstGeom prst="rect">
            <a:avLst/>
          </a:prstGeom>
          <a:solidFill>
            <a:srgbClr val="575A5D"/>
          </a:solidFill>
          <a:ln w="12700">
            <a:solidFill>
              <a:srgbClr val="575A5D"/>
            </a:solidFill>
            <a:prstDash val="solid"/>
          </a:ln>
        </p:spPr>
        <p:txBody>
          <a:bodyPr/>
          <a:lstStyle/>
          <a:p>
            <a:endParaRPr lang="en-US"/>
          </a:p>
        </p:txBody>
      </p:sp>
      <p:sp>
        <p:nvSpPr>
          <p:cNvPr id="45" name="Text 43"/>
          <p:cNvSpPr/>
          <p:nvPr/>
        </p:nvSpPr>
        <p:spPr>
          <a:xfrm>
            <a:off x="6254496" y="804672"/>
            <a:ext cx="621792" cy="658368"/>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03</a:t>
            </a:r>
            <a:endParaRPr lang="en-US" sz="3600" dirty="0"/>
          </a:p>
        </p:txBody>
      </p:sp>
      <p:sp>
        <p:nvSpPr>
          <p:cNvPr id="46" name="Shape 44"/>
          <p:cNvSpPr/>
          <p:nvPr/>
        </p:nvSpPr>
        <p:spPr>
          <a:xfrm>
            <a:off x="6912864" y="896112"/>
            <a:ext cx="36576" cy="475488"/>
          </a:xfrm>
          <a:prstGeom prst="rect">
            <a:avLst/>
          </a:prstGeom>
          <a:solidFill>
            <a:srgbClr val="FFFFFF">
              <a:alpha val="60000"/>
            </a:srgbClr>
          </a:solidFill>
          <a:ln w="12700">
            <a:solidFill>
              <a:srgbClr val="FFFFFF">
                <a:alpha val="60000"/>
              </a:srgbClr>
            </a:solidFill>
            <a:prstDash val="solid"/>
          </a:ln>
        </p:spPr>
        <p:txBody>
          <a:bodyPr/>
          <a:lstStyle/>
          <a:p>
            <a:endParaRPr lang="en-US"/>
          </a:p>
        </p:txBody>
      </p:sp>
      <p:sp>
        <p:nvSpPr>
          <p:cNvPr id="47" name="Text 45"/>
          <p:cNvSpPr/>
          <p:nvPr/>
        </p:nvSpPr>
        <p:spPr>
          <a:xfrm>
            <a:off x="7022592" y="822960"/>
            <a:ext cx="182880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Scale &amp; Expand</a:t>
            </a:r>
            <a:endParaRPr lang="en-US" sz="1500" dirty="0"/>
          </a:p>
        </p:txBody>
      </p:sp>
      <p:sp>
        <p:nvSpPr>
          <p:cNvPr id="48" name="Text 46"/>
          <p:cNvSpPr/>
          <p:nvPr/>
        </p:nvSpPr>
        <p:spPr>
          <a:xfrm>
            <a:off x="7022592" y="1188720"/>
            <a:ext cx="1828800" cy="25603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Q3 FY27–Q2 FY28  (Jan–Jun 2027+)</a:t>
            </a:r>
            <a:endParaRPr lang="en-US" sz="1000" dirty="0"/>
          </a:p>
        </p:txBody>
      </p:sp>
      <p:sp>
        <p:nvSpPr>
          <p:cNvPr id="49" name="Text 47"/>
          <p:cNvSpPr/>
          <p:nvPr/>
        </p:nvSpPr>
        <p:spPr>
          <a:xfrm>
            <a:off x="6309360" y="1664208"/>
            <a:ext cx="2542032" cy="1938528"/>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Anomaly Detection: real-time streaming fraud engine</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FI Decision Studio: AutoML platform GA release</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Core + Payments data modules fully activated</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Horizon apps: Cross-Sell, Overdraft, Sentiment (pilot)</a:t>
            </a:r>
            <a:endParaRPr lang="en-US" sz="1000" dirty="0"/>
          </a:p>
        </p:txBody>
      </p:sp>
      <p:sp>
        <p:nvSpPr>
          <p:cNvPr id="50" name="Shape 48"/>
          <p:cNvSpPr/>
          <p:nvPr/>
        </p:nvSpPr>
        <p:spPr>
          <a:xfrm>
            <a:off x="6144768" y="3675888"/>
            <a:ext cx="2816352" cy="237744"/>
          </a:xfrm>
          <a:prstGeom prst="rect">
            <a:avLst/>
          </a:prstGeom>
          <a:solidFill>
            <a:srgbClr val="575A5D">
              <a:alpha val="12000"/>
            </a:srgbClr>
          </a:solidFill>
          <a:ln w="12700">
            <a:solidFill>
              <a:srgbClr val="575A5D">
                <a:alpha val="30000"/>
              </a:srgbClr>
            </a:solidFill>
            <a:prstDash val="solid"/>
          </a:ln>
        </p:spPr>
        <p:txBody>
          <a:bodyPr/>
          <a:lstStyle/>
          <a:p>
            <a:endParaRPr lang="en-US"/>
          </a:p>
        </p:txBody>
      </p:sp>
      <p:sp>
        <p:nvSpPr>
          <p:cNvPr id="51" name="Shape 49"/>
          <p:cNvSpPr/>
          <p:nvPr/>
        </p:nvSpPr>
        <p:spPr>
          <a:xfrm>
            <a:off x="6144768" y="3675888"/>
            <a:ext cx="54864" cy="237744"/>
          </a:xfrm>
          <a:prstGeom prst="rect">
            <a:avLst/>
          </a:prstGeom>
          <a:solidFill>
            <a:srgbClr val="575A5D"/>
          </a:solidFill>
          <a:ln w="12700">
            <a:solidFill>
              <a:srgbClr val="575A5D"/>
            </a:solidFill>
            <a:prstDash val="solid"/>
          </a:ln>
        </p:spPr>
        <p:txBody>
          <a:bodyPr/>
          <a:lstStyle/>
          <a:p>
            <a:endParaRPr lang="en-US"/>
          </a:p>
        </p:txBody>
      </p:sp>
      <p:sp>
        <p:nvSpPr>
          <p:cNvPr id="52" name="Text 50"/>
          <p:cNvSpPr/>
          <p:nvPr/>
        </p:nvSpPr>
        <p:spPr>
          <a:xfrm>
            <a:off x="6272784" y="3675888"/>
            <a:ext cx="2651760" cy="237744"/>
          </a:xfrm>
          <a:prstGeom prst="rect">
            <a:avLst/>
          </a:prstGeom>
          <a:noFill/>
          <a:ln/>
        </p:spPr>
        <p:txBody>
          <a:bodyPr wrap="square" lIns="0" tIns="0" rIns="0" bIns="0" rtlCol="0" anchor="ctr"/>
          <a:lstStyle/>
          <a:p>
            <a:pPr marL="0" indent="0">
              <a:buNone/>
            </a:pPr>
            <a:r>
              <a:rPr lang="en-US" sz="750" b="1" kern="0" spc="50" dirty="0">
                <a:solidFill>
                  <a:srgbClr val="575A5D"/>
                </a:solidFill>
                <a:latin typeface="Calibri" pitchFamily="34" charset="0"/>
                <a:ea typeface="Calibri" pitchFamily="34" charset="-122"/>
                <a:cs typeface="Calibri" pitchFamily="34" charset="-120"/>
              </a:rPr>
              <a:t>APPS DELIVERING THIS PHASE</a:t>
            </a:r>
            <a:endParaRPr lang="en-US" sz="750" dirty="0"/>
          </a:p>
        </p:txBody>
      </p:sp>
      <p:sp>
        <p:nvSpPr>
          <p:cNvPr id="53" name="Shape 51"/>
          <p:cNvSpPr/>
          <p:nvPr/>
        </p:nvSpPr>
        <p:spPr>
          <a:xfrm>
            <a:off x="6272784" y="3950208"/>
            <a:ext cx="2523744" cy="256032"/>
          </a:xfrm>
          <a:prstGeom prst="rect">
            <a:avLst/>
          </a:prstGeom>
          <a:solidFill>
            <a:srgbClr val="073FA8"/>
          </a:solidFill>
          <a:ln w="12700">
            <a:solidFill>
              <a:srgbClr val="073FA8"/>
            </a:solidFill>
            <a:prstDash val="solid"/>
          </a:ln>
        </p:spPr>
        <p:txBody>
          <a:bodyPr/>
          <a:lstStyle/>
          <a:p>
            <a:endParaRPr lang="en-US"/>
          </a:p>
        </p:txBody>
      </p:sp>
      <p:sp>
        <p:nvSpPr>
          <p:cNvPr id="54" name="Shape 52"/>
          <p:cNvSpPr/>
          <p:nvPr/>
        </p:nvSpPr>
        <p:spPr>
          <a:xfrm>
            <a:off x="6327648" y="4014216"/>
            <a:ext cx="128016" cy="128016"/>
          </a:xfrm>
          <a:prstGeom prst="ellipse">
            <a:avLst/>
          </a:prstGeom>
          <a:solidFill>
            <a:srgbClr val="FFFFFF">
              <a:alpha val="70000"/>
            </a:srgbClr>
          </a:solidFill>
          <a:ln w="12700">
            <a:solidFill>
              <a:srgbClr val="FFFFFF">
                <a:alpha val="70000"/>
              </a:srgbClr>
            </a:solidFill>
            <a:prstDash val="solid"/>
          </a:ln>
        </p:spPr>
        <p:txBody>
          <a:bodyPr/>
          <a:lstStyle/>
          <a:p>
            <a:endParaRPr lang="en-US"/>
          </a:p>
        </p:txBody>
      </p:sp>
      <p:sp>
        <p:nvSpPr>
          <p:cNvPr id="55" name="Text 53"/>
          <p:cNvSpPr/>
          <p:nvPr/>
        </p:nvSpPr>
        <p:spPr>
          <a:xfrm>
            <a:off x="6510528" y="3950208"/>
            <a:ext cx="2231136"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Anomaly Detection</a:t>
            </a:r>
            <a:endParaRPr lang="en-US" sz="900" dirty="0"/>
          </a:p>
        </p:txBody>
      </p:sp>
      <p:sp>
        <p:nvSpPr>
          <p:cNvPr id="56" name="Shape 54"/>
          <p:cNvSpPr/>
          <p:nvPr/>
        </p:nvSpPr>
        <p:spPr>
          <a:xfrm>
            <a:off x="6272784" y="4279392"/>
            <a:ext cx="2523744" cy="256032"/>
          </a:xfrm>
          <a:prstGeom prst="rect">
            <a:avLst/>
          </a:prstGeom>
          <a:solidFill>
            <a:srgbClr val="0D2E7A"/>
          </a:solidFill>
          <a:ln w="12700">
            <a:solidFill>
              <a:srgbClr val="0D2E7A"/>
            </a:solidFill>
            <a:prstDash val="solid"/>
          </a:ln>
        </p:spPr>
        <p:txBody>
          <a:bodyPr/>
          <a:lstStyle/>
          <a:p>
            <a:endParaRPr lang="en-US"/>
          </a:p>
        </p:txBody>
      </p:sp>
      <p:sp>
        <p:nvSpPr>
          <p:cNvPr id="57" name="Shape 55"/>
          <p:cNvSpPr/>
          <p:nvPr/>
        </p:nvSpPr>
        <p:spPr>
          <a:xfrm>
            <a:off x="6327648" y="4343400"/>
            <a:ext cx="128016" cy="128016"/>
          </a:xfrm>
          <a:prstGeom prst="ellipse">
            <a:avLst/>
          </a:prstGeom>
          <a:solidFill>
            <a:srgbClr val="FFFFFF">
              <a:alpha val="70000"/>
            </a:srgbClr>
          </a:solidFill>
          <a:ln w="12700">
            <a:solidFill>
              <a:srgbClr val="FFFFFF">
                <a:alpha val="70000"/>
              </a:srgbClr>
            </a:solidFill>
            <a:prstDash val="solid"/>
          </a:ln>
        </p:spPr>
        <p:txBody>
          <a:bodyPr/>
          <a:lstStyle/>
          <a:p>
            <a:endParaRPr lang="en-US"/>
          </a:p>
        </p:txBody>
      </p:sp>
      <p:sp>
        <p:nvSpPr>
          <p:cNvPr id="58" name="Text 56"/>
          <p:cNvSpPr/>
          <p:nvPr/>
        </p:nvSpPr>
        <p:spPr>
          <a:xfrm>
            <a:off x="6510528" y="4279392"/>
            <a:ext cx="155448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FI Decision Studio</a:t>
            </a:r>
            <a:endParaRPr lang="en-US" sz="900" dirty="0"/>
          </a:p>
        </p:txBody>
      </p:sp>
      <p:sp>
        <p:nvSpPr>
          <p:cNvPr id="59" name="Shape 57"/>
          <p:cNvSpPr/>
          <p:nvPr/>
        </p:nvSpPr>
        <p:spPr>
          <a:xfrm>
            <a:off x="7918704" y="4306824"/>
            <a:ext cx="749808" cy="201168"/>
          </a:xfrm>
          <a:prstGeom prst="rect">
            <a:avLst/>
          </a:prstGeom>
          <a:solidFill>
            <a:srgbClr val="FFFFFF">
              <a:alpha val="80000"/>
            </a:srgbClr>
          </a:solidFill>
          <a:ln w="12700">
            <a:solidFill>
              <a:srgbClr val="FFFFFF">
                <a:alpha val="60000"/>
              </a:srgbClr>
            </a:solidFill>
            <a:prstDash val="solid"/>
          </a:ln>
        </p:spPr>
        <p:txBody>
          <a:bodyPr/>
          <a:lstStyle/>
          <a:p>
            <a:endParaRPr lang="en-US"/>
          </a:p>
        </p:txBody>
      </p:sp>
      <p:sp>
        <p:nvSpPr>
          <p:cNvPr id="60" name="Text 58"/>
          <p:cNvSpPr/>
          <p:nvPr/>
        </p:nvSpPr>
        <p:spPr>
          <a:xfrm>
            <a:off x="7918704" y="4306824"/>
            <a:ext cx="749808"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Platform</a:t>
            </a:r>
            <a:endParaRPr lang="en-US" sz="700" dirty="0"/>
          </a:p>
        </p:txBody>
      </p:sp>
      <p:sp>
        <p:nvSpPr>
          <p:cNvPr id="61" name="Shape 59"/>
          <p:cNvSpPr/>
          <p:nvPr/>
        </p:nvSpPr>
        <p:spPr>
          <a:xfrm>
            <a:off x="6272784" y="4608576"/>
            <a:ext cx="2523744" cy="256032"/>
          </a:xfrm>
          <a:prstGeom prst="rect">
            <a:avLst/>
          </a:prstGeom>
          <a:solidFill>
            <a:srgbClr val="073FA8"/>
          </a:solidFill>
          <a:ln w="12700">
            <a:solidFill>
              <a:srgbClr val="073FA8"/>
            </a:solidFill>
            <a:prstDash val="solid"/>
          </a:ln>
        </p:spPr>
        <p:txBody>
          <a:bodyPr/>
          <a:lstStyle/>
          <a:p>
            <a:endParaRPr lang="en-US"/>
          </a:p>
        </p:txBody>
      </p:sp>
      <p:sp>
        <p:nvSpPr>
          <p:cNvPr id="62" name="Shape 60"/>
          <p:cNvSpPr/>
          <p:nvPr/>
        </p:nvSpPr>
        <p:spPr>
          <a:xfrm>
            <a:off x="6327648" y="4672584"/>
            <a:ext cx="128016" cy="128016"/>
          </a:xfrm>
          <a:prstGeom prst="ellipse">
            <a:avLst/>
          </a:prstGeom>
          <a:solidFill>
            <a:srgbClr val="FFFFFF">
              <a:alpha val="70000"/>
            </a:srgbClr>
          </a:solidFill>
          <a:ln w="12700">
            <a:solidFill>
              <a:srgbClr val="FFFFFF">
                <a:alpha val="70000"/>
              </a:srgbClr>
            </a:solidFill>
            <a:prstDash val="solid"/>
          </a:ln>
        </p:spPr>
        <p:txBody>
          <a:bodyPr/>
          <a:lstStyle/>
          <a:p>
            <a:endParaRPr lang="en-US"/>
          </a:p>
        </p:txBody>
      </p:sp>
      <p:sp>
        <p:nvSpPr>
          <p:cNvPr id="63" name="Text 61"/>
          <p:cNvSpPr/>
          <p:nvPr/>
        </p:nvSpPr>
        <p:spPr>
          <a:xfrm>
            <a:off x="6510528" y="4608576"/>
            <a:ext cx="155448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Horizon Pipeline</a:t>
            </a:r>
            <a:endParaRPr lang="en-US" sz="900" dirty="0"/>
          </a:p>
        </p:txBody>
      </p:sp>
      <p:sp>
        <p:nvSpPr>
          <p:cNvPr id="64" name="Shape 62"/>
          <p:cNvSpPr/>
          <p:nvPr/>
        </p:nvSpPr>
        <p:spPr>
          <a:xfrm>
            <a:off x="7918704" y="4636008"/>
            <a:ext cx="749808" cy="201168"/>
          </a:xfrm>
          <a:prstGeom prst="rect">
            <a:avLst/>
          </a:prstGeom>
          <a:solidFill>
            <a:srgbClr val="FFFFFF">
              <a:alpha val="80000"/>
            </a:srgbClr>
          </a:solidFill>
          <a:ln w="12700">
            <a:solidFill>
              <a:srgbClr val="FFFFFF">
                <a:alpha val="60000"/>
              </a:srgbClr>
            </a:solidFill>
            <a:prstDash val="solid"/>
          </a:ln>
        </p:spPr>
        <p:txBody>
          <a:bodyPr/>
          <a:lstStyle/>
          <a:p>
            <a:endParaRPr lang="en-US"/>
          </a:p>
        </p:txBody>
      </p:sp>
      <p:sp>
        <p:nvSpPr>
          <p:cNvPr id="65" name="Text 63"/>
          <p:cNvSpPr/>
          <p:nvPr/>
        </p:nvSpPr>
        <p:spPr>
          <a:xfrm>
            <a:off x="7918704" y="4636008"/>
            <a:ext cx="749808"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Pilot</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5CE5"/>
          </a:solidFill>
          <a:ln w="12700">
            <a:solidFill>
              <a:srgbClr val="085CE5"/>
            </a:solidFill>
            <a:prstDash val="solid"/>
          </a:ln>
        </p:spPr>
        <p:txBody>
          <a:bodyPr/>
          <a:lstStyle/>
          <a:p>
            <a:endParaRPr lang="en-US"/>
          </a:p>
        </p:txBody>
      </p:sp>
      <p:sp>
        <p:nvSpPr>
          <p:cNvPr id="3" name="Shape 1"/>
          <p:cNvSpPr/>
          <p:nvPr/>
        </p:nvSpPr>
        <p:spPr>
          <a:xfrm>
            <a:off x="0" y="0"/>
            <a:ext cx="137160" cy="5143500"/>
          </a:xfrm>
          <a:prstGeom prst="rect">
            <a:avLst/>
          </a:prstGeom>
          <a:solidFill>
            <a:srgbClr val="085CE5"/>
          </a:solidFill>
          <a:ln w="12700">
            <a:solidFill>
              <a:srgbClr val="085CE5"/>
            </a:solidFill>
            <a:prstDash val="solid"/>
          </a:ln>
        </p:spPr>
        <p:txBody>
          <a:bodyPr/>
          <a:lstStyle/>
          <a:p>
            <a:endParaRPr lang="en-US"/>
          </a:p>
        </p:txBody>
      </p:sp>
      <p:sp>
        <p:nvSpPr>
          <p:cNvPr id="4" name="Text 2"/>
          <p:cNvSpPr/>
          <p:nvPr/>
        </p:nvSpPr>
        <p:spPr>
          <a:xfrm>
            <a:off x="365760" y="164592"/>
            <a:ext cx="8229600" cy="256032"/>
          </a:xfrm>
          <a:prstGeom prst="rect">
            <a:avLst/>
          </a:prstGeom>
          <a:noFill/>
          <a:ln/>
        </p:spPr>
        <p:txBody>
          <a:bodyPr wrap="square" lIns="0" tIns="0" rIns="0" bIns="0" rtlCol="0" anchor="ctr"/>
          <a:lstStyle/>
          <a:p>
            <a:pPr marL="0" indent="0">
              <a:buNone/>
            </a:pPr>
            <a:r>
              <a:rPr lang="en-US" sz="900" b="1" kern="0" spc="400" dirty="0">
                <a:solidFill>
                  <a:srgbClr val="085CE5"/>
                </a:solidFill>
                <a:latin typeface="Calibri" pitchFamily="34" charset="0"/>
                <a:ea typeface="Calibri" pitchFamily="34" charset="-122"/>
                <a:cs typeface="Calibri" pitchFamily="34" charset="-120"/>
              </a:rPr>
              <a:t>REVENUE MODEL</a:t>
            </a:r>
            <a:endParaRPr lang="en-US" sz="900" dirty="0"/>
          </a:p>
        </p:txBody>
      </p:sp>
      <p:sp>
        <p:nvSpPr>
          <p:cNvPr id="5" name="Text 3"/>
          <p:cNvSpPr/>
          <p:nvPr/>
        </p:nvSpPr>
        <p:spPr>
          <a:xfrm>
            <a:off x="365760" y="475488"/>
            <a:ext cx="8229600" cy="457200"/>
          </a:xfrm>
          <a:prstGeom prst="rect">
            <a:avLst/>
          </a:prstGeom>
          <a:noFill/>
          <a:ln/>
        </p:spPr>
        <p:txBody>
          <a:bodyPr wrap="square" lIns="0" tIns="0" rIns="0" bIns="0" rtlCol="0" anchor="ctr"/>
          <a:lstStyle/>
          <a:p>
            <a:pPr marL="0" indent="0">
              <a:buNone/>
            </a:pPr>
            <a:r>
              <a:rPr lang="en-US" sz="2400" b="1" dirty="0">
                <a:solidFill>
                  <a:srgbClr val="06185F"/>
                </a:solidFill>
                <a:latin typeface="Calibri" pitchFamily="34" charset="0"/>
                <a:ea typeface="Calibri" pitchFamily="34" charset="-122"/>
                <a:cs typeface="Calibri" pitchFamily="34" charset="-120"/>
              </a:rPr>
              <a:t>Path to $1M ARR — DS App Add-On Revenue</a:t>
            </a:r>
            <a:endParaRPr lang="en-US" sz="2400" dirty="0"/>
          </a:p>
        </p:txBody>
      </p:sp>
      <p:sp>
        <p:nvSpPr>
          <p:cNvPr id="6" name="Text 4"/>
          <p:cNvSpPr/>
          <p:nvPr/>
        </p:nvSpPr>
        <p:spPr>
          <a:xfrm>
            <a:off x="365760" y="960120"/>
            <a:ext cx="8229600" cy="256032"/>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5 apps · Add-on to JHBI platform · ~1,660 addressable FIs · Blended bank/CU pricing</a:t>
            </a:r>
            <a:endParaRPr lang="en-US" sz="1100" dirty="0"/>
          </a:p>
        </p:txBody>
      </p:sp>
      <p:graphicFrame>
        <p:nvGraphicFramePr>
          <p:cNvPr id="7" name="Chart 0"/>
          <p:cNvGraphicFramePr/>
          <p:nvPr/>
        </p:nvGraphicFramePr>
        <p:xfrm>
          <a:off x="320040" y="1298448"/>
          <a:ext cx="603504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320040" y="2651760"/>
            <a:ext cx="6035040" cy="0"/>
          </a:xfrm>
          <a:prstGeom prst="line">
            <a:avLst/>
          </a:prstGeom>
          <a:noFill/>
          <a:ln w="19050">
            <a:solidFill>
              <a:srgbClr val="E53030"/>
            </a:solidFill>
            <a:prstDash val="dash"/>
          </a:ln>
        </p:spPr>
        <p:txBody>
          <a:bodyPr/>
          <a:lstStyle/>
          <a:p>
            <a:endParaRPr lang="en-US"/>
          </a:p>
        </p:txBody>
      </p:sp>
      <p:sp>
        <p:nvSpPr>
          <p:cNvPr id="9" name="Text 6"/>
          <p:cNvSpPr/>
          <p:nvPr/>
        </p:nvSpPr>
        <p:spPr>
          <a:xfrm>
            <a:off x="6382512" y="2523744"/>
            <a:ext cx="1920240" cy="256032"/>
          </a:xfrm>
          <a:prstGeom prst="rect">
            <a:avLst/>
          </a:prstGeom>
          <a:noFill/>
          <a:ln/>
        </p:spPr>
        <p:txBody>
          <a:bodyPr wrap="square" lIns="0" tIns="0" rIns="0" bIns="0" rtlCol="0" anchor="ctr"/>
          <a:lstStyle/>
          <a:p>
            <a:pPr marL="0" indent="0">
              <a:buNone/>
            </a:pPr>
            <a:r>
              <a:rPr lang="en-US" sz="900" b="1" dirty="0">
                <a:solidFill>
                  <a:srgbClr val="E53030"/>
                </a:solidFill>
                <a:latin typeface="Calibri" pitchFamily="34" charset="0"/>
                <a:ea typeface="Calibri" pitchFamily="34" charset="-122"/>
                <a:cs typeface="Calibri" pitchFamily="34" charset="-120"/>
              </a:rPr>
              <a:t>$1M ARR milestone</a:t>
            </a:r>
            <a:endParaRPr lang="en-US" sz="900" dirty="0"/>
          </a:p>
        </p:txBody>
      </p:sp>
      <p:sp>
        <p:nvSpPr>
          <p:cNvPr id="10" name="Shape 7"/>
          <p:cNvSpPr/>
          <p:nvPr/>
        </p:nvSpPr>
        <p:spPr>
          <a:xfrm>
            <a:off x="6400800" y="1298448"/>
            <a:ext cx="2606040" cy="3520440"/>
          </a:xfrm>
          <a:prstGeom prst="roundRect">
            <a:avLst>
              <a:gd name="adj" fmla="val 2105"/>
            </a:avLst>
          </a:prstGeom>
          <a:solidFill>
            <a:srgbClr val="06185F"/>
          </a:solidFill>
          <a:ln w="12700">
            <a:solidFill>
              <a:srgbClr val="06185F"/>
            </a:solidFill>
            <a:prstDash val="solid"/>
          </a:ln>
        </p:spPr>
        <p:txBody>
          <a:bodyPr/>
          <a:lstStyle/>
          <a:p>
            <a:endParaRPr lang="en-US"/>
          </a:p>
        </p:txBody>
      </p:sp>
      <p:sp>
        <p:nvSpPr>
          <p:cNvPr id="11" name="Text 8"/>
          <p:cNvSpPr/>
          <p:nvPr/>
        </p:nvSpPr>
        <p:spPr>
          <a:xfrm>
            <a:off x="6400800" y="1417320"/>
            <a:ext cx="2606040" cy="347472"/>
          </a:xfrm>
          <a:prstGeom prst="rect">
            <a:avLst/>
          </a:prstGeom>
          <a:noFill/>
          <a:ln/>
        </p:spPr>
        <p:txBody>
          <a:bodyPr wrap="square" lIns="0" tIns="0" rIns="0" bIns="0" rtlCol="0" anchor="ctr"/>
          <a:lstStyle/>
          <a:p>
            <a:pPr marL="0" indent="0" algn="ctr">
              <a:buNone/>
            </a:pPr>
            <a:r>
              <a:rPr lang="en-US" sz="1300" b="1" dirty="0">
                <a:solidFill>
                  <a:srgbClr val="76DCFD"/>
                </a:solidFill>
                <a:latin typeface="Calibri" pitchFamily="34" charset="0"/>
                <a:ea typeface="Calibri" pitchFamily="34" charset="-122"/>
                <a:cs typeface="Calibri" pitchFamily="34" charset="-120"/>
              </a:rPr>
              <a:t>Q1 FY28</a:t>
            </a:r>
            <a:endParaRPr lang="en-US" sz="1300" dirty="0"/>
          </a:p>
        </p:txBody>
      </p:sp>
      <p:sp>
        <p:nvSpPr>
          <p:cNvPr id="12" name="Text 9"/>
          <p:cNvSpPr/>
          <p:nvPr/>
        </p:nvSpPr>
        <p:spPr>
          <a:xfrm>
            <a:off x="6400800" y="1792224"/>
            <a:ext cx="2606040" cy="566928"/>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$1.25M</a:t>
            </a:r>
            <a:endParaRPr lang="en-US" sz="3200" dirty="0"/>
          </a:p>
        </p:txBody>
      </p:sp>
      <p:sp>
        <p:nvSpPr>
          <p:cNvPr id="13" name="Text 10"/>
          <p:cNvSpPr/>
          <p:nvPr/>
        </p:nvSpPr>
        <p:spPr>
          <a:xfrm>
            <a:off x="6400800" y="2340864"/>
            <a:ext cx="2606040" cy="256032"/>
          </a:xfrm>
          <a:prstGeom prst="rect">
            <a:avLst/>
          </a:prstGeom>
          <a:noFill/>
          <a:ln/>
        </p:spPr>
        <p:txBody>
          <a:bodyPr wrap="square" lIns="0" tIns="0" rIns="0" bIns="0" rtlCol="0" anchor="ctr"/>
          <a:lstStyle/>
          <a:p>
            <a:pPr marL="0" indent="0" algn="ctr">
              <a:buNone/>
            </a:pPr>
            <a:r>
              <a:rPr lang="en-US" sz="1300" dirty="0">
                <a:solidFill>
                  <a:srgbClr val="B6BBC0"/>
                </a:solidFill>
                <a:latin typeface="Calibri" pitchFamily="34" charset="0"/>
                <a:ea typeface="Calibri" pitchFamily="34" charset="-122"/>
                <a:cs typeface="Calibri" pitchFamily="34" charset="-120"/>
              </a:rPr>
              <a:t>ARR</a:t>
            </a:r>
            <a:endParaRPr lang="en-US" sz="1300" dirty="0"/>
          </a:p>
        </p:txBody>
      </p:sp>
      <p:sp>
        <p:nvSpPr>
          <p:cNvPr id="14" name="Shape 11"/>
          <p:cNvSpPr/>
          <p:nvPr/>
        </p:nvSpPr>
        <p:spPr>
          <a:xfrm>
            <a:off x="6601968" y="2670048"/>
            <a:ext cx="2212848" cy="9144"/>
          </a:xfrm>
          <a:prstGeom prst="rect">
            <a:avLst/>
          </a:prstGeom>
          <a:solidFill>
            <a:srgbClr val="0A52C4"/>
          </a:solidFill>
          <a:ln w="12700">
            <a:solidFill>
              <a:srgbClr val="0A52C4"/>
            </a:solidFill>
            <a:prstDash val="solid"/>
          </a:ln>
        </p:spPr>
        <p:txBody>
          <a:bodyPr/>
          <a:lstStyle/>
          <a:p>
            <a:endParaRPr lang="en-US"/>
          </a:p>
        </p:txBody>
      </p:sp>
      <p:sp>
        <p:nvSpPr>
          <p:cNvPr id="15" name="Text 12"/>
          <p:cNvSpPr/>
          <p:nvPr/>
        </p:nvSpPr>
        <p:spPr>
          <a:xfrm>
            <a:off x="6400800" y="2798064"/>
            <a:ext cx="2606040" cy="32918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102</a:t>
            </a:r>
            <a:endParaRPr lang="en-US" sz="1800" dirty="0"/>
          </a:p>
        </p:txBody>
      </p:sp>
      <p:sp>
        <p:nvSpPr>
          <p:cNvPr id="16" name="Text 13"/>
          <p:cNvSpPr/>
          <p:nvPr/>
        </p:nvSpPr>
        <p:spPr>
          <a:xfrm>
            <a:off x="6400800" y="3127248"/>
            <a:ext cx="2606040" cy="201168"/>
          </a:xfrm>
          <a:prstGeom prst="rect">
            <a:avLst/>
          </a:prstGeom>
          <a:noFill/>
          <a:ln/>
        </p:spPr>
        <p:txBody>
          <a:bodyPr wrap="square" lIns="0" tIns="0" rIns="0" bIns="0" rtlCol="0" anchor="ctr"/>
          <a:lstStyle/>
          <a:p>
            <a:pPr marL="0" indent="0" algn="ctr">
              <a:buNone/>
            </a:pPr>
            <a:r>
              <a:rPr lang="en-US" sz="900" dirty="0">
                <a:solidFill>
                  <a:srgbClr val="B6BBC0"/>
                </a:solidFill>
                <a:latin typeface="Calibri" pitchFamily="34" charset="0"/>
                <a:ea typeface="Calibri" pitchFamily="34" charset="-122"/>
                <a:cs typeface="Calibri" pitchFamily="34" charset="-120"/>
              </a:rPr>
              <a:t>active FI subscriptions</a:t>
            </a:r>
            <a:endParaRPr lang="en-US" sz="900" dirty="0"/>
          </a:p>
        </p:txBody>
      </p:sp>
      <p:sp>
        <p:nvSpPr>
          <p:cNvPr id="17" name="Text 14"/>
          <p:cNvSpPr/>
          <p:nvPr/>
        </p:nvSpPr>
        <p:spPr>
          <a:xfrm>
            <a:off x="6400800" y="3456432"/>
            <a:ext cx="2606040" cy="32918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6.1%</a:t>
            </a:r>
            <a:endParaRPr lang="en-US" sz="1800" dirty="0"/>
          </a:p>
        </p:txBody>
      </p:sp>
      <p:sp>
        <p:nvSpPr>
          <p:cNvPr id="18" name="Text 15"/>
          <p:cNvSpPr/>
          <p:nvPr/>
        </p:nvSpPr>
        <p:spPr>
          <a:xfrm>
            <a:off x="6400800" y="3785616"/>
            <a:ext cx="2606040" cy="201168"/>
          </a:xfrm>
          <a:prstGeom prst="rect">
            <a:avLst/>
          </a:prstGeom>
          <a:noFill/>
          <a:ln/>
        </p:spPr>
        <p:txBody>
          <a:bodyPr wrap="square" lIns="0" tIns="0" rIns="0" bIns="0" rtlCol="0" anchor="ctr"/>
          <a:lstStyle/>
          <a:p>
            <a:pPr marL="0" indent="0" algn="ctr">
              <a:buNone/>
            </a:pPr>
            <a:r>
              <a:rPr lang="en-US" sz="900" dirty="0">
                <a:solidFill>
                  <a:srgbClr val="B6BBC0"/>
                </a:solidFill>
                <a:latin typeface="Calibri" pitchFamily="34" charset="0"/>
                <a:ea typeface="Calibri" pitchFamily="34" charset="-122"/>
                <a:cs typeface="Calibri" pitchFamily="34" charset="-120"/>
              </a:rPr>
              <a:t>of 1,660-FI base</a:t>
            </a:r>
            <a:endParaRPr lang="en-US" sz="900" dirty="0"/>
          </a:p>
        </p:txBody>
      </p:sp>
      <p:sp>
        <p:nvSpPr>
          <p:cNvPr id="19" name="Text 16"/>
          <p:cNvSpPr/>
          <p:nvPr/>
        </p:nvSpPr>
        <p:spPr>
          <a:xfrm>
            <a:off x="6400800" y="4114800"/>
            <a:ext cx="2606040" cy="32918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 apps</a:t>
            </a:r>
            <a:endParaRPr lang="en-US" sz="1800" dirty="0"/>
          </a:p>
        </p:txBody>
      </p:sp>
      <p:sp>
        <p:nvSpPr>
          <p:cNvPr id="20" name="Text 17"/>
          <p:cNvSpPr/>
          <p:nvPr/>
        </p:nvSpPr>
        <p:spPr>
          <a:xfrm>
            <a:off x="6400800" y="4443984"/>
            <a:ext cx="2606040" cy="201168"/>
          </a:xfrm>
          <a:prstGeom prst="rect">
            <a:avLst/>
          </a:prstGeom>
          <a:noFill/>
          <a:ln/>
        </p:spPr>
        <p:txBody>
          <a:bodyPr wrap="square" lIns="0" tIns="0" rIns="0" bIns="0" rtlCol="0" anchor="ctr"/>
          <a:lstStyle/>
          <a:p>
            <a:pPr marL="0" indent="0" algn="ctr">
              <a:buNone/>
            </a:pPr>
            <a:r>
              <a:rPr lang="en-US" sz="900" dirty="0">
                <a:solidFill>
                  <a:srgbClr val="B6BBC0"/>
                </a:solidFill>
                <a:latin typeface="Calibri" pitchFamily="34" charset="0"/>
                <a:ea typeface="Calibri" pitchFamily="34" charset="-122"/>
                <a:cs typeface="Calibri" pitchFamily="34" charset="-120"/>
              </a:rPr>
              <a:t>driving first $1M</a:t>
            </a:r>
            <a:endParaRPr lang="en-US" sz="900" dirty="0"/>
          </a:p>
        </p:txBody>
      </p:sp>
      <p:sp>
        <p:nvSpPr>
          <p:cNvPr id="21" name="Text 18"/>
          <p:cNvSpPr/>
          <p:nvPr/>
        </p:nvSpPr>
        <p:spPr>
          <a:xfrm>
            <a:off x="320040" y="4882896"/>
            <a:ext cx="8595360" cy="201168"/>
          </a:xfrm>
          <a:prstGeom prst="rect">
            <a:avLst/>
          </a:prstGeom>
          <a:noFill/>
          <a:ln/>
        </p:spPr>
        <p:txBody>
          <a:bodyPr wrap="square" lIns="0" tIns="0" rIns="0" bIns="0" rtlCol="0" anchor="ctr"/>
          <a:lstStyle/>
          <a:p>
            <a:pPr marL="0" indent="0">
              <a:buNone/>
            </a:pPr>
            <a:r>
              <a:rPr lang="en-US" sz="750" i="1" dirty="0">
                <a:solidFill>
                  <a:srgbClr val="B6BBC0"/>
                </a:solidFill>
                <a:latin typeface="Calibri" pitchFamily="34" charset="0"/>
                <a:ea typeface="Calibri" pitchFamily="34" charset="-122"/>
                <a:cs typeface="Calibri" pitchFamily="34" charset="-120"/>
              </a:rPr>
              <a:t>★ Q1 FY28 = Jul–Sep 2027  ·  ARR values are model projections; Zelle Memo addressability based on 260 currently enabled FIs</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5CE5"/>
          </a:solidFill>
          <a:ln w="12700">
            <a:solidFill>
              <a:srgbClr val="085CE5"/>
            </a:solidFill>
            <a:prstDash val="solid"/>
          </a:ln>
        </p:spPr>
        <p:txBody>
          <a:bodyPr/>
          <a:lstStyle/>
          <a:p>
            <a:endParaRPr lang="en-US"/>
          </a:p>
        </p:txBody>
      </p:sp>
      <p:sp>
        <p:nvSpPr>
          <p:cNvPr id="3" name="Shape 1"/>
          <p:cNvSpPr/>
          <p:nvPr/>
        </p:nvSpPr>
        <p:spPr>
          <a:xfrm>
            <a:off x="0" y="0"/>
            <a:ext cx="137160" cy="5143500"/>
          </a:xfrm>
          <a:prstGeom prst="rect">
            <a:avLst/>
          </a:prstGeom>
          <a:solidFill>
            <a:srgbClr val="085CE5"/>
          </a:solidFill>
          <a:ln w="12700">
            <a:solidFill>
              <a:srgbClr val="085CE5"/>
            </a:solidFill>
            <a:prstDash val="solid"/>
          </a:ln>
        </p:spPr>
        <p:txBody>
          <a:bodyPr/>
          <a:lstStyle/>
          <a:p>
            <a:endParaRPr lang="en-US"/>
          </a:p>
        </p:txBody>
      </p:sp>
      <p:sp>
        <p:nvSpPr>
          <p:cNvPr id="4" name="Text 2"/>
          <p:cNvSpPr/>
          <p:nvPr/>
        </p:nvSpPr>
        <p:spPr>
          <a:xfrm>
            <a:off x="365760" y="164592"/>
            <a:ext cx="8229600" cy="256032"/>
          </a:xfrm>
          <a:prstGeom prst="rect">
            <a:avLst/>
          </a:prstGeom>
          <a:noFill/>
          <a:ln/>
        </p:spPr>
        <p:txBody>
          <a:bodyPr wrap="square" lIns="0" tIns="0" rIns="0" bIns="0" rtlCol="0" anchor="ctr"/>
          <a:lstStyle/>
          <a:p>
            <a:pPr marL="0" indent="0">
              <a:buNone/>
            </a:pPr>
            <a:r>
              <a:rPr lang="en-US" sz="900" b="1" kern="0" spc="400" dirty="0">
                <a:solidFill>
                  <a:srgbClr val="085CE5"/>
                </a:solidFill>
                <a:latin typeface="Calibri" pitchFamily="34" charset="0"/>
                <a:ea typeface="Calibri" pitchFamily="34" charset="-122"/>
                <a:cs typeface="Calibri" pitchFamily="34" charset="-120"/>
              </a:rPr>
              <a:t>REVENUE MODEL</a:t>
            </a:r>
            <a:endParaRPr lang="en-US" sz="900" dirty="0"/>
          </a:p>
        </p:txBody>
      </p:sp>
      <p:sp>
        <p:nvSpPr>
          <p:cNvPr id="5" name="Text 3"/>
          <p:cNvSpPr/>
          <p:nvPr/>
        </p:nvSpPr>
        <p:spPr>
          <a:xfrm>
            <a:off x="365760" y="475488"/>
            <a:ext cx="7315200" cy="457200"/>
          </a:xfrm>
          <a:prstGeom prst="rect">
            <a:avLst/>
          </a:prstGeom>
          <a:noFill/>
          <a:ln/>
        </p:spPr>
        <p:txBody>
          <a:bodyPr wrap="square" lIns="0" tIns="0" rIns="0" bIns="0" rtlCol="0" anchor="ctr"/>
          <a:lstStyle/>
          <a:p>
            <a:pPr marL="0" indent="0">
              <a:buNone/>
            </a:pPr>
            <a:r>
              <a:rPr lang="en-US" sz="2400" b="1" dirty="0">
                <a:solidFill>
                  <a:srgbClr val="06185F"/>
                </a:solidFill>
                <a:latin typeface="Calibri" pitchFamily="34" charset="0"/>
                <a:ea typeface="Calibri" pitchFamily="34" charset="-122"/>
                <a:cs typeface="Calibri" pitchFamily="34" charset="-120"/>
              </a:rPr>
              <a:t>DS App Pricing — Annual Add-On per FI</a:t>
            </a:r>
            <a:endParaRPr lang="en-US" sz="2400" dirty="0"/>
          </a:p>
        </p:txBody>
      </p:sp>
      <p:sp>
        <p:nvSpPr>
          <p:cNvPr id="6" name="Text 4"/>
          <p:cNvSpPr/>
          <p:nvPr/>
        </p:nvSpPr>
        <p:spPr>
          <a:xfrm>
            <a:off x="365760" y="960120"/>
            <a:ext cx="8229600" cy="256032"/>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Priced as annual subscriptions, add-on to JHBI platform fee  ·  CUs receive 12% pricing accommodation</a:t>
            </a:r>
            <a:endParaRPr lang="en-US" sz="1100" dirty="0"/>
          </a:p>
        </p:txBody>
      </p:sp>
      <p:sp>
        <p:nvSpPr>
          <p:cNvPr id="7" name="Shape 5"/>
          <p:cNvSpPr/>
          <p:nvPr/>
        </p:nvSpPr>
        <p:spPr>
          <a:xfrm>
            <a:off x="320040" y="1298448"/>
            <a:ext cx="1828800" cy="347472"/>
          </a:xfrm>
          <a:prstGeom prst="rect">
            <a:avLst/>
          </a:prstGeom>
          <a:solidFill>
            <a:srgbClr val="06185F"/>
          </a:solidFill>
          <a:ln w="12700">
            <a:solidFill>
              <a:srgbClr val="06185F"/>
            </a:solidFill>
            <a:prstDash val="solid"/>
          </a:ln>
        </p:spPr>
        <p:txBody>
          <a:bodyPr/>
          <a:lstStyle/>
          <a:p>
            <a:endParaRPr lang="en-US"/>
          </a:p>
        </p:txBody>
      </p:sp>
      <p:sp>
        <p:nvSpPr>
          <p:cNvPr id="8" name="Text 6"/>
          <p:cNvSpPr/>
          <p:nvPr/>
        </p:nvSpPr>
        <p:spPr>
          <a:xfrm>
            <a:off x="320040" y="1298448"/>
            <a:ext cx="182880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DS App</a:t>
            </a:r>
            <a:endParaRPr lang="en-US" sz="950" dirty="0"/>
          </a:p>
        </p:txBody>
      </p:sp>
      <p:sp>
        <p:nvSpPr>
          <p:cNvPr id="9" name="Shape 7"/>
          <p:cNvSpPr/>
          <p:nvPr/>
        </p:nvSpPr>
        <p:spPr>
          <a:xfrm>
            <a:off x="2194560" y="1298448"/>
            <a:ext cx="1325880" cy="347472"/>
          </a:xfrm>
          <a:prstGeom prst="rect">
            <a:avLst/>
          </a:prstGeom>
          <a:solidFill>
            <a:srgbClr val="06185F"/>
          </a:solidFill>
          <a:ln w="12700">
            <a:solidFill>
              <a:srgbClr val="06185F"/>
            </a:solidFill>
            <a:prstDash val="solid"/>
          </a:ln>
        </p:spPr>
        <p:txBody>
          <a:bodyPr/>
          <a:lstStyle/>
          <a:p>
            <a:endParaRPr lang="en-US"/>
          </a:p>
        </p:txBody>
      </p:sp>
      <p:sp>
        <p:nvSpPr>
          <p:cNvPr id="10" name="Text 8"/>
          <p:cNvSpPr/>
          <p:nvPr/>
        </p:nvSpPr>
        <p:spPr>
          <a:xfrm>
            <a:off x="2194560" y="1298448"/>
            <a:ext cx="132588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&lt;$250M</a:t>
            </a:r>
            <a:endParaRPr lang="en-US" sz="950" dirty="0"/>
          </a:p>
        </p:txBody>
      </p:sp>
      <p:sp>
        <p:nvSpPr>
          <p:cNvPr id="11" name="Shape 9"/>
          <p:cNvSpPr/>
          <p:nvPr/>
        </p:nvSpPr>
        <p:spPr>
          <a:xfrm>
            <a:off x="3566160" y="1298448"/>
            <a:ext cx="1316736" cy="347472"/>
          </a:xfrm>
          <a:prstGeom prst="rect">
            <a:avLst/>
          </a:prstGeom>
          <a:solidFill>
            <a:srgbClr val="06185F"/>
          </a:solidFill>
          <a:ln w="12700">
            <a:solidFill>
              <a:srgbClr val="06185F"/>
            </a:solidFill>
            <a:prstDash val="solid"/>
          </a:ln>
        </p:spPr>
        <p:txBody>
          <a:bodyPr/>
          <a:lstStyle/>
          <a:p>
            <a:endParaRPr lang="en-US"/>
          </a:p>
        </p:txBody>
      </p:sp>
      <p:sp>
        <p:nvSpPr>
          <p:cNvPr id="12" name="Text 10"/>
          <p:cNvSpPr/>
          <p:nvPr/>
        </p:nvSpPr>
        <p:spPr>
          <a:xfrm>
            <a:off x="3566160" y="1298448"/>
            <a:ext cx="1316736"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$250M–$1B</a:t>
            </a:r>
            <a:endParaRPr lang="en-US" sz="950" dirty="0"/>
          </a:p>
        </p:txBody>
      </p:sp>
      <p:sp>
        <p:nvSpPr>
          <p:cNvPr id="13" name="Shape 11"/>
          <p:cNvSpPr/>
          <p:nvPr/>
        </p:nvSpPr>
        <p:spPr>
          <a:xfrm>
            <a:off x="4919472" y="1298448"/>
            <a:ext cx="1316736" cy="347472"/>
          </a:xfrm>
          <a:prstGeom prst="rect">
            <a:avLst/>
          </a:prstGeom>
          <a:solidFill>
            <a:srgbClr val="06185F"/>
          </a:solidFill>
          <a:ln w="12700">
            <a:solidFill>
              <a:srgbClr val="06185F"/>
            </a:solidFill>
            <a:prstDash val="solid"/>
          </a:ln>
        </p:spPr>
        <p:txBody>
          <a:bodyPr/>
          <a:lstStyle/>
          <a:p>
            <a:endParaRPr lang="en-US"/>
          </a:p>
        </p:txBody>
      </p:sp>
      <p:sp>
        <p:nvSpPr>
          <p:cNvPr id="14" name="Text 12"/>
          <p:cNvSpPr/>
          <p:nvPr/>
        </p:nvSpPr>
        <p:spPr>
          <a:xfrm>
            <a:off x="4919472" y="1298448"/>
            <a:ext cx="1316736"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$1B–$5B</a:t>
            </a:r>
            <a:endParaRPr lang="en-US" sz="950" dirty="0"/>
          </a:p>
        </p:txBody>
      </p:sp>
      <p:sp>
        <p:nvSpPr>
          <p:cNvPr id="15" name="Shape 13"/>
          <p:cNvSpPr/>
          <p:nvPr/>
        </p:nvSpPr>
        <p:spPr>
          <a:xfrm>
            <a:off x="6272784" y="1298448"/>
            <a:ext cx="1143000" cy="347472"/>
          </a:xfrm>
          <a:prstGeom prst="rect">
            <a:avLst/>
          </a:prstGeom>
          <a:solidFill>
            <a:srgbClr val="06185F"/>
          </a:solidFill>
          <a:ln w="12700">
            <a:solidFill>
              <a:srgbClr val="06185F"/>
            </a:solidFill>
            <a:prstDash val="solid"/>
          </a:ln>
        </p:spPr>
        <p:txBody>
          <a:bodyPr/>
          <a:lstStyle/>
          <a:p>
            <a:endParaRPr lang="en-US"/>
          </a:p>
        </p:txBody>
      </p:sp>
      <p:sp>
        <p:nvSpPr>
          <p:cNvPr id="16" name="Text 14"/>
          <p:cNvSpPr/>
          <p:nvPr/>
        </p:nvSpPr>
        <p:spPr>
          <a:xfrm>
            <a:off x="6272784" y="1298448"/>
            <a:ext cx="114300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$5B+</a:t>
            </a:r>
            <a:endParaRPr lang="en-US" sz="950" dirty="0"/>
          </a:p>
        </p:txBody>
      </p:sp>
      <p:sp>
        <p:nvSpPr>
          <p:cNvPr id="17" name="Shape 15"/>
          <p:cNvSpPr/>
          <p:nvPr/>
        </p:nvSpPr>
        <p:spPr>
          <a:xfrm>
            <a:off x="7452360" y="1298448"/>
            <a:ext cx="1508760" cy="347472"/>
          </a:xfrm>
          <a:prstGeom prst="rect">
            <a:avLst/>
          </a:prstGeom>
          <a:solidFill>
            <a:srgbClr val="06185F"/>
          </a:solidFill>
          <a:ln w="12700">
            <a:solidFill>
              <a:srgbClr val="06185F"/>
            </a:solidFill>
            <a:prstDash val="solid"/>
          </a:ln>
        </p:spPr>
        <p:txBody>
          <a:bodyPr/>
          <a:lstStyle/>
          <a:p>
            <a:endParaRPr lang="en-US"/>
          </a:p>
        </p:txBody>
      </p:sp>
      <p:sp>
        <p:nvSpPr>
          <p:cNvPr id="18" name="Text 16"/>
          <p:cNvSpPr/>
          <p:nvPr/>
        </p:nvSpPr>
        <p:spPr>
          <a:xfrm>
            <a:off x="7452360" y="1298448"/>
            <a:ext cx="150876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Launch</a:t>
            </a:r>
            <a:endParaRPr lang="en-US" sz="950" dirty="0"/>
          </a:p>
        </p:txBody>
      </p:sp>
      <p:sp>
        <p:nvSpPr>
          <p:cNvPr id="19" name="Shape 17"/>
          <p:cNvSpPr/>
          <p:nvPr/>
        </p:nvSpPr>
        <p:spPr>
          <a:xfrm>
            <a:off x="320040" y="1645920"/>
            <a:ext cx="73152" cy="493776"/>
          </a:xfrm>
          <a:prstGeom prst="rect">
            <a:avLst/>
          </a:prstGeom>
          <a:solidFill>
            <a:srgbClr val="085CE5"/>
          </a:solidFill>
          <a:ln w="12700">
            <a:solidFill>
              <a:srgbClr val="085CE5"/>
            </a:solidFill>
            <a:prstDash val="solid"/>
          </a:ln>
        </p:spPr>
        <p:txBody>
          <a:bodyPr/>
          <a:lstStyle/>
          <a:p>
            <a:endParaRPr lang="en-US"/>
          </a:p>
        </p:txBody>
      </p:sp>
      <p:sp>
        <p:nvSpPr>
          <p:cNvPr id="20" name="Shape 18"/>
          <p:cNvSpPr/>
          <p:nvPr/>
        </p:nvSpPr>
        <p:spPr>
          <a:xfrm>
            <a:off x="393192" y="1645920"/>
            <a:ext cx="1755648" cy="493776"/>
          </a:xfrm>
          <a:prstGeom prst="rect">
            <a:avLst/>
          </a:prstGeom>
          <a:solidFill>
            <a:srgbClr val="F4F6FA"/>
          </a:solidFill>
          <a:ln w="12700">
            <a:solidFill>
              <a:srgbClr val="E7ECF0"/>
            </a:solidFill>
            <a:prstDash val="solid"/>
          </a:ln>
        </p:spPr>
        <p:txBody>
          <a:bodyPr/>
          <a:lstStyle/>
          <a:p>
            <a:endParaRPr lang="en-US"/>
          </a:p>
        </p:txBody>
      </p:sp>
      <p:sp>
        <p:nvSpPr>
          <p:cNvPr id="21" name="Text 19"/>
          <p:cNvSpPr/>
          <p:nvPr/>
        </p:nvSpPr>
        <p:spPr>
          <a:xfrm>
            <a:off x="448056" y="1645920"/>
            <a:ext cx="1700784" cy="493776"/>
          </a:xfrm>
          <a:prstGeom prst="rect">
            <a:avLst/>
          </a:prstGeom>
          <a:noFill/>
          <a:ln/>
        </p:spPr>
        <p:txBody>
          <a:bodyPr wrap="square" lIns="0" tIns="5080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Zelle Memo Intelligence</a:t>
            </a:r>
            <a:endParaRPr lang="en-US" sz="950" dirty="0"/>
          </a:p>
        </p:txBody>
      </p:sp>
      <p:sp>
        <p:nvSpPr>
          <p:cNvPr id="22" name="Shape 20"/>
          <p:cNvSpPr/>
          <p:nvPr/>
        </p:nvSpPr>
        <p:spPr>
          <a:xfrm>
            <a:off x="2194560" y="1645920"/>
            <a:ext cx="1325880" cy="493776"/>
          </a:xfrm>
          <a:prstGeom prst="rect">
            <a:avLst/>
          </a:prstGeom>
          <a:solidFill>
            <a:srgbClr val="F4F6FA"/>
          </a:solidFill>
          <a:ln w="12700">
            <a:solidFill>
              <a:srgbClr val="E7ECF0"/>
            </a:solidFill>
            <a:prstDash val="solid"/>
          </a:ln>
        </p:spPr>
        <p:txBody>
          <a:bodyPr/>
          <a:lstStyle/>
          <a:p>
            <a:endParaRPr lang="en-US"/>
          </a:p>
        </p:txBody>
      </p:sp>
      <p:sp>
        <p:nvSpPr>
          <p:cNvPr id="23" name="Text 21"/>
          <p:cNvSpPr/>
          <p:nvPr/>
        </p:nvSpPr>
        <p:spPr>
          <a:xfrm>
            <a:off x="2194560" y="1645920"/>
            <a:ext cx="1325880"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$5,000</a:t>
            </a:r>
            <a:endParaRPr lang="en-US" sz="1000" dirty="0"/>
          </a:p>
        </p:txBody>
      </p:sp>
      <p:sp>
        <p:nvSpPr>
          <p:cNvPr id="24" name="Shape 22"/>
          <p:cNvSpPr/>
          <p:nvPr/>
        </p:nvSpPr>
        <p:spPr>
          <a:xfrm>
            <a:off x="3566160" y="1645920"/>
            <a:ext cx="1316736" cy="493776"/>
          </a:xfrm>
          <a:prstGeom prst="rect">
            <a:avLst/>
          </a:prstGeom>
          <a:solidFill>
            <a:srgbClr val="F4F6FA"/>
          </a:solidFill>
          <a:ln w="12700">
            <a:solidFill>
              <a:srgbClr val="E7ECF0"/>
            </a:solidFill>
            <a:prstDash val="solid"/>
          </a:ln>
        </p:spPr>
        <p:txBody>
          <a:bodyPr/>
          <a:lstStyle/>
          <a:p>
            <a:endParaRPr lang="en-US"/>
          </a:p>
        </p:txBody>
      </p:sp>
      <p:sp>
        <p:nvSpPr>
          <p:cNvPr id="25" name="Text 23"/>
          <p:cNvSpPr/>
          <p:nvPr/>
        </p:nvSpPr>
        <p:spPr>
          <a:xfrm>
            <a:off x="3566160" y="1645920"/>
            <a:ext cx="1316736"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$8,000</a:t>
            </a:r>
            <a:endParaRPr lang="en-US" sz="1000" dirty="0"/>
          </a:p>
        </p:txBody>
      </p:sp>
      <p:sp>
        <p:nvSpPr>
          <p:cNvPr id="26" name="Shape 24"/>
          <p:cNvSpPr/>
          <p:nvPr/>
        </p:nvSpPr>
        <p:spPr>
          <a:xfrm>
            <a:off x="4919472" y="1645920"/>
            <a:ext cx="1316736" cy="493776"/>
          </a:xfrm>
          <a:prstGeom prst="rect">
            <a:avLst/>
          </a:prstGeom>
          <a:solidFill>
            <a:srgbClr val="F4F6FA"/>
          </a:solidFill>
          <a:ln w="12700">
            <a:solidFill>
              <a:srgbClr val="E7ECF0"/>
            </a:solidFill>
            <a:prstDash val="solid"/>
          </a:ln>
        </p:spPr>
        <p:txBody>
          <a:bodyPr/>
          <a:lstStyle/>
          <a:p>
            <a:endParaRPr lang="en-US"/>
          </a:p>
        </p:txBody>
      </p:sp>
      <p:sp>
        <p:nvSpPr>
          <p:cNvPr id="27" name="Text 25"/>
          <p:cNvSpPr/>
          <p:nvPr/>
        </p:nvSpPr>
        <p:spPr>
          <a:xfrm>
            <a:off x="4919472" y="1645920"/>
            <a:ext cx="1316736"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$15,000</a:t>
            </a:r>
            <a:endParaRPr lang="en-US" sz="1000" dirty="0"/>
          </a:p>
        </p:txBody>
      </p:sp>
      <p:sp>
        <p:nvSpPr>
          <p:cNvPr id="28" name="Shape 26"/>
          <p:cNvSpPr/>
          <p:nvPr/>
        </p:nvSpPr>
        <p:spPr>
          <a:xfrm>
            <a:off x="6272784" y="1645920"/>
            <a:ext cx="1143000" cy="493776"/>
          </a:xfrm>
          <a:prstGeom prst="rect">
            <a:avLst/>
          </a:prstGeom>
          <a:solidFill>
            <a:srgbClr val="F4F6FA"/>
          </a:solidFill>
          <a:ln w="12700">
            <a:solidFill>
              <a:srgbClr val="E7ECF0"/>
            </a:solidFill>
            <a:prstDash val="solid"/>
          </a:ln>
        </p:spPr>
        <p:txBody>
          <a:bodyPr/>
          <a:lstStyle/>
          <a:p>
            <a:endParaRPr lang="en-US"/>
          </a:p>
        </p:txBody>
      </p:sp>
      <p:sp>
        <p:nvSpPr>
          <p:cNvPr id="29" name="Text 27"/>
          <p:cNvSpPr/>
          <p:nvPr/>
        </p:nvSpPr>
        <p:spPr>
          <a:xfrm>
            <a:off x="6272784" y="1645920"/>
            <a:ext cx="1143000"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$25,000</a:t>
            </a:r>
            <a:endParaRPr lang="en-US" sz="1000" dirty="0"/>
          </a:p>
        </p:txBody>
      </p:sp>
      <p:sp>
        <p:nvSpPr>
          <p:cNvPr id="30" name="Shape 28"/>
          <p:cNvSpPr/>
          <p:nvPr/>
        </p:nvSpPr>
        <p:spPr>
          <a:xfrm>
            <a:off x="7452360" y="1645920"/>
            <a:ext cx="1508760" cy="493776"/>
          </a:xfrm>
          <a:prstGeom prst="rect">
            <a:avLst/>
          </a:prstGeom>
          <a:solidFill>
            <a:srgbClr val="F4F6FA"/>
          </a:solidFill>
          <a:ln w="12700">
            <a:solidFill>
              <a:srgbClr val="E7ECF0"/>
            </a:solidFill>
            <a:prstDash val="solid"/>
          </a:ln>
        </p:spPr>
        <p:txBody>
          <a:bodyPr/>
          <a:lstStyle/>
          <a:p>
            <a:endParaRPr lang="en-US"/>
          </a:p>
        </p:txBody>
      </p:sp>
      <p:sp>
        <p:nvSpPr>
          <p:cNvPr id="31" name="Text 29"/>
          <p:cNvSpPr/>
          <p:nvPr/>
        </p:nvSpPr>
        <p:spPr>
          <a:xfrm>
            <a:off x="7452360" y="1682496"/>
            <a:ext cx="1508760" cy="219456"/>
          </a:xfrm>
          <a:prstGeom prst="rect">
            <a:avLst/>
          </a:prstGeom>
          <a:noFill/>
          <a:ln/>
        </p:spPr>
        <p:txBody>
          <a:bodyPr wrap="square" lIns="0" tIns="0" rIns="0" bIns="0" rtlCol="0" anchor="ctr"/>
          <a:lstStyle/>
          <a:p>
            <a:pPr marL="0" indent="0" algn="ctr">
              <a:buNone/>
            </a:pPr>
            <a:r>
              <a:rPr lang="en-US" sz="950" b="1" dirty="0">
                <a:solidFill>
                  <a:srgbClr val="06185F"/>
                </a:solidFill>
                <a:latin typeface="Calibri" pitchFamily="34" charset="0"/>
                <a:ea typeface="Calibri" pitchFamily="34" charset="-122"/>
                <a:cs typeface="Calibri" pitchFamily="34" charset="-120"/>
              </a:rPr>
              <a:t>Q1 FY27</a:t>
            </a:r>
            <a:endParaRPr lang="en-US" sz="950" dirty="0"/>
          </a:p>
        </p:txBody>
      </p:sp>
      <p:sp>
        <p:nvSpPr>
          <p:cNvPr id="32" name="Text 30"/>
          <p:cNvSpPr/>
          <p:nvPr/>
        </p:nvSpPr>
        <p:spPr>
          <a:xfrm>
            <a:off x="7452360" y="1892808"/>
            <a:ext cx="1508760" cy="219456"/>
          </a:xfrm>
          <a:prstGeom prst="rect">
            <a:avLst/>
          </a:prstGeom>
          <a:noFill/>
          <a:ln/>
        </p:spPr>
        <p:txBody>
          <a:bodyPr wrap="square" lIns="0" tIns="0" rIns="0" bIns="0" rtlCol="0" anchor="ctr"/>
          <a:lstStyle/>
          <a:p>
            <a:pPr marL="0" indent="0" algn="ctr">
              <a:buNone/>
            </a:pPr>
            <a:r>
              <a:rPr lang="en-US" sz="750" dirty="0">
                <a:solidFill>
                  <a:srgbClr val="575A5D"/>
                </a:solidFill>
                <a:latin typeface="Calibri" pitchFamily="34" charset="0"/>
                <a:ea typeface="Calibri" pitchFamily="34" charset="-122"/>
                <a:cs typeface="Calibri" pitchFamily="34" charset="-120"/>
              </a:rPr>
              <a:t>Zelle FIs only</a:t>
            </a:r>
            <a:endParaRPr lang="en-US" sz="750" dirty="0"/>
          </a:p>
          <a:p>
            <a:pPr marL="0" indent="0" algn="ctr">
              <a:buNone/>
            </a:pPr>
            <a:r>
              <a:rPr lang="en-US" sz="750" dirty="0">
                <a:solidFill>
                  <a:srgbClr val="575A5D"/>
                </a:solidFill>
                <a:latin typeface="Calibri" pitchFamily="34" charset="0"/>
                <a:ea typeface="Calibri" pitchFamily="34" charset="-122"/>
                <a:cs typeface="Calibri" pitchFamily="34" charset="-120"/>
              </a:rPr>
              <a:t>(260 enabled today)</a:t>
            </a:r>
            <a:endParaRPr lang="en-US" sz="750" dirty="0"/>
          </a:p>
        </p:txBody>
      </p:sp>
      <p:sp>
        <p:nvSpPr>
          <p:cNvPr id="33" name="Shape 31"/>
          <p:cNvSpPr/>
          <p:nvPr/>
        </p:nvSpPr>
        <p:spPr>
          <a:xfrm>
            <a:off x="320040" y="2139696"/>
            <a:ext cx="73152" cy="493776"/>
          </a:xfrm>
          <a:prstGeom prst="rect">
            <a:avLst/>
          </a:prstGeom>
          <a:solidFill>
            <a:srgbClr val="06185F"/>
          </a:solidFill>
          <a:ln w="12700">
            <a:solidFill>
              <a:srgbClr val="06185F"/>
            </a:solidFill>
            <a:prstDash val="solid"/>
          </a:ln>
        </p:spPr>
        <p:txBody>
          <a:bodyPr/>
          <a:lstStyle/>
          <a:p>
            <a:endParaRPr lang="en-US"/>
          </a:p>
        </p:txBody>
      </p:sp>
      <p:sp>
        <p:nvSpPr>
          <p:cNvPr id="34" name="Shape 32"/>
          <p:cNvSpPr/>
          <p:nvPr/>
        </p:nvSpPr>
        <p:spPr>
          <a:xfrm>
            <a:off x="393192" y="2139696"/>
            <a:ext cx="1755648" cy="493776"/>
          </a:xfrm>
          <a:prstGeom prst="rect">
            <a:avLst/>
          </a:prstGeom>
          <a:solidFill>
            <a:srgbClr val="FFFFFF"/>
          </a:solidFill>
          <a:ln w="12700">
            <a:solidFill>
              <a:srgbClr val="E7ECF0"/>
            </a:solidFill>
            <a:prstDash val="solid"/>
          </a:ln>
        </p:spPr>
        <p:txBody>
          <a:bodyPr/>
          <a:lstStyle/>
          <a:p>
            <a:endParaRPr lang="en-US"/>
          </a:p>
        </p:txBody>
      </p:sp>
      <p:sp>
        <p:nvSpPr>
          <p:cNvPr id="35" name="Text 33"/>
          <p:cNvSpPr/>
          <p:nvPr/>
        </p:nvSpPr>
        <p:spPr>
          <a:xfrm>
            <a:off x="448056" y="2139696"/>
            <a:ext cx="1700784" cy="493776"/>
          </a:xfrm>
          <a:prstGeom prst="rect">
            <a:avLst/>
          </a:prstGeom>
          <a:noFill/>
          <a:ln/>
        </p:spPr>
        <p:txBody>
          <a:bodyPr wrap="square" lIns="0" tIns="5080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Churn Sentinel</a:t>
            </a:r>
            <a:endParaRPr lang="en-US" sz="950" dirty="0"/>
          </a:p>
        </p:txBody>
      </p:sp>
      <p:sp>
        <p:nvSpPr>
          <p:cNvPr id="36" name="Shape 34"/>
          <p:cNvSpPr/>
          <p:nvPr/>
        </p:nvSpPr>
        <p:spPr>
          <a:xfrm>
            <a:off x="2194560" y="2139696"/>
            <a:ext cx="1325880" cy="493776"/>
          </a:xfrm>
          <a:prstGeom prst="rect">
            <a:avLst/>
          </a:prstGeom>
          <a:solidFill>
            <a:srgbClr val="FFFFFF"/>
          </a:solidFill>
          <a:ln w="12700">
            <a:solidFill>
              <a:srgbClr val="E7ECF0"/>
            </a:solidFill>
            <a:prstDash val="solid"/>
          </a:ln>
        </p:spPr>
        <p:txBody>
          <a:bodyPr/>
          <a:lstStyle/>
          <a:p>
            <a:endParaRPr lang="en-US"/>
          </a:p>
        </p:txBody>
      </p:sp>
      <p:sp>
        <p:nvSpPr>
          <p:cNvPr id="37" name="Text 35"/>
          <p:cNvSpPr/>
          <p:nvPr/>
        </p:nvSpPr>
        <p:spPr>
          <a:xfrm>
            <a:off x="2194560" y="2139696"/>
            <a:ext cx="1325880"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$8,000</a:t>
            </a:r>
            <a:endParaRPr lang="en-US" sz="1000" dirty="0"/>
          </a:p>
        </p:txBody>
      </p:sp>
      <p:sp>
        <p:nvSpPr>
          <p:cNvPr id="38" name="Shape 36"/>
          <p:cNvSpPr/>
          <p:nvPr/>
        </p:nvSpPr>
        <p:spPr>
          <a:xfrm>
            <a:off x="3566160" y="2139696"/>
            <a:ext cx="1316736" cy="493776"/>
          </a:xfrm>
          <a:prstGeom prst="rect">
            <a:avLst/>
          </a:prstGeom>
          <a:solidFill>
            <a:srgbClr val="FFFFFF"/>
          </a:solidFill>
          <a:ln w="12700">
            <a:solidFill>
              <a:srgbClr val="E7ECF0"/>
            </a:solidFill>
            <a:prstDash val="solid"/>
          </a:ln>
        </p:spPr>
        <p:txBody>
          <a:bodyPr/>
          <a:lstStyle/>
          <a:p>
            <a:endParaRPr lang="en-US"/>
          </a:p>
        </p:txBody>
      </p:sp>
      <p:sp>
        <p:nvSpPr>
          <p:cNvPr id="39" name="Text 37"/>
          <p:cNvSpPr/>
          <p:nvPr/>
        </p:nvSpPr>
        <p:spPr>
          <a:xfrm>
            <a:off x="3566160" y="2139696"/>
            <a:ext cx="1316736"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$12,000</a:t>
            </a:r>
            <a:endParaRPr lang="en-US" sz="1000" dirty="0"/>
          </a:p>
        </p:txBody>
      </p:sp>
      <p:sp>
        <p:nvSpPr>
          <p:cNvPr id="40" name="Shape 38"/>
          <p:cNvSpPr/>
          <p:nvPr/>
        </p:nvSpPr>
        <p:spPr>
          <a:xfrm>
            <a:off x="4919472" y="2139696"/>
            <a:ext cx="1316736" cy="493776"/>
          </a:xfrm>
          <a:prstGeom prst="rect">
            <a:avLst/>
          </a:prstGeom>
          <a:solidFill>
            <a:srgbClr val="FFFFFF"/>
          </a:solidFill>
          <a:ln w="12700">
            <a:solidFill>
              <a:srgbClr val="E7ECF0"/>
            </a:solidFill>
            <a:prstDash val="solid"/>
          </a:ln>
        </p:spPr>
        <p:txBody>
          <a:bodyPr/>
          <a:lstStyle/>
          <a:p>
            <a:endParaRPr lang="en-US"/>
          </a:p>
        </p:txBody>
      </p:sp>
      <p:sp>
        <p:nvSpPr>
          <p:cNvPr id="41" name="Text 39"/>
          <p:cNvSpPr/>
          <p:nvPr/>
        </p:nvSpPr>
        <p:spPr>
          <a:xfrm>
            <a:off x="4919472" y="2139696"/>
            <a:ext cx="1316736"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$22,000</a:t>
            </a:r>
            <a:endParaRPr lang="en-US" sz="1000" dirty="0"/>
          </a:p>
        </p:txBody>
      </p:sp>
      <p:sp>
        <p:nvSpPr>
          <p:cNvPr id="42" name="Shape 40"/>
          <p:cNvSpPr/>
          <p:nvPr/>
        </p:nvSpPr>
        <p:spPr>
          <a:xfrm>
            <a:off x="6272784" y="2139696"/>
            <a:ext cx="1143000" cy="493776"/>
          </a:xfrm>
          <a:prstGeom prst="rect">
            <a:avLst/>
          </a:prstGeom>
          <a:solidFill>
            <a:srgbClr val="FFFFFF"/>
          </a:solidFill>
          <a:ln w="12700">
            <a:solidFill>
              <a:srgbClr val="E7ECF0"/>
            </a:solidFill>
            <a:prstDash val="solid"/>
          </a:ln>
        </p:spPr>
        <p:txBody>
          <a:bodyPr/>
          <a:lstStyle/>
          <a:p>
            <a:endParaRPr lang="en-US"/>
          </a:p>
        </p:txBody>
      </p:sp>
      <p:sp>
        <p:nvSpPr>
          <p:cNvPr id="43" name="Text 41"/>
          <p:cNvSpPr/>
          <p:nvPr/>
        </p:nvSpPr>
        <p:spPr>
          <a:xfrm>
            <a:off x="6272784" y="2139696"/>
            <a:ext cx="1143000"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$35,000</a:t>
            </a:r>
            <a:endParaRPr lang="en-US" sz="1000" dirty="0"/>
          </a:p>
        </p:txBody>
      </p:sp>
      <p:sp>
        <p:nvSpPr>
          <p:cNvPr id="44" name="Shape 42"/>
          <p:cNvSpPr/>
          <p:nvPr/>
        </p:nvSpPr>
        <p:spPr>
          <a:xfrm>
            <a:off x="7452360" y="2139696"/>
            <a:ext cx="1508760" cy="493776"/>
          </a:xfrm>
          <a:prstGeom prst="rect">
            <a:avLst/>
          </a:prstGeom>
          <a:solidFill>
            <a:srgbClr val="FFFFFF"/>
          </a:solidFill>
          <a:ln w="12700">
            <a:solidFill>
              <a:srgbClr val="E7ECF0"/>
            </a:solidFill>
            <a:prstDash val="solid"/>
          </a:ln>
        </p:spPr>
        <p:txBody>
          <a:bodyPr/>
          <a:lstStyle/>
          <a:p>
            <a:endParaRPr lang="en-US"/>
          </a:p>
        </p:txBody>
      </p:sp>
      <p:sp>
        <p:nvSpPr>
          <p:cNvPr id="45" name="Text 43"/>
          <p:cNvSpPr/>
          <p:nvPr/>
        </p:nvSpPr>
        <p:spPr>
          <a:xfrm>
            <a:off x="7452360" y="2176272"/>
            <a:ext cx="1508760" cy="219456"/>
          </a:xfrm>
          <a:prstGeom prst="rect">
            <a:avLst/>
          </a:prstGeom>
          <a:noFill/>
          <a:ln/>
        </p:spPr>
        <p:txBody>
          <a:bodyPr wrap="square" lIns="0" tIns="0" rIns="0" bIns="0" rtlCol="0" anchor="ctr"/>
          <a:lstStyle/>
          <a:p>
            <a:pPr marL="0" indent="0" algn="ctr">
              <a:buNone/>
            </a:pPr>
            <a:r>
              <a:rPr lang="en-US" sz="950" b="1" dirty="0">
                <a:solidFill>
                  <a:srgbClr val="06185F"/>
                </a:solidFill>
                <a:latin typeface="Calibri" pitchFamily="34" charset="0"/>
                <a:ea typeface="Calibri" pitchFamily="34" charset="-122"/>
                <a:cs typeface="Calibri" pitchFamily="34" charset="-120"/>
              </a:rPr>
              <a:t>Q2 FY27</a:t>
            </a:r>
            <a:endParaRPr lang="en-US" sz="950" dirty="0"/>
          </a:p>
        </p:txBody>
      </p:sp>
      <p:sp>
        <p:nvSpPr>
          <p:cNvPr id="46" name="Text 44"/>
          <p:cNvSpPr/>
          <p:nvPr/>
        </p:nvSpPr>
        <p:spPr>
          <a:xfrm>
            <a:off x="7452360" y="2386584"/>
            <a:ext cx="1508760" cy="219456"/>
          </a:xfrm>
          <a:prstGeom prst="rect">
            <a:avLst/>
          </a:prstGeom>
          <a:noFill/>
          <a:ln/>
        </p:spPr>
        <p:txBody>
          <a:bodyPr wrap="square" lIns="0" tIns="0" rIns="0" bIns="0" rtlCol="0" anchor="ctr"/>
          <a:lstStyle/>
          <a:p>
            <a:pPr marL="0" indent="0" algn="ctr">
              <a:buNone/>
            </a:pPr>
            <a:r>
              <a:rPr lang="en-US" sz="750" dirty="0">
                <a:solidFill>
                  <a:srgbClr val="575A5D"/>
                </a:solidFill>
                <a:latin typeface="Calibri" pitchFamily="34" charset="0"/>
                <a:ea typeface="Calibri" pitchFamily="34" charset="-122"/>
                <a:cs typeface="Calibri" pitchFamily="34" charset="-120"/>
              </a:rPr>
              <a:t>Universal · all FIs</a:t>
            </a:r>
            <a:endParaRPr lang="en-US" sz="750" dirty="0"/>
          </a:p>
        </p:txBody>
      </p:sp>
      <p:sp>
        <p:nvSpPr>
          <p:cNvPr id="47" name="Shape 45"/>
          <p:cNvSpPr/>
          <p:nvPr/>
        </p:nvSpPr>
        <p:spPr>
          <a:xfrm>
            <a:off x="320040" y="2633472"/>
            <a:ext cx="73152" cy="493776"/>
          </a:xfrm>
          <a:prstGeom prst="rect">
            <a:avLst/>
          </a:prstGeom>
          <a:solidFill>
            <a:srgbClr val="0A52C4"/>
          </a:solidFill>
          <a:ln w="12700">
            <a:solidFill>
              <a:srgbClr val="0A52C4"/>
            </a:solidFill>
            <a:prstDash val="solid"/>
          </a:ln>
        </p:spPr>
        <p:txBody>
          <a:bodyPr/>
          <a:lstStyle/>
          <a:p>
            <a:endParaRPr lang="en-US"/>
          </a:p>
        </p:txBody>
      </p:sp>
      <p:sp>
        <p:nvSpPr>
          <p:cNvPr id="48" name="Shape 46"/>
          <p:cNvSpPr/>
          <p:nvPr/>
        </p:nvSpPr>
        <p:spPr>
          <a:xfrm>
            <a:off x="393192" y="2633472"/>
            <a:ext cx="1755648" cy="493776"/>
          </a:xfrm>
          <a:prstGeom prst="rect">
            <a:avLst/>
          </a:prstGeom>
          <a:solidFill>
            <a:srgbClr val="F4F6FA"/>
          </a:solidFill>
          <a:ln w="12700">
            <a:solidFill>
              <a:srgbClr val="E7ECF0"/>
            </a:solidFill>
            <a:prstDash val="solid"/>
          </a:ln>
        </p:spPr>
        <p:txBody>
          <a:bodyPr/>
          <a:lstStyle/>
          <a:p>
            <a:endParaRPr lang="en-US"/>
          </a:p>
        </p:txBody>
      </p:sp>
      <p:sp>
        <p:nvSpPr>
          <p:cNvPr id="49" name="Text 47"/>
          <p:cNvSpPr/>
          <p:nvPr/>
        </p:nvSpPr>
        <p:spPr>
          <a:xfrm>
            <a:off x="448056" y="2633472"/>
            <a:ext cx="1700784" cy="493776"/>
          </a:xfrm>
          <a:prstGeom prst="rect">
            <a:avLst/>
          </a:prstGeom>
          <a:noFill/>
          <a:ln/>
        </p:spPr>
        <p:txBody>
          <a:bodyPr wrap="square" lIns="0" tIns="5080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CommercialSignal</a:t>
            </a:r>
            <a:endParaRPr lang="en-US" sz="950" dirty="0"/>
          </a:p>
        </p:txBody>
      </p:sp>
      <p:sp>
        <p:nvSpPr>
          <p:cNvPr id="50" name="Shape 48"/>
          <p:cNvSpPr/>
          <p:nvPr/>
        </p:nvSpPr>
        <p:spPr>
          <a:xfrm>
            <a:off x="2194560" y="2633472"/>
            <a:ext cx="1325880" cy="493776"/>
          </a:xfrm>
          <a:prstGeom prst="rect">
            <a:avLst/>
          </a:prstGeom>
          <a:solidFill>
            <a:srgbClr val="F4F6FA"/>
          </a:solidFill>
          <a:ln w="12700">
            <a:solidFill>
              <a:srgbClr val="E7ECF0"/>
            </a:solidFill>
            <a:prstDash val="solid"/>
          </a:ln>
        </p:spPr>
        <p:txBody>
          <a:bodyPr/>
          <a:lstStyle/>
          <a:p>
            <a:endParaRPr lang="en-US"/>
          </a:p>
        </p:txBody>
      </p:sp>
      <p:sp>
        <p:nvSpPr>
          <p:cNvPr id="51" name="Text 49"/>
          <p:cNvSpPr/>
          <p:nvPr/>
        </p:nvSpPr>
        <p:spPr>
          <a:xfrm>
            <a:off x="2194560" y="2633472"/>
            <a:ext cx="1325880"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$6,000</a:t>
            </a:r>
            <a:endParaRPr lang="en-US" sz="1000" dirty="0"/>
          </a:p>
        </p:txBody>
      </p:sp>
      <p:sp>
        <p:nvSpPr>
          <p:cNvPr id="52" name="Shape 50"/>
          <p:cNvSpPr/>
          <p:nvPr/>
        </p:nvSpPr>
        <p:spPr>
          <a:xfrm>
            <a:off x="3566160" y="2633472"/>
            <a:ext cx="1316736" cy="493776"/>
          </a:xfrm>
          <a:prstGeom prst="rect">
            <a:avLst/>
          </a:prstGeom>
          <a:solidFill>
            <a:srgbClr val="F4F6FA"/>
          </a:solidFill>
          <a:ln w="12700">
            <a:solidFill>
              <a:srgbClr val="E7ECF0"/>
            </a:solidFill>
            <a:prstDash val="solid"/>
          </a:ln>
        </p:spPr>
        <p:txBody>
          <a:bodyPr/>
          <a:lstStyle/>
          <a:p>
            <a:endParaRPr lang="en-US"/>
          </a:p>
        </p:txBody>
      </p:sp>
      <p:sp>
        <p:nvSpPr>
          <p:cNvPr id="53" name="Text 51"/>
          <p:cNvSpPr/>
          <p:nvPr/>
        </p:nvSpPr>
        <p:spPr>
          <a:xfrm>
            <a:off x="3566160" y="2633472"/>
            <a:ext cx="1316736"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$10,000</a:t>
            </a:r>
            <a:endParaRPr lang="en-US" sz="1000" dirty="0"/>
          </a:p>
        </p:txBody>
      </p:sp>
      <p:sp>
        <p:nvSpPr>
          <p:cNvPr id="54" name="Shape 52"/>
          <p:cNvSpPr/>
          <p:nvPr/>
        </p:nvSpPr>
        <p:spPr>
          <a:xfrm>
            <a:off x="4919472" y="2633472"/>
            <a:ext cx="1316736" cy="493776"/>
          </a:xfrm>
          <a:prstGeom prst="rect">
            <a:avLst/>
          </a:prstGeom>
          <a:solidFill>
            <a:srgbClr val="F4F6FA"/>
          </a:solidFill>
          <a:ln w="12700">
            <a:solidFill>
              <a:srgbClr val="E7ECF0"/>
            </a:solidFill>
            <a:prstDash val="solid"/>
          </a:ln>
        </p:spPr>
        <p:txBody>
          <a:bodyPr/>
          <a:lstStyle/>
          <a:p>
            <a:endParaRPr lang="en-US"/>
          </a:p>
        </p:txBody>
      </p:sp>
      <p:sp>
        <p:nvSpPr>
          <p:cNvPr id="55" name="Text 53"/>
          <p:cNvSpPr/>
          <p:nvPr/>
        </p:nvSpPr>
        <p:spPr>
          <a:xfrm>
            <a:off x="4919472" y="2633472"/>
            <a:ext cx="1316736"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$18,000</a:t>
            </a:r>
            <a:endParaRPr lang="en-US" sz="1000" dirty="0"/>
          </a:p>
        </p:txBody>
      </p:sp>
      <p:sp>
        <p:nvSpPr>
          <p:cNvPr id="56" name="Shape 54"/>
          <p:cNvSpPr/>
          <p:nvPr/>
        </p:nvSpPr>
        <p:spPr>
          <a:xfrm>
            <a:off x="6272784" y="2633472"/>
            <a:ext cx="1143000" cy="493776"/>
          </a:xfrm>
          <a:prstGeom prst="rect">
            <a:avLst/>
          </a:prstGeom>
          <a:solidFill>
            <a:srgbClr val="F4F6FA"/>
          </a:solidFill>
          <a:ln w="12700">
            <a:solidFill>
              <a:srgbClr val="E7ECF0"/>
            </a:solidFill>
            <a:prstDash val="solid"/>
          </a:ln>
        </p:spPr>
        <p:txBody>
          <a:bodyPr/>
          <a:lstStyle/>
          <a:p>
            <a:endParaRPr lang="en-US"/>
          </a:p>
        </p:txBody>
      </p:sp>
      <p:sp>
        <p:nvSpPr>
          <p:cNvPr id="57" name="Text 55"/>
          <p:cNvSpPr/>
          <p:nvPr/>
        </p:nvSpPr>
        <p:spPr>
          <a:xfrm>
            <a:off x="6272784" y="2633472"/>
            <a:ext cx="1143000"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$28,000</a:t>
            </a:r>
            <a:endParaRPr lang="en-US" sz="1000" dirty="0"/>
          </a:p>
        </p:txBody>
      </p:sp>
      <p:sp>
        <p:nvSpPr>
          <p:cNvPr id="58" name="Shape 56"/>
          <p:cNvSpPr/>
          <p:nvPr/>
        </p:nvSpPr>
        <p:spPr>
          <a:xfrm>
            <a:off x="7452360" y="2633472"/>
            <a:ext cx="1508760" cy="493776"/>
          </a:xfrm>
          <a:prstGeom prst="rect">
            <a:avLst/>
          </a:prstGeom>
          <a:solidFill>
            <a:srgbClr val="F4F6FA"/>
          </a:solidFill>
          <a:ln w="12700">
            <a:solidFill>
              <a:srgbClr val="E7ECF0"/>
            </a:solidFill>
            <a:prstDash val="solid"/>
          </a:ln>
        </p:spPr>
        <p:txBody>
          <a:bodyPr/>
          <a:lstStyle/>
          <a:p>
            <a:endParaRPr lang="en-US"/>
          </a:p>
        </p:txBody>
      </p:sp>
      <p:sp>
        <p:nvSpPr>
          <p:cNvPr id="59" name="Text 57"/>
          <p:cNvSpPr/>
          <p:nvPr/>
        </p:nvSpPr>
        <p:spPr>
          <a:xfrm>
            <a:off x="7452360" y="2670048"/>
            <a:ext cx="1508760" cy="219456"/>
          </a:xfrm>
          <a:prstGeom prst="rect">
            <a:avLst/>
          </a:prstGeom>
          <a:noFill/>
          <a:ln/>
        </p:spPr>
        <p:txBody>
          <a:bodyPr wrap="square" lIns="0" tIns="0" rIns="0" bIns="0" rtlCol="0" anchor="ctr"/>
          <a:lstStyle/>
          <a:p>
            <a:pPr marL="0" indent="0" algn="ctr">
              <a:buNone/>
            </a:pPr>
            <a:r>
              <a:rPr lang="en-US" sz="950" b="1" dirty="0">
                <a:solidFill>
                  <a:srgbClr val="06185F"/>
                </a:solidFill>
                <a:latin typeface="Calibri" pitchFamily="34" charset="0"/>
                <a:ea typeface="Calibri" pitchFamily="34" charset="-122"/>
                <a:cs typeface="Calibri" pitchFamily="34" charset="-120"/>
              </a:rPr>
              <a:t>Q3 FY27</a:t>
            </a:r>
            <a:endParaRPr lang="en-US" sz="950" dirty="0"/>
          </a:p>
        </p:txBody>
      </p:sp>
      <p:sp>
        <p:nvSpPr>
          <p:cNvPr id="60" name="Text 58"/>
          <p:cNvSpPr/>
          <p:nvPr/>
        </p:nvSpPr>
        <p:spPr>
          <a:xfrm>
            <a:off x="7452360" y="2880360"/>
            <a:ext cx="1508760" cy="219456"/>
          </a:xfrm>
          <a:prstGeom prst="rect">
            <a:avLst/>
          </a:prstGeom>
          <a:noFill/>
          <a:ln/>
        </p:spPr>
        <p:txBody>
          <a:bodyPr wrap="square" lIns="0" tIns="0" rIns="0" bIns="0" rtlCol="0" anchor="ctr"/>
          <a:lstStyle/>
          <a:p>
            <a:pPr marL="0" indent="0" algn="ctr">
              <a:buNone/>
            </a:pPr>
            <a:r>
              <a:rPr lang="en-US" sz="750" dirty="0">
                <a:solidFill>
                  <a:srgbClr val="575A5D"/>
                </a:solidFill>
                <a:latin typeface="Calibri" pitchFamily="34" charset="0"/>
                <a:ea typeface="Calibri" pitchFamily="34" charset="-122"/>
                <a:cs typeface="Calibri" pitchFamily="34" charset="-120"/>
              </a:rPr>
              <a:t>Universal · ACH data</a:t>
            </a:r>
            <a:endParaRPr lang="en-US" sz="750" dirty="0"/>
          </a:p>
        </p:txBody>
      </p:sp>
      <p:sp>
        <p:nvSpPr>
          <p:cNvPr id="61" name="Shape 59"/>
          <p:cNvSpPr/>
          <p:nvPr/>
        </p:nvSpPr>
        <p:spPr>
          <a:xfrm>
            <a:off x="320040" y="3127248"/>
            <a:ext cx="73152" cy="493776"/>
          </a:xfrm>
          <a:prstGeom prst="rect">
            <a:avLst/>
          </a:prstGeom>
          <a:solidFill>
            <a:srgbClr val="0F3D8A"/>
          </a:solidFill>
          <a:ln w="12700">
            <a:solidFill>
              <a:srgbClr val="0F3D8A"/>
            </a:solidFill>
            <a:prstDash val="solid"/>
          </a:ln>
        </p:spPr>
        <p:txBody>
          <a:bodyPr/>
          <a:lstStyle/>
          <a:p>
            <a:endParaRPr lang="en-US"/>
          </a:p>
        </p:txBody>
      </p:sp>
      <p:sp>
        <p:nvSpPr>
          <p:cNvPr id="62" name="Shape 60"/>
          <p:cNvSpPr/>
          <p:nvPr/>
        </p:nvSpPr>
        <p:spPr>
          <a:xfrm>
            <a:off x="393192" y="3127248"/>
            <a:ext cx="1755648" cy="493776"/>
          </a:xfrm>
          <a:prstGeom prst="rect">
            <a:avLst/>
          </a:prstGeom>
          <a:solidFill>
            <a:srgbClr val="FFFFFF"/>
          </a:solidFill>
          <a:ln w="12700">
            <a:solidFill>
              <a:srgbClr val="E7ECF0"/>
            </a:solidFill>
            <a:prstDash val="solid"/>
          </a:ln>
        </p:spPr>
        <p:txBody>
          <a:bodyPr/>
          <a:lstStyle/>
          <a:p>
            <a:endParaRPr lang="en-US"/>
          </a:p>
        </p:txBody>
      </p:sp>
      <p:sp>
        <p:nvSpPr>
          <p:cNvPr id="63" name="Text 61"/>
          <p:cNvSpPr/>
          <p:nvPr/>
        </p:nvSpPr>
        <p:spPr>
          <a:xfrm>
            <a:off x="448056" y="3127248"/>
            <a:ext cx="1700784" cy="493776"/>
          </a:xfrm>
          <a:prstGeom prst="rect">
            <a:avLst/>
          </a:prstGeom>
          <a:noFill/>
          <a:ln/>
        </p:spPr>
        <p:txBody>
          <a:bodyPr wrap="square" lIns="0" tIns="5080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Gen. Wealth Deflection</a:t>
            </a:r>
            <a:endParaRPr lang="en-US" sz="950" dirty="0"/>
          </a:p>
        </p:txBody>
      </p:sp>
      <p:sp>
        <p:nvSpPr>
          <p:cNvPr id="64" name="Shape 62"/>
          <p:cNvSpPr/>
          <p:nvPr/>
        </p:nvSpPr>
        <p:spPr>
          <a:xfrm>
            <a:off x="2194560" y="3127248"/>
            <a:ext cx="1325880" cy="493776"/>
          </a:xfrm>
          <a:prstGeom prst="rect">
            <a:avLst/>
          </a:prstGeom>
          <a:solidFill>
            <a:srgbClr val="FFFFFF"/>
          </a:solidFill>
          <a:ln w="12700">
            <a:solidFill>
              <a:srgbClr val="E7ECF0"/>
            </a:solidFill>
            <a:prstDash val="solid"/>
          </a:ln>
        </p:spPr>
        <p:txBody>
          <a:bodyPr/>
          <a:lstStyle/>
          <a:p>
            <a:endParaRPr lang="en-US"/>
          </a:p>
        </p:txBody>
      </p:sp>
      <p:sp>
        <p:nvSpPr>
          <p:cNvPr id="65" name="Text 63"/>
          <p:cNvSpPr/>
          <p:nvPr/>
        </p:nvSpPr>
        <p:spPr>
          <a:xfrm>
            <a:off x="2194560" y="3127248"/>
            <a:ext cx="1325880"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$8,000</a:t>
            </a:r>
            <a:endParaRPr lang="en-US" sz="1000" dirty="0"/>
          </a:p>
        </p:txBody>
      </p:sp>
      <p:sp>
        <p:nvSpPr>
          <p:cNvPr id="66" name="Shape 64"/>
          <p:cNvSpPr/>
          <p:nvPr/>
        </p:nvSpPr>
        <p:spPr>
          <a:xfrm>
            <a:off x="3566160" y="3127248"/>
            <a:ext cx="1316736" cy="493776"/>
          </a:xfrm>
          <a:prstGeom prst="rect">
            <a:avLst/>
          </a:prstGeom>
          <a:solidFill>
            <a:srgbClr val="FFFFFF"/>
          </a:solidFill>
          <a:ln w="12700">
            <a:solidFill>
              <a:srgbClr val="E7ECF0"/>
            </a:solidFill>
            <a:prstDash val="solid"/>
          </a:ln>
        </p:spPr>
        <p:txBody>
          <a:bodyPr/>
          <a:lstStyle/>
          <a:p>
            <a:endParaRPr lang="en-US"/>
          </a:p>
        </p:txBody>
      </p:sp>
      <p:sp>
        <p:nvSpPr>
          <p:cNvPr id="67" name="Text 65"/>
          <p:cNvSpPr/>
          <p:nvPr/>
        </p:nvSpPr>
        <p:spPr>
          <a:xfrm>
            <a:off x="3566160" y="3127248"/>
            <a:ext cx="1316736"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$12,000</a:t>
            </a:r>
            <a:endParaRPr lang="en-US" sz="1000" dirty="0"/>
          </a:p>
        </p:txBody>
      </p:sp>
      <p:sp>
        <p:nvSpPr>
          <p:cNvPr id="68" name="Shape 66"/>
          <p:cNvSpPr/>
          <p:nvPr/>
        </p:nvSpPr>
        <p:spPr>
          <a:xfrm>
            <a:off x="4919472" y="3127248"/>
            <a:ext cx="1316736" cy="493776"/>
          </a:xfrm>
          <a:prstGeom prst="rect">
            <a:avLst/>
          </a:prstGeom>
          <a:solidFill>
            <a:srgbClr val="FFFFFF"/>
          </a:solidFill>
          <a:ln w="12700">
            <a:solidFill>
              <a:srgbClr val="E7ECF0"/>
            </a:solidFill>
            <a:prstDash val="solid"/>
          </a:ln>
        </p:spPr>
        <p:txBody>
          <a:bodyPr/>
          <a:lstStyle/>
          <a:p>
            <a:endParaRPr lang="en-US"/>
          </a:p>
        </p:txBody>
      </p:sp>
      <p:sp>
        <p:nvSpPr>
          <p:cNvPr id="69" name="Text 67"/>
          <p:cNvSpPr/>
          <p:nvPr/>
        </p:nvSpPr>
        <p:spPr>
          <a:xfrm>
            <a:off x="4919472" y="3127248"/>
            <a:ext cx="1316736"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$20,000</a:t>
            </a:r>
            <a:endParaRPr lang="en-US" sz="1000" dirty="0"/>
          </a:p>
        </p:txBody>
      </p:sp>
      <p:sp>
        <p:nvSpPr>
          <p:cNvPr id="70" name="Shape 68"/>
          <p:cNvSpPr/>
          <p:nvPr/>
        </p:nvSpPr>
        <p:spPr>
          <a:xfrm>
            <a:off x="6272784" y="3127248"/>
            <a:ext cx="1143000" cy="493776"/>
          </a:xfrm>
          <a:prstGeom prst="rect">
            <a:avLst/>
          </a:prstGeom>
          <a:solidFill>
            <a:srgbClr val="FFFFFF"/>
          </a:solidFill>
          <a:ln w="12700">
            <a:solidFill>
              <a:srgbClr val="E7ECF0"/>
            </a:solidFill>
            <a:prstDash val="solid"/>
          </a:ln>
        </p:spPr>
        <p:txBody>
          <a:bodyPr/>
          <a:lstStyle/>
          <a:p>
            <a:endParaRPr lang="en-US"/>
          </a:p>
        </p:txBody>
      </p:sp>
      <p:sp>
        <p:nvSpPr>
          <p:cNvPr id="71" name="Text 69"/>
          <p:cNvSpPr/>
          <p:nvPr/>
        </p:nvSpPr>
        <p:spPr>
          <a:xfrm>
            <a:off x="6272784" y="3127248"/>
            <a:ext cx="1143000"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$30,000</a:t>
            </a:r>
            <a:endParaRPr lang="en-US" sz="1000" dirty="0"/>
          </a:p>
        </p:txBody>
      </p:sp>
      <p:sp>
        <p:nvSpPr>
          <p:cNvPr id="72" name="Shape 70"/>
          <p:cNvSpPr/>
          <p:nvPr/>
        </p:nvSpPr>
        <p:spPr>
          <a:xfrm>
            <a:off x="7452360" y="3127248"/>
            <a:ext cx="1508760" cy="493776"/>
          </a:xfrm>
          <a:prstGeom prst="rect">
            <a:avLst/>
          </a:prstGeom>
          <a:solidFill>
            <a:srgbClr val="FFFFFF"/>
          </a:solidFill>
          <a:ln w="12700">
            <a:solidFill>
              <a:srgbClr val="E7ECF0"/>
            </a:solidFill>
            <a:prstDash val="solid"/>
          </a:ln>
        </p:spPr>
        <p:txBody>
          <a:bodyPr/>
          <a:lstStyle/>
          <a:p>
            <a:endParaRPr lang="en-US"/>
          </a:p>
        </p:txBody>
      </p:sp>
      <p:sp>
        <p:nvSpPr>
          <p:cNvPr id="73" name="Text 71"/>
          <p:cNvSpPr/>
          <p:nvPr/>
        </p:nvSpPr>
        <p:spPr>
          <a:xfrm>
            <a:off x="7452360" y="3163824"/>
            <a:ext cx="1508760" cy="219456"/>
          </a:xfrm>
          <a:prstGeom prst="rect">
            <a:avLst/>
          </a:prstGeom>
          <a:noFill/>
          <a:ln/>
        </p:spPr>
        <p:txBody>
          <a:bodyPr wrap="square" lIns="0" tIns="0" rIns="0" bIns="0" rtlCol="0" anchor="ctr"/>
          <a:lstStyle/>
          <a:p>
            <a:pPr marL="0" indent="0" algn="ctr">
              <a:buNone/>
            </a:pPr>
            <a:r>
              <a:rPr lang="en-US" sz="950" b="1" dirty="0">
                <a:solidFill>
                  <a:srgbClr val="06185F"/>
                </a:solidFill>
                <a:latin typeface="Calibri" pitchFamily="34" charset="0"/>
                <a:ea typeface="Calibri" pitchFamily="34" charset="-122"/>
                <a:cs typeface="Calibri" pitchFamily="34" charset="-120"/>
              </a:rPr>
              <a:t>Q1 FY28</a:t>
            </a:r>
            <a:endParaRPr lang="en-US" sz="950" dirty="0"/>
          </a:p>
        </p:txBody>
      </p:sp>
      <p:sp>
        <p:nvSpPr>
          <p:cNvPr id="74" name="Text 72"/>
          <p:cNvSpPr/>
          <p:nvPr/>
        </p:nvSpPr>
        <p:spPr>
          <a:xfrm>
            <a:off x="7452360" y="3374136"/>
            <a:ext cx="1508760" cy="219456"/>
          </a:xfrm>
          <a:prstGeom prst="rect">
            <a:avLst/>
          </a:prstGeom>
          <a:noFill/>
          <a:ln/>
        </p:spPr>
        <p:txBody>
          <a:bodyPr wrap="square" lIns="0" tIns="0" rIns="0" bIns="0" rtlCol="0" anchor="ctr"/>
          <a:lstStyle/>
          <a:p>
            <a:pPr marL="0" indent="0" algn="ctr">
              <a:buNone/>
            </a:pPr>
            <a:r>
              <a:rPr lang="en-US" sz="750" dirty="0">
                <a:solidFill>
                  <a:srgbClr val="575A5D"/>
                </a:solidFill>
                <a:latin typeface="Calibri" pitchFamily="34" charset="0"/>
                <a:ea typeface="Calibri" pitchFamily="34" charset="-122"/>
                <a:cs typeface="Calibri" pitchFamily="34" charset="-120"/>
              </a:rPr>
              <a:t>Requires core+</a:t>
            </a:r>
            <a:endParaRPr lang="en-US" sz="750" dirty="0"/>
          </a:p>
          <a:p>
            <a:pPr marL="0" indent="0" algn="ctr">
              <a:buNone/>
            </a:pPr>
            <a:r>
              <a:rPr lang="en-US" sz="750" dirty="0">
                <a:solidFill>
                  <a:srgbClr val="575A5D"/>
                </a:solidFill>
                <a:latin typeface="Calibri" pitchFamily="34" charset="0"/>
                <a:ea typeface="Calibri" pitchFamily="34" charset="-122"/>
                <a:cs typeface="Calibri" pitchFamily="34" charset="-120"/>
              </a:rPr>
              <a:t>household data</a:t>
            </a:r>
            <a:endParaRPr lang="en-US" sz="750" dirty="0"/>
          </a:p>
        </p:txBody>
      </p:sp>
      <p:sp>
        <p:nvSpPr>
          <p:cNvPr id="75" name="Shape 73"/>
          <p:cNvSpPr/>
          <p:nvPr/>
        </p:nvSpPr>
        <p:spPr>
          <a:xfrm>
            <a:off x="320040" y="3621024"/>
            <a:ext cx="73152" cy="493776"/>
          </a:xfrm>
          <a:prstGeom prst="rect">
            <a:avLst/>
          </a:prstGeom>
          <a:solidFill>
            <a:srgbClr val="575A5D"/>
          </a:solidFill>
          <a:ln w="12700">
            <a:solidFill>
              <a:srgbClr val="575A5D"/>
            </a:solidFill>
            <a:prstDash val="solid"/>
          </a:ln>
        </p:spPr>
        <p:txBody>
          <a:bodyPr/>
          <a:lstStyle/>
          <a:p>
            <a:endParaRPr lang="en-US"/>
          </a:p>
        </p:txBody>
      </p:sp>
      <p:sp>
        <p:nvSpPr>
          <p:cNvPr id="76" name="Shape 74"/>
          <p:cNvSpPr/>
          <p:nvPr/>
        </p:nvSpPr>
        <p:spPr>
          <a:xfrm>
            <a:off x="393192" y="3621024"/>
            <a:ext cx="1755648" cy="493776"/>
          </a:xfrm>
          <a:prstGeom prst="rect">
            <a:avLst/>
          </a:prstGeom>
          <a:solidFill>
            <a:srgbClr val="F4F6FA"/>
          </a:solidFill>
          <a:ln w="12700">
            <a:solidFill>
              <a:srgbClr val="E7ECF0"/>
            </a:solidFill>
            <a:prstDash val="solid"/>
          </a:ln>
        </p:spPr>
        <p:txBody>
          <a:bodyPr/>
          <a:lstStyle/>
          <a:p>
            <a:endParaRPr lang="en-US"/>
          </a:p>
        </p:txBody>
      </p:sp>
      <p:sp>
        <p:nvSpPr>
          <p:cNvPr id="77" name="Text 75"/>
          <p:cNvSpPr/>
          <p:nvPr/>
        </p:nvSpPr>
        <p:spPr>
          <a:xfrm>
            <a:off x="448056" y="3621024"/>
            <a:ext cx="1700784" cy="493776"/>
          </a:xfrm>
          <a:prstGeom prst="rect">
            <a:avLst/>
          </a:prstGeom>
          <a:noFill/>
          <a:ln/>
        </p:spPr>
        <p:txBody>
          <a:bodyPr wrap="square" lIns="0" tIns="5080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Anomaly Detection</a:t>
            </a:r>
            <a:endParaRPr lang="en-US" sz="950" dirty="0"/>
          </a:p>
        </p:txBody>
      </p:sp>
      <p:sp>
        <p:nvSpPr>
          <p:cNvPr id="78" name="Shape 76"/>
          <p:cNvSpPr/>
          <p:nvPr/>
        </p:nvSpPr>
        <p:spPr>
          <a:xfrm>
            <a:off x="2194560" y="3621024"/>
            <a:ext cx="1325880" cy="493776"/>
          </a:xfrm>
          <a:prstGeom prst="rect">
            <a:avLst/>
          </a:prstGeom>
          <a:solidFill>
            <a:srgbClr val="F4F6FA"/>
          </a:solidFill>
          <a:ln w="12700">
            <a:solidFill>
              <a:srgbClr val="E7ECF0"/>
            </a:solidFill>
            <a:prstDash val="solid"/>
          </a:ln>
        </p:spPr>
        <p:txBody>
          <a:bodyPr/>
          <a:lstStyle/>
          <a:p>
            <a:endParaRPr lang="en-US"/>
          </a:p>
        </p:txBody>
      </p:sp>
      <p:sp>
        <p:nvSpPr>
          <p:cNvPr id="79" name="Text 77"/>
          <p:cNvSpPr/>
          <p:nvPr/>
        </p:nvSpPr>
        <p:spPr>
          <a:xfrm>
            <a:off x="2194560" y="3621024"/>
            <a:ext cx="1325880"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$9,000</a:t>
            </a:r>
            <a:endParaRPr lang="en-US" sz="1000" dirty="0"/>
          </a:p>
        </p:txBody>
      </p:sp>
      <p:sp>
        <p:nvSpPr>
          <p:cNvPr id="80" name="Shape 78"/>
          <p:cNvSpPr/>
          <p:nvPr/>
        </p:nvSpPr>
        <p:spPr>
          <a:xfrm>
            <a:off x="3566160" y="3621024"/>
            <a:ext cx="1316736" cy="493776"/>
          </a:xfrm>
          <a:prstGeom prst="rect">
            <a:avLst/>
          </a:prstGeom>
          <a:solidFill>
            <a:srgbClr val="F4F6FA"/>
          </a:solidFill>
          <a:ln w="12700">
            <a:solidFill>
              <a:srgbClr val="E7ECF0"/>
            </a:solidFill>
            <a:prstDash val="solid"/>
          </a:ln>
        </p:spPr>
        <p:txBody>
          <a:bodyPr/>
          <a:lstStyle/>
          <a:p>
            <a:endParaRPr lang="en-US"/>
          </a:p>
        </p:txBody>
      </p:sp>
      <p:sp>
        <p:nvSpPr>
          <p:cNvPr id="81" name="Text 79"/>
          <p:cNvSpPr/>
          <p:nvPr/>
        </p:nvSpPr>
        <p:spPr>
          <a:xfrm>
            <a:off x="3566160" y="3621024"/>
            <a:ext cx="1316736"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$14,000</a:t>
            </a:r>
            <a:endParaRPr lang="en-US" sz="1000" dirty="0"/>
          </a:p>
        </p:txBody>
      </p:sp>
      <p:sp>
        <p:nvSpPr>
          <p:cNvPr id="82" name="Shape 80"/>
          <p:cNvSpPr/>
          <p:nvPr/>
        </p:nvSpPr>
        <p:spPr>
          <a:xfrm>
            <a:off x="4919472" y="3621024"/>
            <a:ext cx="1316736" cy="493776"/>
          </a:xfrm>
          <a:prstGeom prst="rect">
            <a:avLst/>
          </a:prstGeom>
          <a:solidFill>
            <a:srgbClr val="F4F6FA"/>
          </a:solidFill>
          <a:ln w="12700">
            <a:solidFill>
              <a:srgbClr val="E7ECF0"/>
            </a:solidFill>
            <a:prstDash val="solid"/>
          </a:ln>
        </p:spPr>
        <p:txBody>
          <a:bodyPr/>
          <a:lstStyle/>
          <a:p>
            <a:endParaRPr lang="en-US"/>
          </a:p>
        </p:txBody>
      </p:sp>
      <p:sp>
        <p:nvSpPr>
          <p:cNvPr id="83" name="Text 81"/>
          <p:cNvSpPr/>
          <p:nvPr/>
        </p:nvSpPr>
        <p:spPr>
          <a:xfrm>
            <a:off x="4919472" y="3621024"/>
            <a:ext cx="1316736"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$24,000</a:t>
            </a:r>
            <a:endParaRPr lang="en-US" sz="1000" dirty="0"/>
          </a:p>
        </p:txBody>
      </p:sp>
      <p:sp>
        <p:nvSpPr>
          <p:cNvPr id="84" name="Shape 82"/>
          <p:cNvSpPr/>
          <p:nvPr/>
        </p:nvSpPr>
        <p:spPr>
          <a:xfrm>
            <a:off x="6272784" y="3621024"/>
            <a:ext cx="1143000" cy="493776"/>
          </a:xfrm>
          <a:prstGeom prst="rect">
            <a:avLst/>
          </a:prstGeom>
          <a:solidFill>
            <a:srgbClr val="F4F6FA"/>
          </a:solidFill>
          <a:ln w="12700">
            <a:solidFill>
              <a:srgbClr val="E7ECF0"/>
            </a:solidFill>
            <a:prstDash val="solid"/>
          </a:ln>
        </p:spPr>
        <p:txBody>
          <a:bodyPr/>
          <a:lstStyle/>
          <a:p>
            <a:endParaRPr lang="en-US"/>
          </a:p>
        </p:txBody>
      </p:sp>
      <p:sp>
        <p:nvSpPr>
          <p:cNvPr id="85" name="Text 83"/>
          <p:cNvSpPr/>
          <p:nvPr/>
        </p:nvSpPr>
        <p:spPr>
          <a:xfrm>
            <a:off x="6272784" y="3621024"/>
            <a:ext cx="1143000" cy="493776"/>
          </a:xfrm>
          <a:prstGeom prst="rect">
            <a:avLst/>
          </a:prstGeom>
          <a:noFill/>
          <a:ln/>
        </p:spPr>
        <p:txBody>
          <a:bodyPr wrap="square" lIns="0" tIns="0" rIns="0" bIns="0" rtlCol="0" anchor="ctr"/>
          <a:lstStyle/>
          <a:p>
            <a:pPr marL="0" indent="0" algn="ctr">
              <a:buNone/>
            </a:pPr>
            <a:r>
              <a:rPr lang="en-US" sz="1000" b="1" dirty="0">
                <a:solidFill>
                  <a:srgbClr val="085CE5"/>
                </a:solidFill>
                <a:latin typeface="Calibri" pitchFamily="34" charset="0"/>
                <a:ea typeface="Calibri" pitchFamily="34" charset="-122"/>
                <a:cs typeface="Calibri" pitchFamily="34" charset="-120"/>
              </a:rPr>
              <a:t>$40,000</a:t>
            </a:r>
            <a:endParaRPr lang="en-US" sz="1000" dirty="0"/>
          </a:p>
        </p:txBody>
      </p:sp>
      <p:sp>
        <p:nvSpPr>
          <p:cNvPr id="86" name="Shape 84"/>
          <p:cNvSpPr/>
          <p:nvPr/>
        </p:nvSpPr>
        <p:spPr>
          <a:xfrm>
            <a:off x="7452360" y="3621024"/>
            <a:ext cx="1508760" cy="493776"/>
          </a:xfrm>
          <a:prstGeom prst="rect">
            <a:avLst/>
          </a:prstGeom>
          <a:solidFill>
            <a:srgbClr val="F4F6FA"/>
          </a:solidFill>
          <a:ln w="12700">
            <a:solidFill>
              <a:srgbClr val="E7ECF0"/>
            </a:solidFill>
            <a:prstDash val="solid"/>
          </a:ln>
        </p:spPr>
        <p:txBody>
          <a:bodyPr/>
          <a:lstStyle/>
          <a:p>
            <a:endParaRPr lang="en-US"/>
          </a:p>
        </p:txBody>
      </p:sp>
      <p:sp>
        <p:nvSpPr>
          <p:cNvPr id="87" name="Text 85"/>
          <p:cNvSpPr/>
          <p:nvPr/>
        </p:nvSpPr>
        <p:spPr>
          <a:xfrm>
            <a:off x="7452360" y="3657600"/>
            <a:ext cx="1508760" cy="219456"/>
          </a:xfrm>
          <a:prstGeom prst="rect">
            <a:avLst/>
          </a:prstGeom>
          <a:noFill/>
          <a:ln/>
        </p:spPr>
        <p:txBody>
          <a:bodyPr wrap="square" lIns="0" tIns="0" rIns="0" bIns="0" rtlCol="0" anchor="ctr"/>
          <a:lstStyle/>
          <a:p>
            <a:pPr marL="0" indent="0" algn="ctr">
              <a:buNone/>
            </a:pPr>
            <a:r>
              <a:rPr lang="en-US" sz="950" b="1" dirty="0">
                <a:solidFill>
                  <a:srgbClr val="06185F"/>
                </a:solidFill>
                <a:latin typeface="Calibri" pitchFamily="34" charset="0"/>
                <a:ea typeface="Calibri" pitchFamily="34" charset="-122"/>
                <a:cs typeface="Calibri" pitchFamily="34" charset="-120"/>
              </a:rPr>
              <a:t>Q2 FY28</a:t>
            </a:r>
            <a:endParaRPr lang="en-US" sz="950" dirty="0"/>
          </a:p>
        </p:txBody>
      </p:sp>
      <p:sp>
        <p:nvSpPr>
          <p:cNvPr id="88" name="Text 86"/>
          <p:cNvSpPr/>
          <p:nvPr/>
        </p:nvSpPr>
        <p:spPr>
          <a:xfrm>
            <a:off x="7452360" y="3867912"/>
            <a:ext cx="1508760" cy="219456"/>
          </a:xfrm>
          <a:prstGeom prst="rect">
            <a:avLst/>
          </a:prstGeom>
          <a:noFill/>
          <a:ln/>
        </p:spPr>
        <p:txBody>
          <a:bodyPr wrap="square" lIns="0" tIns="0" rIns="0" bIns="0" rtlCol="0" anchor="ctr"/>
          <a:lstStyle/>
          <a:p>
            <a:pPr marL="0" indent="0" algn="ctr">
              <a:buNone/>
            </a:pPr>
            <a:r>
              <a:rPr lang="en-US" sz="750" dirty="0">
                <a:solidFill>
                  <a:srgbClr val="575A5D"/>
                </a:solidFill>
                <a:latin typeface="Calibri" pitchFamily="34" charset="0"/>
                <a:ea typeface="Calibri" pitchFamily="34" charset="-122"/>
                <a:cs typeface="Calibri" pitchFamily="34" charset="-120"/>
              </a:rPr>
              <a:t>Phase 3 · real-time</a:t>
            </a:r>
            <a:endParaRPr lang="en-US" sz="750" dirty="0"/>
          </a:p>
          <a:p>
            <a:pPr marL="0" indent="0" algn="ctr">
              <a:buNone/>
            </a:pPr>
            <a:r>
              <a:rPr lang="en-US" sz="750" dirty="0">
                <a:solidFill>
                  <a:srgbClr val="575A5D"/>
                </a:solidFill>
                <a:latin typeface="Calibri" pitchFamily="34" charset="0"/>
                <a:ea typeface="Calibri" pitchFamily="34" charset="-122"/>
                <a:cs typeface="Calibri" pitchFamily="34" charset="-120"/>
              </a:rPr>
              <a:t>fraud engine</a:t>
            </a:r>
            <a:endParaRPr lang="en-US" sz="750" dirty="0"/>
          </a:p>
        </p:txBody>
      </p:sp>
      <p:sp>
        <p:nvSpPr>
          <p:cNvPr id="89" name="Shape 87"/>
          <p:cNvSpPr/>
          <p:nvPr/>
        </p:nvSpPr>
        <p:spPr>
          <a:xfrm>
            <a:off x="320040" y="4279392"/>
            <a:ext cx="8686800" cy="658368"/>
          </a:xfrm>
          <a:prstGeom prst="roundRect">
            <a:avLst>
              <a:gd name="adj" fmla="val 6944"/>
            </a:avLst>
          </a:prstGeom>
          <a:solidFill>
            <a:srgbClr val="E8F0FD"/>
          </a:solidFill>
          <a:ln w="12700">
            <a:solidFill>
              <a:srgbClr val="BCD0F5"/>
            </a:solidFill>
            <a:prstDash val="solid"/>
          </a:ln>
        </p:spPr>
        <p:txBody>
          <a:bodyPr/>
          <a:lstStyle/>
          <a:p>
            <a:endParaRPr lang="en-US"/>
          </a:p>
        </p:txBody>
      </p:sp>
      <p:sp>
        <p:nvSpPr>
          <p:cNvPr id="90" name="Text 88"/>
          <p:cNvSpPr/>
          <p:nvPr/>
        </p:nvSpPr>
        <p:spPr>
          <a:xfrm>
            <a:off x="448056" y="4334256"/>
            <a:ext cx="1463040" cy="201168"/>
          </a:xfrm>
          <a:prstGeom prst="rect">
            <a:avLst/>
          </a:prstGeom>
          <a:noFill/>
          <a:ln/>
        </p:spPr>
        <p:txBody>
          <a:bodyPr wrap="square" lIns="0" tIns="0" rIns="0" bIns="0" rtlCol="0" anchor="ctr"/>
          <a:lstStyle/>
          <a:p>
            <a:pPr marL="0" indent="0">
              <a:buNone/>
            </a:pPr>
            <a:r>
              <a:rPr lang="en-US" sz="800" b="1" kern="0" spc="100" dirty="0">
                <a:solidFill>
                  <a:srgbClr val="085CE5"/>
                </a:solidFill>
                <a:latin typeface="Calibri" pitchFamily="34" charset="0"/>
                <a:ea typeface="Calibri" pitchFamily="34" charset="-122"/>
                <a:cs typeface="Calibri" pitchFamily="34" charset="-120"/>
              </a:rPr>
              <a:t>KEY ASSUMPTIONS</a:t>
            </a:r>
            <a:endParaRPr lang="en-US" sz="800" dirty="0"/>
          </a:p>
        </p:txBody>
      </p:sp>
      <p:sp>
        <p:nvSpPr>
          <p:cNvPr id="91" name="Text 89"/>
          <p:cNvSpPr/>
          <p:nvPr/>
        </p:nvSpPr>
        <p:spPr>
          <a:xfrm>
            <a:off x="448056" y="4517136"/>
            <a:ext cx="8412480" cy="173736"/>
          </a:xfrm>
          <a:prstGeom prst="rect">
            <a:avLst/>
          </a:prstGeom>
          <a:noFill/>
          <a:ln/>
        </p:spPr>
        <p:txBody>
          <a:bodyPr wrap="square" lIns="0" tIns="0" rIns="0" bIns="0" rtlCol="0" anchor="ctr"/>
          <a:lstStyle/>
          <a:p>
            <a:pPr marL="0" indent="0">
              <a:buNone/>
            </a:pPr>
            <a:r>
              <a:rPr lang="en-US" sz="850" dirty="0">
                <a:solidFill>
                  <a:srgbClr val="334466"/>
                </a:solidFill>
                <a:latin typeface="Calibri" pitchFamily="34" charset="0"/>
                <a:ea typeface="Calibri" pitchFamily="34" charset="-122"/>
                <a:cs typeface="Calibri" pitchFamily="34" charset="-120"/>
              </a:rPr>
              <a:t>Blended avg price (bank/CU mix):  Zelle $9.7K  ·  Churn $13.7K  ·  CommercialSignal $11.1K  ·  Gen. Wealth $13.6K  ·  Anomaly $16.8K</a:t>
            </a:r>
            <a:endParaRPr lang="en-US" sz="850" dirty="0"/>
          </a:p>
        </p:txBody>
      </p:sp>
      <p:sp>
        <p:nvSpPr>
          <p:cNvPr id="92" name="Text 90"/>
          <p:cNvSpPr/>
          <p:nvPr/>
        </p:nvSpPr>
        <p:spPr>
          <a:xfrm>
            <a:off x="448056" y="4690872"/>
            <a:ext cx="8412480" cy="173736"/>
          </a:xfrm>
          <a:prstGeom prst="rect">
            <a:avLst/>
          </a:prstGeom>
          <a:noFill/>
          <a:ln/>
        </p:spPr>
        <p:txBody>
          <a:bodyPr wrap="square" lIns="0" tIns="0" rIns="0" bIns="0" rtlCol="0" anchor="ctr"/>
          <a:lstStyle/>
          <a:p>
            <a:pPr marL="0" indent="0">
              <a:buNone/>
            </a:pPr>
            <a:r>
              <a:rPr lang="en-US" sz="850" dirty="0">
                <a:solidFill>
                  <a:srgbClr val="334466"/>
                </a:solidFill>
                <a:latin typeface="Calibri" pitchFamily="34" charset="0"/>
                <a:ea typeface="Calibri" pitchFamily="34" charset="-122"/>
                <a:cs typeface="Calibri" pitchFamily="34" charset="-120"/>
              </a:rPr>
              <a:t>44% CU / 56% bank mix  ·  12% CU discount applied  ·  8% annual subscription churn  ·  No bundle pricing (future option)</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5CE5"/>
          </a:solidFill>
          <a:ln w="12700">
            <a:solidFill>
              <a:srgbClr val="085CE5"/>
            </a:solidFill>
            <a:prstDash val="solid"/>
          </a:ln>
        </p:spPr>
        <p:txBody>
          <a:bodyPr/>
          <a:lstStyle/>
          <a:p>
            <a:endParaRPr lang="en-US"/>
          </a:p>
        </p:txBody>
      </p:sp>
      <p:sp>
        <p:nvSpPr>
          <p:cNvPr id="3" name="Shape 1"/>
          <p:cNvSpPr/>
          <p:nvPr/>
        </p:nvSpPr>
        <p:spPr>
          <a:xfrm>
            <a:off x="0" y="0"/>
            <a:ext cx="137160" cy="5143500"/>
          </a:xfrm>
          <a:prstGeom prst="rect">
            <a:avLst/>
          </a:prstGeom>
          <a:solidFill>
            <a:srgbClr val="085CE5"/>
          </a:solidFill>
          <a:ln w="12700">
            <a:solidFill>
              <a:srgbClr val="085CE5"/>
            </a:solidFill>
            <a:prstDash val="solid"/>
          </a:ln>
        </p:spPr>
        <p:txBody>
          <a:bodyPr/>
          <a:lstStyle/>
          <a:p>
            <a:endParaRPr lang="en-US"/>
          </a:p>
        </p:txBody>
      </p:sp>
      <p:sp>
        <p:nvSpPr>
          <p:cNvPr id="4" name="Text 2"/>
          <p:cNvSpPr/>
          <p:nvPr/>
        </p:nvSpPr>
        <p:spPr>
          <a:xfrm>
            <a:off x="365760" y="164592"/>
            <a:ext cx="8229600" cy="256032"/>
          </a:xfrm>
          <a:prstGeom prst="rect">
            <a:avLst/>
          </a:prstGeom>
          <a:noFill/>
          <a:ln/>
        </p:spPr>
        <p:txBody>
          <a:bodyPr wrap="square" lIns="0" tIns="0" rIns="0" bIns="0" rtlCol="0" anchor="ctr"/>
          <a:lstStyle/>
          <a:p>
            <a:pPr marL="0" indent="0">
              <a:buNone/>
            </a:pPr>
            <a:r>
              <a:rPr lang="en-US" sz="900" b="1" kern="0" spc="400" dirty="0">
                <a:solidFill>
                  <a:srgbClr val="085CE5"/>
                </a:solidFill>
                <a:latin typeface="Calibri" pitchFamily="34" charset="0"/>
                <a:ea typeface="Calibri" pitchFamily="34" charset="-122"/>
                <a:cs typeface="Calibri" pitchFamily="34" charset="-120"/>
              </a:rPr>
              <a:t>PLATFORM TRANSITION</a:t>
            </a:r>
            <a:endParaRPr lang="en-US" sz="900" dirty="0"/>
          </a:p>
        </p:txBody>
      </p:sp>
      <p:sp>
        <p:nvSpPr>
          <p:cNvPr id="5" name="Text 3"/>
          <p:cNvSpPr/>
          <p:nvPr/>
        </p:nvSpPr>
        <p:spPr>
          <a:xfrm>
            <a:off x="365760" y="475488"/>
            <a:ext cx="8229600" cy="457200"/>
          </a:xfrm>
          <a:prstGeom prst="rect">
            <a:avLst/>
          </a:prstGeom>
          <a:noFill/>
          <a:ln/>
        </p:spPr>
        <p:txBody>
          <a:bodyPr wrap="square" lIns="0" tIns="0" rIns="0" bIns="0" rtlCol="0" anchor="ctr"/>
          <a:lstStyle/>
          <a:p>
            <a:pPr marL="0" indent="0">
              <a:buNone/>
            </a:pPr>
            <a:r>
              <a:rPr lang="en-US" sz="2400" b="1" dirty="0">
                <a:solidFill>
                  <a:srgbClr val="06185F"/>
                </a:solidFill>
                <a:latin typeface="Calibri" pitchFamily="34" charset="0"/>
                <a:ea typeface="Calibri" pitchFamily="34" charset="-122"/>
                <a:cs typeface="Calibri" pitchFamily="34" charset="-120"/>
              </a:rPr>
              <a:t>ARCU &amp; JHAKnow → JHBI: Four-Quarter Migration</a:t>
            </a:r>
            <a:endParaRPr lang="en-US" sz="2400" dirty="0"/>
          </a:p>
        </p:txBody>
      </p:sp>
      <p:sp>
        <p:nvSpPr>
          <p:cNvPr id="6" name="Text 4"/>
          <p:cNvSpPr/>
          <p:nvPr/>
        </p:nvSpPr>
        <p:spPr>
          <a:xfrm>
            <a:off x="365760" y="978408"/>
            <a:ext cx="8595360" cy="256032"/>
          </a:xfrm>
          <a:prstGeom prst="rect">
            <a:avLst/>
          </a:prstGeom>
          <a:noFill/>
          <a:ln/>
        </p:spPr>
        <p:txBody>
          <a:bodyPr wrap="square" lIns="0" tIns="0" rIns="0" bIns="0" rtlCol="0" anchor="ctr"/>
          <a:lstStyle/>
          <a:p>
            <a:pPr marL="0" indent="0">
              <a:buNone/>
            </a:pPr>
            <a:r>
              <a:rPr lang="en-US" sz="1050" dirty="0">
                <a:solidFill>
                  <a:srgbClr val="575A5D"/>
                </a:solidFill>
                <a:latin typeface="Calibri" pitchFamily="34" charset="0"/>
                <a:ea typeface="Calibri" pitchFamily="34" charset="-122"/>
                <a:cs typeface="Calibri" pitchFamily="34" charset="-120"/>
              </a:rPr>
              <a:t>Existing ARCU and JHAKnow subscribers migrate to JHBI at current pricing  ·  Net-new JHBI clients enter at platform rates  ·  DS apps available as add-ons from Day 1</a:t>
            </a:r>
            <a:endParaRPr lang="en-US" sz="1050" dirty="0"/>
          </a:p>
        </p:txBody>
      </p:sp>
      <p:sp>
        <p:nvSpPr>
          <p:cNvPr id="7" name="Shape 5"/>
          <p:cNvSpPr/>
          <p:nvPr/>
        </p:nvSpPr>
        <p:spPr>
          <a:xfrm>
            <a:off x="320040" y="1325880"/>
            <a:ext cx="2103120" cy="475488"/>
          </a:xfrm>
          <a:prstGeom prst="roundRect">
            <a:avLst>
              <a:gd name="adj" fmla="val 11538"/>
            </a:avLst>
          </a:prstGeom>
          <a:solidFill>
            <a:srgbClr val="085CE5"/>
          </a:solidFill>
          <a:ln w="12700">
            <a:solidFill>
              <a:srgbClr val="085CE5"/>
            </a:solidFill>
            <a:prstDash val="solid"/>
          </a:ln>
        </p:spPr>
        <p:txBody>
          <a:bodyPr/>
          <a:lstStyle/>
          <a:p>
            <a:endParaRPr lang="en-US"/>
          </a:p>
        </p:txBody>
      </p:sp>
      <p:sp>
        <p:nvSpPr>
          <p:cNvPr id="8" name="Text 6"/>
          <p:cNvSpPr/>
          <p:nvPr/>
        </p:nvSpPr>
        <p:spPr>
          <a:xfrm>
            <a:off x="320040" y="1344168"/>
            <a:ext cx="2103120"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Q1 FY27</a:t>
            </a:r>
            <a:endParaRPr lang="en-US" sz="1200" dirty="0"/>
          </a:p>
        </p:txBody>
      </p:sp>
      <p:sp>
        <p:nvSpPr>
          <p:cNvPr id="9" name="Text 7"/>
          <p:cNvSpPr/>
          <p:nvPr/>
        </p:nvSpPr>
        <p:spPr>
          <a:xfrm>
            <a:off x="320040" y="1581912"/>
            <a:ext cx="2103120" cy="182880"/>
          </a:xfrm>
          <a:prstGeom prst="rect">
            <a:avLst/>
          </a:prstGeom>
          <a:noFill/>
          <a:ln/>
        </p:spPr>
        <p:txBody>
          <a:bodyPr wrap="square" lIns="0" tIns="0" rIns="0" bIns="0" rtlCol="0" anchor="ctr"/>
          <a:lstStyle/>
          <a:p>
            <a:pPr marL="0" indent="0" algn="ctr">
              <a:buNone/>
            </a:pPr>
            <a:r>
              <a:rPr lang="en-US" sz="850" dirty="0">
                <a:solidFill>
                  <a:srgbClr val="BCD4FF"/>
                </a:solidFill>
                <a:latin typeface="Calibri" pitchFamily="34" charset="0"/>
                <a:ea typeface="Calibri" pitchFamily="34" charset="-122"/>
                <a:cs typeface="Calibri" pitchFamily="34" charset="-120"/>
              </a:rPr>
              <a:t>Jul–Sep 2026</a:t>
            </a:r>
            <a:endParaRPr lang="en-US" sz="850" dirty="0"/>
          </a:p>
        </p:txBody>
      </p:sp>
      <p:sp>
        <p:nvSpPr>
          <p:cNvPr id="10" name="Shape 8"/>
          <p:cNvSpPr/>
          <p:nvPr/>
        </p:nvSpPr>
        <p:spPr>
          <a:xfrm>
            <a:off x="822960" y="1837944"/>
            <a:ext cx="1097280" cy="201168"/>
          </a:xfrm>
          <a:prstGeom prst="rect">
            <a:avLst/>
          </a:prstGeom>
          <a:solidFill>
            <a:srgbClr val="76DCFD"/>
          </a:solidFill>
          <a:ln w="12700">
            <a:solidFill>
              <a:srgbClr val="76DCFD"/>
            </a:solidFill>
            <a:prstDash val="solid"/>
          </a:ln>
        </p:spPr>
        <p:txBody>
          <a:bodyPr/>
          <a:lstStyle/>
          <a:p>
            <a:endParaRPr lang="en-US"/>
          </a:p>
        </p:txBody>
      </p:sp>
      <p:sp>
        <p:nvSpPr>
          <p:cNvPr id="11" name="Text 9"/>
          <p:cNvSpPr/>
          <p:nvPr/>
        </p:nvSpPr>
        <p:spPr>
          <a:xfrm>
            <a:off x="822960" y="1837944"/>
            <a:ext cx="1097280" cy="201168"/>
          </a:xfrm>
          <a:prstGeom prst="rect">
            <a:avLst/>
          </a:prstGeom>
          <a:noFill/>
          <a:ln/>
        </p:spPr>
        <p:txBody>
          <a:bodyPr wrap="square" lIns="0" tIns="0" rIns="0" bIns="0" rtlCol="0" anchor="ctr"/>
          <a:lstStyle/>
          <a:p>
            <a:pPr marL="0" indent="0" algn="ctr">
              <a:buNone/>
            </a:pPr>
            <a:r>
              <a:rPr lang="en-US" sz="750" b="1" kern="0" spc="50" dirty="0">
                <a:solidFill>
                  <a:srgbClr val="06185F"/>
                </a:solidFill>
                <a:latin typeface="Calibri" pitchFamily="34" charset="0"/>
                <a:ea typeface="Calibri" pitchFamily="34" charset="-122"/>
                <a:cs typeface="Calibri" pitchFamily="34" charset="-120"/>
              </a:rPr>
              <a:t>FALL LAUNCH</a:t>
            </a:r>
            <a:endParaRPr lang="en-US" sz="750" dirty="0"/>
          </a:p>
        </p:txBody>
      </p:sp>
      <p:sp>
        <p:nvSpPr>
          <p:cNvPr id="12" name="Shape 10"/>
          <p:cNvSpPr/>
          <p:nvPr/>
        </p:nvSpPr>
        <p:spPr>
          <a:xfrm>
            <a:off x="2514600" y="1325880"/>
            <a:ext cx="2103120" cy="475488"/>
          </a:xfrm>
          <a:prstGeom prst="roundRect">
            <a:avLst>
              <a:gd name="adj" fmla="val 11538"/>
            </a:avLst>
          </a:prstGeom>
          <a:solidFill>
            <a:srgbClr val="073FA8"/>
          </a:solidFill>
          <a:ln w="12700">
            <a:solidFill>
              <a:srgbClr val="073FA8"/>
            </a:solidFill>
            <a:prstDash val="solid"/>
          </a:ln>
        </p:spPr>
        <p:txBody>
          <a:bodyPr/>
          <a:lstStyle/>
          <a:p>
            <a:endParaRPr lang="en-US"/>
          </a:p>
        </p:txBody>
      </p:sp>
      <p:sp>
        <p:nvSpPr>
          <p:cNvPr id="13" name="Text 11"/>
          <p:cNvSpPr/>
          <p:nvPr/>
        </p:nvSpPr>
        <p:spPr>
          <a:xfrm>
            <a:off x="2514600" y="1344168"/>
            <a:ext cx="2103120"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Q2 FY27</a:t>
            </a:r>
            <a:endParaRPr lang="en-US" sz="1200" dirty="0"/>
          </a:p>
        </p:txBody>
      </p:sp>
      <p:sp>
        <p:nvSpPr>
          <p:cNvPr id="14" name="Text 12"/>
          <p:cNvSpPr/>
          <p:nvPr/>
        </p:nvSpPr>
        <p:spPr>
          <a:xfrm>
            <a:off x="2514600" y="1581912"/>
            <a:ext cx="2103120" cy="182880"/>
          </a:xfrm>
          <a:prstGeom prst="rect">
            <a:avLst/>
          </a:prstGeom>
          <a:noFill/>
          <a:ln/>
        </p:spPr>
        <p:txBody>
          <a:bodyPr wrap="square" lIns="0" tIns="0" rIns="0" bIns="0" rtlCol="0" anchor="ctr"/>
          <a:lstStyle/>
          <a:p>
            <a:pPr marL="0" indent="0" algn="ctr">
              <a:buNone/>
            </a:pPr>
            <a:r>
              <a:rPr lang="en-US" sz="850" dirty="0">
                <a:solidFill>
                  <a:srgbClr val="BCD4FF"/>
                </a:solidFill>
                <a:latin typeface="Calibri" pitchFamily="34" charset="0"/>
                <a:ea typeface="Calibri" pitchFamily="34" charset="-122"/>
                <a:cs typeface="Calibri" pitchFamily="34" charset="-120"/>
              </a:rPr>
              <a:t>Oct–Dec 2026</a:t>
            </a:r>
            <a:endParaRPr lang="en-US" sz="850" dirty="0"/>
          </a:p>
        </p:txBody>
      </p:sp>
      <p:sp>
        <p:nvSpPr>
          <p:cNvPr id="15" name="Shape 13"/>
          <p:cNvSpPr/>
          <p:nvPr/>
        </p:nvSpPr>
        <p:spPr>
          <a:xfrm>
            <a:off x="3017520" y="1837944"/>
            <a:ext cx="1097280" cy="201168"/>
          </a:xfrm>
          <a:prstGeom prst="rect">
            <a:avLst/>
          </a:prstGeom>
          <a:solidFill>
            <a:srgbClr val="76DCFD"/>
          </a:solidFill>
          <a:ln w="12700">
            <a:solidFill>
              <a:srgbClr val="76DCFD"/>
            </a:solidFill>
            <a:prstDash val="solid"/>
          </a:ln>
        </p:spPr>
        <p:txBody>
          <a:bodyPr/>
          <a:lstStyle/>
          <a:p>
            <a:endParaRPr lang="en-US"/>
          </a:p>
        </p:txBody>
      </p:sp>
      <p:sp>
        <p:nvSpPr>
          <p:cNvPr id="16" name="Text 14"/>
          <p:cNvSpPr/>
          <p:nvPr/>
        </p:nvSpPr>
        <p:spPr>
          <a:xfrm>
            <a:off x="3017520" y="1837944"/>
            <a:ext cx="1097280" cy="201168"/>
          </a:xfrm>
          <a:prstGeom prst="rect">
            <a:avLst/>
          </a:prstGeom>
          <a:noFill/>
          <a:ln/>
        </p:spPr>
        <p:txBody>
          <a:bodyPr wrap="square" lIns="0" tIns="0" rIns="0" bIns="0" rtlCol="0" anchor="ctr"/>
          <a:lstStyle/>
          <a:p>
            <a:pPr marL="0" indent="0" algn="ctr">
              <a:buNone/>
            </a:pPr>
            <a:r>
              <a:rPr lang="en-US" sz="750" b="1" kern="0" spc="50" dirty="0">
                <a:solidFill>
                  <a:srgbClr val="06185F"/>
                </a:solidFill>
                <a:latin typeface="Calibri" pitchFamily="34" charset="0"/>
                <a:ea typeface="Calibri" pitchFamily="34" charset="-122"/>
                <a:cs typeface="Calibri" pitchFamily="34" charset="-120"/>
              </a:rPr>
              <a:t>WAVE 1</a:t>
            </a:r>
            <a:endParaRPr lang="en-US" sz="750" dirty="0"/>
          </a:p>
        </p:txBody>
      </p:sp>
      <p:sp>
        <p:nvSpPr>
          <p:cNvPr id="17" name="Shape 15"/>
          <p:cNvSpPr/>
          <p:nvPr/>
        </p:nvSpPr>
        <p:spPr>
          <a:xfrm>
            <a:off x="4709160" y="1325880"/>
            <a:ext cx="2103120" cy="475488"/>
          </a:xfrm>
          <a:prstGeom prst="roundRect">
            <a:avLst>
              <a:gd name="adj" fmla="val 11538"/>
            </a:avLst>
          </a:prstGeom>
          <a:solidFill>
            <a:srgbClr val="0A52C4"/>
          </a:solidFill>
          <a:ln w="12700">
            <a:solidFill>
              <a:srgbClr val="0A52C4"/>
            </a:solidFill>
            <a:prstDash val="solid"/>
          </a:ln>
        </p:spPr>
        <p:txBody>
          <a:bodyPr/>
          <a:lstStyle/>
          <a:p>
            <a:endParaRPr lang="en-US"/>
          </a:p>
        </p:txBody>
      </p:sp>
      <p:sp>
        <p:nvSpPr>
          <p:cNvPr id="18" name="Text 16"/>
          <p:cNvSpPr/>
          <p:nvPr/>
        </p:nvSpPr>
        <p:spPr>
          <a:xfrm>
            <a:off x="4709160" y="1344168"/>
            <a:ext cx="2103120"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Q3 FY27</a:t>
            </a:r>
            <a:endParaRPr lang="en-US" sz="1200" dirty="0"/>
          </a:p>
        </p:txBody>
      </p:sp>
      <p:sp>
        <p:nvSpPr>
          <p:cNvPr id="19" name="Text 17"/>
          <p:cNvSpPr/>
          <p:nvPr/>
        </p:nvSpPr>
        <p:spPr>
          <a:xfrm>
            <a:off x="4709160" y="1581912"/>
            <a:ext cx="2103120" cy="182880"/>
          </a:xfrm>
          <a:prstGeom prst="rect">
            <a:avLst/>
          </a:prstGeom>
          <a:noFill/>
          <a:ln/>
        </p:spPr>
        <p:txBody>
          <a:bodyPr wrap="square" lIns="0" tIns="0" rIns="0" bIns="0" rtlCol="0" anchor="ctr"/>
          <a:lstStyle/>
          <a:p>
            <a:pPr marL="0" indent="0" algn="ctr">
              <a:buNone/>
            </a:pPr>
            <a:r>
              <a:rPr lang="en-US" sz="850" dirty="0">
                <a:solidFill>
                  <a:srgbClr val="BCD4FF"/>
                </a:solidFill>
                <a:latin typeface="Calibri" pitchFamily="34" charset="0"/>
                <a:ea typeface="Calibri" pitchFamily="34" charset="-122"/>
                <a:cs typeface="Calibri" pitchFamily="34" charset="-120"/>
              </a:rPr>
              <a:t>Jan–Mar 2027</a:t>
            </a:r>
            <a:endParaRPr lang="en-US" sz="850" dirty="0"/>
          </a:p>
        </p:txBody>
      </p:sp>
      <p:sp>
        <p:nvSpPr>
          <p:cNvPr id="20" name="Shape 18"/>
          <p:cNvSpPr/>
          <p:nvPr/>
        </p:nvSpPr>
        <p:spPr>
          <a:xfrm>
            <a:off x="5212080" y="1837944"/>
            <a:ext cx="1097280" cy="201168"/>
          </a:xfrm>
          <a:prstGeom prst="rect">
            <a:avLst/>
          </a:prstGeom>
          <a:solidFill>
            <a:srgbClr val="76DCFD"/>
          </a:solidFill>
          <a:ln w="12700">
            <a:solidFill>
              <a:srgbClr val="76DCFD"/>
            </a:solidFill>
            <a:prstDash val="solid"/>
          </a:ln>
        </p:spPr>
        <p:txBody>
          <a:bodyPr/>
          <a:lstStyle/>
          <a:p>
            <a:endParaRPr lang="en-US"/>
          </a:p>
        </p:txBody>
      </p:sp>
      <p:sp>
        <p:nvSpPr>
          <p:cNvPr id="21" name="Text 19"/>
          <p:cNvSpPr/>
          <p:nvPr/>
        </p:nvSpPr>
        <p:spPr>
          <a:xfrm>
            <a:off x="5212080" y="1837944"/>
            <a:ext cx="1097280" cy="201168"/>
          </a:xfrm>
          <a:prstGeom prst="rect">
            <a:avLst/>
          </a:prstGeom>
          <a:noFill/>
          <a:ln/>
        </p:spPr>
        <p:txBody>
          <a:bodyPr wrap="square" lIns="0" tIns="0" rIns="0" bIns="0" rtlCol="0" anchor="ctr"/>
          <a:lstStyle/>
          <a:p>
            <a:pPr marL="0" indent="0" algn="ctr">
              <a:buNone/>
            </a:pPr>
            <a:r>
              <a:rPr lang="en-US" sz="750" b="1" kern="0" spc="50" dirty="0">
                <a:solidFill>
                  <a:srgbClr val="06185F"/>
                </a:solidFill>
                <a:latin typeface="Calibri" pitchFamily="34" charset="0"/>
                <a:ea typeface="Calibri" pitchFamily="34" charset="-122"/>
                <a:cs typeface="Calibri" pitchFamily="34" charset="-120"/>
              </a:rPr>
              <a:t>WAVE 2</a:t>
            </a:r>
            <a:endParaRPr lang="en-US" sz="750" dirty="0"/>
          </a:p>
        </p:txBody>
      </p:sp>
      <p:sp>
        <p:nvSpPr>
          <p:cNvPr id="22" name="Shape 20"/>
          <p:cNvSpPr/>
          <p:nvPr/>
        </p:nvSpPr>
        <p:spPr>
          <a:xfrm>
            <a:off x="6903720" y="1325880"/>
            <a:ext cx="2103120" cy="475488"/>
          </a:xfrm>
          <a:prstGeom prst="roundRect">
            <a:avLst>
              <a:gd name="adj" fmla="val 11538"/>
            </a:avLst>
          </a:prstGeom>
          <a:solidFill>
            <a:srgbClr val="06185F"/>
          </a:solidFill>
          <a:ln w="12700">
            <a:solidFill>
              <a:srgbClr val="06185F"/>
            </a:solidFill>
            <a:prstDash val="solid"/>
          </a:ln>
        </p:spPr>
        <p:txBody>
          <a:bodyPr/>
          <a:lstStyle/>
          <a:p>
            <a:endParaRPr lang="en-US"/>
          </a:p>
        </p:txBody>
      </p:sp>
      <p:sp>
        <p:nvSpPr>
          <p:cNvPr id="23" name="Text 21"/>
          <p:cNvSpPr/>
          <p:nvPr/>
        </p:nvSpPr>
        <p:spPr>
          <a:xfrm>
            <a:off x="6903720" y="1344168"/>
            <a:ext cx="2103120"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Q4 FY27</a:t>
            </a:r>
            <a:endParaRPr lang="en-US" sz="1200" dirty="0"/>
          </a:p>
        </p:txBody>
      </p:sp>
      <p:sp>
        <p:nvSpPr>
          <p:cNvPr id="24" name="Text 22"/>
          <p:cNvSpPr/>
          <p:nvPr/>
        </p:nvSpPr>
        <p:spPr>
          <a:xfrm>
            <a:off x="6903720" y="1581912"/>
            <a:ext cx="2103120" cy="182880"/>
          </a:xfrm>
          <a:prstGeom prst="rect">
            <a:avLst/>
          </a:prstGeom>
          <a:noFill/>
          <a:ln/>
        </p:spPr>
        <p:txBody>
          <a:bodyPr wrap="square" lIns="0" tIns="0" rIns="0" bIns="0" rtlCol="0" anchor="ctr"/>
          <a:lstStyle/>
          <a:p>
            <a:pPr marL="0" indent="0" algn="ctr">
              <a:buNone/>
            </a:pPr>
            <a:r>
              <a:rPr lang="en-US" sz="850" dirty="0">
                <a:solidFill>
                  <a:srgbClr val="BCD4FF"/>
                </a:solidFill>
                <a:latin typeface="Calibri" pitchFamily="34" charset="0"/>
                <a:ea typeface="Calibri" pitchFamily="34" charset="-122"/>
                <a:cs typeface="Calibri" pitchFamily="34" charset="-120"/>
              </a:rPr>
              <a:t>Apr–Jun 2027</a:t>
            </a:r>
            <a:endParaRPr lang="en-US" sz="850" dirty="0"/>
          </a:p>
        </p:txBody>
      </p:sp>
      <p:sp>
        <p:nvSpPr>
          <p:cNvPr id="25" name="Shape 23"/>
          <p:cNvSpPr/>
          <p:nvPr/>
        </p:nvSpPr>
        <p:spPr>
          <a:xfrm>
            <a:off x="7406640" y="1837944"/>
            <a:ext cx="1097280" cy="201168"/>
          </a:xfrm>
          <a:prstGeom prst="rect">
            <a:avLst/>
          </a:prstGeom>
          <a:solidFill>
            <a:srgbClr val="76DCFD"/>
          </a:solidFill>
          <a:ln w="12700">
            <a:solidFill>
              <a:srgbClr val="76DCFD"/>
            </a:solidFill>
            <a:prstDash val="solid"/>
          </a:ln>
        </p:spPr>
        <p:txBody>
          <a:bodyPr/>
          <a:lstStyle/>
          <a:p>
            <a:endParaRPr lang="en-US"/>
          </a:p>
        </p:txBody>
      </p:sp>
      <p:sp>
        <p:nvSpPr>
          <p:cNvPr id="26" name="Text 24"/>
          <p:cNvSpPr/>
          <p:nvPr/>
        </p:nvSpPr>
        <p:spPr>
          <a:xfrm>
            <a:off x="7406640" y="1837944"/>
            <a:ext cx="1097280" cy="201168"/>
          </a:xfrm>
          <a:prstGeom prst="rect">
            <a:avLst/>
          </a:prstGeom>
          <a:noFill/>
          <a:ln/>
        </p:spPr>
        <p:txBody>
          <a:bodyPr wrap="square" lIns="0" tIns="0" rIns="0" bIns="0" rtlCol="0" anchor="ctr"/>
          <a:lstStyle/>
          <a:p>
            <a:pPr marL="0" indent="0" algn="ctr">
              <a:buNone/>
            </a:pPr>
            <a:r>
              <a:rPr lang="en-US" sz="750" b="1" kern="0" spc="50" dirty="0">
                <a:solidFill>
                  <a:srgbClr val="06185F"/>
                </a:solidFill>
                <a:latin typeface="Calibri" pitchFamily="34" charset="0"/>
                <a:ea typeface="Calibri" pitchFamily="34" charset="-122"/>
                <a:cs typeface="Calibri" pitchFamily="34" charset="-120"/>
              </a:rPr>
              <a:t>FULL BASE</a:t>
            </a:r>
            <a:endParaRPr lang="en-US" sz="750" dirty="0"/>
          </a:p>
        </p:txBody>
      </p:sp>
      <p:sp>
        <p:nvSpPr>
          <p:cNvPr id="27" name="Shape 25"/>
          <p:cNvSpPr/>
          <p:nvPr/>
        </p:nvSpPr>
        <p:spPr>
          <a:xfrm>
            <a:off x="320040" y="2176272"/>
            <a:ext cx="8686800" cy="237744"/>
          </a:xfrm>
          <a:prstGeom prst="rect">
            <a:avLst/>
          </a:prstGeom>
          <a:solidFill>
            <a:srgbClr val="085CE5"/>
          </a:solidFill>
          <a:ln w="12700">
            <a:solidFill>
              <a:srgbClr val="085CE5"/>
            </a:solidFill>
            <a:prstDash val="solid"/>
          </a:ln>
        </p:spPr>
        <p:txBody>
          <a:bodyPr/>
          <a:lstStyle/>
          <a:p>
            <a:endParaRPr lang="en-US"/>
          </a:p>
        </p:txBody>
      </p:sp>
      <p:sp>
        <p:nvSpPr>
          <p:cNvPr id="28" name="Text 26"/>
          <p:cNvSpPr/>
          <p:nvPr/>
        </p:nvSpPr>
        <p:spPr>
          <a:xfrm>
            <a:off x="448056" y="2176272"/>
            <a:ext cx="8412480" cy="237744"/>
          </a:xfrm>
          <a:prstGeom prst="rect">
            <a:avLst/>
          </a:prstGeom>
          <a:noFill/>
          <a:ln/>
        </p:spPr>
        <p:txBody>
          <a:bodyPr wrap="square" lIns="0" tIns="0" rIns="0" bIns="0" rtlCol="0" anchor="ctr"/>
          <a:lstStyle/>
          <a:p>
            <a:pPr marL="0" indent="0">
              <a:buNone/>
            </a:pPr>
            <a:r>
              <a:rPr lang="en-US" sz="900" b="1" kern="0" spc="50" dirty="0">
                <a:solidFill>
                  <a:srgbClr val="FFFFFF"/>
                </a:solidFill>
                <a:latin typeface="Calibri" pitchFamily="34" charset="0"/>
                <a:ea typeface="Calibri" pitchFamily="34" charset="-122"/>
                <a:cs typeface="Calibri" pitchFamily="34" charset="-120"/>
              </a:rPr>
              <a:t>CU TRACK  ·  ARCU → JHBI  ·  720 credit unions</a:t>
            </a:r>
            <a:endParaRPr lang="en-US" sz="900" dirty="0"/>
          </a:p>
        </p:txBody>
      </p:sp>
      <p:sp>
        <p:nvSpPr>
          <p:cNvPr id="29" name="Shape 27"/>
          <p:cNvSpPr/>
          <p:nvPr/>
        </p:nvSpPr>
        <p:spPr>
          <a:xfrm>
            <a:off x="320040" y="2414016"/>
            <a:ext cx="2103120" cy="1188720"/>
          </a:xfrm>
          <a:prstGeom prst="rect">
            <a:avLst/>
          </a:prstGeom>
          <a:solidFill>
            <a:srgbClr val="F4F7FE"/>
          </a:solidFill>
          <a:ln w="12700">
            <a:solidFill>
              <a:srgbClr val="E7ECF0"/>
            </a:solidFill>
            <a:prstDash val="solid"/>
          </a:ln>
        </p:spPr>
        <p:txBody>
          <a:bodyPr/>
          <a:lstStyle/>
          <a:p>
            <a:endParaRPr lang="en-US"/>
          </a:p>
        </p:txBody>
      </p:sp>
      <p:sp>
        <p:nvSpPr>
          <p:cNvPr id="30" name="Text 28"/>
          <p:cNvSpPr/>
          <p:nvPr/>
        </p:nvSpPr>
        <p:spPr>
          <a:xfrm>
            <a:off x="411480" y="2468880"/>
            <a:ext cx="1920240" cy="21945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Pilot Cohort</a:t>
            </a:r>
            <a:endParaRPr lang="en-US" sz="950" dirty="0"/>
          </a:p>
        </p:txBody>
      </p:sp>
      <p:sp>
        <p:nvSpPr>
          <p:cNvPr id="31" name="Text 29"/>
          <p:cNvSpPr/>
          <p:nvPr/>
        </p:nvSpPr>
        <p:spPr>
          <a:xfrm>
            <a:off x="411480" y="2706624"/>
            <a:ext cx="1920240" cy="859536"/>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50 ARCU CUs invited to JHBI preview</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Grandfathered pricing locked in</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Zelle Memo Intelligence available Day 1</a:t>
            </a:r>
            <a:endParaRPr lang="en-US" sz="850" dirty="0"/>
          </a:p>
        </p:txBody>
      </p:sp>
      <p:sp>
        <p:nvSpPr>
          <p:cNvPr id="32" name="Shape 30"/>
          <p:cNvSpPr/>
          <p:nvPr/>
        </p:nvSpPr>
        <p:spPr>
          <a:xfrm>
            <a:off x="2514600" y="2414016"/>
            <a:ext cx="2103120" cy="1188720"/>
          </a:xfrm>
          <a:prstGeom prst="rect">
            <a:avLst/>
          </a:prstGeom>
          <a:solidFill>
            <a:srgbClr val="F4F7FE"/>
          </a:solidFill>
          <a:ln w="12700">
            <a:solidFill>
              <a:srgbClr val="E7ECF0"/>
            </a:solidFill>
            <a:prstDash val="solid"/>
          </a:ln>
        </p:spPr>
        <p:txBody>
          <a:bodyPr/>
          <a:lstStyle/>
          <a:p>
            <a:endParaRPr lang="en-US"/>
          </a:p>
        </p:txBody>
      </p:sp>
      <p:sp>
        <p:nvSpPr>
          <p:cNvPr id="33" name="Text 31"/>
          <p:cNvSpPr/>
          <p:nvPr/>
        </p:nvSpPr>
        <p:spPr>
          <a:xfrm>
            <a:off x="2606040" y="2468880"/>
            <a:ext cx="1920240" cy="21945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Wave 1 Migration</a:t>
            </a:r>
            <a:endParaRPr lang="en-US" sz="950" dirty="0"/>
          </a:p>
        </p:txBody>
      </p:sp>
      <p:sp>
        <p:nvSpPr>
          <p:cNvPr id="34" name="Text 32"/>
          <p:cNvSpPr/>
          <p:nvPr/>
        </p:nvSpPr>
        <p:spPr>
          <a:xfrm>
            <a:off x="2606040" y="2706624"/>
            <a:ext cx="1920240" cy="859536"/>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~200 ARCU CUs converted to JHBI</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Self-service portal launched</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Churn Sentinel add-on available</a:t>
            </a:r>
            <a:endParaRPr lang="en-US" sz="850" dirty="0"/>
          </a:p>
        </p:txBody>
      </p:sp>
      <p:sp>
        <p:nvSpPr>
          <p:cNvPr id="35" name="Shape 33"/>
          <p:cNvSpPr/>
          <p:nvPr/>
        </p:nvSpPr>
        <p:spPr>
          <a:xfrm>
            <a:off x="4709160" y="2414016"/>
            <a:ext cx="2103120" cy="1188720"/>
          </a:xfrm>
          <a:prstGeom prst="rect">
            <a:avLst/>
          </a:prstGeom>
          <a:solidFill>
            <a:srgbClr val="F4F7FE"/>
          </a:solidFill>
          <a:ln w="12700">
            <a:solidFill>
              <a:srgbClr val="E7ECF0"/>
            </a:solidFill>
            <a:prstDash val="solid"/>
          </a:ln>
        </p:spPr>
        <p:txBody>
          <a:bodyPr/>
          <a:lstStyle/>
          <a:p>
            <a:endParaRPr lang="en-US"/>
          </a:p>
        </p:txBody>
      </p:sp>
      <p:sp>
        <p:nvSpPr>
          <p:cNvPr id="36" name="Text 34"/>
          <p:cNvSpPr/>
          <p:nvPr/>
        </p:nvSpPr>
        <p:spPr>
          <a:xfrm>
            <a:off x="4800600" y="2468880"/>
            <a:ext cx="1920240" cy="21945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Wave 2 Migration</a:t>
            </a:r>
            <a:endParaRPr lang="en-US" sz="950" dirty="0"/>
          </a:p>
        </p:txBody>
      </p:sp>
      <p:sp>
        <p:nvSpPr>
          <p:cNvPr id="37" name="Text 35"/>
          <p:cNvSpPr/>
          <p:nvPr/>
        </p:nvSpPr>
        <p:spPr>
          <a:xfrm>
            <a:off x="4800600" y="2706624"/>
            <a:ext cx="1920240" cy="859536"/>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~350 ARCU CUs onboarded</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CommercialSignal add-on active</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Full ARCU base substantially migrated</a:t>
            </a:r>
            <a:endParaRPr lang="en-US" sz="850" dirty="0"/>
          </a:p>
        </p:txBody>
      </p:sp>
      <p:sp>
        <p:nvSpPr>
          <p:cNvPr id="38" name="Shape 36"/>
          <p:cNvSpPr/>
          <p:nvPr/>
        </p:nvSpPr>
        <p:spPr>
          <a:xfrm>
            <a:off x="6903720" y="2414016"/>
            <a:ext cx="2103120" cy="1188720"/>
          </a:xfrm>
          <a:prstGeom prst="rect">
            <a:avLst/>
          </a:prstGeom>
          <a:solidFill>
            <a:srgbClr val="F4F7FE"/>
          </a:solidFill>
          <a:ln w="12700">
            <a:solidFill>
              <a:srgbClr val="E7ECF0"/>
            </a:solidFill>
            <a:prstDash val="solid"/>
          </a:ln>
        </p:spPr>
        <p:txBody>
          <a:bodyPr/>
          <a:lstStyle/>
          <a:p>
            <a:endParaRPr lang="en-US"/>
          </a:p>
        </p:txBody>
      </p:sp>
      <p:sp>
        <p:nvSpPr>
          <p:cNvPr id="39" name="Text 37"/>
          <p:cNvSpPr/>
          <p:nvPr/>
        </p:nvSpPr>
        <p:spPr>
          <a:xfrm>
            <a:off x="6995160" y="2468880"/>
            <a:ext cx="1920240" cy="21945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Migration Complete</a:t>
            </a:r>
            <a:endParaRPr lang="en-US" sz="950" dirty="0"/>
          </a:p>
        </p:txBody>
      </p:sp>
      <p:sp>
        <p:nvSpPr>
          <p:cNvPr id="40" name="Text 38"/>
          <p:cNvSpPr/>
          <p:nvPr/>
        </p:nvSpPr>
        <p:spPr>
          <a:xfrm>
            <a:off x="6995160" y="2706624"/>
            <a:ext cx="1920240" cy="859536"/>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All 720 CUs on JHBI platform</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Net-new CU acquisition at JHBI rates</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DS app bundling conversation begins</a:t>
            </a:r>
            <a:endParaRPr lang="en-US" sz="850" dirty="0"/>
          </a:p>
        </p:txBody>
      </p:sp>
      <p:sp>
        <p:nvSpPr>
          <p:cNvPr id="41" name="Shape 39"/>
          <p:cNvSpPr/>
          <p:nvPr/>
        </p:nvSpPr>
        <p:spPr>
          <a:xfrm>
            <a:off x="320040" y="3639312"/>
            <a:ext cx="8686800" cy="237744"/>
          </a:xfrm>
          <a:prstGeom prst="rect">
            <a:avLst/>
          </a:prstGeom>
          <a:solidFill>
            <a:srgbClr val="06185F"/>
          </a:solidFill>
          <a:ln w="12700">
            <a:solidFill>
              <a:srgbClr val="06185F"/>
            </a:solidFill>
            <a:prstDash val="solid"/>
          </a:ln>
        </p:spPr>
        <p:txBody>
          <a:bodyPr/>
          <a:lstStyle/>
          <a:p>
            <a:endParaRPr lang="en-US"/>
          </a:p>
        </p:txBody>
      </p:sp>
      <p:sp>
        <p:nvSpPr>
          <p:cNvPr id="42" name="Text 40"/>
          <p:cNvSpPr/>
          <p:nvPr/>
        </p:nvSpPr>
        <p:spPr>
          <a:xfrm>
            <a:off x="448056" y="3639312"/>
            <a:ext cx="8412480" cy="237744"/>
          </a:xfrm>
          <a:prstGeom prst="rect">
            <a:avLst/>
          </a:prstGeom>
          <a:noFill/>
          <a:ln/>
        </p:spPr>
        <p:txBody>
          <a:bodyPr wrap="square" lIns="0" tIns="0" rIns="0" bIns="0" rtlCol="0" anchor="ctr"/>
          <a:lstStyle/>
          <a:p>
            <a:pPr marL="0" indent="0">
              <a:buNone/>
            </a:pPr>
            <a:r>
              <a:rPr lang="en-US" sz="900" b="1" kern="0" spc="50" dirty="0">
                <a:solidFill>
                  <a:srgbClr val="FFFFFF"/>
                </a:solidFill>
                <a:latin typeface="Calibri" pitchFamily="34" charset="0"/>
                <a:ea typeface="Calibri" pitchFamily="34" charset="-122"/>
                <a:cs typeface="Calibri" pitchFamily="34" charset="-120"/>
              </a:rPr>
              <a:t>BANK TRACK  ·  JHAKnow → JHBI  ·  940 banks</a:t>
            </a:r>
            <a:endParaRPr lang="en-US" sz="900" dirty="0"/>
          </a:p>
        </p:txBody>
      </p:sp>
      <p:sp>
        <p:nvSpPr>
          <p:cNvPr id="43" name="Shape 41"/>
          <p:cNvSpPr/>
          <p:nvPr/>
        </p:nvSpPr>
        <p:spPr>
          <a:xfrm>
            <a:off x="320040" y="3877056"/>
            <a:ext cx="2103120" cy="1188720"/>
          </a:xfrm>
          <a:prstGeom prst="rect">
            <a:avLst/>
          </a:prstGeom>
          <a:solidFill>
            <a:srgbClr val="F4F7FE"/>
          </a:solidFill>
          <a:ln w="12700">
            <a:solidFill>
              <a:srgbClr val="E7ECF0"/>
            </a:solidFill>
            <a:prstDash val="solid"/>
          </a:ln>
        </p:spPr>
        <p:txBody>
          <a:bodyPr/>
          <a:lstStyle/>
          <a:p>
            <a:endParaRPr lang="en-US"/>
          </a:p>
        </p:txBody>
      </p:sp>
      <p:sp>
        <p:nvSpPr>
          <p:cNvPr id="44" name="Text 42"/>
          <p:cNvSpPr/>
          <p:nvPr/>
        </p:nvSpPr>
        <p:spPr>
          <a:xfrm>
            <a:off x="411480" y="3931920"/>
            <a:ext cx="1920240" cy="21945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Pilot Cohort</a:t>
            </a:r>
            <a:endParaRPr lang="en-US" sz="950" dirty="0"/>
          </a:p>
        </p:txBody>
      </p:sp>
      <p:sp>
        <p:nvSpPr>
          <p:cNvPr id="45" name="Text 43"/>
          <p:cNvSpPr/>
          <p:nvPr/>
        </p:nvSpPr>
        <p:spPr>
          <a:xfrm>
            <a:off x="411480" y="4169664"/>
            <a:ext cx="1920240" cy="859536"/>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30 JHAKnow banks invited to JHBI preview</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Grandfathered pricing confirmed</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Zelle Memo Intelligence available</a:t>
            </a:r>
            <a:endParaRPr lang="en-US" sz="850" dirty="0"/>
          </a:p>
        </p:txBody>
      </p:sp>
      <p:sp>
        <p:nvSpPr>
          <p:cNvPr id="46" name="Shape 44"/>
          <p:cNvSpPr/>
          <p:nvPr/>
        </p:nvSpPr>
        <p:spPr>
          <a:xfrm>
            <a:off x="2514600" y="3877056"/>
            <a:ext cx="2103120" cy="1188720"/>
          </a:xfrm>
          <a:prstGeom prst="rect">
            <a:avLst/>
          </a:prstGeom>
          <a:solidFill>
            <a:srgbClr val="F4F7FE"/>
          </a:solidFill>
          <a:ln w="12700">
            <a:solidFill>
              <a:srgbClr val="E7ECF0"/>
            </a:solidFill>
            <a:prstDash val="solid"/>
          </a:ln>
        </p:spPr>
        <p:txBody>
          <a:bodyPr/>
          <a:lstStyle/>
          <a:p>
            <a:endParaRPr lang="en-US"/>
          </a:p>
        </p:txBody>
      </p:sp>
      <p:sp>
        <p:nvSpPr>
          <p:cNvPr id="47" name="Text 45"/>
          <p:cNvSpPr/>
          <p:nvPr/>
        </p:nvSpPr>
        <p:spPr>
          <a:xfrm>
            <a:off x="2606040" y="3931920"/>
            <a:ext cx="1920240" cy="21945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Wave 1 Migration</a:t>
            </a:r>
            <a:endParaRPr lang="en-US" sz="950" dirty="0"/>
          </a:p>
        </p:txBody>
      </p:sp>
      <p:sp>
        <p:nvSpPr>
          <p:cNvPr id="48" name="Text 46"/>
          <p:cNvSpPr/>
          <p:nvPr/>
        </p:nvSpPr>
        <p:spPr>
          <a:xfrm>
            <a:off x="2606040" y="4169664"/>
            <a:ext cx="1920240" cy="859536"/>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~250 JHAKnow banks converted</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Core + Banno data pipelines enabled</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Churn Sentinel Phase 2 signals</a:t>
            </a:r>
            <a:endParaRPr lang="en-US" sz="850" dirty="0"/>
          </a:p>
        </p:txBody>
      </p:sp>
      <p:sp>
        <p:nvSpPr>
          <p:cNvPr id="49" name="Shape 47"/>
          <p:cNvSpPr/>
          <p:nvPr/>
        </p:nvSpPr>
        <p:spPr>
          <a:xfrm>
            <a:off x="4709160" y="3877056"/>
            <a:ext cx="2103120" cy="1188720"/>
          </a:xfrm>
          <a:prstGeom prst="rect">
            <a:avLst/>
          </a:prstGeom>
          <a:solidFill>
            <a:srgbClr val="F4F7FE"/>
          </a:solidFill>
          <a:ln w="12700">
            <a:solidFill>
              <a:srgbClr val="E7ECF0"/>
            </a:solidFill>
            <a:prstDash val="solid"/>
          </a:ln>
        </p:spPr>
        <p:txBody>
          <a:bodyPr/>
          <a:lstStyle/>
          <a:p>
            <a:endParaRPr lang="en-US"/>
          </a:p>
        </p:txBody>
      </p:sp>
      <p:sp>
        <p:nvSpPr>
          <p:cNvPr id="50" name="Text 48"/>
          <p:cNvSpPr/>
          <p:nvPr/>
        </p:nvSpPr>
        <p:spPr>
          <a:xfrm>
            <a:off x="4800600" y="3931920"/>
            <a:ext cx="1920240" cy="21945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Wave 2 Migration</a:t>
            </a:r>
            <a:endParaRPr lang="en-US" sz="950" dirty="0"/>
          </a:p>
        </p:txBody>
      </p:sp>
      <p:sp>
        <p:nvSpPr>
          <p:cNvPr id="51" name="Text 49"/>
          <p:cNvSpPr/>
          <p:nvPr/>
        </p:nvSpPr>
        <p:spPr>
          <a:xfrm>
            <a:off x="4800600" y="4169664"/>
            <a:ext cx="1920240" cy="859536"/>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~400 banks onboarded to JHBI</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CommercialSignal add-on active</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JHAKnow base ~70% migrated</a:t>
            </a:r>
            <a:endParaRPr lang="en-US" sz="850" dirty="0"/>
          </a:p>
        </p:txBody>
      </p:sp>
      <p:sp>
        <p:nvSpPr>
          <p:cNvPr id="52" name="Shape 50"/>
          <p:cNvSpPr/>
          <p:nvPr/>
        </p:nvSpPr>
        <p:spPr>
          <a:xfrm>
            <a:off x="6903720" y="3877056"/>
            <a:ext cx="2103120" cy="1188720"/>
          </a:xfrm>
          <a:prstGeom prst="rect">
            <a:avLst/>
          </a:prstGeom>
          <a:solidFill>
            <a:srgbClr val="F4F7FE"/>
          </a:solidFill>
          <a:ln w="12700">
            <a:solidFill>
              <a:srgbClr val="E7ECF0"/>
            </a:solidFill>
            <a:prstDash val="solid"/>
          </a:ln>
        </p:spPr>
        <p:txBody>
          <a:bodyPr/>
          <a:lstStyle/>
          <a:p>
            <a:endParaRPr lang="en-US"/>
          </a:p>
        </p:txBody>
      </p:sp>
      <p:sp>
        <p:nvSpPr>
          <p:cNvPr id="53" name="Text 51"/>
          <p:cNvSpPr/>
          <p:nvPr/>
        </p:nvSpPr>
        <p:spPr>
          <a:xfrm>
            <a:off x="6995160" y="3931920"/>
            <a:ext cx="1920240" cy="219456"/>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Migration Complete</a:t>
            </a:r>
            <a:endParaRPr lang="en-US" sz="950" dirty="0"/>
          </a:p>
        </p:txBody>
      </p:sp>
      <p:sp>
        <p:nvSpPr>
          <p:cNvPr id="54" name="Text 52"/>
          <p:cNvSpPr/>
          <p:nvPr/>
        </p:nvSpPr>
        <p:spPr>
          <a:xfrm>
            <a:off x="6995160" y="4169664"/>
            <a:ext cx="1920240" cy="859536"/>
          </a:xfrm>
          <a:prstGeom prst="rect">
            <a:avLst/>
          </a:prstGeom>
          <a:noFill/>
          <a:ln/>
        </p:spPr>
        <p:txBody>
          <a:bodyPr wrap="square" lIns="0" tIns="0" rIns="0" bIns="0" rtlCol="0" anchor="ctr"/>
          <a:lstStyle/>
          <a:p>
            <a:pPr marL="0" indent="0">
              <a:buNone/>
            </a:pPr>
            <a:r>
              <a:rPr lang="en-US" sz="850" dirty="0">
                <a:solidFill>
                  <a:srgbClr val="575A5D"/>
                </a:solidFill>
                <a:latin typeface="Calibri" pitchFamily="34" charset="0"/>
                <a:ea typeface="Calibri" pitchFamily="34" charset="-122"/>
                <a:cs typeface="Calibri" pitchFamily="34" charset="-120"/>
              </a:rPr>
              <a:t>All 940 banks on JHBI platform</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Net-new bank acquisition at JHBI rates</a:t>
            </a:r>
            <a:endParaRPr lang="en-US" sz="850" dirty="0"/>
          </a:p>
          <a:p>
            <a:pPr marL="0" indent="0">
              <a:buNone/>
            </a:pPr>
            <a:r>
              <a:rPr lang="en-US" sz="850" dirty="0">
                <a:solidFill>
                  <a:srgbClr val="575A5D"/>
                </a:solidFill>
                <a:latin typeface="Calibri" pitchFamily="34" charset="0"/>
                <a:ea typeface="Calibri" pitchFamily="34" charset="-122"/>
                <a:cs typeface="Calibri" pitchFamily="34" charset="-120"/>
              </a:rPr>
              <a:t>Full DS add-on suite available</a:t>
            </a:r>
            <a:endParaRPr lang="en-US" sz="850" dirty="0"/>
          </a:p>
        </p:txBody>
      </p:sp>
      <p:sp>
        <p:nvSpPr>
          <p:cNvPr id="55" name="Shape 53"/>
          <p:cNvSpPr/>
          <p:nvPr/>
        </p:nvSpPr>
        <p:spPr>
          <a:xfrm>
            <a:off x="320040" y="4828032"/>
            <a:ext cx="8503920" cy="237744"/>
          </a:xfrm>
          <a:prstGeom prst="roundRect">
            <a:avLst>
              <a:gd name="adj" fmla="val 15385"/>
            </a:avLst>
          </a:prstGeom>
          <a:solidFill>
            <a:srgbClr val="E8F0FD"/>
          </a:solidFill>
          <a:ln w="12700">
            <a:solidFill>
              <a:srgbClr val="BCD0F5"/>
            </a:solidFill>
            <a:prstDash val="solid"/>
          </a:ln>
        </p:spPr>
        <p:txBody>
          <a:bodyPr/>
          <a:lstStyle/>
          <a:p>
            <a:endParaRPr lang="en-US"/>
          </a:p>
        </p:txBody>
      </p:sp>
      <p:sp>
        <p:nvSpPr>
          <p:cNvPr id="56" name="Text 54"/>
          <p:cNvSpPr/>
          <p:nvPr/>
        </p:nvSpPr>
        <p:spPr>
          <a:xfrm>
            <a:off x="457200" y="4846320"/>
            <a:ext cx="8321040" cy="201168"/>
          </a:xfrm>
          <a:prstGeom prst="rect">
            <a:avLst/>
          </a:prstGeom>
          <a:noFill/>
          <a:ln/>
        </p:spPr>
        <p:txBody>
          <a:bodyPr wrap="square" lIns="0" tIns="0" rIns="0" bIns="0" rtlCol="0" anchor="ctr"/>
          <a:lstStyle/>
          <a:p>
            <a:pPr marL="0" indent="0">
              <a:buNone/>
            </a:pPr>
            <a:r>
              <a:rPr lang="en-US" sz="850" dirty="0">
                <a:solidFill>
                  <a:srgbClr val="085CE5"/>
                </a:solidFill>
                <a:latin typeface="Calibri" pitchFamily="34" charset="0"/>
                <a:ea typeface="Calibri" pitchFamily="34" charset="-122"/>
                <a:cs typeface="Calibri" pitchFamily="34" charset="-120"/>
              </a:rPr>
              <a:t>PRICING CONTINUITY: Existing ARCU/JHAKnow subscribers lock in current rates. Net-new JHBI clients pay platform pricing. DS apps are incremental add-ons for all.</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85CE5"/>
          </a:solidFill>
          <a:ln w="12700">
            <a:solidFill>
              <a:srgbClr val="085CE5"/>
            </a:solidFill>
            <a:prstDash val="solid"/>
          </a:ln>
        </p:spPr>
        <p:txBody>
          <a:bodyPr/>
          <a:lstStyle/>
          <a:p>
            <a:endParaRPr lang="en-US"/>
          </a:p>
        </p:txBody>
      </p:sp>
      <p:sp>
        <p:nvSpPr>
          <p:cNvPr id="3" name="Text 1"/>
          <p:cNvSpPr/>
          <p:nvPr/>
        </p:nvSpPr>
        <p:spPr>
          <a:xfrm>
            <a:off x="365760" y="2194560"/>
            <a:ext cx="8229600" cy="548640"/>
          </a:xfrm>
          <a:prstGeom prst="rect">
            <a:avLst/>
          </a:prstGeom>
          <a:noFill/>
          <a:ln/>
        </p:spPr>
        <p:txBody>
          <a:bodyPr wrap="square" lIns="0" tIns="0" rIns="0" bIns="0" rtlCol="0" anchor="ctr"/>
          <a:lstStyle/>
          <a:p>
            <a:pPr marL="0" indent="0" algn="ctr">
              <a:buNone/>
            </a:pPr>
            <a:r>
              <a:rPr lang="en-US" sz="3600" b="1" kern="0" spc="600" dirty="0">
                <a:solidFill>
                  <a:srgbClr val="FFFFFF"/>
                </a:solidFill>
                <a:latin typeface="Calibri" pitchFamily="34" charset="0"/>
                <a:ea typeface="Calibri" pitchFamily="34" charset="-122"/>
                <a:cs typeface="Calibri" pitchFamily="34" charset="-120"/>
              </a:rPr>
              <a:t>APPENDIX</a:t>
            </a:r>
            <a:endParaRPr lang="en-US" sz="3600" dirty="0"/>
          </a:p>
        </p:txBody>
      </p:sp>
      <p:sp>
        <p:nvSpPr>
          <p:cNvPr id="4" name="Text 2"/>
          <p:cNvSpPr/>
          <p:nvPr/>
        </p:nvSpPr>
        <p:spPr>
          <a:xfrm>
            <a:off x="365760" y="2834640"/>
            <a:ext cx="8229600" cy="329184"/>
          </a:xfrm>
          <a:prstGeom prst="rect">
            <a:avLst/>
          </a:prstGeom>
          <a:noFill/>
          <a:ln/>
        </p:spPr>
        <p:txBody>
          <a:bodyPr wrap="square" lIns="0" tIns="0" rIns="0" bIns="0" rtlCol="0" anchor="ctr"/>
          <a:lstStyle/>
          <a:p>
            <a:pPr marL="0" indent="0" algn="ctr">
              <a:buNone/>
            </a:pPr>
            <a:r>
              <a:rPr lang="en-US" sz="1600" dirty="0">
                <a:solidFill>
                  <a:srgbClr val="B6BBC0"/>
                </a:solidFill>
                <a:latin typeface="Calibri" pitchFamily="34" charset="0"/>
                <a:ea typeface="Calibri" pitchFamily="34" charset="-122"/>
                <a:cs typeface="Calibri" pitchFamily="34" charset="-120"/>
              </a:rPr>
              <a:t>Pricing Tier Architecture — Reference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8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txBody>
          <a:bodyPr/>
          <a:lstStyle/>
          <a:p>
            <a:endParaRPr lang="en-US"/>
          </a:p>
        </p:txBody>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Appendix: JH Intelligence Platform — Pricing Architecture</a:t>
            </a:r>
            <a:endParaRPr lang="en-US" sz="2200" dirty="0"/>
          </a:p>
        </p:txBody>
      </p:sp>
      <p:sp>
        <p:nvSpPr>
          <p:cNvPr id="4" name="Text 2"/>
          <p:cNvSpPr/>
          <p:nvPr/>
        </p:nvSpPr>
        <p:spPr>
          <a:xfrm>
            <a:off x="365760" y="768096"/>
            <a:ext cx="8412480" cy="347472"/>
          </a:xfrm>
          <a:prstGeom prst="rect">
            <a:avLst/>
          </a:prstGeom>
          <a:noFill/>
          <a:ln/>
        </p:spPr>
        <p:txBody>
          <a:bodyPr wrap="square" lIns="0" tIns="0" rIns="0" bIns="0" rtlCol="0" anchor="ctr"/>
          <a:lstStyle/>
          <a:p>
            <a:pPr marL="0" indent="0">
              <a:buNone/>
            </a:pPr>
            <a:r>
              <a:rPr lang="en-US" sz="1200" dirty="0">
                <a:solidFill>
                  <a:srgbClr val="575A5D"/>
                </a:solidFill>
                <a:latin typeface="Calibri" pitchFamily="34" charset="0"/>
                <a:ea typeface="Calibri" pitchFamily="34" charset="-122"/>
                <a:cs typeface="Calibri" pitchFamily="34" charset="-120"/>
              </a:rPr>
              <a:t>Asset-tiered SaaS subscription — priced to fit every institution from $50M community CUs to $200B+ tier-1 FIs, with modules that expand as JH adds data sources.</a:t>
            </a:r>
            <a:endParaRPr lang="en-US" sz="1200" dirty="0"/>
          </a:p>
        </p:txBody>
      </p:sp>
      <p:sp>
        <p:nvSpPr>
          <p:cNvPr id="5" name="Shape 3"/>
          <p:cNvSpPr/>
          <p:nvPr/>
        </p:nvSpPr>
        <p:spPr>
          <a:xfrm>
            <a:off x="274320" y="1207008"/>
            <a:ext cx="2788920" cy="3794760"/>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274320" y="1207008"/>
            <a:ext cx="2788920" cy="475488"/>
          </a:xfrm>
          <a:prstGeom prst="rect">
            <a:avLst/>
          </a:prstGeom>
          <a:solidFill>
            <a:srgbClr val="0B68D4"/>
          </a:solidFill>
          <a:ln w="12700">
            <a:solidFill>
              <a:srgbClr val="0B68D4"/>
            </a:solidFill>
            <a:prstDash val="solid"/>
          </a:ln>
        </p:spPr>
        <p:txBody>
          <a:bodyPr/>
          <a:lstStyle/>
          <a:p>
            <a:endParaRPr lang="en-US"/>
          </a:p>
        </p:txBody>
      </p:sp>
      <p:sp>
        <p:nvSpPr>
          <p:cNvPr id="7" name="Text 5"/>
          <p:cNvSpPr/>
          <p:nvPr/>
        </p:nvSpPr>
        <p:spPr>
          <a:xfrm>
            <a:off x="411480" y="1252728"/>
            <a:ext cx="2514600" cy="384048"/>
          </a:xfrm>
          <a:prstGeom prst="rect">
            <a:avLst/>
          </a:prstGeom>
          <a:noFill/>
          <a:ln/>
        </p:spPr>
        <p:txBody>
          <a:bodyPr wrap="square" lIns="0" tIns="0" rIns="0" bIns="0" rtlCol="0" anchor="ctr"/>
          <a:lstStyle/>
          <a:p>
            <a:pPr marL="0" indent="0">
              <a:buNone/>
            </a:pPr>
            <a:r>
              <a:rPr lang="en-US" sz="1400" b="1" kern="0" spc="100" dirty="0">
                <a:solidFill>
                  <a:srgbClr val="FFFFFF"/>
                </a:solidFill>
                <a:latin typeface="Calibri" pitchFamily="34" charset="0"/>
                <a:ea typeface="Calibri" pitchFamily="34" charset="-122"/>
                <a:cs typeface="Calibri" pitchFamily="34" charset="-120"/>
              </a:rPr>
              <a:t>INSIGHT</a:t>
            </a:r>
            <a:endParaRPr lang="en-US" sz="1400" dirty="0"/>
          </a:p>
        </p:txBody>
      </p:sp>
      <p:sp>
        <p:nvSpPr>
          <p:cNvPr id="8" name="Text 6"/>
          <p:cNvSpPr/>
          <p:nvPr/>
        </p:nvSpPr>
        <p:spPr>
          <a:xfrm>
            <a:off x="384048" y="1737360"/>
            <a:ext cx="2578608" cy="256032"/>
          </a:xfrm>
          <a:prstGeom prst="rect">
            <a:avLst/>
          </a:prstGeom>
          <a:noFill/>
          <a:ln/>
        </p:spPr>
        <p:txBody>
          <a:bodyPr wrap="square" lIns="0" tIns="0" rIns="0" bIns="0" rtlCol="0" anchor="ctr"/>
          <a:lstStyle/>
          <a:p>
            <a:pPr marL="0" indent="0">
              <a:buNone/>
            </a:pPr>
            <a:r>
              <a:rPr lang="en-US" sz="950" b="1" dirty="0">
                <a:solidFill>
                  <a:srgbClr val="0B68D4"/>
                </a:solidFill>
                <a:latin typeface="Calibri" pitchFamily="34" charset="0"/>
                <a:ea typeface="Calibri" pitchFamily="34" charset="-122"/>
                <a:cs typeface="Calibri" pitchFamily="34" charset="-120"/>
              </a:rPr>
              <a:t>Institutions &lt; $500M assets</a:t>
            </a:r>
            <a:endParaRPr lang="en-US" sz="950" dirty="0"/>
          </a:p>
        </p:txBody>
      </p:sp>
      <p:sp>
        <p:nvSpPr>
          <p:cNvPr id="9" name="Text 7"/>
          <p:cNvSpPr/>
          <p:nvPr/>
        </p:nvSpPr>
        <p:spPr>
          <a:xfrm>
            <a:off x="384048" y="2011680"/>
            <a:ext cx="2578608" cy="502920"/>
          </a:xfrm>
          <a:prstGeom prst="rect">
            <a:avLst/>
          </a:prstGeom>
          <a:noFill/>
          <a:ln/>
        </p:spPr>
        <p:txBody>
          <a:bodyPr wrap="square" lIns="0" tIns="0" rIns="0" bIns="0" rtlCol="0" anchor="ctr"/>
          <a:lstStyle/>
          <a:p>
            <a:pPr marL="0" indent="0">
              <a:buNone/>
            </a:pPr>
            <a:r>
              <a:rPr lang="en-US" sz="2600" b="1" dirty="0">
                <a:solidFill>
                  <a:srgbClr val="085CE5"/>
                </a:solidFill>
                <a:latin typeface="Calibri" pitchFamily="34" charset="0"/>
                <a:ea typeface="Calibri" pitchFamily="34" charset="-122"/>
                <a:cs typeface="Calibri" pitchFamily="34" charset="-120"/>
              </a:rPr>
              <a:t>$750 – $2,500</a:t>
            </a:r>
            <a:endParaRPr lang="en-US" sz="2600" dirty="0"/>
          </a:p>
        </p:txBody>
      </p:sp>
      <p:sp>
        <p:nvSpPr>
          <p:cNvPr id="10" name="Text 8"/>
          <p:cNvSpPr/>
          <p:nvPr/>
        </p:nvSpPr>
        <p:spPr>
          <a:xfrm>
            <a:off x="384048" y="2523744"/>
            <a:ext cx="2578608" cy="228600"/>
          </a:xfrm>
          <a:prstGeom prst="rect">
            <a:avLst/>
          </a:prstGeom>
          <a:noFill/>
          <a:ln/>
        </p:spPr>
        <p:txBody>
          <a:bodyPr wrap="square" lIns="0" tIns="0" rIns="0" bIns="0" rtlCol="0" anchor="ctr"/>
          <a:lstStyle/>
          <a:p>
            <a:pPr marL="0" indent="0">
              <a:buNone/>
            </a:pPr>
            <a:r>
              <a:rPr lang="en-US" sz="950" dirty="0">
                <a:solidFill>
                  <a:srgbClr val="B6BBC0"/>
                </a:solidFill>
                <a:latin typeface="Calibri" pitchFamily="34" charset="0"/>
                <a:ea typeface="Calibri" pitchFamily="34" charset="-122"/>
                <a:cs typeface="Calibri" pitchFamily="34" charset="-120"/>
              </a:rPr>
              <a:t>/ month per institution</a:t>
            </a:r>
            <a:endParaRPr lang="en-US" sz="950" dirty="0"/>
          </a:p>
        </p:txBody>
      </p:sp>
      <p:sp>
        <p:nvSpPr>
          <p:cNvPr id="11" name="Shape 9"/>
          <p:cNvSpPr/>
          <p:nvPr/>
        </p:nvSpPr>
        <p:spPr>
          <a:xfrm>
            <a:off x="384048" y="2798064"/>
            <a:ext cx="2578608" cy="36576"/>
          </a:xfrm>
          <a:prstGeom prst="rect">
            <a:avLst/>
          </a:prstGeom>
          <a:solidFill>
            <a:srgbClr val="E7ECF0"/>
          </a:solidFill>
          <a:ln w="12700">
            <a:solidFill>
              <a:srgbClr val="E7ECF0"/>
            </a:solidFill>
            <a:prstDash val="solid"/>
          </a:ln>
        </p:spPr>
        <p:txBody>
          <a:bodyPr/>
          <a:lstStyle/>
          <a:p>
            <a:endParaRPr lang="en-US"/>
          </a:p>
        </p:txBody>
      </p:sp>
      <p:sp>
        <p:nvSpPr>
          <p:cNvPr id="12" name="Text 10"/>
          <p:cNvSpPr/>
          <p:nvPr/>
        </p:nvSpPr>
        <p:spPr>
          <a:xfrm>
            <a:off x="384048" y="2871216"/>
            <a:ext cx="2578608" cy="2029968"/>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CallRpt AI — NCUA 5300 intelligence</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Market Pulse dashboard (industry KPIs)</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Peer benchmarking (10 comparisons / mo)</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AI Q&amp;A — 100 queries / month</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Standard executive brief templates</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Email support</a:t>
            </a:r>
            <a:endParaRPr lang="en-US" sz="950" dirty="0"/>
          </a:p>
        </p:txBody>
      </p:sp>
      <p:sp>
        <p:nvSpPr>
          <p:cNvPr id="13" name="Shape 11"/>
          <p:cNvSpPr/>
          <p:nvPr/>
        </p:nvSpPr>
        <p:spPr>
          <a:xfrm>
            <a:off x="3182112" y="1207008"/>
            <a:ext cx="2788920" cy="3794760"/>
          </a:xfrm>
          <a:prstGeom prst="rect">
            <a:avLst/>
          </a:prstGeom>
          <a:solidFill>
            <a:srgbClr val="06185F"/>
          </a:solidFill>
          <a:ln w="12700">
            <a:solidFill>
              <a:srgbClr val="085CE5"/>
            </a:solidFill>
            <a:prstDash val="solid"/>
          </a:ln>
          <a:effectLst>
            <a:outerShdw blurRad="101600" dist="38100" dir="8100000" algn="bl" rotWithShape="0">
              <a:srgbClr val="000000">
                <a:alpha val="10000"/>
              </a:srgbClr>
            </a:outerShdw>
          </a:effectLst>
        </p:spPr>
        <p:txBody>
          <a:bodyPr/>
          <a:lstStyle/>
          <a:p>
            <a:endParaRPr lang="en-US"/>
          </a:p>
        </p:txBody>
      </p:sp>
      <p:sp>
        <p:nvSpPr>
          <p:cNvPr id="14" name="Shape 12"/>
          <p:cNvSpPr/>
          <p:nvPr/>
        </p:nvSpPr>
        <p:spPr>
          <a:xfrm>
            <a:off x="3182112" y="1207008"/>
            <a:ext cx="2788920" cy="475488"/>
          </a:xfrm>
          <a:prstGeom prst="rect">
            <a:avLst/>
          </a:prstGeom>
          <a:solidFill>
            <a:srgbClr val="085CE5"/>
          </a:solidFill>
          <a:ln w="12700">
            <a:solidFill>
              <a:srgbClr val="085CE5"/>
            </a:solidFill>
            <a:prstDash val="solid"/>
          </a:ln>
        </p:spPr>
        <p:txBody>
          <a:bodyPr/>
          <a:lstStyle/>
          <a:p>
            <a:endParaRPr lang="en-US"/>
          </a:p>
        </p:txBody>
      </p:sp>
      <p:sp>
        <p:nvSpPr>
          <p:cNvPr id="15" name="Text 13"/>
          <p:cNvSpPr/>
          <p:nvPr/>
        </p:nvSpPr>
        <p:spPr>
          <a:xfrm>
            <a:off x="3319272" y="1252728"/>
            <a:ext cx="1645920" cy="384048"/>
          </a:xfrm>
          <a:prstGeom prst="rect">
            <a:avLst/>
          </a:prstGeom>
          <a:noFill/>
          <a:ln/>
        </p:spPr>
        <p:txBody>
          <a:bodyPr wrap="square" lIns="0" tIns="0" rIns="0" bIns="0" rtlCol="0" anchor="ctr"/>
          <a:lstStyle/>
          <a:p>
            <a:pPr marL="0" indent="0">
              <a:buNone/>
            </a:pPr>
            <a:r>
              <a:rPr lang="en-US" sz="1400" b="1" kern="0" spc="100" dirty="0">
                <a:solidFill>
                  <a:srgbClr val="FFFFFF"/>
                </a:solidFill>
                <a:latin typeface="Calibri" pitchFamily="34" charset="0"/>
                <a:ea typeface="Calibri" pitchFamily="34" charset="-122"/>
                <a:cs typeface="Calibri" pitchFamily="34" charset="-120"/>
              </a:rPr>
              <a:t>INTELLIGENCE</a:t>
            </a:r>
            <a:endParaRPr lang="en-US" sz="1400" dirty="0"/>
          </a:p>
        </p:txBody>
      </p:sp>
      <p:sp>
        <p:nvSpPr>
          <p:cNvPr id="16" name="Shape 14"/>
          <p:cNvSpPr/>
          <p:nvPr/>
        </p:nvSpPr>
        <p:spPr>
          <a:xfrm>
            <a:off x="4992624" y="1298448"/>
            <a:ext cx="914400" cy="274320"/>
          </a:xfrm>
          <a:prstGeom prst="rect">
            <a:avLst/>
          </a:prstGeom>
          <a:solidFill>
            <a:srgbClr val="76DCFD"/>
          </a:solidFill>
          <a:ln w="12700">
            <a:solidFill>
              <a:srgbClr val="76DCFD"/>
            </a:solidFill>
            <a:prstDash val="solid"/>
          </a:ln>
        </p:spPr>
        <p:txBody>
          <a:bodyPr/>
          <a:lstStyle/>
          <a:p>
            <a:endParaRPr lang="en-US"/>
          </a:p>
        </p:txBody>
      </p:sp>
      <p:sp>
        <p:nvSpPr>
          <p:cNvPr id="17" name="Text 15"/>
          <p:cNvSpPr/>
          <p:nvPr/>
        </p:nvSpPr>
        <p:spPr>
          <a:xfrm>
            <a:off x="4992624" y="1298448"/>
            <a:ext cx="914400" cy="274320"/>
          </a:xfrm>
          <a:prstGeom prst="rect">
            <a:avLst/>
          </a:prstGeom>
          <a:noFill/>
          <a:ln/>
        </p:spPr>
        <p:txBody>
          <a:bodyPr wrap="square" lIns="0" tIns="0" rIns="0" bIns="0" rtlCol="0" anchor="ctr"/>
          <a:lstStyle/>
          <a:p>
            <a:pPr marL="0" indent="0" algn="ctr">
              <a:buNone/>
            </a:pPr>
            <a:r>
              <a:rPr lang="en-US" sz="700" b="1" kern="0" spc="50" dirty="0">
                <a:solidFill>
                  <a:srgbClr val="06185F"/>
                </a:solidFill>
                <a:latin typeface="Calibri" pitchFamily="34" charset="0"/>
                <a:ea typeface="Calibri" pitchFamily="34" charset="-122"/>
                <a:cs typeface="Calibri" pitchFamily="34" charset="-120"/>
              </a:rPr>
              <a:t>RECOMMENDED</a:t>
            </a:r>
            <a:endParaRPr lang="en-US" sz="700" dirty="0"/>
          </a:p>
        </p:txBody>
      </p:sp>
      <p:sp>
        <p:nvSpPr>
          <p:cNvPr id="18" name="Text 16"/>
          <p:cNvSpPr/>
          <p:nvPr/>
        </p:nvSpPr>
        <p:spPr>
          <a:xfrm>
            <a:off x="3291840" y="1737360"/>
            <a:ext cx="2578608" cy="256032"/>
          </a:xfrm>
          <a:prstGeom prst="rect">
            <a:avLst/>
          </a:prstGeom>
          <a:noFill/>
          <a:ln/>
        </p:spPr>
        <p:txBody>
          <a:bodyPr wrap="square" lIns="0" tIns="0" rIns="0" bIns="0" rtlCol="0" anchor="ctr"/>
          <a:lstStyle/>
          <a:p>
            <a:pPr marL="0" indent="0">
              <a:buNone/>
            </a:pPr>
            <a:r>
              <a:rPr lang="en-US" sz="950" b="1" dirty="0">
                <a:solidFill>
                  <a:srgbClr val="085CE5"/>
                </a:solidFill>
                <a:latin typeface="Calibri" pitchFamily="34" charset="0"/>
                <a:ea typeface="Calibri" pitchFamily="34" charset="-122"/>
                <a:cs typeface="Calibri" pitchFamily="34" charset="-120"/>
              </a:rPr>
              <a:t>$500M – $5B assets</a:t>
            </a:r>
            <a:endParaRPr lang="en-US" sz="950" dirty="0"/>
          </a:p>
        </p:txBody>
      </p:sp>
      <p:sp>
        <p:nvSpPr>
          <p:cNvPr id="19" name="Text 17"/>
          <p:cNvSpPr/>
          <p:nvPr/>
        </p:nvSpPr>
        <p:spPr>
          <a:xfrm>
            <a:off x="3291840" y="2011680"/>
            <a:ext cx="2578608" cy="502920"/>
          </a:xfrm>
          <a:prstGeom prst="rect">
            <a:avLst/>
          </a:prstGeom>
          <a:noFill/>
          <a:ln/>
        </p:spPr>
        <p:txBody>
          <a:bodyPr wrap="square" lIns="0" tIns="0" rIns="0" bIns="0" rtlCol="0" anchor="ctr"/>
          <a:lstStyle/>
          <a:p>
            <a:pPr marL="0" indent="0">
              <a:buNone/>
            </a:pPr>
            <a:r>
              <a:rPr lang="en-US" sz="2600" b="1" dirty="0">
                <a:solidFill>
                  <a:srgbClr val="76DCFD"/>
                </a:solidFill>
                <a:latin typeface="Calibri" pitchFamily="34" charset="0"/>
                <a:ea typeface="Calibri" pitchFamily="34" charset="-122"/>
                <a:cs typeface="Calibri" pitchFamily="34" charset="-120"/>
              </a:rPr>
              <a:t>$2,500 – $8,000</a:t>
            </a:r>
            <a:endParaRPr lang="en-US" sz="2600" dirty="0"/>
          </a:p>
        </p:txBody>
      </p:sp>
      <p:sp>
        <p:nvSpPr>
          <p:cNvPr id="20" name="Text 18"/>
          <p:cNvSpPr/>
          <p:nvPr/>
        </p:nvSpPr>
        <p:spPr>
          <a:xfrm>
            <a:off x="3291840" y="2523744"/>
            <a:ext cx="2578608" cy="228600"/>
          </a:xfrm>
          <a:prstGeom prst="rect">
            <a:avLst/>
          </a:prstGeom>
          <a:noFill/>
          <a:ln/>
        </p:spPr>
        <p:txBody>
          <a:bodyPr wrap="square" lIns="0" tIns="0" rIns="0" bIns="0" rtlCol="0" anchor="ctr"/>
          <a:lstStyle/>
          <a:p>
            <a:pPr marL="0" indent="0">
              <a:buNone/>
            </a:pPr>
            <a:r>
              <a:rPr lang="en-US" sz="950" dirty="0">
                <a:solidFill>
                  <a:srgbClr val="E7ECF0"/>
                </a:solidFill>
                <a:latin typeface="Calibri" pitchFamily="34" charset="0"/>
                <a:ea typeface="Calibri" pitchFamily="34" charset="-122"/>
                <a:cs typeface="Calibri" pitchFamily="34" charset="-120"/>
              </a:rPr>
              <a:t>/ month per institution</a:t>
            </a:r>
            <a:endParaRPr lang="en-US" sz="950" dirty="0"/>
          </a:p>
        </p:txBody>
      </p:sp>
      <p:sp>
        <p:nvSpPr>
          <p:cNvPr id="21" name="Shape 19"/>
          <p:cNvSpPr/>
          <p:nvPr/>
        </p:nvSpPr>
        <p:spPr>
          <a:xfrm>
            <a:off x="3291840" y="2798064"/>
            <a:ext cx="2578608" cy="36576"/>
          </a:xfrm>
          <a:prstGeom prst="rect">
            <a:avLst/>
          </a:prstGeom>
          <a:solidFill>
            <a:srgbClr val="0B68D4"/>
          </a:solidFill>
          <a:ln w="12700">
            <a:solidFill>
              <a:srgbClr val="0B68D4"/>
            </a:solidFill>
            <a:prstDash val="solid"/>
          </a:ln>
        </p:spPr>
        <p:txBody>
          <a:bodyPr/>
          <a:lstStyle/>
          <a:p>
            <a:endParaRPr lang="en-US"/>
          </a:p>
        </p:txBody>
      </p:sp>
      <p:sp>
        <p:nvSpPr>
          <p:cNvPr id="22" name="Text 20"/>
          <p:cNvSpPr/>
          <p:nvPr/>
        </p:nvSpPr>
        <p:spPr>
          <a:xfrm>
            <a:off x="3291840" y="2871216"/>
            <a:ext cx="2578608" cy="2029968"/>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Everything in Insight</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Churn / Attrition Mediation scores</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Account Opening Lifetime Value model</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Unlimited peer benchmarking + API</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AI Q&amp;A — unlimited queries</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CRM integration + outreach triggers</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Dedicated onboarding support</a:t>
            </a:r>
            <a:endParaRPr lang="en-US" sz="950" dirty="0"/>
          </a:p>
        </p:txBody>
      </p:sp>
      <p:sp>
        <p:nvSpPr>
          <p:cNvPr id="23" name="Shape 21"/>
          <p:cNvSpPr/>
          <p:nvPr/>
        </p:nvSpPr>
        <p:spPr>
          <a:xfrm>
            <a:off x="6089904" y="1207008"/>
            <a:ext cx="2788920" cy="3794760"/>
          </a:xfrm>
          <a:prstGeom prst="rect">
            <a:avLst/>
          </a:prstGeom>
          <a:solidFill>
            <a:srgbClr val="FFFFFF"/>
          </a:solidFill>
          <a:ln w="12700">
            <a:solidFill>
              <a:srgbClr val="E7ECF0"/>
            </a:solidFill>
            <a:prstDash val="solid"/>
          </a:ln>
          <a:effectLst>
            <a:outerShdw blurRad="101600" dist="38100" dir="8100000" algn="bl" rotWithShape="0">
              <a:srgbClr val="000000">
                <a:alpha val="10000"/>
              </a:srgbClr>
            </a:outerShdw>
          </a:effectLst>
        </p:spPr>
        <p:txBody>
          <a:bodyPr/>
          <a:lstStyle/>
          <a:p>
            <a:endParaRPr lang="en-US"/>
          </a:p>
        </p:txBody>
      </p:sp>
      <p:sp>
        <p:nvSpPr>
          <p:cNvPr id="24" name="Shape 22"/>
          <p:cNvSpPr/>
          <p:nvPr/>
        </p:nvSpPr>
        <p:spPr>
          <a:xfrm>
            <a:off x="6089904" y="1207008"/>
            <a:ext cx="2788920" cy="475488"/>
          </a:xfrm>
          <a:prstGeom prst="rect">
            <a:avLst/>
          </a:prstGeom>
          <a:solidFill>
            <a:srgbClr val="06185F"/>
          </a:solidFill>
          <a:ln w="12700">
            <a:solidFill>
              <a:srgbClr val="06185F"/>
            </a:solidFill>
            <a:prstDash val="solid"/>
          </a:ln>
        </p:spPr>
        <p:txBody>
          <a:bodyPr/>
          <a:lstStyle/>
          <a:p>
            <a:endParaRPr lang="en-US"/>
          </a:p>
        </p:txBody>
      </p:sp>
      <p:sp>
        <p:nvSpPr>
          <p:cNvPr id="25" name="Text 23"/>
          <p:cNvSpPr/>
          <p:nvPr/>
        </p:nvSpPr>
        <p:spPr>
          <a:xfrm>
            <a:off x="6227064" y="1252728"/>
            <a:ext cx="2514600" cy="384048"/>
          </a:xfrm>
          <a:prstGeom prst="rect">
            <a:avLst/>
          </a:prstGeom>
          <a:noFill/>
          <a:ln/>
        </p:spPr>
        <p:txBody>
          <a:bodyPr wrap="square" lIns="0" tIns="0" rIns="0" bIns="0" rtlCol="0" anchor="ctr"/>
          <a:lstStyle/>
          <a:p>
            <a:pPr marL="0" indent="0">
              <a:buNone/>
            </a:pPr>
            <a:r>
              <a:rPr lang="en-US" sz="1400" b="1" kern="0" spc="100" dirty="0">
                <a:solidFill>
                  <a:srgbClr val="FFFFFF"/>
                </a:solidFill>
                <a:latin typeface="Calibri" pitchFamily="34" charset="0"/>
                <a:ea typeface="Calibri" pitchFamily="34" charset="-122"/>
                <a:cs typeface="Calibri" pitchFamily="34" charset="-120"/>
              </a:rPr>
              <a:t>ENTERPRISE</a:t>
            </a:r>
            <a:endParaRPr lang="en-US" sz="1400" dirty="0"/>
          </a:p>
        </p:txBody>
      </p:sp>
      <p:sp>
        <p:nvSpPr>
          <p:cNvPr id="26" name="Text 24"/>
          <p:cNvSpPr/>
          <p:nvPr/>
        </p:nvSpPr>
        <p:spPr>
          <a:xfrm>
            <a:off x="6199632" y="1737360"/>
            <a:ext cx="2578608" cy="256032"/>
          </a:xfrm>
          <a:prstGeom prst="rect">
            <a:avLst/>
          </a:prstGeom>
          <a:noFill/>
          <a:ln/>
        </p:spPr>
        <p:txBody>
          <a:bodyPr wrap="square" lIns="0" tIns="0" rIns="0" bIns="0" rtlCol="0" anchor="ctr"/>
          <a:lstStyle/>
          <a:p>
            <a:pPr marL="0" indent="0">
              <a:buNone/>
            </a:pPr>
            <a:r>
              <a:rPr lang="en-US" sz="950" b="1" dirty="0">
                <a:solidFill>
                  <a:srgbClr val="06185F"/>
                </a:solidFill>
                <a:latin typeface="Calibri" pitchFamily="34" charset="0"/>
                <a:ea typeface="Calibri" pitchFamily="34" charset="-122"/>
                <a:cs typeface="Calibri" pitchFamily="34" charset="-120"/>
              </a:rPr>
              <a:t>$5B+ assets</a:t>
            </a:r>
            <a:endParaRPr lang="en-US" sz="950" dirty="0"/>
          </a:p>
        </p:txBody>
      </p:sp>
      <p:sp>
        <p:nvSpPr>
          <p:cNvPr id="27" name="Text 25"/>
          <p:cNvSpPr/>
          <p:nvPr/>
        </p:nvSpPr>
        <p:spPr>
          <a:xfrm>
            <a:off x="6199632" y="2011680"/>
            <a:ext cx="2578608" cy="502920"/>
          </a:xfrm>
          <a:prstGeom prst="rect">
            <a:avLst/>
          </a:prstGeom>
          <a:noFill/>
          <a:ln/>
        </p:spPr>
        <p:txBody>
          <a:bodyPr wrap="square" lIns="0" tIns="0" rIns="0" bIns="0" rtlCol="0" anchor="ctr"/>
          <a:lstStyle/>
          <a:p>
            <a:pPr marL="0" indent="0">
              <a:buNone/>
            </a:pPr>
            <a:r>
              <a:rPr lang="en-US" sz="2600" b="1" dirty="0">
                <a:solidFill>
                  <a:srgbClr val="085CE5"/>
                </a:solidFill>
                <a:latin typeface="Calibri" pitchFamily="34" charset="0"/>
                <a:ea typeface="Calibri" pitchFamily="34" charset="-122"/>
                <a:cs typeface="Calibri" pitchFamily="34" charset="-120"/>
              </a:rPr>
              <a:t>$10,000+</a:t>
            </a:r>
            <a:endParaRPr lang="en-US" sz="2600" dirty="0"/>
          </a:p>
        </p:txBody>
      </p:sp>
      <p:sp>
        <p:nvSpPr>
          <p:cNvPr id="28" name="Text 26"/>
          <p:cNvSpPr/>
          <p:nvPr/>
        </p:nvSpPr>
        <p:spPr>
          <a:xfrm>
            <a:off x="6199632" y="2523744"/>
            <a:ext cx="2578608" cy="228600"/>
          </a:xfrm>
          <a:prstGeom prst="rect">
            <a:avLst/>
          </a:prstGeom>
          <a:noFill/>
          <a:ln/>
        </p:spPr>
        <p:txBody>
          <a:bodyPr wrap="square" lIns="0" tIns="0" rIns="0" bIns="0" rtlCol="0" anchor="ctr"/>
          <a:lstStyle/>
          <a:p>
            <a:pPr marL="0" indent="0">
              <a:buNone/>
            </a:pPr>
            <a:r>
              <a:rPr lang="en-US" sz="950" dirty="0">
                <a:solidFill>
                  <a:srgbClr val="B6BBC0"/>
                </a:solidFill>
                <a:latin typeface="Calibri" pitchFamily="34" charset="0"/>
                <a:ea typeface="Calibri" pitchFamily="34" charset="-122"/>
                <a:cs typeface="Calibri" pitchFamily="34" charset="-120"/>
              </a:rPr>
              <a:t>/ month — custom scoped</a:t>
            </a:r>
            <a:endParaRPr lang="en-US" sz="950" dirty="0"/>
          </a:p>
        </p:txBody>
      </p:sp>
      <p:sp>
        <p:nvSpPr>
          <p:cNvPr id="29" name="Shape 27"/>
          <p:cNvSpPr/>
          <p:nvPr/>
        </p:nvSpPr>
        <p:spPr>
          <a:xfrm>
            <a:off x="6199632" y="2798064"/>
            <a:ext cx="2578608" cy="36576"/>
          </a:xfrm>
          <a:prstGeom prst="rect">
            <a:avLst/>
          </a:prstGeom>
          <a:solidFill>
            <a:srgbClr val="E7ECF0"/>
          </a:solidFill>
          <a:ln w="12700">
            <a:solidFill>
              <a:srgbClr val="E7ECF0"/>
            </a:solidFill>
            <a:prstDash val="solid"/>
          </a:ln>
        </p:spPr>
        <p:txBody>
          <a:bodyPr/>
          <a:lstStyle/>
          <a:p>
            <a:endParaRPr lang="en-US"/>
          </a:p>
        </p:txBody>
      </p:sp>
      <p:sp>
        <p:nvSpPr>
          <p:cNvPr id="30" name="Text 28"/>
          <p:cNvSpPr/>
          <p:nvPr/>
        </p:nvSpPr>
        <p:spPr>
          <a:xfrm>
            <a:off x="6199632" y="2871216"/>
            <a:ext cx="2578608" cy="2029968"/>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Everything in Intelligence</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Zelle Memo Intelligence pipeline</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Anomaly Detection (real-time streaming)</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White-labeled client-facing portal</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Full REST API suite + webhooks</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Custom model training on FI data</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Dedicated success manager</a:t>
            </a:r>
            <a:endParaRPr lang="en-US" sz="950" dirty="0"/>
          </a:p>
        </p:txBody>
      </p:sp>
      <p:sp>
        <p:nvSpPr>
          <p:cNvPr id="31" name="Text 29"/>
          <p:cNvSpPr/>
          <p:nvPr/>
        </p:nvSpPr>
        <p:spPr>
          <a:xfrm>
            <a:off x="365760" y="4992624"/>
            <a:ext cx="8412480" cy="201168"/>
          </a:xfrm>
          <a:prstGeom prst="rect">
            <a:avLst/>
          </a:prstGeom>
          <a:noFill/>
          <a:ln/>
        </p:spPr>
        <p:txBody>
          <a:bodyPr wrap="square" lIns="0" tIns="0" rIns="0" bIns="0" rtlCol="0" anchor="ctr"/>
          <a:lstStyle/>
          <a:p>
            <a:pPr marL="0" indent="0" algn="ctr">
              <a:buNone/>
            </a:pPr>
            <a:r>
              <a:rPr lang="en-US" sz="850" i="1" dirty="0">
                <a:solidFill>
                  <a:srgbClr val="B6BBC0"/>
                </a:solidFill>
                <a:latin typeface="Calibri" pitchFamily="34" charset="0"/>
                <a:ea typeface="Calibri" pitchFamily="34" charset="-122"/>
                <a:cs typeface="Calibri" pitchFamily="34" charset="-120"/>
              </a:rPr>
              <a:t>All tiers include: SOC 2 compliant data handling · NCUA 5300 + FFIEC base dataset · 99.9% SLA · Quarterly model updates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6466</Words>
  <Application>Microsoft Macintosh PowerPoint</Application>
  <PresentationFormat>On-screen Show (16:9)</PresentationFormat>
  <Paragraphs>711</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Adam Ames</cp:lastModifiedBy>
  <cp:revision>1</cp:revision>
  <dcterms:created xsi:type="dcterms:W3CDTF">2026-04-03T17:10:43Z</dcterms:created>
  <dcterms:modified xsi:type="dcterms:W3CDTF">2026-04-07T17:15:20Z</dcterms:modified>
</cp:coreProperties>
</file>