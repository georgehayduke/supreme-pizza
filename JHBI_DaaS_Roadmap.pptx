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DaaS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 Service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Roadmap  ·  Q4 FY26 – Q3 FY28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651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2651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FIs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DaaS — Two-Stage GCP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4069080" cy="4297680"/>
          </a:xfrm>
          <a:prstGeom prst="rect">
            <a:avLst/>
          </a:prstGeom>
          <a:solidFill>
            <a:srgbClr val="EBF5FF"/>
          </a:solidFill>
          <a:ln w="19050">
            <a:solidFill>
              <a:srgbClr val="1E4D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658368"/>
            <a:ext cx="4069080" cy="38404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6583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JH Internal Data Lake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0698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GCP Project  ·  JH-internal use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" y="1444752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8988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 Lake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62763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Bronze/Silver/Gold layers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019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Data Catalog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13969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discoverable, audit-ready data assets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2468880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41401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26517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+ anonymized data for dev/QA environments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" y="2980944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2608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Streaming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31638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from all JH payment + core systems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" y="3493008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3814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Lineage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367588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+ Alation lineage tracking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" y="4005072"/>
            <a:ext cx="128016" cy="128016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95020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DS Tooling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41879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MLflow · Feature Store · Experiment tracking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70832" y="2798064"/>
            <a:ext cx="402336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70832" y="290779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818888" y="658368"/>
            <a:ext cx="4069080" cy="4297680"/>
          </a:xfrm>
          <a:prstGeom prst="rect">
            <a:avLst/>
          </a:prstGeom>
          <a:solidFill>
            <a:srgbClr val="F0FF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658368"/>
            <a:ext cx="40690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6583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Single-Tenant FI Projects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10698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GCP Project  ·  Complete data isolation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144475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138988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Data Lake (BigQuery)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84648" y="162763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FI-scoped Bronze/Silver/Gold · core + payments + Banno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195681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19019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84648" y="213969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banker UI: score explorer, thresholds, NL2SQL, export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83480" y="246888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241401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Catalog (per-FI)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84648" y="26517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FI-branded data dictionary · lineage · governance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298094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4648" y="292608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84648" y="31638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dedup + household linking across FI data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83480" y="349300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84648" y="343814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+ NL2Insight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84648" y="367588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queries → narrative insights (Gemini)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83480" y="400507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4648" y="395020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App Suite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84648" y="41879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· Zelle Memo · CommercialSignal + 4 more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DaaS · Master Roadmap — Q4 FY26 through Q3 FY28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548640"/>
            <a:ext cx="932688" cy="21945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54864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340864" y="548640"/>
            <a:ext cx="190195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0864" y="548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1+2 BUILD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279392" y="548640"/>
            <a:ext cx="190195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9392" y="548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AI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17920" y="548640"/>
            <a:ext cx="287121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54864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0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40864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10128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79392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248656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17920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187184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156448" y="786384"/>
            <a:ext cx="932688" cy="365760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7863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1188720"/>
            <a:ext cx="1335024" cy="437083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1188720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71600" y="1280160"/>
            <a:ext cx="7699248" cy="274320"/>
          </a:xfrm>
          <a:prstGeom prst="rect">
            <a:avLst/>
          </a:prstGeom>
          <a:solidFill>
            <a:srgbClr val="1E4D8C">
              <a:alpha val="70000"/>
            </a:srgbClr>
          </a:solidFill>
          <a:ln w="12700">
            <a:solidFill>
              <a:srgbClr val="1E4D8C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4752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29400" y="12984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1625803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662379"/>
            <a:ext cx="1335024" cy="437083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1662379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371600" y="1753819"/>
            <a:ext cx="7699248" cy="274320"/>
          </a:xfrm>
          <a:prstGeom prst="rect">
            <a:avLst/>
          </a:prstGeom>
          <a:solidFill>
            <a:srgbClr val="BE123C">
              <a:alpha val="70000"/>
            </a:srgbClr>
          </a:solidFill>
          <a:ln w="12700">
            <a:solidFill>
              <a:srgbClr val="BE123C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44752" y="1753819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29400" y="1772107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2099462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136038"/>
            <a:ext cx="1335024" cy="43708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2136038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371600" y="2227478"/>
            <a:ext cx="7699248" cy="274320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4752" y="222747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29400" y="224576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2573122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2609698"/>
            <a:ext cx="1335024" cy="43708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2609698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371600" y="2701138"/>
            <a:ext cx="7699248" cy="27432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44752" y="270113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29400" y="271942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0" y="3046781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083357"/>
            <a:ext cx="1335024" cy="43708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3083357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371600" y="3174797"/>
            <a:ext cx="7699248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44752" y="3174797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629400" y="3193085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3520440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3557016"/>
            <a:ext cx="1335024" cy="43708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0" y="3557016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71600" y="3648456"/>
            <a:ext cx="7699248" cy="27432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44752" y="36484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29400" y="366674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71600" y="3994099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4030675"/>
            <a:ext cx="1335024" cy="437083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030675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AI/NLP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371600" y="4122115"/>
            <a:ext cx="7699248" cy="27432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1D4ED8">
                <a:alpha val="8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44752" y="4122115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629400" y="4140403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71600" y="4467758"/>
            <a:ext cx="7699248" cy="0"/>
          </a:xfrm>
          <a:prstGeom prst="line">
            <a:avLst/>
          </a:prstGeom>
          <a:noFill/>
          <a:ln w="6350">
            <a:solidFill>
              <a:srgbClr val="D1D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4504334"/>
            <a:ext cx="1335024" cy="43708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0" y="4504334"/>
            <a:ext cx="1335024" cy="437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APPS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371600" y="4595774"/>
            <a:ext cx="7699248" cy="274320"/>
          </a:xfrm>
          <a:prstGeom prst="rect">
            <a:avLst/>
          </a:prstGeom>
          <a:solidFill>
            <a:srgbClr val="0F766E">
              <a:alpha val="70000"/>
            </a:srgbClr>
          </a:solidFill>
          <a:ln w="12700">
            <a:solidFill>
              <a:srgbClr val="0F766E">
                <a:alpha val="8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44752" y="459577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29400" y="461406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 ·  Stage 1+2 Launch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&amp; 2 PARALLEL LAUNCH  ·  GCP setup · Legal framework · Team hiring begins · App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shared project · VPC/networking · BigQuery lake schema · Stage 2 single-tenant project template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inventory completed · DLP policy design · tokenization architecture · data residency requirements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templates drafted · FI data rights framework · NCUA/FFIEC compliance review initiated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license procured · shared project catalog setup · BI tool selection (Looker/Tableau)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FTE hiring plan finalized · JDs posted · recruiting vendors engaged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architecture · NL2SQL design (Vertex AI/Gemini) · LLM evaluation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ACH/payment rail connector specs · Pub/Sub streaming design · ingestion architecture for Stage 1+2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+ CatBoost + XGBoost framework · SHAP explainability layer · Stage 2 ML pipeline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 ·  First Data Flowing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September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First ingestion live · STAGE 2: Pilot FI projects provisioned · Team onboarding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· Pub/Sub streaming live · Vertex AI platform · Stage 2: 3 pilot FI projects provisioned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live for payment data · PII masking in BigQuery · SOC 2 Type II prep begins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 MSAs signed (3–5 FIs) · data sharing agreements · SR 11-7 model risk documentation started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cataloging all ingested data assets · first exec KPI dashboards deployed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hires onboarded: DS Lead · 2× Data Eng · 2× ML Eng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MVP — customer dedup across payment data · internal testing begins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+ Zelle pipelines live in Stage 1 (BigQuery) · same feeds mirrored to Stage 2 FI projects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ACH Phase 1 deployed to pilot FI Stage 2 projects · SHAP scores live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  ·  Core Banking + Portal Alpha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– December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All payment rails + core banking · STAGE 2: 5–10 FIs · Self-service portal alpha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Monitoring/observability (Datadog/GCP ops) · autoscaling · Stage 2 expanded to 10 FI projects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PII handling · column-level encryption · audit logging · FI-level data isolation verified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agreements executed for 10 FIs · FFIEC attestation in progress · model cards drafted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self-service portal alpha · banker score explorer MVP · drift monitoring dashboards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13 FTE team onboarded · onboarding ramp complete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MVP — natural language → BigQuery · internal analyst testing · entity resolution to production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rails live (Wires, iPay, SmartPay, Payrailz) · Core Banking (jhaEnterprise/Symitar) pipeline begins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 + CommercialSignal deployed to Stage 2 · CatBoost models in production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  ·  Core Banking Live + AI MVP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Core banking fully operational · STAGE 2: 20+ FIs · NL2SQL + NL2Insight to FI portal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platform (Vertex Pipelines + model registry) · drift monitoring · Stage 2: 25 FI projects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audit window · data retention policies live · FI-level isolation pen-tested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audit begins · NCUA examination readiness · SR 11-7 documentation complete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portal beta · Alation fully cataloged · NL-powered report generation MVP · benchmarking views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steady state · backfill planning for Year 2 growth roles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NL2Insight MVP — narrative summaries from data · FI portal AI assistant beta · entity resolution GA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 live in Stage 1 · Banno digital pipeline design begins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Sentinel+ (Core + digital signals) · Gen. Wealth Deflection deployed · XGBoost ensemble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  ·  Banno Live + AI 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All data sources live · STAGE 2: 50 FIs · NL2SQL + NL2Insight GA · AI copilot in portal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GCP config · HA/DR runbooks · Stage 2: 50 FI projects · infrastructure cost baseline 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report issued · continuous compliance monitoring dashboard live · NCUA exam ready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complete · full legal stack for commercial launch · bundle pricing agreements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portal GA · NL2SQL + NL2Insight live in portal · full self-service analytics for FIs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hiring plan (scale roles: ADS x2, API Dev x1) · contractor pipeline refreshed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+ NL2Insight GA · AI copilot embedded in FI dashboards · proactive anomaly narration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 data live in Stage 1 + Stage 2 · all 5 JH data layers operational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FI Decision Studio GA · AutoGluon unsupervised → supervised pipeline live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FY28  ·  $1.25M ARR Milestone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September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100 FIs · Full app suite live · $1.25M ARR · AI-powered recommendations in production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scale HA/DR · Stage 2: 100+ FI projects · GCP cost optimization · shared infrastructure efficiencies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compliance audit · FI penetration testing · data residency audit across 100 Stage 2 projects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 audits · FI-level data rights renewals · open data legal framework (NCUA 5300)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 suite · FI benchmarking live · embedded analytics in JH platform surface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contractors for scale (Data Eng x2, ML Eng x1) · specialist roles for Horizon apps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AI: proactive insights, Next Best Action recommendations · AI copilot fully embedded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aggregated intelligence layer · anonymized benchmarking feeds · NCUA 5300 open data begins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Full suite 5 apps live · $1.25M ARR · 102 FI subscriptions · 6.1% penetration of 1,660 FI base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  ·  Horizon Apps +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– December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200 FIs · Horizon pipeline apps launching · Bundle pricing · $1.64M ARR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200 FI projects · platform optimization · per-FI cost targets met · shared service efficiencies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examination cycle · FI-by-FI compliance dashboard · ongoing pen testing cadence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Bundle/Intelligence+ pricing agreements · data marketplace legal framework · FI co-selling agreements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 dashboards · white-label portal for larger FIs · embedded benchmarking in JH platform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 full Year 2 scale · Horizon app specialists onboarded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at scale · NL2Insight cross-FI narratives · copilot usage analytics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SLAs enforced (99.9% pipeline uptime) · automated lineage tracking via Alation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apps: Cross-Sell Propensity · Fraud Ring Detection · Deposit Runoff · $1.64M ARR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FY28  ·  Full Platform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03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300+ FIs · Open data expansion · Year 2 bundle pricing live · Horizon pipeline in GA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804672"/>
            <a:ext cx="91440" cy="960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infra (GCP AI Hypercomputer for model training at scale) · open data infrastructure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6809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04672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04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115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framework operational · continuous FedRAMP alignment · multi-cloud data residency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" y="1856232"/>
            <a:ext cx="91440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legal frameworks (NCUA 5300, FFIEC public data) · Horizon app MSAs · Year 3 planning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56232"/>
            <a:ext cx="9144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56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reporting: predictive benchmarks · FI peer analysis · board-ready AI narrative 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" y="2907792"/>
            <a:ext cx="914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Staffing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hiring plan · specialist AI/ML roles · FI success manager team buildout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407408" cy="1033272"/>
          </a:xfrm>
          <a:prstGeom prst="rect">
            <a:avLst/>
          </a:prstGeom>
          <a:solidFill>
            <a:srgbClr val="F8FAFD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9144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907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copilot in FI portal · LLM fine-tuning on JH FI domain · multi-modal insights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" y="3959352"/>
            <a:ext cx="914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5300 open data pipeline · external FI data partnerships · data marketplace connectors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959352"/>
            <a:ext cx="9144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959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apps GA: Cross-Sell · Fraud Ring · Deposit Runoff · Overdraft · Sentiment · Year 3 roadmap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35424" y="768096"/>
            <a:ext cx="0" cy="4169664"/>
          </a:xfrm>
          <a:prstGeom prst="line">
            <a:avLst/>
          </a:prstGeom>
          <a:noFill/>
          <a:ln w="10160">
            <a:solidFill>
              <a:srgbClr val="D1D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DaaS Platform — Quarterly Roadmap</dc:title>
  <dc:subject>PptxGenJS Presentation</dc:subject>
  <dc:creator>PptxGenJS</dc:creator>
  <cp:lastModifiedBy>PptxGenJS</cp:lastModifiedBy>
  <cp:revision>1</cp:revision>
  <dcterms:created xsi:type="dcterms:W3CDTF">2026-05-26T01:55:35Z</dcterms:created>
  <dcterms:modified xsi:type="dcterms:W3CDTF">2026-05-26T01:55:35Z</dcterms:modified>
</cp:coreProperties>
</file>