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 let this land before moving on. Every banker in the room has lived this. Don't rush past it.
The point: legacy cores are built around accounts and products. They process transactions brilliantly. But they weren't designed to understand that Robert Johnson, Bob Johnson, and R.J. Johnson LLC are the same human being with one unified relationship with your institution.
This sets up the 'why' before you introduce the 'what' of identity-first.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Walk slowly through the golden record.
Key talking points:
1. Same SSN appears across all five systems — JHBI uses that plus behavioral matching to create the golden record.
2. 'Business Owner: YES' is the unlock. That single insight was invisible when the data was fragmented. Now a banker can proactively reach out about a business checking account or SBA loan.
3. The total relationship value of $562K is unknowable without this. How do you calculate the profitability of a customer relationship if your systems think they're four different customers?
Pause on 'Business Owner: YES' — it's worth emphasizing that a meaningful percentage of retail checking customers are small business owners who are banking their business elsewhere. You can't find them without this.
TRANSITION: 'Account-centric data tells you what happened to a product. Identity-first data tells you what's happening to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unlocks — emphasis on #2 (SMB detection) as the highest-value analytics use case for community FIs.
Key point: none of these five things are analytics features. They're all business outcomes — relationship profitability, new revenue from SMB detection, reduced churn, better personalization, regulatory confidence. Identity first is the foundation that makes them possible, not an end in itself.
Close with the soundbite: 'Account-centric data tells you what happened to a product. Identity-first data tells you what's happening to a customer. Community banking is a relationship business — your data model should be too.'
TRANSITION: 'Identity first isn't a feature of JHBI. It's the reason every other feature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2D4E"/>
          </a:solidFill>
          <a:ln w="12700">
            <a:solidFill>
              <a:srgbClr val="1E2D4E"/>
            </a:solidFill>
            <a:prstDash val="solid"/>
          </a:ln>
        </p:spPr>
      </p:sp>
      <p:sp>
        <p:nvSpPr>
          <p:cNvPr id="3" name="Text 1"/>
          <p:cNvSpPr/>
          <p:nvPr/>
        </p:nvSpPr>
        <p:spPr>
          <a:xfrm>
            <a:off x="365760" y="64008"/>
            <a:ext cx="8412480" cy="402336"/>
          </a:xfrm>
          <a:prstGeom prst="rect">
            <a:avLst/>
          </a:prstGeom>
          <a:noFill/>
          <a:ln/>
        </p:spPr>
        <p:txBody>
          <a:bodyPr wrap="square" lIns="0" tIns="0" rIns="0" bIns="0" rtlCol="0" anchor="ctr"/>
          <a:lstStyle/>
          <a:p>
            <a:pPr algn="l" indent="0" marL="0">
              <a:buNone/>
            </a:pPr>
            <a:r>
              <a:rPr lang="en-US" sz="1100" b="1" spc="400" kern="0" dirty="0">
                <a:solidFill>
                  <a:srgbClr val="02C39A"/>
                </a:solidFill>
              </a:rPr>
              <a:t>JHBI  |  IDENTITY FIRST DATA MODEL</a:t>
            </a:r>
            <a:endParaRPr lang="en-US" sz="1100" dirty="0"/>
          </a:p>
        </p:txBody>
      </p:sp>
      <p:sp>
        <p:nvSpPr>
          <p:cNvPr id="4" name="Shape 2"/>
          <p:cNvSpPr/>
          <p:nvPr/>
        </p:nvSpPr>
        <p:spPr>
          <a:xfrm>
            <a:off x="0" y="530352"/>
            <a:ext cx="201168" cy="4613148"/>
          </a:xfrm>
          <a:prstGeom prst="rect">
            <a:avLst/>
          </a:prstGeom>
          <a:solidFill>
            <a:srgbClr val="028090"/>
          </a:solidFill>
          <a:ln w="12700">
            <a:solidFill>
              <a:srgbClr val="028090"/>
            </a:solidFill>
            <a:prstDash val="solid"/>
          </a:ln>
        </p:spPr>
      </p:sp>
      <p:sp>
        <p:nvSpPr>
          <p:cNvPr id="5" name="Text 3"/>
          <p:cNvSpPr/>
          <p:nvPr/>
        </p:nvSpPr>
        <p:spPr>
          <a:xfrm>
            <a:off x="411480" y="685800"/>
            <a:ext cx="8412480" cy="91440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How many times have you looked up a customer and found three different records?</a:t>
            </a:r>
            <a:endParaRPr lang="en-US" sz="2800" dirty="0"/>
          </a:p>
        </p:txBody>
      </p:sp>
      <p:sp>
        <p:nvSpPr>
          <p:cNvPr id="6" name="Shape 4"/>
          <p:cNvSpPr/>
          <p:nvPr/>
        </p:nvSpPr>
        <p:spPr>
          <a:xfrm>
            <a:off x="411480" y="1755648"/>
            <a:ext cx="2606040" cy="1325880"/>
          </a:xfrm>
          <a:prstGeom prst="rect">
            <a:avLst/>
          </a:prstGeom>
          <a:solidFill>
            <a:srgbClr val="253B5E"/>
          </a:solidFill>
          <a:ln w="12700">
            <a:solidFill>
              <a:srgbClr val="028090"/>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411480" y="1755648"/>
            <a:ext cx="2606040" cy="91440"/>
          </a:xfrm>
          <a:prstGeom prst="rect">
            <a:avLst/>
          </a:prstGeom>
          <a:solidFill>
            <a:srgbClr val="028090"/>
          </a:solidFill>
          <a:ln w="12700">
            <a:solidFill>
              <a:srgbClr val="028090"/>
            </a:solidFill>
            <a:prstDash val="solid"/>
          </a:ln>
        </p:spPr>
      </p:sp>
      <p:sp>
        <p:nvSpPr>
          <p:cNvPr id="8" name="Text 6"/>
          <p:cNvSpPr/>
          <p:nvPr/>
        </p:nvSpPr>
        <p:spPr>
          <a:xfrm>
            <a:off x="521208" y="1865376"/>
            <a:ext cx="2377440" cy="274320"/>
          </a:xfrm>
          <a:prstGeom prst="rect">
            <a:avLst/>
          </a:prstGeom>
          <a:noFill/>
          <a:ln/>
        </p:spPr>
        <p:txBody>
          <a:bodyPr wrap="square" lIns="0" tIns="0" rIns="0" bIns="0" rtlCol="0" anchor="ctr"/>
          <a:lstStyle/>
          <a:p>
            <a:pPr indent="0" marL="0">
              <a:buNone/>
            </a:pPr>
            <a:r>
              <a:rPr lang="en-US" sz="1000" b="1" spc="200" kern="0" dirty="0">
                <a:solidFill>
                  <a:srgbClr val="94A3B8"/>
                </a:solidFill>
              </a:rPr>
              <a:t>Core Banking</a:t>
            </a:r>
            <a:endParaRPr lang="en-US" sz="1000" dirty="0"/>
          </a:p>
        </p:txBody>
      </p:sp>
      <p:sp>
        <p:nvSpPr>
          <p:cNvPr id="9" name="Text 7"/>
          <p:cNvSpPr/>
          <p:nvPr/>
        </p:nvSpPr>
        <p:spPr>
          <a:xfrm>
            <a:off x="521208" y="2157984"/>
            <a:ext cx="2377440" cy="47548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"Robert Johnson"</a:t>
            </a:r>
            <a:endParaRPr lang="en-US" sz="1700" dirty="0"/>
          </a:p>
        </p:txBody>
      </p:sp>
      <p:sp>
        <p:nvSpPr>
          <p:cNvPr id="10" name="Text 8"/>
          <p:cNvSpPr/>
          <p:nvPr/>
        </p:nvSpPr>
        <p:spPr>
          <a:xfrm>
            <a:off x="521208" y="2651760"/>
            <a:ext cx="2377440" cy="347472"/>
          </a:xfrm>
          <a:prstGeom prst="rect">
            <a:avLst/>
          </a:prstGeom>
          <a:noFill/>
          <a:ln/>
        </p:spPr>
        <p:txBody>
          <a:bodyPr wrap="square" lIns="0" tIns="0" rIns="0" bIns="0" rtlCol="0" anchor="ctr"/>
          <a:lstStyle/>
          <a:p>
            <a:pPr indent="0" marL="0">
              <a:buNone/>
            </a:pPr>
            <a:r>
              <a:rPr lang="en-US" sz="1100" i="1" dirty="0">
                <a:solidFill>
                  <a:srgbClr val="94A3B8"/>
                </a:solidFill>
              </a:rPr>
              <a:t>Checking Account #4421</a:t>
            </a:r>
            <a:endParaRPr lang="en-US" sz="1100" dirty="0"/>
          </a:p>
        </p:txBody>
      </p:sp>
      <p:sp>
        <p:nvSpPr>
          <p:cNvPr id="11" name="Shape 9"/>
          <p:cNvSpPr/>
          <p:nvPr/>
        </p:nvSpPr>
        <p:spPr>
          <a:xfrm>
            <a:off x="3246120" y="1755648"/>
            <a:ext cx="2606040" cy="1325880"/>
          </a:xfrm>
          <a:prstGeom prst="rect">
            <a:avLst/>
          </a:prstGeom>
          <a:solidFill>
            <a:srgbClr val="253B5E"/>
          </a:solidFill>
          <a:ln w="12700">
            <a:solidFill>
              <a:srgbClr val="028090"/>
            </a:solidFill>
            <a:prstDash val="solid"/>
          </a:ln>
          <a:effectLst>
            <a:outerShdw sx="100000" sy="100000" kx="0" ky="0" algn="bl" rotWithShape="0" blurRad="63500" dist="25400" dir="8100000">
              <a:srgbClr val="000000">
                <a:alpha val="10000"/>
              </a:srgbClr>
            </a:outerShdw>
          </a:effectLst>
        </p:spPr>
      </p:sp>
      <p:sp>
        <p:nvSpPr>
          <p:cNvPr id="12" name="Shape 10"/>
          <p:cNvSpPr/>
          <p:nvPr/>
        </p:nvSpPr>
        <p:spPr>
          <a:xfrm>
            <a:off x="3246120" y="1755648"/>
            <a:ext cx="2606040" cy="91440"/>
          </a:xfrm>
          <a:prstGeom prst="rect">
            <a:avLst/>
          </a:prstGeom>
          <a:solidFill>
            <a:srgbClr val="028090"/>
          </a:solidFill>
          <a:ln w="12700">
            <a:solidFill>
              <a:srgbClr val="028090"/>
            </a:solidFill>
            <a:prstDash val="solid"/>
          </a:ln>
        </p:spPr>
      </p:sp>
      <p:sp>
        <p:nvSpPr>
          <p:cNvPr id="13" name="Text 11"/>
          <p:cNvSpPr/>
          <p:nvPr/>
        </p:nvSpPr>
        <p:spPr>
          <a:xfrm>
            <a:off x="3355848" y="1865376"/>
            <a:ext cx="2377440" cy="274320"/>
          </a:xfrm>
          <a:prstGeom prst="rect">
            <a:avLst/>
          </a:prstGeom>
          <a:noFill/>
          <a:ln/>
        </p:spPr>
        <p:txBody>
          <a:bodyPr wrap="square" lIns="0" tIns="0" rIns="0" bIns="0" rtlCol="0" anchor="ctr"/>
          <a:lstStyle/>
          <a:p>
            <a:pPr indent="0" marL="0">
              <a:buNone/>
            </a:pPr>
            <a:r>
              <a:rPr lang="en-US" sz="1000" b="1" spc="200" kern="0" dirty="0">
                <a:solidFill>
                  <a:srgbClr val="94A3B8"/>
                </a:solidFill>
              </a:rPr>
              <a:t>Mortgage System</a:t>
            </a:r>
            <a:endParaRPr lang="en-US" sz="1000" dirty="0"/>
          </a:p>
        </p:txBody>
      </p:sp>
      <p:sp>
        <p:nvSpPr>
          <p:cNvPr id="14" name="Text 12"/>
          <p:cNvSpPr/>
          <p:nvPr/>
        </p:nvSpPr>
        <p:spPr>
          <a:xfrm>
            <a:off x="3355848" y="2157984"/>
            <a:ext cx="2377440" cy="47548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"Bob Johnson"</a:t>
            </a:r>
            <a:endParaRPr lang="en-US" sz="1700" dirty="0"/>
          </a:p>
        </p:txBody>
      </p:sp>
      <p:sp>
        <p:nvSpPr>
          <p:cNvPr id="15" name="Text 13"/>
          <p:cNvSpPr/>
          <p:nvPr/>
        </p:nvSpPr>
        <p:spPr>
          <a:xfrm>
            <a:off x="3355848" y="2651760"/>
            <a:ext cx="2377440" cy="347472"/>
          </a:xfrm>
          <a:prstGeom prst="rect">
            <a:avLst/>
          </a:prstGeom>
          <a:noFill/>
          <a:ln/>
        </p:spPr>
        <p:txBody>
          <a:bodyPr wrap="square" lIns="0" tIns="0" rIns="0" bIns="0" rtlCol="0" anchor="ctr"/>
          <a:lstStyle/>
          <a:p>
            <a:pPr indent="0" marL="0">
              <a:buNone/>
            </a:pPr>
            <a:r>
              <a:rPr lang="en-US" sz="1100" i="1" dirty="0">
                <a:solidFill>
                  <a:srgbClr val="94A3B8"/>
                </a:solidFill>
              </a:rPr>
              <a:t>Mortgage #8819</a:t>
            </a:r>
            <a:endParaRPr lang="en-US" sz="1100" dirty="0"/>
          </a:p>
        </p:txBody>
      </p:sp>
      <p:sp>
        <p:nvSpPr>
          <p:cNvPr id="16" name="Shape 14"/>
          <p:cNvSpPr/>
          <p:nvPr/>
        </p:nvSpPr>
        <p:spPr>
          <a:xfrm>
            <a:off x="6080760" y="1755648"/>
            <a:ext cx="2606040" cy="1325880"/>
          </a:xfrm>
          <a:prstGeom prst="rect">
            <a:avLst/>
          </a:prstGeom>
          <a:solidFill>
            <a:srgbClr val="253B5E"/>
          </a:solidFill>
          <a:ln w="12700">
            <a:solidFill>
              <a:srgbClr val="028090"/>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6080760" y="1755648"/>
            <a:ext cx="2606040" cy="91440"/>
          </a:xfrm>
          <a:prstGeom prst="rect">
            <a:avLst/>
          </a:prstGeom>
          <a:solidFill>
            <a:srgbClr val="028090"/>
          </a:solidFill>
          <a:ln w="12700">
            <a:solidFill>
              <a:srgbClr val="028090"/>
            </a:solidFill>
            <a:prstDash val="solid"/>
          </a:ln>
        </p:spPr>
      </p:sp>
      <p:sp>
        <p:nvSpPr>
          <p:cNvPr id="18" name="Text 16"/>
          <p:cNvSpPr/>
          <p:nvPr/>
        </p:nvSpPr>
        <p:spPr>
          <a:xfrm>
            <a:off x="6190488" y="1865376"/>
            <a:ext cx="2377440" cy="274320"/>
          </a:xfrm>
          <a:prstGeom prst="rect">
            <a:avLst/>
          </a:prstGeom>
          <a:noFill/>
          <a:ln/>
        </p:spPr>
        <p:txBody>
          <a:bodyPr wrap="square" lIns="0" tIns="0" rIns="0" bIns="0" rtlCol="0" anchor="ctr"/>
          <a:lstStyle/>
          <a:p>
            <a:pPr indent="0" marL="0">
              <a:buNone/>
            </a:pPr>
            <a:r>
              <a:rPr lang="en-US" sz="1000" b="1" spc="200" kern="0" dirty="0">
                <a:solidFill>
                  <a:srgbClr val="94A3B8"/>
                </a:solidFill>
              </a:rPr>
              <a:t>Business Accounts</a:t>
            </a:r>
            <a:endParaRPr lang="en-US" sz="1000" dirty="0"/>
          </a:p>
        </p:txBody>
      </p:sp>
      <p:sp>
        <p:nvSpPr>
          <p:cNvPr id="19" name="Text 17"/>
          <p:cNvSpPr/>
          <p:nvPr/>
        </p:nvSpPr>
        <p:spPr>
          <a:xfrm>
            <a:off x="6190488" y="2157984"/>
            <a:ext cx="2377440" cy="47548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"R.J. Johnson LLC"</a:t>
            </a:r>
            <a:endParaRPr lang="en-US" sz="1700" dirty="0"/>
          </a:p>
        </p:txBody>
      </p:sp>
      <p:sp>
        <p:nvSpPr>
          <p:cNvPr id="20" name="Text 18"/>
          <p:cNvSpPr/>
          <p:nvPr/>
        </p:nvSpPr>
        <p:spPr>
          <a:xfrm>
            <a:off x="6190488" y="2651760"/>
            <a:ext cx="2377440" cy="347472"/>
          </a:xfrm>
          <a:prstGeom prst="rect">
            <a:avLst/>
          </a:prstGeom>
          <a:noFill/>
          <a:ln/>
        </p:spPr>
        <p:txBody>
          <a:bodyPr wrap="square" lIns="0" tIns="0" rIns="0" bIns="0" rtlCol="0" anchor="ctr"/>
          <a:lstStyle/>
          <a:p>
            <a:pPr indent="0" marL="0">
              <a:buNone/>
            </a:pPr>
            <a:r>
              <a:rPr lang="en-US" sz="1100" i="1" dirty="0">
                <a:solidFill>
                  <a:srgbClr val="94A3B8"/>
                </a:solidFill>
              </a:rPr>
              <a:t>Line of Credit #2201</a:t>
            </a:r>
            <a:endParaRPr lang="en-US" sz="1100" dirty="0"/>
          </a:p>
        </p:txBody>
      </p:sp>
      <p:sp>
        <p:nvSpPr>
          <p:cNvPr id="21" name="Shape 19"/>
          <p:cNvSpPr/>
          <p:nvPr/>
        </p:nvSpPr>
        <p:spPr>
          <a:xfrm>
            <a:off x="411480" y="3218688"/>
            <a:ext cx="8321040" cy="566928"/>
          </a:xfrm>
          <a:prstGeom prst="rect">
            <a:avLst/>
          </a:prstGeom>
          <a:solidFill>
            <a:srgbClr val="8B0000"/>
          </a:solidFill>
          <a:ln w="12700">
            <a:solidFill>
              <a:srgbClr val="C0392B"/>
            </a:solidFill>
            <a:prstDash val="solid"/>
          </a:ln>
        </p:spPr>
      </p:sp>
      <p:sp>
        <p:nvSpPr>
          <p:cNvPr id="22" name="Text 20"/>
          <p:cNvSpPr/>
          <p:nvPr/>
        </p:nvSpPr>
        <p:spPr>
          <a:xfrm>
            <a:off x="548640" y="3255264"/>
            <a:ext cx="8138160"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Your system has no idea they're the same person.</a:t>
            </a:r>
            <a:endParaRPr lang="en-US" sz="2000" dirty="0"/>
          </a:p>
        </p:txBody>
      </p:sp>
      <p:sp>
        <p:nvSpPr>
          <p:cNvPr id="23" name="Shape 21"/>
          <p:cNvSpPr/>
          <p:nvPr/>
        </p:nvSpPr>
        <p:spPr>
          <a:xfrm>
            <a:off x="411480" y="3913632"/>
            <a:ext cx="3657600" cy="36576"/>
          </a:xfrm>
          <a:prstGeom prst="rect">
            <a:avLst/>
          </a:prstGeom>
          <a:solidFill>
            <a:srgbClr val="028090"/>
          </a:solidFill>
          <a:ln w="12700">
            <a:solidFill>
              <a:srgbClr val="028090"/>
            </a:solidFill>
            <a:prstDash val="solid"/>
          </a:ln>
        </p:spPr>
      </p:sp>
      <p:sp>
        <p:nvSpPr>
          <p:cNvPr id="24" name="Text 22"/>
          <p:cNvSpPr/>
          <p:nvPr/>
        </p:nvSpPr>
        <p:spPr>
          <a:xfrm>
            <a:off x="411480" y="4005072"/>
            <a:ext cx="8321040" cy="347472"/>
          </a:xfrm>
          <a:prstGeom prst="rect">
            <a:avLst/>
          </a:prstGeom>
          <a:noFill/>
          <a:ln/>
        </p:spPr>
        <p:txBody>
          <a:bodyPr wrap="square" lIns="0" tIns="0" rIns="0" bIns="0" rtlCol="0" anchor="ctr"/>
          <a:lstStyle/>
          <a:p>
            <a:pPr algn="l" indent="0" marL="0">
              <a:buNone/>
            </a:pPr>
            <a:r>
              <a:rPr lang="en-US" sz="1700" i="1" dirty="0">
                <a:solidFill>
                  <a:srgbClr val="94A3B8"/>
                </a:solidFill>
                <a:latin typeface="Georgia" pitchFamily="34" charset="0"/>
                <a:ea typeface="Georgia" pitchFamily="34" charset="-122"/>
                <a:cs typeface="Georgia" pitchFamily="34" charset="-120"/>
              </a:rPr>
              <a:t>That's not a data quality problem.</a:t>
            </a:r>
            <a:endParaRPr lang="en-US" sz="1700" dirty="0"/>
          </a:p>
        </p:txBody>
      </p:sp>
      <p:sp>
        <p:nvSpPr>
          <p:cNvPr id="25" name="Text 23"/>
          <p:cNvSpPr/>
          <p:nvPr/>
        </p:nvSpPr>
        <p:spPr>
          <a:xfrm>
            <a:off x="411480" y="4352544"/>
            <a:ext cx="8321040" cy="420624"/>
          </a:xfrm>
          <a:prstGeom prst="rect">
            <a:avLst/>
          </a:prstGeom>
          <a:noFill/>
          <a:ln/>
        </p:spPr>
        <p:txBody>
          <a:bodyPr wrap="square" lIns="0" tIns="0" rIns="0" bIns="0" rtlCol="0" anchor="ctr"/>
          <a:lstStyle/>
          <a:p>
            <a:pPr algn="l" indent="0" marL="0">
              <a:buNone/>
            </a:pPr>
            <a:r>
              <a:rPr lang="en-US" sz="2200" b="1" dirty="0">
                <a:solidFill>
                  <a:srgbClr val="02C39A"/>
                </a:solidFill>
                <a:latin typeface="Georgia" pitchFamily="34" charset="0"/>
                <a:ea typeface="Georgia" pitchFamily="34" charset="-122"/>
                <a:cs typeface="Georgia" pitchFamily="34" charset="-120"/>
              </a:rPr>
              <a:t>That's an identity problem.</a:t>
            </a:r>
            <a:endParaRPr lang="en-US" sz="2200" dirty="0"/>
          </a:p>
        </p:txBody>
      </p:sp>
      <p:sp>
        <p:nvSpPr>
          <p:cNvPr id="27" name="Text 24"/>
          <p:cNvSpPr/>
          <p:nvPr/>
        </p:nvSpPr>
        <p:spPr>
          <a:xfrm>
            <a:off x="8046720" y="4846320"/>
            <a:ext cx="914400" cy="201168"/>
          </a:xfrm>
          <a:prstGeom prst="rect">
            <a:avLst/>
          </a:prstGeom>
          <a:noFill/>
          <a:ln/>
        </p:spPr>
        <p:txBody>
          <a:bodyPr wrap="square" lIns="0" tIns="0" rIns="0" bIns="0" rtlCol="0" anchor="ctr"/>
          <a:lstStyle/>
          <a:p>
            <a:pPr algn="r" indent="0" marL="0">
              <a:buNone/>
            </a:pPr>
            <a:r>
              <a:rPr lang="en-US" sz="900" dirty="0">
                <a:solidFill>
                  <a:srgbClr val="444444"/>
                </a:solidFill>
              </a:rPr>
              <a:t>1 /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824"/>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2D4E"/>
          </a:solidFill>
          <a:ln w="12700">
            <a:solidFill>
              <a:srgbClr val="1E2D4E"/>
            </a:solidFill>
            <a:prstDash val="solid"/>
          </a:ln>
        </p:spPr>
      </p:sp>
      <p:sp>
        <p:nvSpPr>
          <p:cNvPr id="3" name="Text 1"/>
          <p:cNvSpPr/>
          <p:nvPr/>
        </p:nvSpPr>
        <p:spPr>
          <a:xfrm>
            <a:off x="365760" y="54864"/>
            <a:ext cx="8412480" cy="365760"/>
          </a:xfrm>
          <a:prstGeom prst="rect">
            <a:avLst/>
          </a:prstGeom>
          <a:noFill/>
          <a:ln/>
        </p:spPr>
        <p:txBody>
          <a:bodyPr wrap="square" lIns="0" tIns="0" rIns="0" bIns="0" rtlCol="0" anchor="ctr"/>
          <a:lstStyle/>
          <a:p>
            <a:pPr algn="l" indent="0" marL="0">
              <a:buNone/>
            </a:pPr>
            <a:r>
              <a:rPr lang="en-US" sz="1100" b="1" spc="400" kern="0" dirty="0">
                <a:solidFill>
                  <a:srgbClr val="02C39A"/>
                </a:solidFill>
              </a:rPr>
              <a:t>ENTITY RESOLUTION  →  THE GOLDEN RECORD</a:t>
            </a:r>
            <a:endParaRPr lang="en-US" sz="1100" dirty="0"/>
          </a:p>
        </p:txBody>
      </p:sp>
      <p:sp>
        <p:nvSpPr>
          <p:cNvPr id="4" name="Text 2"/>
          <p:cNvSpPr/>
          <p:nvPr/>
        </p:nvSpPr>
        <p:spPr>
          <a:xfrm>
            <a:off x="228600" y="594360"/>
            <a:ext cx="2286000" cy="320040"/>
          </a:xfrm>
          <a:prstGeom prst="rect">
            <a:avLst/>
          </a:prstGeom>
          <a:noFill/>
          <a:ln/>
        </p:spPr>
        <p:txBody>
          <a:bodyPr wrap="square" lIns="0" tIns="0" rIns="0" bIns="0" rtlCol="0" anchor="ctr"/>
          <a:lstStyle/>
          <a:p>
            <a:pPr algn="ctr" indent="0" marL="0">
              <a:buNone/>
            </a:pPr>
            <a:r>
              <a:rPr lang="en-US" sz="1100" b="1" spc="300" kern="0" dirty="0">
                <a:solidFill>
                  <a:srgbClr val="C0392B"/>
                </a:solidFill>
              </a:rPr>
              <a:t>BEFORE</a:t>
            </a:r>
            <a:endParaRPr lang="en-US" sz="1100" dirty="0"/>
          </a:p>
        </p:txBody>
      </p:sp>
      <p:sp>
        <p:nvSpPr>
          <p:cNvPr id="5" name="Text 3"/>
          <p:cNvSpPr/>
          <p:nvPr/>
        </p:nvSpPr>
        <p:spPr>
          <a:xfrm>
            <a:off x="228600" y="896112"/>
            <a:ext cx="2286000" cy="292608"/>
          </a:xfrm>
          <a:prstGeom prst="rect">
            <a:avLst/>
          </a:prstGeom>
          <a:noFill/>
          <a:ln/>
        </p:spPr>
        <p:txBody>
          <a:bodyPr wrap="square" lIns="0" tIns="0" rIns="0" bIns="0" rtlCol="0" anchor="ctr"/>
          <a:lstStyle/>
          <a:p>
            <a:pPr algn="ctr" indent="0" marL="0">
              <a:buNone/>
            </a:pPr>
            <a:r>
              <a:rPr lang="en-US" sz="1100" i="1" dirty="0">
                <a:solidFill>
                  <a:srgbClr val="94A3B8"/>
                </a:solidFill>
              </a:rPr>
              <a:t>What your systems see</a:t>
            </a:r>
            <a:endParaRPr lang="en-US" sz="1100" dirty="0"/>
          </a:p>
        </p:txBody>
      </p:sp>
      <p:sp>
        <p:nvSpPr>
          <p:cNvPr id="6" name="Shape 4"/>
          <p:cNvSpPr/>
          <p:nvPr/>
        </p:nvSpPr>
        <p:spPr>
          <a:xfrm>
            <a:off x="182880" y="1261872"/>
            <a:ext cx="2423160" cy="621792"/>
          </a:xfrm>
          <a:prstGeom prst="rect">
            <a:avLst/>
          </a:prstGeom>
          <a:solidFill>
            <a:srgbClr val="331A1A"/>
          </a:solidFill>
          <a:ln w="12700">
            <a:solidFill>
              <a:srgbClr val="444444"/>
            </a:solidFill>
            <a:prstDash val="solid"/>
          </a:ln>
        </p:spPr>
      </p:sp>
      <p:sp>
        <p:nvSpPr>
          <p:cNvPr id="7" name="Text 5"/>
          <p:cNvSpPr/>
          <p:nvPr/>
        </p:nvSpPr>
        <p:spPr>
          <a:xfrm>
            <a:off x="274320" y="1298448"/>
            <a:ext cx="2240280" cy="201168"/>
          </a:xfrm>
          <a:prstGeom prst="rect">
            <a:avLst/>
          </a:prstGeom>
          <a:noFill/>
          <a:ln/>
        </p:spPr>
        <p:txBody>
          <a:bodyPr wrap="square" lIns="0" tIns="0" rIns="0" bIns="0" rtlCol="0" anchor="ctr"/>
          <a:lstStyle/>
          <a:p>
            <a:pPr indent="0" marL="0">
              <a:buNone/>
            </a:pPr>
            <a:r>
              <a:rPr lang="en-US" sz="850" b="1" spc="100" kern="0" dirty="0">
                <a:solidFill>
                  <a:srgbClr val="888888"/>
                </a:solidFill>
              </a:rPr>
              <a:t>Core Banking</a:t>
            </a:r>
            <a:endParaRPr lang="en-US" sz="850" dirty="0"/>
          </a:p>
        </p:txBody>
      </p:sp>
      <p:sp>
        <p:nvSpPr>
          <p:cNvPr id="8" name="Text 6"/>
          <p:cNvSpPr/>
          <p:nvPr/>
        </p:nvSpPr>
        <p:spPr>
          <a:xfrm>
            <a:off x="274320" y="1481328"/>
            <a:ext cx="2240280" cy="219456"/>
          </a:xfrm>
          <a:prstGeom prst="rect">
            <a:avLst/>
          </a:prstGeom>
          <a:noFill/>
          <a:ln/>
        </p:spPr>
        <p:txBody>
          <a:bodyPr wrap="square" lIns="0" tIns="0" rIns="0" bIns="0" rtlCol="0" anchor="ctr"/>
          <a:lstStyle/>
          <a:p>
            <a:pPr indent="0" marL="0">
              <a:buNone/>
            </a:pPr>
            <a:r>
              <a:rPr lang="en-US" sz="1200" b="1" dirty="0">
                <a:solidFill>
                  <a:srgbClr val="FFFFFF"/>
                </a:solidFill>
              </a:rPr>
              <a:t>Robert T. Johnson</a:t>
            </a:r>
            <a:endParaRPr lang="en-US" sz="1200" dirty="0"/>
          </a:p>
        </p:txBody>
      </p:sp>
      <p:sp>
        <p:nvSpPr>
          <p:cNvPr id="9" name="Text 7"/>
          <p:cNvSpPr/>
          <p:nvPr/>
        </p:nvSpPr>
        <p:spPr>
          <a:xfrm>
            <a:off x="274320" y="1682496"/>
            <a:ext cx="2240280" cy="164592"/>
          </a:xfrm>
          <a:prstGeom prst="rect">
            <a:avLst/>
          </a:prstGeom>
          <a:noFill/>
          <a:ln/>
        </p:spPr>
        <p:txBody>
          <a:bodyPr wrap="square" lIns="0" tIns="0" rIns="0" bIns="0" rtlCol="0" anchor="ctr"/>
          <a:lstStyle/>
          <a:p>
            <a:pPr indent="0" marL="0">
              <a:buNone/>
            </a:pPr>
            <a:r>
              <a:rPr lang="en-US" sz="950" i="1" dirty="0">
                <a:solidFill>
                  <a:srgbClr val="777777"/>
                </a:solidFill>
              </a:rPr>
              <a:t>Checking #4421</a:t>
            </a:r>
            <a:endParaRPr lang="en-US" sz="950" dirty="0"/>
          </a:p>
        </p:txBody>
      </p:sp>
      <p:sp>
        <p:nvSpPr>
          <p:cNvPr id="10" name="Shape 8"/>
          <p:cNvSpPr/>
          <p:nvPr/>
        </p:nvSpPr>
        <p:spPr>
          <a:xfrm>
            <a:off x="182880" y="1956816"/>
            <a:ext cx="2423160" cy="621792"/>
          </a:xfrm>
          <a:prstGeom prst="rect">
            <a:avLst/>
          </a:prstGeom>
          <a:solidFill>
            <a:srgbClr val="1A2233"/>
          </a:solidFill>
          <a:ln w="12700">
            <a:solidFill>
              <a:srgbClr val="444444"/>
            </a:solidFill>
            <a:prstDash val="solid"/>
          </a:ln>
        </p:spPr>
      </p:sp>
      <p:sp>
        <p:nvSpPr>
          <p:cNvPr id="11" name="Text 9"/>
          <p:cNvSpPr/>
          <p:nvPr/>
        </p:nvSpPr>
        <p:spPr>
          <a:xfrm>
            <a:off x="274320" y="1993392"/>
            <a:ext cx="2240280" cy="201168"/>
          </a:xfrm>
          <a:prstGeom prst="rect">
            <a:avLst/>
          </a:prstGeom>
          <a:noFill/>
          <a:ln/>
        </p:spPr>
        <p:txBody>
          <a:bodyPr wrap="square" lIns="0" tIns="0" rIns="0" bIns="0" rtlCol="0" anchor="ctr"/>
          <a:lstStyle/>
          <a:p>
            <a:pPr indent="0" marL="0">
              <a:buNone/>
            </a:pPr>
            <a:r>
              <a:rPr lang="en-US" sz="850" b="1" spc="100" kern="0" dirty="0">
                <a:solidFill>
                  <a:srgbClr val="888888"/>
                </a:solidFill>
              </a:rPr>
              <a:t>Loan Origination</a:t>
            </a:r>
            <a:endParaRPr lang="en-US" sz="850" dirty="0"/>
          </a:p>
        </p:txBody>
      </p:sp>
      <p:sp>
        <p:nvSpPr>
          <p:cNvPr id="12" name="Text 10"/>
          <p:cNvSpPr/>
          <p:nvPr/>
        </p:nvSpPr>
        <p:spPr>
          <a:xfrm>
            <a:off x="274320" y="2176272"/>
            <a:ext cx="2240280" cy="219456"/>
          </a:xfrm>
          <a:prstGeom prst="rect">
            <a:avLst/>
          </a:prstGeom>
          <a:noFill/>
          <a:ln/>
        </p:spPr>
        <p:txBody>
          <a:bodyPr wrap="square" lIns="0" tIns="0" rIns="0" bIns="0" rtlCol="0" anchor="ctr"/>
          <a:lstStyle/>
          <a:p>
            <a:pPr indent="0" marL="0">
              <a:buNone/>
            </a:pPr>
            <a:r>
              <a:rPr lang="en-US" sz="1200" b="1" dirty="0">
                <a:solidFill>
                  <a:srgbClr val="FFFFFF"/>
                </a:solidFill>
              </a:rPr>
              <a:t>Bob Johnson</a:t>
            </a:r>
            <a:endParaRPr lang="en-US" sz="1200" dirty="0"/>
          </a:p>
        </p:txBody>
      </p:sp>
      <p:sp>
        <p:nvSpPr>
          <p:cNvPr id="13" name="Text 11"/>
          <p:cNvSpPr/>
          <p:nvPr/>
        </p:nvSpPr>
        <p:spPr>
          <a:xfrm>
            <a:off x="274320" y="2377440"/>
            <a:ext cx="2240280" cy="164592"/>
          </a:xfrm>
          <a:prstGeom prst="rect">
            <a:avLst/>
          </a:prstGeom>
          <a:noFill/>
          <a:ln/>
        </p:spPr>
        <p:txBody>
          <a:bodyPr wrap="square" lIns="0" tIns="0" rIns="0" bIns="0" rtlCol="0" anchor="ctr"/>
          <a:lstStyle/>
          <a:p>
            <a:pPr indent="0" marL="0">
              <a:buNone/>
            </a:pPr>
            <a:r>
              <a:rPr lang="en-US" sz="950" i="1" dirty="0">
                <a:solidFill>
                  <a:srgbClr val="777777"/>
                </a:solidFill>
              </a:rPr>
              <a:t>Mortgage #8819</a:t>
            </a:r>
            <a:endParaRPr lang="en-US" sz="950" dirty="0"/>
          </a:p>
        </p:txBody>
      </p:sp>
      <p:sp>
        <p:nvSpPr>
          <p:cNvPr id="14" name="Shape 12"/>
          <p:cNvSpPr/>
          <p:nvPr/>
        </p:nvSpPr>
        <p:spPr>
          <a:xfrm>
            <a:off x="182880" y="2651760"/>
            <a:ext cx="2423160" cy="621792"/>
          </a:xfrm>
          <a:prstGeom prst="rect">
            <a:avLst/>
          </a:prstGeom>
          <a:solidFill>
            <a:srgbClr val="1A2B1A"/>
          </a:solidFill>
          <a:ln w="12700">
            <a:solidFill>
              <a:srgbClr val="444444"/>
            </a:solidFill>
            <a:prstDash val="solid"/>
          </a:ln>
        </p:spPr>
      </p:sp>
      <p:sp>
        <p:nvSpPr>
          <p:cNvPr id="15" name="Text 13"/>
          <p:cNvSpPr/>
          <p:nvPr/>
        </p:nvSpPr>
        <p:spPr>
          <a:xfrm>
            <a:off x="274320" y="2688336"/>
            <a:ext cx="2240280" cy="201168"/>
          </a:xfrm>
          <a:prstGeom prst="rect">
            <a:avLst/>
          </a:prstGeom>
          <a:noFill/>
          <a:ln/>
        </p:spPr>
        <p:txBody>
          <a:bodyPr wrap="square" lIns="0" tIns="0" rIns="0" bIns="0" rtlCol="0" anchor="ctr"/>
          <a:lstStyle/>
          <a:p>
            <a:pPr indent="0" marL="0">
              <a:buNone/>
            </a:pPr>
            <a:r>
              <a:rPr lang="en-US" sz="850" b="1" spc="100" kern="0" dirty="0">
                <a:solidFill>
                  <a:srgbClr val="888888"/>
                </a:solidFill>
              </a:rPr>
              <a:t>Digital Banking</a:t>
            </a:r>
            <a:endParaRPr lang="en-US" sz="850" dirty="0"/>
          </a:p>
        </p:txBody>
      </p:sp>
      <p:sp>
        <p:nvSpPr>
          <p:cNvPr id="16" name="Text 14"/>
          <p:cNvSpPr/>
          <p:nvPr/>
        </p:nvSpPr>
        <p:spPr>
          <a:xfrm>
            <a:off x="274320" y="2871216"/>
            <a:ext cx="2240280" cy="219456"/>
          </a:xfrm>
          <a:prstGeom prst="rect">
            <a:avLst/>
          </a:prstGeom>
          <a:noFill/>
          <a:ln/>
        </p:spPr>
        <p:txBody>
          <a:bodyPr wrap="square" lIns="0" tIns="0" rIns="0" bIns="0" rtlCol="0" anchor="ctr"/>
          <a:lstStyle/>
          <a:p>
            <a:pPr indent="0" marL="0">
              <a:buNone/>
            </a:pPr>
            <a:r>
              <a:rPr lang="en-US" sz="1200" b="1" dirty="0">
                <a:solidFill>
                  <a:srgbClr val="FFFFFF"/>
                </a:solidFill>
              </a:rPr>
              <a:t>rjohnson@gmail.com</a:t>
            </a:r>
            <a:endParaRPr lang="en-US" sz="1200" dirty="0"/>
          </a:p>
        </p:txBody>
      </p:sp>
      <p:sp>
        <p:nvSpPr>
          <p:cNvPr id="17" name="Text 15"/>
          <p:cNvSpPr/>
          <p:nvPr/>
        </p:nvSpPr>
        <p:spPr>
          <a:xfrm>
            <a:off x="274320" y="3072384"/>
            <a:ext cx="2240280" cy="164592"/>
          </a:xfrm>
          <a:prstGeom prst="rect">
            <a:avLst/>
          </a:prstGeom>
          <a:noFill/>
          <a:ln/>
        </p:spPr>
        <p:txBody>
          <a:bodyPr wrap="square" lIns="0" tIns="0" rIns="0" bIns="0" rtlCol="0" anchor="ctr"/>
          <a:lstStyle/>
          <a:p>
            <a:pPr indent="0" marL="0">
              <a:buNone/>
            </a:pPr>
            <a:r>
              <a:rPr lang="en-US" sz="950" i="1" dirty="0">
                <a:solidFill>
                  <a:srgbClr val="777777"/>
                </a:solidFill>
              </a:rPr>
              <a:t>Last login: yesterday</a:t>
            </a:r>
            <a:endParaRPr lang="en-US" sz="950" dirty="0"/>
          </a:p>
        </p:txBody>
      </p:sp>
      <p:sp>
        <p:nvSpPr>
          <p:cNvPr id="18" name="Shape 16"/>
          <p:cNvSpPr/>
          <p:nvPr/>
        </p:nvSpPr>
        <p:spPr>
          <a:xfrm>
            <a:off x="182880" y="3346704"/>
            <a:ext cx="2423160" cy="621792"/>
          </a:xfrm>
          <a:prstGeom prst="rect">
            <a:avLst/>
          </a:prstGeom>
          <a:solidFill>
            <a:srgbClr val="2A1A33"/>
          </a:solidFill>
          <a:ln w="12700">
            <a:solidFill>
              <a:srgbClr val="444444"/>
            </a:solidFill>
            <a:prstDash val="solid"/>
          </a:ln>
        </p:spPr>
      </p:sp>
      <p:sp>
        <p:nvSpPr>
          <p:cNvPr id="19" name="Text 17"/>
          <p:cNvSpPr/>
          <p:nvPr/>
        </p:nvSpPr>
        <p:spPr>
          <a:xfrm>
            <a:off x="274320" y="3383280"/>
            <a:ext cx="2240280" cy="201168"/>
          </a:xfrm>
          <a:prstGeom prst="rect">
            <a:avLst/>
          </a:prstGeom>
          <a:noFill/>
          <a:ln/>
        </p:spPr>
        <p:txBody>
          <a:bodyPr wrap="square" lIns="0" tIns="0" rIns="0" bIns="0" rtlCol="0" anchor="ctr"/>
          <a:lstStyle/>
          <a:p>
            <a:pPr indent="0" marL="0">
              <a:buNone/>
            </a:pPr>
            <a:r>
              <a:rPr lang="en-US" sz="850" b="1" spc="100" kern="0" dirty="0">
                <a:solidFill>
                  <a:srgbClr val="888888"/>
                </a:solidFill>
              </a:rPr>
              <a:t>Business Accts</a:t>
            </a:r>
            <a:endParaRPr lang="en-US" sz="850" dirty="0"/>
          </a:p>
        </p:txBody>
      </p:sp>
      <p:sp>
        <p:nvSpPr>
          <p:cNvPr id="20" name="Text 18"/>
          <p:cNvSpPr/>
          <p:nvPr/>
        </p:nvSpPr>
        <p:spPr>
          <a:xfrm>
            <a:off x="274320" y="3566160"/>
            <a:ext cx="2240280" cy="219456"/>
          </a:xfrm>
          <a:prstGeom prst="rect">
            <a:avLst/>
          </a:prstGeom>
          <a:noFill/>
          <a:ln/>
        </p:spPr>
        <p:txBody>
          <a:bodyPr wrap="square" lIns="0" tIns="0" rIns="0" bIns="0" rtlCol="0" anchor="ctr"/>
          <a:lstStyle/>
          <a:p>
            <a:pPr indent="0" marL="0">
              <a:buNone/>
            </a:pPr>
            <a:r>
              <a:rPr lang="en-US" sz="1200" b="1" dirty="0">
                <a:solidFill>
                  <a:srgbClr val="FFFFFF"/>
                </a:solidFill>
              </a:rPr>
              <a:t>R.J. Johnson LLC</a:t>
            </a:r>
            <a:endParaRPr lang="en-US" sz="1200" dirty="0"/>
          </a:p>
        </p:txBody>
      </p:sp>
      <p:sp>
        <p:nvSpPr>
          <p:cNvPr id="21" name="Text 19"/>
          <p:cNvSpPr/>
          <p:nvPr/>
        </p:nvSpPr>
        <p:spPr>
          <a:xfrm>
            <a:off x="274320" y="3767328"/>
            <a:ext cx="2240280" cy="164592"/>
          </a:xfrm>
          <a:prstGeom prst="rect">
            <a:avLst/>
          </a:prstGeom>
          <a:noFill/>
          <a:ln/>
        </p:spPr>
        <p:txBody>
          <a:bodyPr wrap="square" lIns="0" tIns="0" rIns="0" bIns="0" rtlCol="0" anchor="ctr"/>
          <a:lstStyle/>
          <a:p>
            <a:pPr indent="0" marL="0">
              <a:buNone/>
            </a:pPr>
            <a:r>
              <a:rPr lang="en-US" sz="950" i="1" dirty="0">
                <a:solidFill>
                  <a:srgbClr val="777777"/>
                </a:solidFill>
              </a:rPr>
              <a:t>LOC #2201</a:t>
            </a:r>
            <a:endParaRPr lang="en-US" sz="950" dirty="0"/>
          </a:p>
        </p:txBody>
      </p:sp>
      <p:sp>
        <p:nvSpPr>
          <p:cNvPr id="22" name="Shape 20"/>
          <p:cNvSpPr/>
          <p:nvPr/>
        </p:nvSpPr>
        <p:spPr>
          <a:xfrm>
            <a:off x="182880" y="4041648"/>
            <a:ext cx="2423160" cy="621792"/>
          </a:xfrm>
          <a:prstGeom prst="rect">
            <a:avLst/>
          </a:prstGeom>
          <a:solidFill>
            <a:srgbClr val="331A2A"/>
          </a:solidFill>
          <a:ln w="12700">
            <a:solidFill>
              <a:srgbClr val="444444"/>
            </a:solidFill>
            <a:prstDash val="solid"/>
          </a:ln>
        </p:spPr>
      </p:sp>
      <p:sp>
        <p:nvSpPr>
          <p:cNvPr id="23" name="Text 21"/>
          <p:cNvSpPr/>
          <p:nvPr/>
        </p:nvSpPr>
        <p:spPr>
          <a:xfrm>
            <a:off x="274320" y="4078224"/>
            <a:ext cx="2240280" cy="201168"/>
          </a:xfrm>
          <a:prstGeom prst="rect">
            <a:avLst/>
          </a:prstGeom>
          <a:noFill/>
          <a:ln/>
        </p:spPr>
        <p:txBody>
          <a:bodyPr wrap="square" lIns="0" tIns="0" rIns="0" bIns="0" rtlCol="0" anchor="ctr"/>
          <a:lstStyle/>
          <a:p>
            <a:pPr indent="0" marL="0">
              <a:buNone/>
            </a:pPr>
            <a:r>
              <a:rPr lang="en-US" sz="850" b="1" spc="100" kern="0" dirty="0">
                <a:solidFill>
                  <a:srgbClr val="888888"/>
                </a:solidFill>
              </a:rPr>
              <a:t>Card Platform</a:t>
            </a:r>
            <a:endParaRPr lang="en-US" sz="850" dirty="0"/>
          </a:p>
        </p:txBody>
      </p:sp>
      <p:sp>
        <p:nvSpPr>
          <p:cNvPr id="24" name="Text 22"/>
          <p:cNvSpPr/>
          <p:nvPr/>
        </p:nvSpPr>
        <p:spPr>
          <a:xfrm>
            <a:off x="274320" y="4261104"/>
            <a:ext cx="2240280" cy="219456"/>
          </a:xfrm>
          <a:prstGeom prst="rect">
            <a:avLst/>
          </a:prstGeom>
          <a:noFill/>
          <a:ln/>
        </p:spPr>
        <p:txBody>
          <a:bodyPr wrap="square" lIns="0" tIns="0" rIns="0" bIns="0" rtlCol="0" anchor="ctr"/>
          <a:lstStyle/>
          <a:p>
            <a:pPr indent="0" marL="0">
              <a:buNone/>
            </a:pPr>
            <a:r>
              <a:rPr lang="en-US" sz="1200" b="1" dirty="0">
                <a:solidFill>
                  <a:srgbClr val="FFFFFF"/>
                </a:solidFill>
              </a:rPr>
              <a:t>R Johnson</a:t>
            </a:r>
            <a:endParaRPr lang="en-US" sz="1200" dirty="0"/>
          </a:p>
        </p:txBody>
      </p:sp>
      <p:sp>
        <p:nvSpPr>
          <p:cNvPr id="25" name="Text 23"/>
          <p:cNvSpPr/>
          <p:nvPr/>
        </p:nvSpPr>
        <p:spPr>
          <a:xfrm>
            <a:off x="274320" y="4462272"/>
            <a:ext cx="2240280" cy="164592"/>
          </a:xfrm>
          <a:prstGeom prst="rect">
            <a:avLst/>
          </a:prstGeom>
          <a:noFill/>
          <a:ln/>
        </p:spPr>
        <p:txBody>
          <a:bodyPr wrap="square" lIns="0" tIns="0" rIns="0" bIns="0" rtlCol="0" anchor="ctr"/>
          <a:lstStyle/>
          <a:p>
            <a:pPr indent="0" marL="0">
              <a:buNone/>
            </a:pPr>
            <a:r>
              <a:rPr lang="en-US" sz="950" i="1" dirty="0">
                <a:solidFill>
                  <a:srgbClr val="777777"/>
                </a:solidFill>
              </a:rPr>
              <a:t>Card #5544</a:t>
            </a:r>
            <a:endParaRPr lang="en-US" sz="950" dirty="0"/>
          </a:p>
        </p:txBody>
      </p:sp>
      <p:sp>
        <p:nvSpPr>
          <p:cNvPr id="26" name="Shape 24"/>
          <p:cNvSpPr/>
          <p:nvPr/>
        </p:nvSpPr>
        <p:spPr>
          <a:xfrm>
            <a:off x="2788920" y="594360"/>
            <a:ext cx="1417320" cy="4343400"/>
          </a:xfrm>
          <a:prstGeom prst="rect">
            <a:avLst/>
          </a:prstGeom>
          <a:solidFill>
            <a:srgbClr val="0A1520"/>
          </a:solidFill>
          <a:ln w="12700">
            <a:solidFill>
              <a:srgbClr val="028090"/>
            </a:solidFill>
            <a:prstDash val="solid"/>
          </a:ln>
        </p:spPr>
      </p:sp>
      <p:sp>
        <p:nvSpPr>
          <p:cNvPr id="27" name="Text 25"/>
          <p:cNvSpPr/>
          <p:nvPr/>
        </p:nvSpPr>
        <p:spPr>
          <a:xfrm>
            <a:off x="2807208" y="914400"/>
            <a:ext cx="1371600" cy="457200"/>
          </a:xfrm>
          <a:prstGeom prst="rect">
            <a:avLst/>
          </a:prstGeom>
          <a:noFill/>
          <a:ln/>
        </p:spPr>
        <p:txBody>
          <a:bodyPr wrap="square" lIns="0" tIns="0" rIns="0" bIns="0" rtlCol="0" anchor="ctr"/>
          <a:lstStyle/>
          <a:p>
            <a:pPr algn="ctr" indent="0" marL="0">
              <a:buNone/>
            </a:pPr>
            <a:r>
              <a:rPr lang="en-US" sz="1300" b="1" dirty="0">
                <a:solidFill>
                  <a:srgbClr val="028090"/>
                </a:solidFill>
              </a:rPr>
              <a:t>JHBI</a:t>
            </a:r>
            <a:endParaRPr lang="en-US" sz="1300" dirty="0"/>
          </a:p>
        </p:txBody>
      </p:sp>
      <p:sp>
        <p:nvSpPr>
          <p:cNvPr id="28" name="Text 26"/>
          <p:cNvSpPr/>
          <p:nvPr/>
        </p:nvSpPr>
        <p:spPr>
          <a:xfrm>
            <a:off x="2807208" y="1389888"/>
            <a:ext cx="1371600" cy="347472"/>
          </a:xfrm>
          <a:prstGeom prst="rect">
            <a:avLst/>
          </a:prstGeom>
          <a:noFill/>
          <a:ln/>
        </p:spPr>
        <p:txBody>
          <a:bodyPr wrap="square" lIns="0" tIns="0" rIns="0" bIns="0" rtlCol="0" anchor="ctr"/>
          <a:lstStyle/>
          <a:p>
            <a:pPr algn="ctr" indent="0" marL="0">
              <a:buNone/>
            </a:pPr>
            <a:r>
              <a:rPr lang="en-US" sz="1100" dirty="0">
                <a:solidFill>
                  <a:srgbClr val="94A3B8"/>
                </a:solidFill>
              </a:rPr>
              <a:t>Entity</a:t>
            </a:r>
            <a:endParaRPr lang="en-US" sz="1100" dirty="0"/>
          </a:p>
        </p:txBody>
      </p:sp>
      <p:sp>
        <p:nvSpPr>
          <p:cNvPr id="29" name="Text 27"/>
          <p:cNvSpPr/>
          <p:nvPr/>
        </p:nvSpPr>
        <p:spPr>
          <a:xfrm>
            <a:off x="2807208" y="1719072"/>
            <a:ext cx="1371600" cy="347472"/>
          </a:xfrm>
          <a:prstGeom prst="rect">
            <a:avLst/>
          </a:prstGeom>
          <a:noFill/>
          <a:ln/>
        </p:spPr>
        <p:txBody>
          <a:bodyPr wrap="square" lIns="0" tIns="0" rIns="0" bIns="0" rtlCol="0" anchor="ctr"/>
          <a:lstStyle/>
          <a:p>
            <a:pPr algn="ctr" indent="0" marL="0">
              <a:buNone/>
            </a:pPr>
            <a:r>
              <a:rPr lang="en-US" sz="1100" dirty="0">
                <a:solidFill>
                  <a:srgbClr val="94A3B8"/>
                </a:solidFill>
              </a:rPr>
              <a:t>Resolution</a:t>
            </a:r>
            <a:endParaRPr lang="en-US" sz="1100" dirty="0"/>
          </a:p>
        </p:txBody>
      </p:sp>
      <p:sp>
        <p:nvSpPr>
          <p:cNvPr id="30" name="Shape 28"/>
          <p:cNvSpPr/>
          <p:nvPr/>
        </p:nvSpPr>
        <p:spPr>
          <a:xfrm>
            <a:off x="3035808" y="2212848"/>
            <a:ext cx="914400" cy="109728"/>
          </a:xfrm>
          <a:prstGeom prst="rect">
            <a:avLst/>
          </a:prstGeom>
          <a:solidFill>
            <a:srgbClr val="028090"/>
          </a:solidFill>
          <a:ln w="12700">
            <a:solidFill>
              <a:srgbClr val="028090"/>
            </a:solidFill>
            <a:prstDash val="solid"/>
          </a:ln>
        </p:spPr>
      </p:sp>
      <p:sp>
        <p:nvSpPr>
          <p:cNvPr id="31" name="Shape 29"/>
          <p:cNvSpPr/>
          <p:nvPr/>
        </p:nvSpPr>
        <p:spPr>
          <a:xfrm>
            <a:off x="3630168" y="2103120"/>
            <a:ext cx="109728" cy="329184"/>
          </a:xfrm>
          <a:prstGeom prst="rect">
            <a:avLst/>
          </a:prstGeom>
          <a:solidFill>
            <a:srgbClr val="028090"/>
          </a:solidFill>
          <a:ln w="12700">
            <a:solidFill>
              <a:srgbClr val="028090"/>
            </a:solidFill>
            <a:prstDash val="solid"/>
          </a:ln>
        </p:spPr>
      </p:sp>
      <p:sp>
        <p:nvSpPr>
          <p:cNvPr id="32" name="Text 30"/>
          <p:cNvSpPr/>
          <p:nvPr/>
        </p:nvSpPr>
        <p:spPr>
          <a:xfrm>
            <a:off x="3246120" y="2340864"/>
            <a:ext cx="457200" cy="347472"/>
          </a:xfrm>
          <a:prstGeom prst="rect">
            <a:avLst/>
          </a:prstGeom>
          <a:noFill/>
          <a:ln/>
        </p:spPr>
        <p:txBody>
          <a:bodyPr wrap="square" lIns="0" tIns="0" rIns="0" bIns="0" rtlCol="0" anchor="ctr"/>
          <a:lstStyle/>
          <a:p>
            <a:pPr algn="ctr" indent="0" marL="0">
              <a:buNone/>
            </a:pPr>
            <a:r>
              <a:rPr lang="en-US" sz="2200" b="1" dirty="0">
                <a:solidFill>
                  <a:srgbClr val="02C39A"/>
                </a:solidFill>
              </a:rPr>
              <a:t>→</a:t>
            </a:r>
            <a:endParaRPr lang="en-US" sz="2200" dirty="0"/>
          </a:p>
        </p:txBody>
      </p:sp>
      <p:sp>
        <p:nvSpPr>
          <p:cNvPr id="33" name="Text 31"/>
          <p:cNvSpPr/>
          <p:nvPr/>
        </p:nvSpPr>
        <p:spPr>
          <a:xfrm>
            <a:off x="2807208" y="2852928"/>
            <a:ext cx="1371600" cy="347472"/>
          </a:xfrm>
          <a:prstGeom prst="rect">
            <a:avLst/>
          </a:prstGeom>
          <a:noFill/>
          <a:ln/>
        </p:spPr>
        <p:txBody>
          <a:bodyPr wrap="square" lIns="0" tIns="0" rIns="0" bIns="0" rtlCol="0" anchor="ctr"/>
          <a:lstStyle/>
          <a:p>
            <a:pPr algn="ctr" indent="0" marL="0">
              <a:buNone/>
            </a:pPr>
            <a:r>
              <a:rPr lang="en-US" sz="1100" dirty="0">
                <a:solidFill>
                  <a:srgbClr val="94A3B8"/>
                </a:solidFill>
              </a:rPr>
              <a:t>Identity</a:t>
            </a:r>
            <a:endParaRPr lang="en-US" sz="1100" dirty="0"/>
          </a:p>
        </p:txBody>
      </p:sp>
      <p:sp>
        <p:nvSpPr>
          <p:cNvPr id="34" name="Text 32"/>
          <p:cNvSpPr/>
          <p:nvPr/>
        </p:nvSpPr>
        <p:spPr>
          <a:xfrm>
            <a:off x="2807208" y="3163824"/>
            <a:ext cx="1371600" cy="347472"/>
          </a:xfrm>
          <a:prstGeom prst="rect">
            <a:avLst/>
          </a:prstGeom>
          <a:noFill/>
          <a:ln/>
        </p:spPr>
        <p:txBody>
          <a:bodyPr wrap="square" lIns="0" tIns="0" rIns="0" bIns="0" rtlCol="0" anchor="ctr"/>
          <a:lstStyle/>
          <a:p>
            <a:pPr algn="ctr" indent="0" marL="0">
              <a:buNone/>
            </a:pPr>
            <a:r>
              <a:rPr lang="en-US" sz="1100" dirty="0">
                <a:solidFill>
                  <a:srgbClr val="94A3B8"/>
                </a:solidFill>
              </a:rPr>
              <a:t>Matched</a:t>
            </a:r>
            <a:endParaRPr lang="en-US" sz="1100" dirty="0"/>
          </a:p>
        </p:txBody>
      </p:sp>
      <p:sp>
        <p:nvSpPr>
          <p:cNvPr id="35" name="Shape 33"/>
          <p:cNvSpPr/>
          <p:nvPr/>
        </p:nvSpPr>
        <p:spPr>
          <a:xfrm>
            <a:off x="2606040" y="1591056"/>
            <a:ext cx="201168" cy="54864"/>
          </a:xfrm>
          <a:prstGeom prst="rect">
            <a:avLst/>
          </a:prstGeom>
          <a:solidFill>
            <a:srgbClr val="444444"/>
          </a:solidFill>
          <a:ln w="12700">
            <a:solidFill>
              <a:srgbClr val="444444"/>
            </a:solidFill>
            <a:prstDash val="solid"/>
          </a:ln>
        </p:spPr>
      </p:sp>
      <p:sp>
        <p:nvSpPr>
          <p:cNvPr id="36" name="Shape 34"/>
          <p:cNvSpPr/>
          <p:nvPr/>
        </p:nvSpPr>
        <p:spPr>
          <a:xfrm>
            <a:off x="2606040" y="2286000"/>
            <a:ext cx="201168" cy="54864"/>
          </a:xfrm>
          <a:prstGeom prst="rect">
            <a:avLst/>
          </a:prstGeom>
          <a:solidFill>
            <a:srgbClr val="444444"/>
          </a:solidFill>
          <a:ln w="12700">
            <a:solidFill>
              <a:srgbClr val="444444"/>
            </a:solidFill>
            <a:prstDash val="solid"/>
          </a:ln>
        </p:spPr>
      </p:sp>
      <p:sp>
        <p:nvSpPr>
          <p:cNvPr id="37" name="Shape 35"/>
          <p:cNvSpPr/>
          <p:nvPr/>
        </p:nvSpPr>
        <p:spPr>
          <a:xfrm>
            <a:off x="2606040" y="2980944"/>
            <a:ext cx="201168" cy="54864"/>
          </a:xfrm>
          <a:prstGeom prst="rect">
            <a:avLst/>
          </a:prstGeom>
          <a:solidFill>
            <a:srgbClr val="444444"/>
          </a:solidFill>
          <a:ln w="12700">
            <a:solidFill>
              <a:srgbClr val="444444"/>
            </a:solidFill>
            <a:prstDash val="solid"/>
          </a:ln>
        </p:spPr>
      </p:sp>
      <p:sp>
        <p:nvSpPr>
          <p:cNvPr id="38" name="Shape 36"/>
          <p:cNvSpPr/>
          <p:nvPr/>
        </p:nvSpPr>
        <p:spPr>
          <a:xfrm>
            <a:off x="2606040" y="3675888"/>
            <a:ext cx="201168" cy="54864"/>
          </a:xfrm>
          <a:prstGeom prst="rect">
            <a:avLst/>
          </a:prstGeom>
          <a:solidFill>
            <a:srgbClr val="444444"/>
          </a:solidFill>
          <a:ln w="12700">
            <a:solidFill>
              <a:srgbClr val="444444"/>
            </a:solidFill>
            <a:prstDash val="solid"/>
          </a:ln>
        </p:spPr>
      </p:sp>
      <p:sp>
        <p:nvSpPr>
          <p:cNvPr id="39" name="Shape 37"/>
          <p:cNvSpPr/>
          <p:nvPr/>
        </p:nvSpPr>
        <p:spPr>
          <a:xfrm>
            <a:off x="2606040" y="4334256"/>
            <a:ext cx="201168" cy="54864"/>
          </a:xfrm>
          <a:prstGeom prst="rect">
            <a:avLst/>
          </a:prstGeom>
          <a:solidFill>
            <a:srgbClr val="444444"/>
          </a:solidFill>
          <a:ln w="12700">
            <a:solidFill>
              <a:srgbClr val="444444"/>
            </a:solidFill>
            <a:prstDash val="solid"/>
          </a:ln>
        </p:spPr>
      </p:sp>
      <p:sp>
        <p:nvSpPr>
          <p:cNvPr id="40" name="Text 38"/>
          <p:cNvSpPr/>
          <p:nvPr/>
        </p:nvSpPr>
        <p:spPr>
          <a:xfrm>
            <a:off x="4343400" y="594360"/>
            <a:ext cx="4572000" cy="320040"/>
          </a:xfrm>
          <a:prstGeom prst="rect">
            <a:avLst/>
          </a:prstGeom>
          <a:noFill/>
          <a:ln/>
        </p:spPr>
        <p:txBody>
          <a:bodyPr wrap="square" lIns="0" tIns="0" rIns="0" bIns="0" rtlCol="0" anchor="ctr"/>
          <a:lstStyle/>
          <a:p>
            <a:pPr algn="ctr" indent="0" marL="0">
              <a:buNone/>
            </a:pPr>
            <a:r>
              <a:rPr lang="en-US" sz="1100" b="1" spc="300" kern="0" dirty="0">
                <a:solidFill>
                  <a:srgbClr val="02C39A"/>
                </a:solidFill>
              </a:rPr>
              <a:t>AFTER</a:t>
            </a:r>
            <a:endParaRPr lang="en-US" sz="1100" dirty="0"/>
          </a:p>
        </p:txBody>
      </p:sp>
      <p:sp>
        <p:nvSpPr>
          <p:cNvPr id="41" name="Text 39"/>
          <p:cNvSpPr/>
          <p:nvPr/>
        </p:nvSpPr>
        <p:spPr>
          <a:xfrm>
            <a:off x="4343400" y="896112"/>
            <a:ext cx="4572000" cy="292608"/>
          </a:xfrm>
          <a:prstGeom prst="rect">
            <a:avLst/>
          </a:prstGeom>
          <a:noFill/>
          <a:ln/>
        </p:spPr>
        <p:txBody>
          <a:bodyPr wrap="square" lIns="0" tIns="0" rIns="0" bIns="0" rtlCol="0" anchor="ctr"/>
          <a:lstStyle/>
          <a:p>
            <a:pPr algn="ctr" indent="0" marL="0">
              <a:buNone/>
            </a:pPr>
            <a:r>
              <a:rPr lang="en-US" sz="1100" i="1" dirty="0">
                <a:solidFill>
                  <a:srgbClr val="94A3B8"/>
                </a:solidFill>
              </a:rPr>
              <a:t>What JHBI sees</a:t>
            </a:r>
            <a:endParaRPr lang="en-US" sz="1100" dirty="0"/>
          </a:p>
        </p:txBody>
      </p:sp>
      <p:sp>
        <p:nvSpPr>
          <p:cNvPr id="42" name="Shape 40"/>
          <p:cNvSpPr/>
          <p:nvPr/>
        </p:nvSpPr>
        <p:spPr>
          <a:xfrm>
            <a:off x="4343400" y="1243584"/>
            <a:ext cx="4526280" cy="3511296"/>
          </a:xfrm>
          <a:prstGeom prst="rect">
            <a:avLst/>
          </a:prstGeom>
          <a:solidFill>
            <a:srgbClr val="1A2535"/>
          </a:solidFill>
          <a:ln w="12700">
            <a:solidFill>
              <a:srgbClr val="C9A227"/>
            </a:solidFill>
            <a:prstDash val="solid"/>
          </a:ln>
          <a:effectLst>
            <a:outerShdw sx="100000" sy="100000" kx="0" ky="0" algn="bl" rotWithShape="0" blurRad="127000" dist="50800" dir="8100000">
              <a:srgbClr val="000000">
                <a:alpha val="18000"/>
              </a:srgbClr>
            </a:outerShdw>
          </a:effectLst>
        </p:spPr>
      </p:sp>
      <p:sp>
        <p:nvSpPr>
          <p:cNvPr id="43" name="Shape 41"/>
          <p:cNvSpPr/>
          <p:nvPr/>
        </p:nvSpPr>
        <p:spPr>
          <a:xfrm>
            <a:off x="4343400" y="1243584"/>
            <a:ext cx="4526280" cy="438912"/>
          </a:xfrm>
          <a:prstGeom prst="rect">
            <a:avLst/>
          </a:prstGeom>
          <a:solidFill>
            <a:srgbClr val="C9A227"/>
          </a:solidFill>
          <a:ln w="12700">
            <a:solidFill>
              <a:srgbClr val="C9A227"/>
            </a:solidFill>
            <a:prstDash val="solid"/>
          </a:ln>
        </p:spPr>
      </p:sp>
      <p:sp>
        <p:nvSpPr>
          <p:cNvPr id="44" name="Text 42"/>
          <p:cNvSpPr/>
          <p:nvPr/>
        </p:nvSpPr>
        <p:spPr>
          <a:xfrm>
            <a:off x="4407408" y="1243584"/>
            <a:ext cx="4389120" cy="438912"/>
          </a:xfrm>
          <a:prstGeom prst="rect">
            <a:avLst/>
          </a:prstGeom>
          <a:noFill/>
          <a:ln/>
        </p:spPr>
        <p:txBody>
          <a:bodyPr wrap="square" lIns="0" tIns="0" rIns="0" bIns="0" rtlCol="0" anchor="ctr"/>
          <a:lstStyle/>
          <a:p>
            <a:pPr algn="ctr" indent="0" marL="0">
              <a:buNone/>
            </a:pPr>
            <a:r>
              <a:rPr lang="en-US" sz="1400" b="1" dirty="0">
                <a:solidFill>
                  <a:srgbClr val="1A1A00"/>
                </a:solidFill>
              </a:rPr>
              <a:t>★  GOLDEN RECORD</a:t>
            </a:r>
            <a:endParaRPr lang="en-US" sz="1400" dirty="0"/>
          </a:p>
        </p:txBody>
      </p:sp>
      <p:sp>
        <p:nvSpPr>
          <p:cNvPr id="45" name="Text 43"/>
          <p:cNvSpPr/>
          <p:nvPr/>
        </p:nvSpPr>
        <p:spPr>
          <a:xfrm>
            <a:off x="4480560" y="1755648"/>
            <a:ext cx="4297680" cy="475488"/>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Robert T. Johnson</a:t>
            </a:r>
            <a:endParaRPr lang="en-US" sz="2400" dirty="0"/>
          </a:p>
        </p:txBody>
      </p:sp>
      <p:sp>
        <p:nvSpPr>
          <p:cNvPr id="46" name="Shape 44"/>
          <p:cNvSpPr/>
          <p:nvPr/>
        </p:nvSpPr>
        <p:spPr>
          <a:xfrm>
            <a:off x="4480560" y="2249424"/>
            <a:ext cx="4297680" cy="27432"/>
          </a:xfrm>
          <a:prstGeom prst="rect">
            <a:avLst/>
          </a:prstGeom>
          <a:solidFill>
            <a:srgbClr val="444444"/>
          </a:solidFill>
          <a:ln w="12700">
            <a:solidFill>
              <a:srgbClr val="444444"/>
            </a:solidFill>
            <a:prstDash val="solid"/>
          </a:ln>
        </p:spPr>
      </p:sp>
      <p:sp>
        <p:nvSpPr>
          <p:cNvPr id="47" name="Shape 45"/>
          <p:cNvSpPr/>
          <p:nvPr/>
        </p:nvSpPr>
        <p:spPr>
          <a:xfrm>
            <a:off x="4480560" y="2395728"/>
            <a:ext cx="54864" cy="256032"/>
          </a:xfrm>
          <a:prstGeom prst="rect">
            <a:avLst/>
          </a:prstGeom>
          <a:solidFill>
            <a:srgbClr val="028090"/>
          </a:solidFill>
          <a:ln w="12700">
            <a:solidFill>
              <a:srgbClr val="028090"/>
            </a:solidFill>
            <a:prstDash val="solid"/>
          </a:ln>
        </p:spPr>
      </p:sp>
      <p:sp>
        <p:nvSpPr>
          <p:cNvPr id="48" name="Text 46"/>
          <p:cNvSpPr/>
          <p:nvPr/>
        </p:nvSpPr>
        <p:spPr>
          <a:xfrm>
            <a:off x="4608576" y="2340864"/>
            <a:ext cx="1828800" cy="347472"/>
          </a:xfrm>
          <a:prstGeom prst="rect">
            <a:avLst/>
          </a:prstGeom>
          <a:noFill/>
          <a:ln/>
        </p:spPr>
        <p:txBody>
          <a:bodyPr wrap="square" lIns="0" tIns="0" rIns="0" bIns="0" rtlCol="0" anchor="ctr"/>
          <a:lstStyle/>
          <a:p>
            <a:pPr indent="0" marL="0">
              <a:buNone/>
            </a:pPr>
            <a:r>
              <a:rPr lang="en-US" sz="1100" b="1" dirty="0">
                <a:solidFill>
                  <a:srgbClr val="FFFFFF"/>
                </a:solidFill>
              </a:rPr>
              <a:t>Checking #4421</a:t>
            </a:r>
            <a:endParaRPr lang="en-US" sz="1100" dirty="0"/>
          </a:p>
        </p:txBody>
      </p:sp>
      <p:sp>
        <p:nvSpPr>
          <p:cNvPr id="49" name="Text 47"/>
          <p:cNvSpPr/>
          <p:nvPr/>
        </p:nvSpPr>
        <p:spPr>
          <a:xfrm>
            <a:off x="6455664" y="2340864"/>
            <a:ext cx="2286000" cy="347472"/>
          </a:xfrm>
          <a:prstGeom prst="rect">
            <a:avLst/>
          </a:prstGeom>
          <a:noFill/>
          <a:ln/>
        </p:spPr>
        <p:txBody>
          <a:bodyPr wrap="square" lIns="0" tIns="0" rIns="0" bIns="0" rtlCol="0" anchor="ctr"/>
          <a:lstStyle/>
          <a:p>
            <a:pPr algn="r" indent="0" marL="0">
              <a:buNone/>
            </a:pPr>
            <a:r>
              <a:rPr lang="en-US" sz="1100" i="1" dirty="0">
                <a:solidFill>
                  <a:srgbClr val="AAAAAA"/>
                </a:solidFill>
              </a:rPr>
              <a:t>$42,000 balance</a:t>
            </a:r>
            <a:endParaRPr lang="en-US" sz="1100" dirty="0"/>
          </a:p>
        </p:txBody>
      </p:sp>
      <p:sp>
        <p:nvSpPr>
          <p:cNvPr id="50" name="Shape 48"/>
          <p:cNvSpPr/>
          <p:nvPr/>
        </p:nvSpPr>
        <p:spPr>
          <a:xfrm>
            <a:off x="4480560" y="2779776"/>
            <a:ext cx="54864" cy="256032"/>
          </a:xfrm>
          <a:prstGeom prst="rect">
            <a:avLst/>
          </a:prstGeom>
          <a:solidFill>
            <a:srgbClr val="2196F3"/>
          </a:solidFill>
          <a:ln w="12700">
            <a:solidFill>
              <a:srgbClr val="2196F3"/>
            </a:solidFill>
            <a:prstDash val="solid"/>
          </a:ln>
        </p:spPr>
      </p:sp>
      <p:sp>
        <p:nvSpPr>
          <p:cNvPr id="51" name="Text 49"/>
          <p:cNvSpPr/>
          <p:nvPr/>
        </p:nvSpPr>
        <p:spPr>
          <a:xfrm>
            <a:off x="4608576" y="2724912"/>
            <a:ext cx="1828800" cy="347472"/>
          </a:xfrm>
          <a:prstGeom prst="rect">
            <a:avLst/>
          </a:prstGeom>
          <a:noFill/>
          <a:ln/>
        </p:spPr>
        <p:txBody>
          <a:bodyPr wrap="square" lIns="0" tIns="0" rIns="0" bIns="0" rtlCol="0" anchor="ctr"/>
          <a:lstStyle/>
          <a:p>
            <a:pPr indent="0" marL="0">
              <a:buNone/>
            </a:pPr>
            <a:r>
              <a:rPr lang="en-US" sz="1100" b="1" dirty="0">
                <a:solidFill>
                  <a:srgbClr val="FFFFFF"/>
                </a:solidFill>
              </a:rPr>
              <a:t>Mortgage #8819</a:t>
            </a:r>
            <a:endParaRPr lang="en-US" sz="1100" dirty="0"/>
          </a:p>
        </p:txBody>
      </p:sp>
      <p:sp>
        <p:nvSpPr>
          <p:cNvPr id="52" name="Text 50"/>
          <p:cNvSpPr/>
          <p:nvPr/>
        </p:nvSpPr>
        <p:spPr>
          <a:xfrm>
            <a:off x="6455664" y="2724912"/>
            <a:ext cx="2286000" cy="347472"/>
          </a:xfrm>
          <a:prstGeom prst="rect">
            <a:avLst/>
          </a:prstGeom>
          <a:noFill/>
          <a:ln/>
        </p:spPr>
        <p:txBody>
          <a:bodyPr wrap="square" lIns="0" tIns="0" rIns="0" bIns="0" rtlCol="0" anchor="ctr"/>
          <a:lstStyle/>
          <a:p>
            <a:pPr algn="r" indent="0" marL="0">
              <a:buNone/>
            </a:pPr>
            <a:r>
              <a:rPr lang="en-US" sz="1100" i="1" dirty="0">
                <a:solidFill>
                  <a:srgbClr val="AAAAAA"/>
                </a:solidFill>
              </a:rPr>
              <a:t>$287,000 outstanding</a:t>
            </a:r>
            <a:endParaRPr lang="en-US" sz="1100" dirty="0"/>
          </a:p>
        </p:txBody>
      </p:sp>
      <p:sp>
        <p:nvSpPr>
          <p:cNvPr id="53" name="Shape 51"/>
          <p:cNvSpPr/>
          <p:nvPr/>
        </p:nvSpPr>
        <p:spPr>
          <a:xfrm>
            <a:off x="4480560" y="3163824"/>
            <a:ext cx="54864" cy="256032"/>
          </a:xfrm>
          <a:prstGeom prst="rect">
            <a:avLst/>
          </a:prstGeom>
          <a:solidFill>
            <a:srgbClr val="27AE60"/>
          </a:solidFill>
          <a:ln w="12700">
            <a:solidFill>
              <a:srgbClr val="27AE60"/>
            </a:solidFill>
            <a:prstDash val="solid"/>
          </a:ln>
        </p:spPr>
      </p:sp>
      <p:sp>
        <p:nvSpPr>
          <p:cNvPr id="54" name="Text 52"/>
          <p:cNvSpPr/>
          <p:nvPr/>
        </p:nvSpPr>
        <p:spPr>
          <a:xfrm>
            <a:off x="4608576" y="3108960"/>
            <a:ext cx="1828800" cy="347472"/>
          </a:xfrm>
          <a:prstGeom prst="rect">
            <a:avLst/>
          </a:prstGeom>
          <a:noFill/>
          <a:ln/>
        </p:spPr>
        <p:txBody>
          <a:bodyPr wrap="square" lIns="0" tIns="0" rIns="0" bIns="0" rtlCol="0" anchor="ctr"/>
          <a:lstStyle/>
          <a:p>
            <a:pPr indent="0" marL="0">
              <a:buNone/>
            </a:pPr>
            <a:r>
              <a:rPr lang="en-US" sz="1100" b="1" dirty="0">
                <a:solidFill>
                  <a:srgbClr val="FFFFFF"/>
                </a:solidFill>
              </a:rPr>
              <a:t>Digital Banking</a:t>
            </a:r>
            <a:endParaRPr lang="en-US" sz="1100" dirty="0"/>
          </a:p>
        </p:txBody>
      </p:sp>
      <p:sp>
        <p:nvSpPr>
          <p:cNvPr id="55" name="Text 53"/>
          <p:cNvSpPr/>
          <p:nvPr/>
        </p:nvSpPr>
        <p:spPr>
          <a:xfrm>
            <a:off x="6455664" y="3108960"/>
            <a:ext cx="2286000" cy="347472"/>
          </a:xfrm>
          <a:prstGeom prst="rect">
            <a:avLst/>
          </a:prstGeom>
          <a:noFill/>
          <a:ln/>
        </p:spPr>
        <p:txBody>
          <a:bodyPr wrap="square" lIns="0" tIns="0" rIns="0" bIns="0" rtlCol="0" anchor="ctr"/>
          <a:lstStyle/>
          <a:p>
            <a:pPr algn="r" indent="0" marL="0">
              <a:buNone/>
            </a:pPr>
            <a:r>
              <a:rPr lang="en-US" sz="1100" i="1" dirty="0">
                <a:solidFill>
                  <a:srgbClr val="AAAAAA"/>
                </a:solidFill>
              </a:rPr>
              <a:t>Active  |  Mobile-primary</a:t>
            </a:r>
            <a:endParaRPr lang="en-US" sz="1100" dirty="0"/>
          </a:p>
        </p:txBody>
      </p:sp>
      <p:sp>
        <p:nvSpPr>
          <p:cNvPr id="56" name="Shape 54"/>
          <p:cNvSpPr/>
          <p:nvPr/>
        </p:nvSpPr>
        <p:spPr>
          <a:xfrm>
            <a:off x="4480560" y="3547872"/>
            <a:ext cx="54864" cy="256032"/>
          </a:xfrm>
          <a:prstGeom prst="rect">
            <a:avLst/>
          </a:prstGeom>
          <a:solidFill>
            <a:srgbClr val="E67E22"/>
          </a:solidFill>
          <a:ln w="12700">
            <a:solidFill>
              <a:srgbClr val="E67E22"/>
            </a:solidFill>
            <a:prstDash val="solid"/>
          </a:ln>
        </p:spPr>
      </p:sp>
      <p:sp>
        <p:nvSpPr>
          <p:cNvPr id="57" name="Text 55"/>
          <p:cNvSpPr/>
          <p:nvPr/>
        </p:nvSpPr>
        <p:spPr>
          <a:xfrm>
            <a:off x="4608576" y="3493008"/>
            <a:ext cx="1828800" cy="347472"/>
          </a:xfrm>
          <a:prstGeom prst="rect">
            <a:avLst/>
          </a:prstGeom>
          <a:noFill/>
          <a:ln/>
        </p:spPr>
        <p:txBody>
          <a:bodyPr wrap="square" lIns="0" tIns="0" rIns="0" bIns="0" rtlCol="0" anchor="ctr"/>
          <a:lstStyle/>
          <a:p>
            <a:pPr indent="0" marL="0">
              <a:buNone/>
            </a:pPr>
            <a:r>
              <a:rPr lang="en-US" sz="1100" b="1" dirty="0">
                <a:solidFill>
                  <a:srgbClr val="FFFFFF"/>
                </a:solidFill>
              </a:rPr>
              <a:t>Business LOC #2201</a:t>
            </a:r>
            <a:endParaRPr lang="en-US" sz="1100" dirty="0"/>
          </a:p>
        </p:txBody>
      </p:sp>
      <p:sp>
        <p:nvSpPr>
          <p:cNvPr id="58" name="Text 56"/>
          <p:cNvSpPr/>
          <p:nvPr/>
        </p:nvSpPr>
        <p:spPr>
          <a:xfrm>
            <a:off x="6455664" y="3493008"/>
            <a:ext cx="2286000" cy="347472"/>
          </a:xfrm>
          <a:prstGeom prst="rect">
            <a:avLst/>
          </a:prstGeom>
          <a:noFill/>
          <a:ln/>
        </p:spPr>
        <p:txBody>
          <a:bodyPr wrap="square" lIns="0" tIns="0" rIns="0" bIns="0" rtlCol="0" anchor="ctr"/>
          <a:lstStyle/>
          <a:p>
            <a:pPr algn="r" indent="0" marL="0">
              <a:buNone/>
            </a:pPr>
            <a:r>
              <a:rPr lang="en-US" sz="1100" i="1" dirty="0">
                <a:solidFill>
                  <a:srgbClr val="AAAAAA"/>
                </a:solidFill>
              </a:rPr>
              <a:t>$150K facility, $80K drawn</a:t>
            </a:r>
            <a:endParaRPr lang="en-US" sz="1100" dirty="0"/>
          </a:p>
        </p:txBody>
      </p:sp>
      <p:sp>
        <p:nvSpPr>
          <p:cNvPr id="59" name="Shape 57"/>
          <p:cNvSpPr/>
          <p:nvPr/>
        </p:nvSpPr>
        <p:spPr>
          <a:xfrm>
            <a:off x="4480560" y="3931920"/>
            <a:ext cx="54864" cy="256032"/>
          </a:xfrm>
          <a:prstGeom prst="rect">
            <a:avLst/>
          </a:prstGeom>
          <a:solidFill>
            <a:srgbClr val="5B2C8D"/>
          </a:solidFill>
          <a:ln w="12700">
            <a:solidFill>
              <a:srgbClr val="5B2C8D"/>
            </a:solidFill>
            <a:prstDash val="solid"/>
          </a:ln>
        </p:spPr>
      </p:sp>
      <p:sp>
        <p:nvSpPr>
          <p:cNvPr id="60" name="Text 58"/>
          <p:cNvSpPr/>
          <p:nvPr/>
        </p:nvSpPr>
        <p:spPr>
          <a:xfrm>
            <a:off x="4608576" y="3877056"/>
            <a:ext cx="1828800" cy="347472"/>
          </a:xfrm>
          <a:prstGeom prst="rect">
            <a:avLst/>
          </a:prstGeom>
          <a:noFill/>
          <a:ln/>
        </p:spPr>
        <p:txBody>
          <a:bodyPr wrap="square" lIns="0" tIns="0" rIns="0" bIns="0" rtlCol="0" anchor="ctr"/>
          <a:lstStyle/>
          <a:p>
            <a:pPr indent="0" marL="0">
              <a:buNone/>
            </a:pPr>
            <a:r>
              <a:rPr lang="en-US" sz="1100" b="1" dirty="0">
                <a:solidFill>
                  <a:srgbClr val="FFFFFF"/>
                </a:solidFill>
              </a:rPr>
              <a:t>Debit Card #5544</a:t>
            </a:r>
            <a:endParaRPr lang="en-US" sz="1100" dirty="0"/>
          </a:p>
        </p:txBody>
      </p:sp>
      <p:sp>
        <p:nvSpPr>
          <p:cNvPr id="61" name="Text 59"/>
          <p:cNvSpPr/>
          <p:nvPr/>
        </p:nvSpPr>
        <p:spPr>
          <a:xfrm>
            <a:off x="6455664" y="3877056"/>
            <a:ext cx="2286000" cy="347472"/>
          </a:xfrm>
          <a:prstGeom prst="rect">
            <a:avLst/>
          </a:prstGeom>
          <a:noFill/>
          <a:ln/>
        </p:spPr>
        <p:txBody>
          <a:bodyPr wrap="square" lIns="0" tIns="0" rIns="0" bIns="0" rtlCol="0" anchor="ctr"/>
          <a:lstStyle/>
          <a:p>
            <a:pPr algn="r" indent="0" marL="0">
              <a:buNone/>
            </a:pPr>
            <a:r>
              <a:rPr lang="en-US" sz="1100" i="1" dirty="0">
                <a:solidFill>
                  <a:srgbClr val="AAAAAA"/>
                </a:solidFill>
              </a:rPr>
              <a:t>$3,200/mo spend</a:t>
            </a:r>
            <a:endParaRPr lang="en-US" sz="1100" dirty="0"/>
          </a:p>
        </p:txBody>
      </p:sp>
      <p:sp>
        <p:nvSpPr>
          <p:cNvPr id="62" name="Shape 60"/>
          <p:cNvSpPr/>
          <p:nvPr/>
        </p:nvSpPr>
        <p:spPr>
          <a:xfrm>
            <a:off x="4480560" y="4270248"/>
            <a:ext cx="4297680" cy="36576"/>
          </a:xfrm>
          <a:prstGeom prst="rect">
            <a:avLst/>
          </a:prstGeom>
          <a:solidFill>
            <a:srgbClr val="C9A227"/>
          </a:solidFill>
          <a:ln w="12700">
            <a:solidFill>
              <a:srgbClr val="C9A227"/>
            </a:solidFill>
            <a:prstDash val="solid"/>
          </a:ln>
        </p:spPr>
      </p:sp>
      <p:sp>
        <p:nvSpPr>
          <p:cNvPr id="63" name="Text 61"/>
          <p:cNvSpPr/>
          <p:nvPr/>
        </p:nvSpPr>
        <p:spPr>
          <a:xfrm>
            <a:off x="4480560" y="4352544"/>
            <a:ext cx="1417320" cy="201168"/>
          </a:xfrm>
          <a:prstGeom prst="rect">
            <a:avLst/>
          </a:prstGeom>
          <a:noFill/>
          <a:ln/>
        </p:spPr>
        <p:txBody>
          <a:bodyPr wrap="square" lIns="0" tIns="0" rIns="0" bIns="0" rtlCol="0" anchor="ctr"/>
          <a:lstStyle/>
          <a:p>
            <a:pPr algn="ctr" indent="0" marL="0">
              <a:buNone/>
            </a:pPr>
            <a:r>
              <a:rPr lang="en-US" sz="850" b="1" spc="100" kern="0" dirty="0">
                <a:solidFill>
                  <a:srgbClr val="888888"/>
                </a:solidFill>
              </a:rPr>
              <a:t>Total Relationship</a:t>
            </a:r>
            <a:endParaRPr lang="en-US" sz="850" dirty="0"/>
          </a:p>
        </p:txBody>
      </p:sp>
      <p:sp>
        <p:nvSpPr>
          <p:cNvPr id="64" name="Text 62"/>
          <p:cNvSpPr/>
          <p:nvPr/>
        </p:nvSpPr>
        <p:spPr>
          <a:xfrm>
            <a:off x="4480560" y="4553712"/>
            <a:ext cx="1417320" cy="164592"/>
          </a:xfrm>
          <a:prstGeom prst="rect">
            <a:avLst/>
          </a:prstGeom>
          <a:noFill/>
          <a:ln/>
        </p:spPr>
        <p:txBody>
          <a:bodyPr wrap="square" lIns="0" tIns="0" rIns="0" bIns="0" rtlCol="0" anchor="ctr"/>
          <a:lstStyle/>
          <a:p>
            <a:pPr algn="ctr" indent="0" marL="0">
              <a:buNone/>
            </a:pPr>
            <a:r>
              <a:rPr lang="en-US" sz="1100" b="1" dirty="0">
                <a:solidFill>
                  <a:srgbClr val="02C39A"/>
                </a:solidFill>
              </a:rPr>
              <a:t>$562,000</a:t>
            </a:r>
            <a:endParaRPr lang="en-US" sz="1100" dirty="0"/>
          </a:p>
        </p:txBody>
      </p:sp>
      <p:sp>
        <p:nvSpPr>
          <p:cNvPr id="65" name="Text 63"/>
          <p:cNvSpPr/>
          <p:nvPr/>
        </p:nvSpPr>
        <p:spPr>
          <a:xfrm>
            <a:off x="5943600" y="4352544"/>
            <a:ext cx="1417320" cy="201168"/>
          </a:xfrm>
          <a:prstGeom prst="rect">
            <a:avLst/>
          </a:prstGeom>
          <a:noFill/>
          <a:ln/>
        </p:spPr>
        <p:txBody>
          <a:bodyPr wrap="square" lIns="0" tIns="0" rIns="0" bIns="0" rtlCol="0" anchor="ctr"/>
          <a:lstStyle/>
          <a:p>
            <a:pPr algn="ctr" indent="0" marL="0">
              <a:buNone/>
            </a:pPr>
            <a:r>
              <a:rPr lang="en-US" sz="850" b="1" spc="100" kern="0" dirty="0">
                <a:solidFill>
                  <a:srgbClr val="888888"/>
                </a:solidFill>
              </a:rPr>
              <a:t>Business Owner</a:t>
            </a:r>
            <a:endParaRPr lang="en-US" sz="850" dirty="0"/>
          </a:p>
        </p:txBody>
      </p:sp>
      <p:sp>
        <p:nvSpPr>
          <p:cNvPr id="66" name="Text 64"/>
          <p:cNvSpPr/>
          <p:nvPr/>
        </p:nvSpPr>
        <p:spPr>
          <a:xfrm>
            <a:off x="5943600" y="4553712"/>
            <a:ext cx="1417320" cy="164592"/>
          </a:xfrm>
          <a:prstGeom prst="rect">
            <a:avLst/>
          </a:prstGeom>
          <a:noFill/>
          <a:ln/>
        </p:spPr>
        <p:txBody>
          <a:bodyPr wrap="square" lIns="0" tIns="0" rIns="0" bIns="0" rtlCol="0" anchor="ctr"/>
          <a:lstStyle/>
          <a:p>
            <a:pPr algn="ctr" indent="0" marL="0">
              <a:buNone/>
            </a:pPr>
            <a:r>
              <a:rPr lang="en-US" sz="1100" b="1" dirty="0">
                <a:solidFill>
                  <a:srgbClr val="C9A227"/>
                </a:solidFill>
              </a:rPr>
              <a:t>YES  ←</a:t>
            </a:r>
            <a:endParaRPr lang="en-US" sz="1100" dirty="0"/>
          </a:p>
        </p:txBody>
      </p:sp>
      <p:sp>
        <p:nvSpPr>
          <p:cNvPr id="67" name="Text 65"/>
          <p:cNvSpPr/>
          <p:nvPr/>
        </p:nvSpPr>
        <p:spPr>
          <a:xfrm>
            <a:off x="7406640" y="4352544"/>
            <a:ext cx="1417320" cy="201168"/>
          </a:xfrm>
          <a:prstGeom prst="rect">
            <a:avLst/>
          </a:prstGeom>
          <a:noFill/>
          <a:ln/>
        </p:spPr>
        <p:txBody>
          <a:bodyPr wrap="square" lIns="0" tIns="0" rIns="0" bIns="0" rtlCol="0" anchor="ctr"/>
          <a:lstStyle/>
          <a:p>
            <a:pPr algn="ctr" indent="0" marL="0">
              <a:buNone/>
            </a:pPr>
            <a:r>
              <a:rPr lang="en-US" sz="850" b="1" spc="100" kern="0" dirty="0">
                <a:solidFill>
                  <a:srgbClr val="888888"/>
                </a:solidFill>
              </a:rPr>
              <a:t>Channel</a:t>
            </a:r>
            <a:endParaRPr lang="en-US" sz="850" dirty="0"/>
          </a:p>
        </p:txBody>
      </p:sp>
      <p:sp>
        <p:nvSpPr>
          <p:cNvPr id="68" name="Text 66"/>
          <p:cNvSpPr/>
          <p:nvPr/>
        </p:nvSpPr>
        <p:spPr>
          <a:xfrm>
            <a:off x="7406640" y="4553712"/>
            <a:ext cx="1417320" cy="164592"/>
          </a:xfrm>
          <a:prstGeom prst="rect">
            <a:avLst/>
          </a:prstGeom>
          <a:noFill/>
          <a:ln/>
        </p:spPr>
        <p:txBody>
          <a:bodyPr wrap="square" lIns="0" tIns="0" rIns="0" bIns="0" rtlCol="0" anchor="ctr"/>
          <a:lstStyle/>
          <a:p>
            <a:pPr algn="ctr" indent="0" marL="0">
              <a:buNone/>
            </a:pPr>
            <a:r>
              <a:rPr lang="en-US" sz="1100" b="1" dirty="0">
                <a:solidFill>
                  <a:srgbClr val="2196F3"/>
                </a:solidFill>
              </a:rPr>
              <a:t>Mobile</a:t>
            </a:r>
            <a:endParaRPr lang="en-US" sz="1100" dirty="0"/>
          </a:p>
        </p:txBody>
      </p:sp>
      <p:sp>
        <p:nvSpPr>
          <p:cNvPr id="69" name="Text 67"/>
          <p:cNvSpPr/>
          <p:nvPr/>
        </p:nvSpPr>
        <p:spPr>
          <a:xfrm>
            <a:off x="6510528" y="3072384"/>
            <a:ext cx="1371600" cy="237744"/>
          </a:xfrm>
          <a:prstGeom prst="rect">
            <a:avLst/>
          </a:prstGeom>
          <a:noFill/>
          <a:ln/>
        </p:spPr>
        <p:txBody>
          <a:bodyPr wrap="square" lIns="0" tIns="0" rIns="0" bIns="0" rtlCol="0" anchor="ctr"/>
          <a:lstStyle/>
          <a:p>
            <a:pPr algn="l" indent="0" marL="0">
              <a:buNone/>
            </a:pPr>
            <a:r>
              <a:rPr lang="en-US" sz="1000" i="1" dirty="0">
                <a:solidFill>
                  <a:srgbClr val="C9A227"/>
                </a:solidFill>
              </a:rPr>
              <a:t>← The unlock</a:t>
            </a:r>
            <a:endParaRPr lang="en-US" sz="1000" dirty="0"/>
          </a:p>
        </p:txBody>
      </p:sp>
      <p:sp>
        <p:nvSpPr>
          <p:cNvPr id="71" name="Text 68"/>
          <p:cNvSpPr/>
          <p:nvPr/>
        </p:nvSpPr>
        <p:spPr>
          <a:xfrm>
            <a:off x="8046720" y="4846320"/>
            <a:ext cx="914400" cy="201168"/>
          </a:xfrm>
          <a:prstGeom prst="rect">
            <a:avLst/>
          </a:prstGeom>
          <a:noFill/>
          <a:ln/>
        </p:spPr>
        <p:txBody>
          <a:bodyPr wrap="square" lIns="0" tIns="0" rIns="0" bIns="0" rtlCol="0" anchor="ctr"/>
          <a:lstStyle/>
          <a:p>
            <a:pPr algn="r" indent="0" marL="0">
              <a:buNone/>
            </a:pPr>
            <a:r>
              <a:rPr lang="en-US" sz="900" dirty="0">
                <a:solidFill>
                  <a:srgbClr val="444444"/>
                </a:solidFill>
              </a:rPr>
              <a:t>2 / 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E2D4E"/>
          </a:solidFill>
          <a:ln w="12700">
            <a:solidFill>
              <a:srgbClr val="1E2D4E"/>
            </a:solidFill>
            <a:prstDash val="solid"/>
          </a:ln>
        </p:spPr>
      </p:sp>
      <p:sp>
        <p:nvSpPr>
          <p:cNvPr id="3" name="Text 1"/>
          <p:cNvSpPr/>
          <p:nvPr/>
        </p:nvSpPr>
        <p:spPr>
          <a:xfrm>
            <a:off x="365760" y="64008"/>
            <a:ext cx="8412480" cy="402336"/>
          </a:xfrm>
          <a:prstGeom prst="rect">
            <a:avLst/>
          </a:prstGeom>
          <a:noFill/>
          <a:ln/>
        </p:spPr>
        <p:txBody>
          <a:bodyPr wrap="square" lIns="0" tIns="0" rIns="0" bIns="0" rtlCol="0" anchor="ctr"/>
          <a:lstStyle/>
          <a:p>
            <a:pPr algn="l" indent="0" marL="0">
              <a:buNone/>
            </a:pPr>
            <a:r>
              <a:rPr lang="en-US" sz="1100" b="1" spc="400" kern="0" dirty="0">
                <a:solidFill>
                  <a:srgbClr val="02C39A"/>
                </a:solidFill>
              </a:rPr>
              <a:t>WHAT IDENTITY FIRST MAKES POSSIBLE</a:t>
            </a:r>
            <a:endParaRPr lang="en-US" sz="1100" dirty="0"/>
          </a:p>
        </p:txBody>
      </p:sp>
      <p:sp>
        <p:nvSpPr>
          <p:cNvPr id="4" name="Text 2"/>
          <p:cNvSpPr/>
          <p:nvPr/>
        </p:nvSpPr>
        <p:spPr>
          <a:xfrm>
            <a:off x="365760" y="658368"/>
            <a:ext cx="8412480" cy="384048"/>
          </a:xfrm>
          <a:prstGeom prst="rect">
            <a:avLst/>
          </a:prstGeom>
          <a:noFill/>
          <a:ln/>
        </p:spPr>
        <p:txBody>
          <a:bodyPr wrap="square" lIns="0" tIns="0" rIns="0" bIns="0" rtlCol="0" anchor="ctr"/>
          <a:lstStyle/>
          <a:p>
            <a:pPr indent="0" marL="0">
              <a:buNone/>
            </a:pPr>
            <a:r>
              <a:rPr lang="en-US" sz="1600" i="1" dirty="0">
                <a:solidFill>
                  <a:srgbClr val="1A2535"/>
                </a:solidFill>
                <a:latin typeface="Georgia" pitchFamily="34" charset="0"/>
                <a:ea typeface="Georgia" pitchFamily="34" charset="-122"/>
                <a:cs typeface="Georgia" pitchFamily="34" charset="-120"/>
              </a:rPr>
              <a:t>Five capabilities that are impossible without a resolved identity layer.</a:t>
            </a:r>
            <a:endParaRPr lang="en-US" sz="1600" dirty="0"/>
          </a:p>
        </p:txBody>
      </p:sp>
      <p:sp>
        <p:nvSpPr>
          <p:cNvPr id="5" name="Shape 3"/>
          <p:cNvSpPr/>
          <p:nvPr/>
        </p:nvSpPr>
        <p:spPr>
          <a:xfrm>
            <a:off x="338328" y="1170432"/>
            <a:ext cx="2761488" cy="1810512"/>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338328" y="1170432"/>
            <a:ext cx="2761488" cy="109728"/>
          </a:xfrm>
          <a:prstGeom prst="rect">
            <a:avLst/>
          </a:prstGeom>
          <a:solidFill>
            <a:srgbClr val="028090"/>
          </a:solidFill>
          <a:ln w="12700">
            <a:solidFill>
              <a:srgbClr val="028090"/>
            </a:solidFill>
            <a:prstDash val="solid"/>
          </a:ln>
        </p:spPr>
      </p:sp>
      <p:sp>
        <p:nvSpPr>
          <p:cNvPr id="7" name="Shape 5"/>
          <p:cNvSpPr/>
          <p:nvPr/>
        </p:nvSpPr>
        <p:spPr>
          <a:xfrm>
            <a:off x="475488" y="1353312"/>
            <a:ext cx="420624" cy="420624"/>
          </a:xfrm>
          <a:prstGeom prst="rect">
            <a:avLst/>
          </a:prstGeom>
          <a:solidFill>
            <a:srgbClr val="028090"/>
          </a:solidFill>
          <a:ln w="12700">
            <a:solidFill>
              <a:srgbClr val="028090"/>
            </a:solidFill>
            <a:prstDash val="solid"/>
          </a:ln>
        </p:spPr>
      </p:sp>
      <p:sp>
        <p:nvSpPr>
          <p:cNvPr id="8" name="Shape 6"/>
          <p:cNvSpPr/>
          <p:nvPr/>
        </p:nvSpPr>
        <p:spPr>
          <a:xfrm>
            <a:off x="475488" y="1353312"/>
            <a:ext cx="420624" cy="420624"/>
          </a:xfrm>
          <a:prstGeom prst="oval">
            <a:avLst/>
          </a:prstGeom>
          <a:solidFill>
            <a:srgbClr val="028090"/>
          </a:solidFill>
          <a:ln w="12700">
            <a:solidFill>
              <a:srgbClr val="028090"/>
            </a:solidFill>
            <a:prstDash val="solid"/>
          </a:ln>
        </p:spPr>
      </p:sp>
      <p:sp>
        <p:nvSpPr>
          <p:cNvPr id="9" name="Text 7"/>
          <p:cNvSpPr/>
          <p:nvPr/>
        </p:nvSpPr>
        <p:spPr>
          <a:xfrm>
            <a:off x="475488" y="13533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Text 8"/>
          <p:cNvSpPr/>
          <p:nvPr/>
        </p:nvSpPr>
        <p:spPr>
          <a:xfrm>
            <a:off x="996696" y="1371600"/>
            <a:ext cx="1984248" cy="438912"/>
          </a:xfrm>
          <a:prstGeom prst="rect">
            <a:avLst/>
          </a:prstGeom>
          <a:noFill/>
          <a:ln/>
        </p:spPr>
        <p:txBody>
          <a:bodyPr wrap="square" lIns="0" tIns="0" rIns="0" bIns="0" rtlCol="0" anchor="ctr"/>
          <a:lstStyle/>
          <a:p>
            <a:pPr indent="0" marL="0">
              <a:buNone/>
            </a:pPr>
            <a:r>
              <a:rPr lang="en-US" sz="1250" b="1" dirty="0">
                <a:solidFill>
                  <a:srgbClr val="1A2535"/>
                </a:solidFill>
                <a:latin typeface="Georgia" pitchFamily="34" charset="0"/>
                <a:ea typeface="Georgia" pitchFamily="34" charset="-122"/>
                <a:cs typeface="Georgia" pitchFamily="34" charset="-120"/>
              </a:rPr>
              <a:t>True Relationship Profitability</a:t>
            </a:r>
            <a:endParaRPr lang="en-US" sz="1250" dirty="0"/>
          </a:p>
        </p:txBody>
      </p:sp>
      <p:sp>
        <p:nvSpPr>
          <p:cNvPr id="11" name="Shape 9"/>
          <p:cNvSpPr/>
          <p:nvPr/>
        </p:nvSpPr>
        <p:spPr>
          <a:xfrm>
            <a:off x="475488" y="1865376"/>
            <a:ext cx="2505456" cy="27432"/>
          </a:xfrm>
          <a:prstGeom prst="rect">
            <a:avLst/>
          </a:prstGeom>
          <a:solidFill>
            <a:srgbClr val="CCCCCC"/>
          </a:solidFill>
          <a:ln w="12700">
            <a:solidFill>
              <a:srgbClr val="CCCCCC"/>
            </a:solidFill>
            <a:prstDash val="solid"/>
          </a:ln>
        </p:spPr>
      </p:sp>
      <p:sp>
        <p:nvSpPr>
          <p:cNvPr id="12" name="Text 10"/>
          <p:cNvSpPr/>
          <p:nvPr/>
        </p:nvSpPr>
        <p:spPr>
          <a:xfrm>
            <a:off x="475488" y="1956816"/>
            <a:ext cx="2505456" cy="950976"/>
          </a:xfrm>
          <a:prstGeom prst="rect">
            <a:avLst/>
          </a:prstGeom>
          <a:noFill/>
          <a:ln/>
        </p:spPr>
        <p:txBody>
          <a:bodyPr wrap="square" lIns="0" tIns="0" rIns="0" bIns="0" rtlCol="0" anchor="ctr"/>
          <a:lstStyle/>
          <a:p>
            <a:pPr indent="0" marL="0">
              <a:buNone/>
            </a:pPr>
            <a:r>
              <a:rPr lang="en-US" sz="1100" dirty="0">
                <a:solidFill>
                  <a:srgbClr val="4A5568"/>
                </a:solidFill>
              </a:rPr>
              <a:t>You can't calculate the real value of a customer relationship if your systems think they're four different customers.</a:t>
            </a:r>
            <a:endParaRPr lang="en-US" sz="1100" dirty="0"/>
          </a:p>
        </p:txBody>
      </p:sp>
      <p:sp>
        <p:nvSpPr>
          <p:cNvPr id="13" name="Shape 11"/>
          <p:cNvSpPr/>
          <p:nvPr/>
        </p:nvSpPr>
        <p:spPr>
          <a:xfrm>
            <a:off x="3236976" y="1170432"/>
            <a:ext cx="2761488" cy="1810512"/>
          </a:xfrm>
          <a:prstGeom prst="rect">
            <a:avLst/>
          </a:prstGeom>
          <a:solidFill>
            <a:srgbClr val="FDFAED"/>
          </a:solidFill>
          <a:ln w="12700">
            <a:solidFill>
              <a:srgbClr val="C9A227"/>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3236976" y="1170432"/>
            <a:ext cx="2761488" cy="109728"/>
          </a:xfrm>
          <a:prstGeom prst="rect">
            <a:avLst/>
          </a:prstGeom>
          <a:solidFill>
            <a:srgbClr val="C9A227"/>
          </a:solidFill>
          <a:ln w="12700">
            <a:solidFill>
              <a:srgbClr val="C9A227"/>
            </a:solidFill>
            <a:prstDash val="solid"/>
          </a:ln>
        </p:spPr>
      </p:sp>
      <p:sp>
        <p:nvSpPr>
          <p:cNvPr id="15" name="Shape 13"/>
          <p:cNvSpPr/>
          <p:nvPr/>
        </p:nvSpPr>
        <p:spPr>
          <a:xfrm>
            <a:off x="3374136" y="1353312"/>
            <a:ext cx="420624" cy="420624"/>
          </a:xfrm>
          <a:prstGeom prst="rect">
            <a:avLst/>
          </a:prstGeom>
          <a:solidFill>
            <a:srgbClr val="C9A227"/>
          </a:solidFill>
          <a:ln w="12700">
            <a:solidFill>
              <a:srgbClr val="C9A227"/>
            </a:solidFill>
            <a:prstDash val="solid"/>
          </a:ln>
        </p:spPr>
      </p:sp>
      <p:sp>
        <p:nvSpPr>
          <p:cNvPr id="16" name="Shape 14"/>
          <p:cNvSpPr/>
          <p:nvPr/>
        </p:nvSpPr>
        <p:spPr>
          <a:xfrm>
            <a:off x="3374136" y="1353312"/>
            <a:ext cx="420624" cy="420624"/>
          </a:xfrm>
          <a:prstGeom prst="oval">
            <a:avLst/>
          </a:prstGeom>
          <a:solidFill>
            <a:srgbClr val="C9A227"/>
          </a:solidFill>
          <a:ln w="12700">
            <a:solidFill>
              <a:srgbClr val="C9A227"/>
            </a:solidFill>
            <a:prstDash val="solid"/>
          </a:ln>
        </p:spPr>
      </p:sp>
      <p:sp>
        <p:nvSpPr>
          <p:cNvPr id="17" name="Text 15"/>
          <p:cNvSpPr/>
          <p:nvPr/>
        </p:nvSpPr>
        <p:spPr>
          <a:xfrm>
            <a:off x="3374136" y="13533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8" name="Text 16"/>
          <p:cNvSpPr/>
          <p:nvPr/>
        </p:nvSpPr>
        <p:spPr>
          <a:xfrm>
            <a:off x="3895344" y="1371600"/>
            <a:ext cx="1984248" cy="438912"/>
          </a:xfrm>
          <a:prstGeom prst="rect">
            <a:avLst/>
          </a:prstGeom>
          <a:noFill/>
          <a:ln/>
        </p:spPr>
        <p:txBody>
          <a:bodyPr wrap="square" lIns="0" tIns="0" rIns="0" bIns="0" rtlCol="0" anchor="ctr"/>
          <a:lstStyle/>
          <a:p>
            <a:pPr indent="0" marL="0">
              <a:buNone/>
            </a:pPr>
            <a:r>
              <a:rPr lang="en-US" sz="1250" b="1" dirty="0">
                <a:solidFill>
                  <a:srgbClr val="1A2535"/>
                </a:solidFill>
                <a:latin typeface="Georgia" pitchFamily="34" charset="0"/>
                <a:ea typeface="Georgia" pitchFamily="34" charset="-122"/>
                <a:cs typeface="Georgia" pitchFamily="34" charset="-120"/>
              </a:rPr>
              <a:t>SMB Detection in Retail Accounts</a:t>
            </a:r>
            <a:endParaRPr lang="en-US" sz="1250" dirty="0"/>
          </a:p>
        </p:txBody>
      </p:sp>
      <p:sp>
        <p:nvSpPr>
          <p:cNvPr id="19" name="Shape 17"/>
          <p:cNvSpPr/>
          <p:nvPr/>
        </p:nvSpPr>
        <p:spPr>
          <a:xfrm>
            <a:off x="3374136" y="1865376"/>
            <a:ext cx="2505456" cy="27432"/>
          </a:xfrm>
          <a:prstGeom prst="rect">
            <a:avLst/>
          </a:prstGeom>
          <a:solidFill>
            <a:srgbClr val="CCCCCC"/>
          </a:solidFill>
          <a:ln w="12700">
            <a:solidFill>
              <a:srgbClr val="CCCCCC"/>
            </a:solidFill>
            <a:prstDash val="solid"/>
          </a:ln>
        </p:spPr>
      </p:sp>
      <p:sp>
        <p:nvSpPr>
          <p:cNvPr id="20" name="Text 18"/>
          <p:cNvSpPr/>
          <p:nvPr/>
        </p:nvSpPr>
        <p:spPr>
          <a:xfrm>
            <a:off x="3374136" y="1956816"/>
            <a:ext cx="2505456" cy="950976"/>
          </a:xfrm>
          <a:prstGeom prst="rect">
            <a:avLst/>
          </a:prstGeom>
          <a:noFill/>
          <a:ln/>
        </p:spPr>
        <p:txBody>
          <a:bodyPr wrap="square" lIns="0" tIns="0" rIns="0" bIns="0" rtlCol="0" anchor="ctr"/>
          <a:lstStyle/>
          <a:p>
            <a:pPr indent="0" marL="0">
              <a:buNone/>
            </a:pPr>
            <a:r>
              <a:rPr lang="en-US" sz="1100" dirty="0">
                <a:solidFill>
                  <a:srgbClr val="4A5568"/>
                </a:solidFill>
              </a:rPr>
              <a:t>Retail checking customers who are secretly small business owners — banking their business elsewhere. Identity first finds them.</a:t>
            </a:r>
            <a:endParaRPr lang="en-US" sz="1100" dirty="0"/>
          </a:p>
        </p:txBody>
      </p:sp>
      <p:sp>
        <p:nvSpPr>
          <p:cNvPr id="21" name="Shape 19"/>
          <p:cNvSpPr/>
          <p:nvPr/>
        </p:nvSpPr>
        <p:spPr>
          <a:xfrm>
            <a:off x="6135624" y="1170432"/>
            <a:ext cx="2761488" cy="1810512"/>
          </a:xfrm>
          <a:prstGeom prst="rect">
            <a:avLst/>
          </a:prstGeom>
          <a:solidFill>
            <a:srgbClr val="FFF4EB"/>
          </a:solidFill>
          <a:ln w="12700">
            <a:solidFill>
              <a:srgbClr val="E67E22"/>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6135624" y="1170432"/>
            <a:ext cx="2761488" cy="109728"/>
          </a:xfrm>
          <a:prstGeom prst="rect">
            <a:avLst/>
          </a:prstGeom>
          <a:solidFill>
            <a:srgbClr val="E67E22"/>
          </a:solidFill>
          <a:ln w="12700">
            <a:solidFill>
              <a:srgbClr val="E67E22"/>
            </a:solidFill>
            <a:prstDash val="solid"/>
          </a:ln>
        </p:spPr>
      </p:sp>
      <p:sp>
        <p:nvSpPr>
          <p:cNvPr id="23" name="Shape 21"/>
          <p:cNvSpPr/>
          <p:nvPr/>
        </p:nvSpPr>
        <p:spPr>
          <a:xfrm>
            <a:off x="6272784" y="1353312"/>
            <a:ext cx="420624" cy="420624"/>
          </a:xfrm>
          <a:prstGeom prst="rect">
            <a:avLst/>
          </a:prstGeom>
          <a:solidFill>
            <a:srgbClr val="E67E22"/>
          </a:solidFill>
          <a:ln w="12700">
            <a:solidFill>
              <a:srgbClr val="E67E22"/>
            </a:solidFill>
            <a:prstDash val="solid"/>
          </a:ln>
        </p:spPr>
      </p:sp>
      <p:sp>
        <p:nvSpPr>
          <p:cNvPr id="24" name="Shape 22"/>
          <p:cNvSpPr/>
          <p:nvPr/>
        </p:nvSpPr>
        <p:spPr>
          <a:xfrm>
            <a:off x="6272784" y="1353312"/>
            <a:ext cx="420624" cy="420624"/>
          </a:xfrm>
          <a:prstGeom prst="oval">
            <a:avLst/>
          </a:prstGeom>
          <a:solidFill>
            <a:srgbClr val="E67E22"/>
          </a:solidFill>
          <a:ln w="12700">
            <a:solidFill>
              <a:srgbClr val="E67E22"/>
            </a:solidFill>
            <a:prstDash val="solid"/>
          </a:ln>
        </p:spPr>
      </p:sp>
      <p:sp>
        <p:nvSpPr>
          <p:cNvPr id="25" name="Text 23"/>
          <p:cNvSpPr/>
          <p:nvPr/>
        </p:nvSpPr>
        <p:spPr>
          <a:xfrm>
            <a:off x="6272784" y="13533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6" name="Text 24"/>
          <p:cNvSpPr/>
          <p:nvPr/>
        </p:nvSpPr>
        <p:spPr>
          <a:xfrm>
            <a:off x="6793992" y="1371600"/>
            <a:ext cx="1984248" cy="438912"/>
          </a:xfrm>
          <a:prstGeom prst="rect">
            <a:avLst/>
          </a:prstGeom>
          <a:noFill/>
          <a:ln/>
        </p:spPr>
        <p:txBody>
          <a:bodyPr wrap="square" lIns="0" tIns="0" rIns="0" bIns="0" rtlCol="0" anchor="ctr"/>
          <a:lstStyle/>
          <a:p>
            <a:pPr indent="0" marL="0">
              <a:buNone/>
            </a:pPr>
            <a:r>
              <a:rPr lang="en-US" sz="1250" b="1" dirty="0">
                <a:solidFill>
                  <a:srgbClr val="1A2535"/>
                </a:solidFill>
                <a:latin typeface="Georgia" pitchFamily="34" charset="0"/>
                <a:ea typeface="Georgia" pitchFamily="34" charset="-122"/>
                <a:cs typeface="Georgia" pitchFamily="34" charset="-120"/>
              </a:rPr>
              <a:t>Churn Prediction That Works</a:t>
            </a:r>
            <a:endParaRPr lang="en-US" sz="1250" dirty="0"/>
          </a:p>
        </p:txBody>
      </p:sp>
      <p:sp>
        <p:nvSpPr>
          <p:cNvPr id="27" name="Shape 25"/>
          <p:cNvSpPr/>
          <p:nvPr/>
        </p:nvSpPr>
        <p:spPr>
          <a:xfrm>
            <a:off x="6272784" y="1865376"/>
            <a:ext cx="2505456" cy="27432"/>
          </a:xfrm>
          <a:prstGeom prst="rect">
            <a:avLst/>
          </a:prstGeom>
          <a:solidFill>
            <a:srgbClr val="CCCCCC"/>
          </a:solidFill>
          <a:ln w="12700">
            <a:solidFill>
              <a:srgbClr val="CCCCCC"/>
            </a:solidFill>
            <a:prstDash val="solid"/>
          </a:ln>
        </p:spPr>
      </p:sp>
      <p:sp>
        <p:nvSpPr>
          <p:cNvPr id="28" name="Text 26"/>
          <p:cNvSpPr/>
          <p:nvPr/>
        </p:nvSpPr>
        <p:spPr>
          <a:xfrm>
            <a:off x="6272784" y="1956816"/>
            <a:ext cx="2505456" cy="950976"/>
          </a:xfrm>
          <a:prstGeom prst="rect">
            <a:avLst/>
          </a:prstGeom>
          <a:noFill/>
          <a:ln/>
        </p:spPr>
        <p:txBody>
          <a:bodyPr wrap="square" lIns="0" tIns="0" rIns="0" bIns="0" rtlCol="0" anchor="ctr"/>
          <a:lstStyle/>
          <a:p>
            <a:pPr indent="0" marL="0">
              <a:buNone/>
            </a:pPr>
            <a:r>
              <a:rPr lang="en-US" sz="1100" dirty="0">
                <a:solidFill>
                  <a:srgbClr val="4A5568"/>
                </a:solidFill>
              </a:rPr>
              <a:t>Closing a savings account isn't churn if the customer is deepening their mortgage. Models need to see the whole relationship.</a:t>
            </a:r>
            <a:endParaRPr lang="en-US" sz="1100" dirty="0"/>
          </a:p>
        </p:txBody>
      </p:sp>
      <p:sp>
        <p:nvSpPr>
          <p:cNvPr id="29" name="Shape 27"/>
          <p:cNvSpPr/>
          <p:nvPr/>
        </p:nvSpPr>
        <p:spPr>
          <a:xfrm>
            <a:off x="667512" y="3227832"/>
            <a:ext cx="4160520" cy="1810512"/>
          </a:xfrm>
          <a:prstGeom prst="rect">
            <a:avLst/>
          </a:prstGeom>
          <a:solidFill>
            <a:srgbClr val="EBF5FF"/>
          </a:solidFill>
          <a:ln w="12700">
            <a:solidFill>
              <a:srgbClr val="2196F3"/>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667512" y="3227832"/>
            <a:ext cx="4160520" cy="109728"/>
          </a:xfrm>
          <a:prstGeom prst="rect">
            <a:avLst/>
          </a:prstGeom>
          <a:solidFill>
            <a:srgbClr val="2196F3"/>
          </a:solidFill>
          <a:ln w="12700">
            <a:solidFill>
              <a:srgbClr val="2196F3"/>
            </a:solidFill>
            <a:prstDash val="solid"/>
          </a:ln>
        </p:spPr>
      </p:sp>
      <p:sp>
        <p:nvSpPr>
          <p:cNvPr id="31" name="Shape 29"/>
          <p:cNvSpPr/>
          <p:nvPr/>
        </p:nvSpPr>
        <p:spPr>
          <a:xfrm>
            <a:off x="804672" y="3410712"/>
            <a:ext cx="420624" cy="420624"/>
          </a:xfrm>
          <a:prstGeom prst="rect">
            <a:avLst/>
          </a:prstGeom>
          <a:solidFill>
            <a:srgbClr val="2196F3"/>
          </a:solidFill>
          <a:ln w="12700">
            <a:solidFill>
              <a:srgbClr val="2196F3"/>
            </a:solidFill>
            <a:prstDash val="solid"/>
          </a:ln>
        </p:spPr>
      </p:sp>
      <p:sp>
        <p:nvSpPr>
          <p:cNvPr id="32" name="Shape 30"/>
          <p:cNvSpPr/>
          <p:nvPr/>
        </p:nvSpPr>
        <p:spPr>
          <a:xfrm>
            <a:off x="804672" y="3410712"/>
            <a:ext cx="420624" cy="420624"/>
          </a:xfrm>
          <a:prstGeom prst="oval">
            <a:avLst/>
          </a:prstGeom>
          <a:solidFill>
            <a:srgbClr val="2196F3"/>
          </a:solidFill>
          <a:ln w="12700">
            <a:solidFill>
              <a:srgbClr val="2196F3"/>
            </a:solidFill>
            <a:prstDash val="solid"/>
          </a:ln>
        </p:spPr>
      </p:sp>
      <p:sp>
        <p:nvSpPr>
          <p:cNvPr id="33" name="Text 31"/>
          <p:cNvSpPr/>
          <p:nvPr/>
        </p:nvSpPr>
        <p:spPr>
          <a:xfrm>
            <a:off x="804672" y="34107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4" name="Text 32"/>
          <p:cNvSpPr/>
          <p:nvPr/>
        </p:nvSpPr>
        <p:spPr>
          <a:xfrm>
            <a:off x="1325880" y="3429000"/>
            <a:ext cx="3383280" cy="438912"/>
          </a:xfrm>
          <a:prstGeom prst="rect">
            <a:avLst/>
          </a:prstGeom>
          <a:noFill/>
          <a:ln/>
        </p:spPr>
        <p:txBody>
          <a:bodyPr wrap="square" lIns="0" tIns="0" rIns="0" bIns="0" rtlCol="0" anchor="ctr"/>
          <a:lstStyle/>
          <a:p>
            <a:pPr indent="0" marL="0">
              <a:buNone/>
            </a:pPr>
            <a:r>
              <a:rPr lang="en-US" sz="1250" b="1" dirty="0">
                <a:solidFill>
                  <a:srgbClr val="1A2535"/>
                </a:solidFill>
                <a:latin typeface="Georgia" pitchFamily="34" charset="0"/>
                <a:ea typeface="Georgia" pitchFamily="34" charset="-122"/>
                <a:cs typeface="Georgia" pitchFamily="34" charset="-120"/>
              </a:rPr>
              <a:t>Personalization That Feels Personal</a:t>
            </a:r>
            <a:endParaRPr lang="en-US" sz="1250" dirty="0"/>
          </a:p>
        </p:txBody>
      </p:sp>
      <p:sp>
        <p:nvSpPr>
          <p:cNvPr id="35" name="Shape 33"/>
          <p:cNvSpPr/>
          <p:nvPr/>
        </p:nvSpPr>
        <p:spPr>
          <a:xfrm>
            <a:off x="804672" y="3922776"/>
            <a:ext cx="3904488" cy="27432"/>
          </a:xfrm>
          <a:prstGeom prst="rect">
            <a:avLst/>
          </a:prstGeom>
          <a:solidFill>
            <a:srgbClr val="CCCCCC"/>
          </a:solidFill>
          <a:ln w="12700">
            <a:solidFill>
              <a:srgbClr val="CCCCCC"/>
            </a:solidFill>
            <a:prstDash val="solid"/>
          </a:ln>
        </p:spPr>
      </p:sp>
      <p:sp>
        <p:nvSpPr>
          <p:cNvPr id="36" name="Text 34"/>
          <p:cNvSpPr/>
          <p:nvPr/>
        </p:nvSpPr>
        <p:spPr>
          <a:xfrm>
            <a:off x="804672" y="4014216"/>
            <a:ext cx="3904488" cy="950976"/>
          </a:xfrm>
          <a:prstGeom prst="rect">
            <a:avLst/>
          </a:prstGeom>
          <a:noFill/>
          <a:ln/>
        </p:spPr>
        <p:txBody>
          <a:bodyPr wrap="square" lIns="0" tIns="0" rIns="0" bIns="0" rtlCol="0" anchor="ctr"/>
          <a:lstStyle/>
          <a:p>
            <a:pPr indent="0" marL="0">
              <a:buNone/>
            </a:pPr>
            <a:r>
              <a:rPr lang="en-US" sz="1100" dirty="0">
                <a:solidFill>
                  <a:srgbClr val="4A5568"/>
                </a:solidFill>
              </a:rPr>
              <a:t>The digital app should know the person logging in also has a business LOC that's 80% drawn. That's a proactive banker moment.</a:t>
            </a:r>
            <a:endParaRPr lang="en-US" sz="1100" dirty="0"/>
          </a:p>
        </p:txBody>
      </p:sp>
      <p:sp>
        <p:nvSpPr>
          <p:cNvPr id="37" name="Shape 35"/>
          <p:cNvSpPr/>
          <p:nvPr/>
        </p:nvSpPr>
        <p:spPr>
          <a:xfrm>
            <a:off x="4919472" y="3227832"/>
            <a:ext cx="4160520" cy="1810512"/>
          </a:xfrm>
          <a:prstGeom prst="rect">
            <a:avLst/>
          </a:prstGeom>
          <a:solidFill>
            <a:srgbClr val="F5F0FF"/>
          </a:solidFill>
          <a:ln w="12700">
            <a:solidFill>
              <a:srgbClr val="5B2C8D"/>
            </a:solidFill>
            <a:prstDash val="solid"/>
          </a:ln>
          <a:effectLst>
            <a:outerShdw sx="100000" sy="100000" kx="0" ky="0" algn="bl" rotWithShape="0" blurRad="63500" dist="25400" dir="8100000">
              <a:srgbClr val="000000">
                <a:alpha val="10000"/>
              </a:srgbClr>
            </a:outerShdw>
          </a:effectLst>
        </p:spPr>
      </p:sp>
      <p:sp>
        <p:nvSpPr>
          <p:cNvPr id="38" name="Shape 36"/>
          <p:cNvSpPr/>
          <p:nvPr/>
        </p:nvSpPr>
        <p:spPr>
          <a:xfrm>
            <a:off x="4919472" y="3227832"/>
            <a:ext cx="4160520" cy="109728"/>
          </a:xfrm>
          <a:prstGeom prst="rect">
            <a:avLst/>
          </a:prstGeom>
          <a:solidFill>
            <a:srgbClr val="5B2C8D"/>
          </a:solidFill>
          <a:ln w="12700">
            <a:solidFill>
              <a:srgbClr val="5B2C8D"/>
            </a:solidFill>
            <a:prstDash val="solid"/>
          </a:ln>
        </p:spPr>
      </p:sp>
      <p:sp>
        <p:nvSpPr>
          <p:cNvPr id="39" name="Shape 37"/>
          <p:cNvSpPr/>
          <p:nvPr/>
        </p:nvSpPr>
        <p:spPr>
          <a:xfrm>
            <a:off x="5056632" y="3410712"/>
            <a:ext cx="420624" cy="420624"/>
          </a:xfrm>
          <a:prstGeom prst="rect">
            <a:avLst/>
          </a:prstGeom>
          <a:solidFill>
            <a:srgbClr val="5B2C8D"/>
          </a:solidFill>
          <a:ln w="12700">
            <a:solidFill>
              <a:srgbClr val="5B2C8D"/>
            </a:solidFill>
            <a:prstDash val="solid"/>
          </a:ln>
        </p:spPr>
      </p:sp>
      <p:sp>
        <p:nvSpPr>
          <p:cNvPr id="40" name="Shape 38"/>
          <p:cNvSpPr/>
          <p:nvPr/>
        </p:nvSpPr>
        <p:spPr>
          <a:xfrm>
            <a:off x="5056632" y="3410712"/>
            <a:ext cx="420624" cy="420624"/>
          </a:xfrm>
          <a:prstGeom prst="oval">
            <a:avLst/>
          </a:prstGeom>
          <a:solidFill>
            <a:srgbClr val="5B2C8D"/>
          </a:solidFill>
          <a:ln w="12700">
            <a:solidFill>
              <a:srgbClr val="5B2C8D"/>
            </a:solidFill>
            <a:prstDash val="solid"/>
          </a:ln>
        </p:spPr>
      </p:sp>
      <p:sp>
        <p:nvSpPr>
          <p:cNvPr id="41" name="Text 39"/>
          <p:cNvSpPr/>
          <p:nvPr/>
        </p:nvSpPr>
        <p:spPr>
          <a:xfrm>
            <a:off x="5056632" y="34107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42" name="Text 40"/>
          <p:cNvSpPr/>
          <p:nvPr/>
        </p:nvSpPr>
        <p:spPr>
          <a:xfrm>
            <a:off x="5577840" y="3429000"/>
            <a:ext cx="3383280" cy="438912"/>
          </a:xfrm>
          <a:prstGeom prst="rect">
            <a:avLst/>
          </a:prstGeom>
          <a:noFill/>
          <a:ln/>
        </p:spPr>
        <p:txBody>
          <a:bodyPr wrap="square" lIns="0" tIns="0" rIns="0" bIns="0" rtlCol="0" anchor="ctr"/>
          <a:lstStyle/>
          <a:p>
            <a:pPr indent="0" marL="0">
              <a:buNone/>
            </a:pPr>
            <a:r>
              <a:rPr lang="en-US" sz="1250" b="1" dirty="0">
                <a:solidFill>
                  <a:srgbClr val="1A2535"/>
                </a:solidFill>
                <a:latin typeface="Georgia" pitchFamily="34" charset="0"/>
                <a:ea typeface="Georgia" pitchFamily="34" charset="-122"/>
                <a:cs typeface="Georgia" pitchFamily="34" charset="-120"/>
              </a:rPr>
              <a:t>Regulatory Confidence</a:t>
            </a:r>
            <a:endParaRPr lang="en-US" sz="1250" dirty="0"/>
          </a:p>
        </p:txBody>
      </p:sp>
      <p:sp>
        <p:nvSpPr>
          <p:cNvPr id="43" name="Shape 41"/>
          <p:cNvSpPr/>
          <p:nvPr/>
        </p:nvSpPr>
        <p:spPr>
          <a:xfrm>
            <a:off x="5056632" y="3922776"/>
            <a:ext cx="3904488" cy="27432"/>
          </a:xfrm>
          <a:prstGeom prst="rect">
            <a:avLst/>
          </a:prstGeom>
          <a:solidFill>
            <a:srgbClr val="CCCCCC"/>
          </a:solidFill>
          <a:ln w="12700">
            <a:solidFill>
              <a:srgbClr val="CCCCCC"/>
            </a:solidFill>
            <a:prstDash val="solid"/>
          </a:ln>
        </p:spPr>
      </p:sp>
      <p:sp>
        <p:nvSpPr>
          <p:cNvPr id="44" name="Text 42"/>
          <p:cNvSpPr/>
          <p:nvPr/>
        </p:nvSpPr>
        <p:spPr>
          <a:xfrm>
            <a:off x="5056632" y="4014216"/>
            <a:ext cx="3904488" cy="950976"/>
          </a:xfrm>
          <a:prstGeom prst="rect">
            <a:avLst/>
          </a:prstGeom>
          <a:noFill/>
          <a:ln/>
        </p:spPr>
        <p:txBody>
          <a:bodyPr wrap="square" lIns="0" tIns="0" rIns="0" bIns="0" rtlCol="0" anchor="ctr"/>
          <a:lstStyle/>
          <a:p>
            <a:pPr indent="0" marL="0">
              <a:buNone/>
            </a:pPr>
            <a:r>
              <a:rPr lang="en-US" sz="1100" dirty="0">
                <a:solidFill>
                  <a:srgbClr val="4A5568"/>
                </a:solidFill>
              </a:rPr>
              <a:t>BSA/AML, CRA, HMDA — compliance analytics built on the same resolved customer record as business analytics. One source of truth.</a:t>
            </a:r>
            <a:endParaRPr lang="en-US" sz="1100" dirty="0"/>
          </a:p>
        </p:txBody>
      </p:sp>
      <p:sp>
        <p:nvSpPr>
          <p:cNvPr id="45" name="Shape 43"/>
          <p:cNvSpPr/>
          <p:nvPr/>
        </p:nvSpPr>
        <p:spPr>
          <a:xfrm>
            <a:off x="0" y="4663440"/>
            <a:ext cx="9144000" cy="480060"/>
          </a:xfrm>
          <a:prstGeom prst="rect">
            <a:avLst/>
          </a:prstGeom>
          <a:solidFill>
            <a:srgbClr val="1E2D4E"/>
          </a:solidFill>
          <a:ln w="12700">
            <a:solidFill>
              <a:srgbClr val="1E2D4E"/>
            </a:solidFill>
            <a:prstDash val="solid"/>
          </a:ln>
        </p:spPr>
      </p:sp>
      <p:sp>
        <p:nvSpPr>
          <p:cNvPr id="46" name="Text 44"/>
          <p:cNvSpPr/>
          <p:nvPr/>
        </p:nvSpPr>
        <p:spPr>
          <a:xfrm>
            <a:off x="365760" y="4700016"/>
            <a:ext cx="8412480" cy="347472"/>
          </a:xfrm>
          <a:prstGeom prst="rect">
            <a:avLst/>
          </a:prstGeom>
          <a:noFill/>
          <a:ln/>
        </p:spPr>
        <p:txBody>
          <a:bodyPr wrap="square" lIns="0" tIns="0" rIns="0" bIns="0" rtlCol="0" anchor="ctr"/>
          <a:lstStyle/>
          <a:p>
            <a:pPr algn="ctr" indent="0" marL="0">
              <a:buNone/>
            </a:pPr>
            <a:r>
              <a:rPr lang="en-US" sz="1200" i="1" dirty="0">
                <a:solidFill>
                  <a:srgbClr val="02C39A"/>
                </a:solidFill>
              </a:rPr>
              <a:t>Account-centric data tells you what happened to a product.  Identity-first data tells you what's happening to a customer.</a:t>
            </a:r>
            <a:endParaRPr lang="en-US" sz="1200" dirty="0"/>
          </a:p>
        </p:txBody>
      </p:sp>
      <p:sp>
        <p:nvSpPr>
          <p:cNvPr id="48" name="Text 45"/>
          <p:cNvSpPr/>
          <p:nvPr/>
        </p:nvSpPr>
        <p:spPr>
          <a:xfrm>
            <a:off x="8046720" y="4846320"/>
            <a:ext cx="914400" cy="201168"/>
          </a:xfrm>
          <a:prstGeom prst="rect">
            <a:avLst/>
          </a:prstGeom>
          <a:noFill/>
          <a:ln/>
        </p:spPr>
        <p:txBody>
          <a:bodyPr wrap="square" lIns="0" tIns="0" rIns="0" bIns="0" rtlCol="0" anchor="ctr"/>
          <a:lstStyle/>
          <a:p>
            <a:pPr algn="r" indent="0" marL="0">
              <a:buNone/>
            </a:pPr>
            <a:r>
              <a:rPr lang="en-US" sz="900" dirty="0">
                <a:solidFill>
                  <a:srgbClr val="666666"/>
                </a:solidFill>
              </a:rPr>
              <a:t>3 / 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JHBI Identity First Data Model</dc:title>
  <dc:subject>PptxGenJS Presentation</dc:subject>
  <dc:creator>Mike Ames</dc:creator>
  <cp:lastModifiedBy>Mike Ames</cp:lastModifiedBy>
  <cp:revision>1</cp:revision>
  <dcterms:created xsi:type="dcterms:W3CDTF">2026-04-07T15:35:11Z</dcterms:created>
  <dcterms:modified xsi:type="dcterms:W3CDTF">2026-04-07T15:35:11Z</dcterms:modified>
</cp:coreProperties>
</file>